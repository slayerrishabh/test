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61" r:id="rId5"/>
    <p:sldId id="259" r:id="rId6"/>
    <p:sldId id="260" r:id="rId7"/>
    <p:sldId id="263" r:id="rId8"/>
    <p:sldId id="264" r:id="rId9"/>
    <p:sldId id="262" r:id="rId10"/>
    <p:sldId id="265" r:id="rId11"/>
    <p:sldId id="266" r:id="rId12"/>
    <p:sldId id="267" r:id="rId13"/>
    <p:sldId id="268" r:id="rId14"/>
    <p:sldId id="269" r:id="rId15"/>
    <p:sldId id="279" r:id="rId16"/>
    <p:sldId id="270" r:id="rId17"/>
    <p:sldId id="271" r:id="rId18"/>
    <p:sldId id="272" r:id="rId19"/>
    <p:sldId id="273" r:id="rId20"/>
    <p:sldId id="280" r:id="rId21"/>
    <p:sldId id="281" r:id="rId22"/>
    <p:sldId id="283" r:id="rId23"/>
    <p:sldId id="284" r:id="rId24"/>
    <p:sldId id="282" r:id="rId25"/>
    <p:sldId id="285" r:id="rId26"/>
    <p:sldId id="286" r:id="rId27"/>
    <p:sldId id="287" r:id="rId28"/>
    <p:sldId id="288" r:id="rId29"/>
    <p:sldId id="289" r:id="rId30"/>
    <p:sldId id="274" r:id="rId31"/>
    <p:sldId id="290" r:id="rId32"/>
    <p:sldId id="275" r:id="rId33"/>
    <p:sldId id="276" r:id="rId34"/>
    <p:sldId id="277" r:id="rId35"/>
    <p:sldId id="278"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2-01-25T02:13:20.286"/>
    </inkml:context>
    <inkml:brush xml:id="br0">
      <inkml:brushProperty name="width" value="0.05292" units="cm"/>
      <inkml:brushProperty name="height" value="0.05292" units="cm"/>
      <inkml:brushProperty name="color" value="#FF0000"/>
    </inkml:brush>
  </inkml:definitions>
  <inkml:trace contextRef="#ctx0" brushRef="#br0">14076 9913 0,'35'18'328,"18"17"-312,0-17-16,-18-1 15,-17-17-15,-1 18 0,19 0 32,-1-18 14,18 0-14,-18 0-1,1 0 0,-19 0 0</inkml:trace>
  <inkml:trace contextRef="#ctx0" brushRef="#br0" timeOffset="1762.51">15187 9984 0,'18'0'281,"-1"0"-265,1 0 15,-18-18-16,18 0 1,17 18 0,18 0 31,-36-17-16,36-1 0,-17 18 0,-19 0 16,-17-18-31,18 18-1,0 0 1,17 0 31,-18 0-16</inkml:trace>
  <inkml:trace contextRef="#ctx0" brushRef="#br0" timeOffset="15910.17">13635 10689 0,'0'35'360,"0"-17"-313,0 0-32,0-1-15,0 1 16,0 0 15,17 17 0,-17 53 1,0-17-1,0-36-16,0-17 1,0-1 0,0 1 15,0-36 235,0 1-251,0-1-15,0 0 0,0 1 16,-17-19 31,17 19-16,0-1-15,0 0 30,0-17-14,0 18 30,0-1-31,0 0 1,0 1-32,0-1 15,0 0 17,0 1-1,0-1 16,0 0-47,0 1 15,0-18 1,0 17 15,0 0-15,0 1 15,17 17-15,-17-18-1,0 0 17,18 18-32,0-17 31,-1 17-16,-17-18 1,18 18 0,17 0-1,-17-18 1,0 18 0,-1 0-16,1 0 31,0 0-16,17 0 1,-18 0 15,1 0 1,-18 18-1,0 0-16,0 17 1,0-17 0,0-1-16,0 1 31,0 0 0,0-1 16,0 1-31,0-1-1,0 1 17,0 0-1,-18-18-16,18 17 1,-52-17 0,34 0-1,0 0 17,1 0 14,-1 0 1,0 0-15,1 0-1,34 0 109,1 0-108,0 0-17,-1 0 17,1 0-32,0 0 31,17 0-16,-18 0 32,1 0-31,0 0 15,-1 0 0,1 0-15,17 0 31,-35 18-16,18-18-31,-18 18 31,0-1-15,0 1 0,0 0-1,0-1 1,0 1 0,0 17-1,0-17 1,0 17-1,0-17 1,0-1 15,0 1-31,0 0 32,-35-18-32,35 17 15,0 1 1,-18-18-1,0 0 1,18 17 0,-35 1 15,17-18-15,-17 0-1,18 0 16,-1 0-15,0 0-16,1 0 31,-1 0-31,-17 0 32,17 0-32,0 0 31,1 0-16,-1 0 1,0 0 47</inkml:trace>
  <inkml:trace contextRef="#ctx0" brushRef="#br0" timeOffset="18920.64">14111 11130 0,'18'0'281,"17"0"-234,-35-18 0,0 1-16,0-18-15,0 17-1,0 0 17,0 1 30,0-1-46,0 0-1,0-17 63,0 17-46,-18 18-1,36 0 219,0 0-234,-1 0-1,1 0 16,-18-17 16,18 17-31,-18-18 0,0 1 15,0-1-16,17 18 298,-17 18-297,0-1 15,18-17-16,-18 35 1,17 1 31,1 17-16,-18-18 0,0-17 1,18-1-17,-18 1-15,0-1 47,0 1 0,17-18-31</inkml:trace>
  <inkml:trace contextRef="#ctx0" brushRef="#br0" timeOffset="21000.1">14376 11042 0,'0'-18'297,"17"18"-297,-17-17 15,0-1 17,0 0-17,18 18 1,-18-17 15,35-1-31,-17-17 16,-18 17-1,0 1 1,0-19 15,0 19 16,0-1 0,0 0-16,-35 18 110,17 0-126,18 18-15,0 0 16,-18-18-16,18 53 16,0-36 15,0 1 16,0-1-16,0 1 0,0 0-15,0-1 0,0 1 30,18-18-14,17 0-17,-35 18 17,18-18-17,0 0 1,-1 0 15,1 0 0,-1 0-15,19 0 31,-19 0-47,1 0 47</inkml:trace>
  <inkml:trace contextRef="#ctx0" brushRef="#br0" timeOffset="22730.72">14693 10813 0,'0'53'297,"0"-36"-297,0 1 16,0-1-16,0 1 15,0 0-15,0 17 16,0-17 46,0-1-30,18-17-1,-1 0 0,1 0-15,0 0-1,-18-17 79,0-1-94,0 0 16,0 1-1,0-1 1,0 0-16,0 1 31,0-1-15,-18 18-1,18-17 1,-18 17 0,18-18-1,0 36 79,0-1-78,18 1-16,0-18 15,-18 35 1,17-35-16,-17 18 16,18-18-1,-18 17 1,18 19 15,17-36 78</inkml:trace>
  <inkml:trace contextRef="#ctx0" brushRef="#br0" timeOffset="24380.49">15064 10760 0,'0'17'312,"0"1"-312,0 0 0,0 17 16,0 0 0,0-17-1,0-1 1,0 1-16,0 17 31,0-17-31,0 0 63,17-18 93,-17-18-78,0-35-78,0 35 0,0-17 16,0-35-1,0 34 1,0 1 0,0 0-1,-17-36 1,-1 54-16,18-1 15,-53-17 1,35 17 0,-17-17-1,0-1 1,0 19 15,-1-1-31,1 1 16,17-1 15,-35 18-15</inkml:trace>
  <inkml:trace contextRef="#ctx0" brushRef="#br0" timeOffset="25708.87">15240 10672 0,'18'0'203,"-18"-18"-187,35 0-16,-17 18 15,34 0 1,-34 0-16,0-17 15,-1 17-15,1-18 16,0 18 0,-1 0-1,1 0-15,17 0 16,36 0 31,-18 0-16,-36 0-31,19 0 47,-19 0 0,19 0-32,-54 18 110,0-18-109</inkml:trace>
  <inkml:trace contextRef="#ctx0" brushRef="#br0" timeOffset="26964.83">15328 10901 0,'18'0'281,"-1"0"-265,1 0-16,0 0 16,-1 0-16,1 0 15,0 0-15,-1-18 16,19 18-16,-19 0 15,1 0 1,17-17 0,36 17 15,-54 0 0,19 0 16,-19-18-47,1 18 16,0 0-1,-1 0 1,1 0 15</inkml:trace>
  <inkml:trace contextRef="#ctx0" brushRef="#br0" timeOffset="28490.1">15663 10477 0,'18'0'219,"-18"18"-204,18 0-15,-1-18 16,1 0-16,0 0 15,52 35 1,36-17 31,-53-1-16,-53 19-31,53-19 31,-18 1-15,-17-18 0,-1 18 15,1-1-15,-18 1 15,18-18-16,-18 35 32,0-17-15,0-1-1,0 1-16,0 17 1,-18-35-16,-17 53 16,17-35-1,-17 17 1,-1 0 0,1-17-1,18-18 1,-19 18-1,19-18 64,-1 0-64</inkml:trace>
  <inkml:trace contextRef="#ctx0" brushRef="#br0" timeOffset="31640.57">16492 10636 0,'0'18'375,"0"0"-375,0-1 0,0 1 31,0-1-31,0 1 15,0 0 79,0-1-63,0 1-15,0 17 0,0 36 15,0-36-15,0-17-1,0-1 1,0 1 31,0-36 31,0 1-78,0-1 15,0 0-15,0 1 32,0-18-17,0 17 1,-17-35 0,17 35-16,0-17 15,-18 0 1,18 17 15,0 1-15,0-1-16,0-17 31,0 17-31,0-53 16,0 36-1,0 17 16,0 1-15,0-1 62,18 18-62,-1 0-1,1 0 17,0 0-1,-1 0-15,19 0-1,-36 18 1,17 17-1,1-17 1,-18-1 0,0 19-16,0-19 31,0 1-15,0 0 15,0-1 0,0 1-15,0 0-1,0-1 1,0 1-16,0-1 31,0 1 16,0 0 0,-18-18-31,36 0 265,-1 0-250,1 0 16,0 0-31,-18 17-16,0 19 31,0 69 0,0-52-15,0-35-16,0 0 15,0 17 1,0-17 0,0-1-1,0 18 1,0-17-16,-18 0 15,-17 17 1,0-17 0,-1 17 15,1-35-15,0 0-1,17 0 1,0 0 15,1 0-15,-1 0-1,1 0 17,-1 0 14</inkml:trace>
  <inkml:trace contextRef="#ctx0" brushRef="#br0" timeOffset="34042.01">16810 10813 0,'0'35'297,"0"0"-281,0 0-16,0-17 0,0 0 15,0 17 17,17-17-1,-17-1 16,18-17-16,0 0 16,-1 0-16,1 0 16,17 0-47,-35-17 16,18-1 15,0 0-31,-18-17 31,0 0-15,0 17-16,0 1 31,0-1-15,0 0-16,0 1 15,0-1 1,0 0 0,0 1 15,0-1-31,0 36 140,0 17-140,0 0 16,0-17-16,0 35 16,0-18-1,0-17 1,0 17 0,0-17 15,0-1 0,0 1 0,0 0 16,35-18 156,-17 0-171,-18-18 14,0 0-14,0 1-17,17-36 1,-17 17 0,0 1-16,0 18 15</inkml:trace>
  <inkml:trace contextRef="#ctx0" brushRef="#br0" timeOffset="35700.92">17057 10442 0,'0'18'344,"0"-1"-329,0 1-15,17-18 16,-17 35-16,0-17 16,0 0-1,0-1-15,0 1 16,0 0-1,18 35 32,-18-1-15,0-34-1,0 0 0,0-1-15,18 1-1,-18 0 1,17-18 0,-17 17-1,0 1 32,36-18 16,-36 18-63,17-1 31,-17 1-16,0-1 17,18-17-32,0 0 31,-1 0-31,1 0 31,-1 0 0,1 0 1,0 0-1</inkml:trace>
  <inkml:trace contextRef="#ctx0" brushRef="#br0" timeOffset="37349.21">16969 10795 0,'17'0'343,"1"0"-296,-18-18-47,18 18 31,-1 0 1,-17-17 30,18 17-46,-18-18 15,17 18-31,-17-18 78,18 18-31,0-35-16,17 0-31,-17 17 32,-1 1-32,-17-1 15,0 0 1,0 1 15</inkml:trace>
  <inkml:trace contextRef="#ctx0" brushRef="#br0" timeOffset="38779.47">17392 10372 0,'0'35'297,"0"-17"-297,0-1 0,0 1 15,0-1-15,0 1 16,0 0 15,0-1 16,18 1-31,-18 0-1,35-1 1,-35 19-1,0 17 1,0-36 15,0 1-31,17-18 16,-17 35 0,18 18 15,-18-35-16,0-1 1,0 1 0,18-18 46,-1 0 48,1 0-110,17 0 46,-17 0-30,0 0 15,-1 0 16,1 0-16</inkml:trace>
  <inkml:trace contextRef="#ctx0" brushRef="#br0" timeOffset="40150.83">17304 10601 0,'0'-18'218,"17"18"-202,1 0 31,0 0-47,-1-17 47,1 17-32,0 0 1,-18-18 0,17 18-1,1 0 1,-1 0 15,1 0-15,0 0 15,-1 0 47,-17-18-62,18 18 15,-18-17 32</inkml:trace>
  <inkml:trace contextRef="#ctx0" brushRef="#br0" timeOffset="44180.31">17727 10707 0,'35'0'328,"-17"-18"-281,-18 1-15,18 17-32,-18-18 31,0 0 16,0 1 46,0-1-14,0 0-48,-18 18-16,-17-17 17,17 17-17,0 0 63,1 0-62,17 17 47,-18-17-63,18 18 62,0 0-15,0-1-16,0 1 0,0 0-15,18-18 0,-1 17-16,1-17 31,17 0-31,-17 18 31,0-1-15,-1-17-1,1 18 1,0-18 0,-18 18-1,35-18 1,-18 0 0,1 0 15,0 0-16,-1 0 1,1 0 0,17 0-1,-17 0 17,0 0-1,-1 0-16,1 0 17,-18-18 30,0 0-46,0 1-1,0-1 17,0 1-32,0-19 15,-18 19 1,18-1 0,-17 18 15,-1-18-16,-17 1-15,17 17 32,0-36-17,1 36 1,-1 0 0,18-17-16,-18 17 15,18-18 16,-35 18 1,53 0 77,-1 0-93,1 0-16,0 0 0,-1 0 15,1 0 1,17 0 0,1-18-1,-1 18 1,-18-17-1,19 17 1,-19 0 0,1-18-1,-18 1 1,18 17 15,-18-18 0,17 18-31,-17-18 32,0 36 233,18-18-249,-18 18-16,0-1 16,18 1-1,-18 17 16,17-35-15,-17 18 0,0-1-1,0 1 17,18-18-1,-18 18-16,0-1 1,0 1 0,0 0 15,0-1 0,18-17 16,-18 18-16,0 0 16</inkml:trace>
  <inkml:trace contextRef="#ctx0" brushRef="#br0" timeOffset="49831.65">13617 11324 0,'18'0'328,"35"0"-312,-18 0 0,-17 0-16,17 0 0,53 0 31,-53 0 0,-17 0-31,53 0 47,17 0-31,-35 0 30,-36 0-46,1 0 16,0 0-16,-1 0 16,36 0-1,-18 0 1,18 0 0,36 0-1,-72 0 1,36 0-1,0 0 1,-35 0 0,17 0 15,-17 0-31,-1 0 16,19 0-1,-1 0 16,-18 0-31,19 0 32,-19 0-17,19 0 1,-19 0 0,19 0-1,-19 0 16,1 0-15,-1 0 31,1 0-31,0 0-1,17 0 16,-35-17-15,18 17 47,-1 0-1</inkml:trace>
  <inkml:trace contextRef="#ctx0" brushRef="#br0" timeOffset="52381.74">16528 11483 0,'17'-18'266,"36"18"-251,-35-17-15,17-1 16,0 18-16,1-18 16,-19 18-16,1 0 15,17 0 1,71-17 15,-71-19-31,159 1 31,-17 18 16,-89 17-15,-18 0-32,-52 0 31,53 0-16,-18 0 1,17 0 0,-52 0-16,52 0 15,-34 0 1,-1 0 0,35 0-1,-52 0 1,35-18-1,0 18 1,-35 0 0,-1 0 15,18-18-15,1 18-1,-1-17 1,18 17-1,-35 0 17,-1 0-17,19 0 1,-36-18 0,17 18-1,1 0 16,-1 0-15,-17-18 109,0 1-16,18-1-93,17-53-16,-35 36 16</inkml:trace>
  <inkml:trace contextRef="#ctx0" brushRef="#br0" timeOffset="75210.6">13776 11836 0,'18'0'344,"17"0"-344,-17 0 15,34 0-15,-16 0 16,-19 0-16,19 0 16,17 0-1,52-18 32,-34 0-47,70-52 47,-123 52-47,123-17 31,-88 35-15,-18 0-16,36-18 15,-36 18 1,35 0 0,-52 0 15,0 0-15,17 0-1,53-35 1,-70 35-16,35 0 15,105 0 1,-69 0 0,-19-18-1,36 18 1,-53 0 0,0 0-1,0 0 1,0 0-1,-36 0 1,36 0 0,18 0 15,-36 0-15,-17 0-16,70 0 15,-35 0-15,35 0 31,0 0-15,-17 0-16,-1 0 31,-34 0-15,-1 0 0,0 0-1,0 0 1,1 0-1,-1 0 1,0 0 0,36 0 15,-36 0-31,0 0 31,18 0-15,-17 0-1,16 0 1,-34-17-16,35 17 31,-18-18-15,1 18 0,17 0-1,-36 0 1,1 0-1,17 0 1,0 0 0,1-18-1,17 1 1,-36 17 15,18 0-15,1 0-1,-1 0 1,-17 0 0,52 0-1,-35 0 1,54 0 0,-36 0-1,-18 0 1,18 0-1,-18 0 1,-17 0 0,52 0-1,-34-18 1,16 1 15,-16 17-31,-1 0 31,0 0-15,-17 0 0,0 0-1,17 0 17,-18 0-17,1 0 16,0 0 1,-1 0-1,1 0-15,0 0 15,-1 0 0</inkml:trace>
  <inkml:trace contextRef="#ctx0" brushRef="#br0" timeOffset="90367.68">12065 6227 0,'0'17'438,"0"1"-391,0-1 15,0 1-31,0 0-15,0-1-16,0 1 16,0 17-1,0-17-15,0 35 32,0 17 14,0-52-14,0 0-32,0 17 31,0-17-31,0-1 16,0 18-1,0-17 1,0 0-1,0-54 314,0 19-314,0-18 1,0 17-16,0-70 31,0 70-31,0-17 31,0 17 1,-18-52 30,18 34-46,0 19-1,0-19-15,0 19 32,0-1-32,0 1 31,0-1 0,0 0-15,0 1-1,0-1 1,0 0 0,0 1 15,0-1-16,0 36 251,0-1-266,0 1 16,18 17-1,0-17-15,-18 0 0,17 17 16,-17-18 0,0 1-16,0 0 15,0 17 16,36-17 1,-19-18 15,107-89-16,-89 1 0,-35 71-15,0-1-16,18 0 15,-18-17 1,0 0 15,0-1-15,0 1 15,0 18-31,0-1 31,0 0 1,-18 18 14,18-35-30,-35 35 31,35 18 0,0-1-32,0 1 1,0 17-16,0 0 16,17 54-16,1 17 31,-18-54-15,0-16-1,0 17 1,0-36-1,0 19 1,0-1 0,0 0-1,18-17 17,-18-1-32,0 1 15,17-18 1,-17 18 15,0 17-15,18-17-16,-18-1 31,0 1-15,0-1 62,17-17 47</inkml:trace>
  <inkml:trace contextRef="#ctx0" brushRef="#br0" timeOffset="91800.46">12594 6403 0,'0'18'312,"0"-1"-312,0 1 32,0-1-1,0 1-15,0 0 15,0-1 16,0 1-16,18-18-15,-18 18 15,0-1-16</inkml:trace>
  <inkml:trace contextRef="#ctx0" brushRef="#br0" timeOffset="92512.3">12612 6227 0</inkml:trace>
  <inkml:trace contextRef="#ctx0" brushRef="#br0" timeOffset="94610.61">12771 6227 0,'0'17'297,"0"1"-297,0-1 15,0 1 16,17 0 1,-17-1 15,0 1-1,0 17 17,18-35-47,-18 18-1,0 0 16,17 17-15,-17-18 0,0 19 15,0-19 31,0 1-15,18-18-47,-18-18 78,0-17-62,0-18-16,0 18 0,0 17 16,0-52-1,0 52 1,-18 0 0,1 1 30,17-1-46,0-35 16,-18 18 0,18 0-1,0 17 17,0 0-1,0 1 31,0-1-15,18 18-47,17 0 16,0 0-16,1 0 15,-19 0 1,1 18 15,0-18-31,-18 17 32,35 1-32,-18-18 15,1 35 1,0-17-16,-18 0 31,17-1-15,-17 1-1,18-18 1,-18 18-16,18-18 31,-18 17-15,17-17 15,1 18-31,0 17 16,-18-17-1,0-1 17,17-17-32,-17 18 31</inkml:trace>
  <inkml:trace contextRef="#ctx0" brushRef="#br0" timeOffset="95975.26">13406 6368 0,'17'0'343,"1"0"-327,-1 0-16,19 0 16,-1-18-1,-17 18-15,-1 0 0,1 0 16,0 0-1,-1 0 1,36 0 15,-53-18-15,35 18 0,-17 0 30,0 0-14,-1 0-17</inkml:trace>
  <inkml:trace contextRef="#ctx0" brushRef="#br0" timeOffset="97402.26">13970 5786 0,'-18'0'218,"1"17"-186,-1 1-32,18-1 15,-18 1 1,1 35-16,-18 0 15,35-18-15,0-17 0,0 17 16,0 18 15,0 0 1,0 18-1,0-54-31,0 36 47,0-18-32,0-17 17,17 0-17,1-18-15,17 0 31,0 0-15,-17 0-16,17 0 16,-17 0-1,17 0 1,-17 0 0,17 0-1,18-18 16,-35 18 16,-1 0-15</inkml:trace>
  <inkml:trace contextRef="#ctx0" brushRef="#br0" timeOffset="99281.07">14323 5927 0,'-18'0'297,"18"17"-281,0 19-16,-35-36 15,35 35-15,0 0 16,0 0-16,0-17 15,0 0 1,0-1 0,0 36 15,0-17 0,0-19 0,0 1 1,17-1 15,1-17-32,0 0 1,-1 0-1,1 0 1,0 0 0,17 0-1,0 0 1,-17 0 15,0 0 0,-1 0 1,1 0-1,-18-17 0,0-1 16,0-17-31,0 17-1,0 1 1,0-1 0,0 0-16,0 1 15,0-1 1,0-17-1,-18 35 1,18-18 15,-17 0-15,-1-17 0,0 18-1,1 17 1,17-36-1,0 19 1,-18 17 0,0 0 15,1 0-15,-1 0-1,0-18 48,18 0-48</inkml:trace>
  <inkml:trace contextRef="#ctx0" brushRef="#br0" timeOffset="101290.73">14781 5838 0,'0'36'312,"0"-1"-296,0 36-16,0-19 16,0-16-16,0 17 15,0-18-15,0-17 0,0 35 31,0-18 16,0-18-15,0 1-1,0 0 0,18-18-15,-18-36 202,0 1-202,0 18 0,0-1-16,0 0 15,0 1-15,0-19 16,0 19 46,18-1-46,-1 18-16,1-18 16,-18 1-16,35-1 15,-17 18 17,-1-18-17,1 18 1,17 0 15,-17 0 0,0 0 1,-1 0-1,1 0 16,0 18-32,-18 0-15,0-1 0,35 1 32,-35 0-32,0-1 15,18-17 1,-18 18 15,0 0 0</inkml:trace>
  <inkml:trace contextRef="#ctx0" brushRef="#br0" timeOffset="106411.86">11307 10037 0,'35'17'219,"0"1"-219,36-1 15,-54 1-15,36 0 16,53-1-1,17 1 17,54 0 15,17-18-32,-88-18 16,-71 0-31,53 1 16,0 17 0,-17 0-1,-36 0 1,-17 0 0,0 0-1,-1 0 1,1 0-1,17 0 1,18 0 0,-18 0-1,-17 0 1,17 0 15,-17 0 0,-1 0-15,1 0 15,0 0 1</inkml:trace>
  <inkml:trace contextRef="#ctx0" brushRef="#br0" timeOffset="111641.77">20637 10548 0,'36'0'281,"34"0"-281,-34 0 15,-1 0-15,-17 0 0,-1 0 16,18 0-16,-17 0 16,0 0-16,-1 0 15,1 0 1,0 0-16,35 0 16,211 0 30,-35 0-14,-87 0 15,-107 0-47,0 0 15,18 0 1,-35 0-16,52-18 15,18 18 1,-52-17-16,34 17 16,1-18-1,17 18 1,0-18 15,0 18-31,-70 0 31,0 0-31,-1 0 16,19 0-16,-1 0 31,0 0-15,0 0 0,18 0-1,-17 0 1,-19 0-1,19 0 1,34 0 0,-52 0 15,-1 0 0,1 0 16,0 0-16,-18-17 32,0-1-48,0 1-15</inkml:trace>
  <inkml:trace contextRef="#ctx0" brushRef="#br0" timeOffset="117130.8">15169 10442 0,'-17'0'297,"-18"0"-297,17-17 15,-17 17-15,-1 0 16,1 0 0,-18-18-16,35 18 15,1 0 1,-36 0-16,-71 0 31,107 0-15,-177-18 31,141-17-16,35 35-15,-35 0-1,36 0 1,-19 0-1,-17 0 1,1 18 0,16-1-1,-70 1 1,71 17 15,18-17-31,-36-18 0,0 35 31,35-17-15,-52 17 0,34-17-1,19 35 1,-36-36 0,17 19-1,1-19 1,0 36-1,17-18 1,-35-17 15,36 17 1,-1-35-32,0 18 15,-17 105 1,0-17-1,17-18 1,18 18 0,0-70-1,0-1 1,0 18 0,0-18-1,0 53 1,0-35-1,0-35 1,0 35 15,0-36-15,18 19-16,17-19 31,-35 1-31,53 17 16,0 0-1,17-35 1,107-17 0,-71-1-1,-36-17 1,-17 17-16,18 18 16,-36-35-1,71 0 1,-71 35-1,18 0 1,53-53 0,0 53 15,-18-18-31,0 0 16,-17 18 15,-18 0-16,52-17 1,-52-1 0,18 1-1,17-54 1,-35 53 0,-18 1-1,-17-1 1,35-17-1,17 0 17,-17-18-32,-17 35 31,-19-17-31,1-1 31,-1 36-15,-17-35-1,0 17 1,18-34 0,0-19-1,-18 0 1,0 54 0,-18-36-1,-17 18 1,17 17-1,1-17 1,-36-36 15,17 1-15,-34-19-16,17 1 31,35 71-15,-35-19-1,53 19 1,-17-1 0,-1 0 15,0 1 0,1 17-15,17-18-1</inkml:trace>
  <inkml:trace contextRef="#ctx0" brushRef="#br0" timeOffset="119510.78">14446 12153 0,'0'18'297,"0"17"-281,0-17-16,0-1 15,0 1 1,0 0 31,0-1-47,0 19 16,0-19-1,0 1 16,0 52 1,0-17-1,0-35-15,0 0-1,0-1 1,0 19-1,0-19 1,0 18-16,0 1 16,0 52-16,0-53 31,0-17-15,0-1 15,0-34 0,0-1-15,0-70-1,0 35 1,0 0-16,0-53 16,0 53-1,0-35 16,0 53-31,0 17 32,0-17-32,0-36 31,0 36-31,0 0 31,0 17 0,18 18 48,0 0-79,-18 53 15,0-18 1,17 1-16,1-1 0,-18 53 15,0-53 1,17 1 15,-17-1-15,18-17 0,35 17-1,-18-17 1,36 70-1,17 35 1,-70-87 0,-1-1-1,19-18 1,-36 1-16,0 17 16,0-17-1,0 0 16</inkml:trace>
  <inkml:trace contextRef="#ctx0" brushRef="#br0" timeOffset="120680.53">14499 12735 0,'53'-17'250,"-35"-1"-250,52 0 0,-17 18 16,-35 0-1,35-17-15,70 17 32,-105 0-32,52 0 31,-17 0 16,-17 0-16,-19 0 0,1 0 0</inkml:trace>
  <inkml:trace contextRef="#ctx0" brushRef="#br0" timeOffset="124761.51">17480 11889 0,'0'17'219,"0"1"-219,0 0 16,0-1-16,0 1 15,0 17-15,0-17 16,0-1 0,0 1-16,0 0 0,35 87 31,-17-87-31,-18 141 31,18 0 16,-18-54-16,0-52-15,0-35 15,0 0 0,0-1 1,0-34 155,0-19-171,0 19-1,0-1-15,-18-17 16,18 17 0,-18-35-1,18 0 1,0 36 15,0-1-15,0-17-16,0 17 15,0 0 1,0 1-16,0-18 47,-17-1-47,17 19 15,0-1 1,0 0 0,0 1-1,0-1 32,0 0-47,0 1 16,0-18 15,0 17-15,0 0-16,0 1 31,0-19-31,0 1 31,0 17-15,0-17-1,0-18 1,0 36 15,0-1 1,0 0 14,0 1-30,17 17 31,1 0-31,0 0 30,-1 0 33,1 0-64,-18 17-15,0 1 16,0 0 15,0-1-31,0 19 16,0-19-1,0 1 17,0-1-17,0 1 1,0 0-16,0 17 31,0-17-15,0-1-1,0 1 17,0 0-17,0-1 1,0 1 15,-18-1 0,18 1 1,-17-18-1,34 0 313,1 0-344,0 0 15,-1 0 1,1 0-1,0 0 17,-1 0-32,1 0 47,-1 0-16,1 0-16,0 0 17,-1 0 15,-17 18 15,0-1-46,0 1 15,0 0 0,0-1-31,0 19 16,0-19-1,0 1 1,0-1 0,-17-17 15,17 18-15,-18 0 15,18-1-16,-18-17 1,1 18 0,17 17-1,-18-35-15,1 36 16,-1-36 0,0 35-1,1-17 1,-1-18-1,0 17 1,18 1 0,0-1-1,-17-17 1,-19 0 31,36 18-47,0 0 31,-17-18-15,-1 0 62</inkml:trace>
  <inkml:trace contextRef="#ctx0" brushRef="#br0" timeOffset="146330.59">15699 5891 0,'0'-17'344,"17"17"-329,1-18 16,0 18-31,-1 0 0,1 0 32,-1 0-32,36-53 15,0 53 32,-35 0 0,0 0-16,-1 0 1,18 0-17,-17 0 63,0 0-46,-1 0 14</inkml:trace>
  <inkml:trace contextRef="#ctx0" brushRef="#br0" timeOffset="147600.37">15840 6103 0,'17'0'297,"1"0"-297,17 0 15,-17 0 1,0 0-16,-1 0 0,1 0 31,52 0 1,-52 0-1,0 0-16,-1 0 1,1 0 0,0 0-1,-1 0 1,1 0 0,-1 0-1,1 0 63</inkml:trace>
  <inkml:trace contextRef="#ctx0" brushRef="#br0" timeOffset="149431.5">16475 5415 0,'0'-18'281,"35"18"-281,-17 0 16,-1 0-1,1-17-15,17 17 16,-17 0 0,35-18 15,-18 18 0,-17 0 32,-1 0 30,1 0-77,-18 18-16,0-1 16,18 19-1,17 34-15,0 54 32,-17-71-32,-1 35 15,-17-18 1,0-17-1,53 18 1,-53-53 0,18-1-1,-18 36 1,0-35 15,18 17-15,-1-35-1,-17 18 1,0-1 15,18-17-15</inkml:trace>
  <inkml:trace contextRef="#ctx0" brushRef="#br0" timeOffset="151134.03">16686 5909 0,'0'-18'297,"18"1"-266,17 17 1,-35-18 14,18 18-30,0 0 0,-1-18 15,1 1 16,-18-18-32,17 35 1,19 0 15,-36-18 16,17 18-31,-17-18-1,18 18 17,0 0-32,-1 0 47,1 0-16,-18-17 0,35 17 16,-35-18-31,18 18 15,-18-18 31,18 18-46,-1 0 15</inkml:trace>
  <inkml:trace contextRef="#ctx0" brushRef="#br0" timeOffset="152955.51">17233 5397 0,'0'18'281,"0"0"-265,0-1-16,0 19 15,0-19 1,18-17-16,-18 18 15,0 0-15,0-1 16,0 1 0,0 0-16,35-1 31,-17 18 16,-1-35-47,36 36 31,-35-36-15,17 17-1,18 1-15,-35-18 32,-1 0-32,1 18 15,0-18 1,-1 0-16,36 0 31,-35 0-15,17 0-1,-17 0 17,-1 0-1,-17-18-16,18 0-15,0-35 16,-18 1 15,0 34-15,0-17 0,0 17-1,0-35 1,0 0-1,-18 18 1,0 0 0,1 17-1,-1 0 1,18 1 15,-17-1-31,-1 0 16,0 18 15,-17 0-31,17-17 0,1 17 31,-36 0-15,17 0 0,19 0-1,-18 0 1,-1 0-1,1 0 1,17 0 0,18 17-1,-17 1 32,17 0-31</inkml:trace>
  <inkml:trace contextRef="#ctx0" brushRef="#br0" timeOffset="154432.44">18133 4974 0,'0'35'234,"0"1"-218,0-1-16,0-17 15,0-1 1,0 36 0,0-35 15,0-1 47,0 1-47,0 0-31,0-1 32,0 1-17,0 0 16,0-1 16,0 1 0,17-18-47,-17 18 31,0-1 1,0 1-1</inkml:trace>
  <inkml:trace contextRef="#ctx0" brushRef="#br0" timeOffset="155170.91">18062 5292 0,'0'0'15</inkml:trace>
  <inkml:trace contextRef="#ctx0" brushRef="#br0" timeOffset="155872.26">18397 5186 0</inkml:trace>
  <inkml:trace contextRef="#ctx0" brushRef="#br0" timeOffset="158301.37">18715 11324 0,'35'0'281,"-17"0"-266,-1 0-15,1 0 16,0 0 0,-1 0 15,1 0-15,17 0-1,-17 0 32,0 0-16,17 0 1,-18 0-1,19 0 31</inkml:trace>
  <inkml:trace contextRef="#ctx0" brushRef="#br0" timeOffset="159630.43">18768 11571 0,'17'0'297,"1"-18"-266,0 18-31,-1-17 31,1 17 1,17-18-17,-17 18 1,0 0-1,-1 0 32,1 0-47,-1 0 32,19 0-1,-19 0 0</inkml:trace>
  <inkml:trace contextRef="#ctx0" brushRef="#br0" timeOffset="161950.6">19315 11289 0,'17'0'297,"1"0"-282,-1 0 1,1 0-16,0 0 31,-1 0-15,19 18 0,-19 17-1,1 35 16,-18-52-31,0 88 16,0-18-16,0-35 16,0-18 15,0 18-31,0-35 31,0-1-15,0 1 15,0 0-31,0-1 16,0 19-1,0-19 1,18-17 46,-1 0-62,1 0 32,0 0-17,17 0 1,-18-35-16,19-18 31,-19 18-31,-17 17 16,0-35-1,0 36 17,0-1 15,0 0-1,-17 18-14,-1 0-17,0 0 1,1 0 0,-1-17-1,1 17 1,-1 0-1,-17 0 1,-18 0 0,35-36-1,0 36-15,1-17 16,-19-1 15,-16-35-15,34-17 15,0 52-31,1 18 16,17-18 15,-18 18 16,18-17-32,0-1 64</inkml:trace>
  <inkml:trace contextRef="#ctx0" brushRef="#br0" timeOffset="164462.64">19791 11218 0,'0'-17'282,"17"-1"-267,1 18 1,0-18-16,17-17 31,36 35 0,-54 0 1,36 35-1,-35-17-15,-18 0-16,17-1 15,1 19 1,-18-1-1,0 0-15,0 36 32,0-18-32,0 35 31,0-71-15,0 19-1,0 17 1,0-18-1,0-17 1,0 17 15,0-18 1,0 1-17,18-18 1,-1 0-1,1 18-15,17-18 16,-17 0 0,17 0 15,-17 0 0,-1 0-15,1 0-1,0 0 1,-1 0 0,-17-18 15,0 0-15,0 1 15,0-1-16,0 1 17,0-1-17,0 0 1,0 1 0,-17-1-1,-1 0 1,-17-17-1,17 35 1,1-18-16,-1-17 16,0 18-1,18-1 1,-17 0 0,-1 18-1,-17-17 1,17-1-1,0 18 1,-35 0 0,18-35 15,18 35-15,-1-18-1,0 18-15,-17 0 16,17-18-16,-17 18 31,17-17-15,-17 17-1,18 0 17,-1-18-17,0 1 16,18-1 16</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2-01-25T02:46:51.948"/>
    </inkml:context>
    <inkml:brush xml:id="br0">
      <inkml:brushProperty name="width" value="0.05292" units="cm"/>
      <inkml:brushProperty name="height" value="0.05292" units="cm"/>
      <inkml:brushProperty name="color" value="#00B0F0"/>
    </inkml:brush>
  </inkml:definitions>
  <inkml:trace contextRef="#ctx0" brushRef="#br0">3757 2240 0,'0'18'297,"0"-1"-281,0 1-1,0 0-15,0 17 16,0-17-16,-18-1 16,18 1-16,-17 17 0,-18 71 62,35-35-31,-18-19 1,18-34-32,0 17 31,0 1 0,-18-1-15,18-17-1,0-1-15,0 1 32,0-1-17,0 1 16</inkml:trace>
  <inkml:trace contextRef="#ctx0" brushRef="#br0" timeOffset="1290.49">3528 2099 0,'17'18'297,"1"-18"-281,0 0-16,-18 17 15,17-17-15,19 0 16,-19 0 0,1 0-1,0 0 1,-1 0-1,89 18 17,-53-18-1,-35 0-31,17 0 31,-18 0 0,1 0-15,0 0 0,-1 0 15,1 0-15,0 0-1,-1 0 1,1 0 15,-18 18-15</inkml:trace>
  <inkml:trace contextRef="#ctx0" brushRef="#br0" timeOffset="2739.47">4180 2417 0,'0'17'328,"0"18"-312,0-17 30,0 0-30,0-1 15,0 1 1,0 0-32,0 87 31,0-34 0,0-53 0,0-1-15,0 1 78,-17-18 15,-1 0-93,18-35-16,0-1 15,0 1-15,0-35 32,-18 52-32</inkml:trace>
  <inkml:trace contextRef="#ctx0" brushRef="#br0" timeOffset="3878.01">4092 2346 0,'18'0'282,"-1"0"-267,19 0-15,-19 0 31,1 0-31,0 0 16,-1 0 0,19 0-1,-19 0 1,1 0 15,0 0 16,-1 0-16,1 0-15</inkml:trace>
  <inkml:trace contextRef="#ctx0" brushRef="#br0" timeOffset="5289.71">4057 2875 0,'18'0'297,"-1"0"-265,1 0-1,-1 0-31,1 0 31,0 0 0,-1 0 1,36 0 14,-35 0 33,0 0-48</inkml:trace>
  <inkml:trace contextRef="#ctx0" brushRef="#br0" timeOffset="7981.42">4586 2328 0,'0'18'297,"0"0"-282,0 17-15,0-17 16,0-1-16,0 1 16,0-1-1,0 1-15,0 17 16,0-17-1,0 17 17,0 18-17,0-35 1,0-1 15,0 1 0,0 0 1,0-1-17,0 1 32,0 0 0,0-36 47,0-17-94,0 17 15,-18-17-15,18-18 16,0 35-16,-17-17 31,17 0-31,0 17 47,0 0-47,0 1 31,0-1-31,0 1 0,0-1 47,0 0-31,0 1 0,0-1-1,0 0 1,0 1-1,0-1 17,0 0-17,17 1 17,36-36-17,0 53 16,0 0-15,-35 0 0,-1 0-1,1 0 1,17 0 0,1 0-1,-19 0-15,19 0 31,-36 35-15,17-35 0,1 18-1,-18-1 1,18 1 0,-1 0-1,-17-1 1,18 19-1,-18-19 1,0 1 0,0 0-1,0-1-15,0 1 16,0 17 0,0 0-1,0 1 1,0-1-1,0 18 1,0-36 0,0 19-1,0-19 1,0 19 15,0-19 0,-18-17 1,18 18-17,-35 0 1,17-1 0,1-17-16,-1 0 15,-35 18 1,35-18 15,1 0-15,-1 0-1,0 0-15,-34 0 16,34 0 15,-17 0-31,-1 0 31,19 0-31,-1 0 32,0 0-17,18-18 79</inkml:trace>
  <inkml:trace contextRef="#ctx0" brushRef="#br0" timeOffset="10151.2">7144 2399 0,'0'18'390,"0"17"-374,0-18-1,0 1 1,0 0-16,0-1 78,0 1-62,0 0 15,0 17-15,0 0 31,0-17-32,0-1 32,0 1-31,0 0-1,0 17 1,0-17 0,0-1-1,0 1 1,0 0 46,0-1-15</inkml:trace>
  <inkml:trace contextRef="#ctx0" brushRef="#br0" timeOffset="11385.43">7003 2434 0,'17'0'344,"1"0"-328,0 0-16,-1 0 15,1 0-15,-1 0 0,1 0 16,0 0-1,-1 0 1,1 0 0,0 0-1,17 0 17,0 0-1,0 0 0,-17 0-31,17 0 31,-17 0 1</inkml:trace>
  <inkml:trace contextRef="#ctx0" brushRef="#br0" timeOffset="12761.05">6844 2910 0,'18'0'297,"-1"0"-266,1 0-31,-1 0 15,1 0 1,0 0 0,-1 0-16,1 0 15,0 0 1,-1 0-16,1 0 16,0 0 15,17 0-31,0 0 31,0 0 0,-17 0 1,17 0-17,-17 0 1,0 0 31,-1 0-32,36 0 1,-35 0-16,17 0 16,-17 0 15,-1 0-16</inkml:trace>
  <inkml:trace contextRef="#ctx0" brushRef="#br0" timeOffset="14410.14">7620 2487 0,'0'18'343,"0"-1"-343,0 1 0,0 17 32,0-17-1,0 0-31,0-1 31,0 54 0,0-18 1,0-36-32,0 1 31,0 0-16,0 17 1,0-18 0,0 1-1,0 0 17,0 17-17,0-17 32,0-1-31,0 1-1,18-18 32,-1 18-16,1-18-15,0 0 0,-1 0-16,18 0 15,-17 0 1,0 0 15,-1 0 16</inkml:trace>
  <inkml:trace contextRef="#ctx0" brushRef="#br0" timeOffset="15359.69">7620 2716 0,'18'0'281,"-1"0"-266,1 0 1,0 0-16,-1 0 16,1 0 15,-1 0 0,1 0 32</inkml:trace>
  <inkml:trace contextRef="#ctx0" brushRef="#br0" timeOffset="19028.84">7937 2734 0,'18'0'297,"-18"-18"-281,18 18-16,-18-17 47,0-1 0,0 0-16,0 1-15,0-1-1,0 1 1,0-1-1,0 0 17,-18 18-1,18-17-15,-18 17-1,1 0 1,-1 0 15,1 0 32,-1 0-63,18 17 31,0 1-31,0 0 0,0-1 15,-18 18 1,18 1 0,0-19-1,0 1 1,0 0-16,0-1 31,0 1-15,18 17-1,0 0 1,17-17 0,0 0-1,-17-1 1,52 1 0,-17-18-1,-35 0 1,35 0-1,-18 0 17,-17 0-17,-1 0-15,1-18 32,35-52-17,-53 35 1,0-1-1,0 19 17,0-1-32,0 0 15,0-17 17,0 17-1,0 1 16,0-1-16,0 36 47,0-1-62,0 1-16,0 0 15,0-1 1,0 1-16,0 0 16,0-1-16,0 1 15,0 17 1,0 0-1,0-17 17,0 0-17,0-36 95,0 0-95,0-17 1,0 18-16,0-1 16,-35 0-16,35 1 15,0-36 1,0 17 15,0 19 0,0-1-31,0 1 32,17-1-17,-17 0 1,0 1-1,18 17 1,0 0 0,-1 0-1,1 0 17,-1 0-17,19 17 1,-19 19-1,-17-1 1,0-18 15,0 1-15,0 0 0,0-1 15,0 1 16,18-18 125,-18-18-172,0 1 15,18-1 1,-18 0-1,17 18-15,-17-17 16,36-18 0,-1 17-1,-18 0-15,1 1 16,0 17 0,-1 0-1,1 0 32,17 0-47,-17 0 31,0 0-15,-1 0 0,1 0 15,-18 17-16,18 1 1,-18 0-16,0-1 16,0 18-1,35-17 1,-35 0 0,0-1-1,0 1 16,0 0-15,0-1 15,0 1-15,0 0-16,0 17 94</inkml:trace>
  <inkml:trace contextRef="#ctx0" brushRef="#br0" timeOffset="20608.73">9119 2505 0,'-17'17'265,"-1"-17"-249,0 18 0,1 17-16,-19 1 0,19-19 0,-36 36 31,35 0 0,18-35 47,18-18 16,0 0-94,17 0 16,-18 0-16,1 0 15,0 0 17,-1 0-32,1 0 31,0 0 0,-1 0 0,-17 17-15,18 1 0,-18 0-1,0-1 1,0 1-1,0-1 1,0 1 0,0 17-1,0-17 1,-18 17 0,-17-35-1,-18 18 16,35-18-31,-17 0 16,0 0-16,17 0 31</inkml:trace>
  <inkml:trace contextRef="#ctx0" brushRef="#br0" timeOffset="24149.51">4163 3775 0,'0'35'297,"0"-17"-281,0-1-16,0 1 15,0 0 1,0-1 0,0 1-16,0-1 31,0 1 0,0 0 0,0-1-15,0 19 15,0-19-15,0 19 0,0-19-1,0 1 1,0-1 15,0 1-15,0 0-1,0 17 1,0-17 0</inkml:trace>
  <inkml:trace contextRef="#ctx0" brushRef="#br0" timeOffset="26607.2">7514 3863 0,'0'18'281,"0"-1"-265,0 1-16,0 17 15,0-17-15,0-1 16,0 1-16,0 0 15,0-1 1,0 1 0,0 17-1,0-17 48,0-1-48,0 19 1,0-19 0,0 19-16,0-19 15,0 1 17,0 0-17,0-1 32,0 1-16</inkml:trace>
  <inkml:trace contextRef="#ctx0" brushRef="#br0" timeOffset="28078.81">7814 4251 0,'0'18'297,"0"-1"-266,0 1-31,0 0 31,0 17-31,-18-35 31,18 17-15,0 1-16,0 0 47,0-1 31,0 1 0</inkml:trace>
  <inkml:trace contextRef="#ctx0" brushRef="#br0" timeOffset="31309.36">8202 3881 0,'18'0'344,"-1"0"-313,1 0 0,0 0 1,-1 0-17,1 0 32,0 0 16,-1 0-32,1 0 16,-18 17-16,0 1 0,0-1-15,0 1-16,0 0 31,0-1-31,0 1 16,-18 35-16,1-35 31,-1 17-15,-17-18 15,35 1 0,-18-18 16,18 35 0,-18-35-47,36 0 297,0 0-266,-1 0-15,1 0-16,0 0 15,-1 0 16,1 0-31,-1 0 47,1 0-31,0 0 31,17 18-16,-35 0 0,0-1-31,18-17 16,-18 18 0,0 0-1,0-1 16,0 1-15,0 0 15,0-1 1,0 1 46,0-1-78,-36-17 31,19 18 0,-1-18 0,18 18-31,-18-18 0,1 0 16,-18 17 0,17-17-1,0 18 1,1-18 15,-1 0 0</inkml:trace>
  <inkml:trace contextRef="#ctx0" brushRef="#br0" timeOffset="32876.32">8802 4339 0,'-18'18'313,"18"-1"-298,-17 1 1,17 0 0,0-1 62,0 1-47,0 0-15,0-1 46,0 19-46</inkml:trace>
  <inkml:trace contextRef="#ctx0" brushRef="#br0" timeOffset="35417.07">9066 3933 0,'0'18'297,"0"0"-282,0-1-15,0 1 16,0 17 0,0-17-16,0 0 15,0-1-15,0 1 16,0 35 0,0-36 15,0 19 16,0-19-16,0 1-15,0 0-1,0-1 16,0 1 16,18-18 16,0 0-32,-1 0-15,1 0-1,0 0 1,34 0 0,-34 0-1,0 0-15,-1 0 16,19 0-1,-19 0 17,1 0-32,0 0 31,-18-18 47,0 1-62,0-1 15,0 0 47,-18 18-62,18-17-1,-18 17 1,1 0 15,-1 0 0,18 17 48,0 1-64,0 0-15,0-1 16,0 1-1,0 0-15,0-1 16,0 1 0,0-1 15,0 1-31,0 0 16,0-1 15,0 1-16,0 0 17,0-1 15,0 1-16</inkml:trace>
  <inkml:trace contextRef="#ctx0" brushRef="#br0" timeOffset="38261.65">4110 5556 0,'17'0'328,"-17"-17"-312,18 17 15,0-18-31,-1 18 16,-17-18-1,18 18-15,88-17 32,-71 17-1,0 0-15,18 0 15,-17 0 0,-1 17 0,-17-17-15,-18 36 0,0-19-1,17 19 1,-17-19-1,0 1-15,0 70 32,-17-35-32,-54 0 31,36-36-15,17 1-16,-35 17 0,18 1 31,0-19-16,17 1 17,0 0-17,1-18 1,17 17 0,-18-17-1,18 18 48,0-1-16,35-17-47,-17 18 15,35-18 1,0 0-16,17 18 15,-17-18 1,18 0 0,-36 0-1,-17 0 1,17 0 15,-17 0 0,-1 0 1</inkml:trace>
  <inkml:trace contextRef="#ctx0" brushRef="#br0" timeOffset="41470.48">7391 5433 0,'0'-18'375,"35"18"-344,-35-18-31,18 18 31,-1 0 0,1 0 16,-18 18-16,18 0 1,-18-1-32,0 1 31,0 0-31,0-1 16,0 1-16,0 17 31,0 1-16,0-1 1,-18-18 0,18 19-1,0-19-15,-18 1 16,-17 17 0,0 18-1,35-35 1,-18-1-1,18 19 17,0-19-17,-18-17 1,18 18 93,18-18-93,0 0 0,-1 0-16,19 0 15,-19 0 16,1 0 1,0 0 15,-1 0-16,18 0 0,-17 0 32</inkml:trace>
  <inkml:trace contextRef="#ctx0" brushRef="#br0" timeOffset="42580.15">7779 5856 0,'0'18'281,"0"-1"-265,0 1 15,0 0-15,-18-18-16,18 17 16,0 19-1,-18-36-15,18 17 31,0 1 1,-17 17-17,-18-17 17,35 17-1,0-17-16,0-1 48</inkml:trace>
  <inkml:trace contextRef="#ctx0" brushRef="#br0" timeOffset="45090.21">8167 5521 0,'17'0'297,"-17"-18"-282,36 18 1,-36-17 0,17 17-16,1-18 15,0 0-15,-1 18 0,1 0 16,17 0 0,-17 0-16,17 0 31,0 0 0,-17 18 0,-18 0-31,35 35 32,-17-18-1,-18-17 0,0 17-15,0 0-16,0-17 31,0-1-31,0 1 16,-18 17-1,1-17 1,-19 0-1,36-1 1,-17-17 0,-1 0 15,0 0 0,1 0 16,34 0 47,1 0-94,0 0 0,-1 0 15,1 0 1,0 0 0,-1 0-16,1 0 31,0 0 0,-1 0-15,-17 18 31,0-1-32,18-17 1,-18 18-16,0 0 16,0-1-1,0 1 1,0 17-1,0-17 17,0 0-17,0-1 1,0 1 15,0-1-31,-18 1 31,1-18-31,17 18 16,-36-1-16,1-17 16,0 0-1,17 0 17,0 0-17,1 0 16,-18 18-15,17-18 0,0 0-1</inkml:trace>
  <inkml:trace contextRef="#ctx0" brushRef="#br0" timeOffset="46319.95">9049 6103 0,'0'18'281,"-18"-1"-281,18 1 31,-18 0-31,18-1 0,0 1 47,-17-18-47,17 18 31,-18-1 16,18 1-31,-17-1-1,17 1 32,0 0-31,0-1 31</inkml:trace>
  <inkml:trace contextRef="#ctx0" brushRef="#br0" timeOffset="49454.46">9507 5415 0,'18'0'282,"-36"18"-189,1-18-77,-1 0 0,0 0-16,-17 17 15,18-17 1,-54 0 15,53 0 0,1 0 1,-1 0-1,18 18 0,0 0-15,0-1-1,0 19-15,0-19 16,0 19 15,0-1-15,0 0 0,18 0-1,-1 1 1,-17-19-1,36 19 1,-19-19 0,-17 1-1,0-1 32,18-17-47,0 0 94,-1 0-63,1 0 32,-1 0-32,1 0 16,0 0-32,-1 0 17,1 0-17,0 0 17,-1 0-1,19 0-16,-19 0 17,1 36-17,-18-19 1,0 19-16,17-19 16,-17 1 15,0 35-16,0-18 1,0-17 0,0 17-1,0-17 17,0-1-17,0 19 1,0-19-1,-17-17 1,-1 0 0,18 18-1,-35-18 1,17 0 15</inkml:trace>
  <inkml:trace contextRef="#ctx0" brushRef="#br0" timeOffset="52480.21">4339 7320 0,'0'-35'516,"35"17"-516,1 1 15,-19-1-15,1 18 0,17 0 16,-35-18-16,18 18 16,0 0-16,-1 0 31,1 0-15,-1 0 15,19 0 0,-36 18 0,35 35-15,-35-36-16,0 36 47,0-35-32,0 17-15,0 1 32,0-19-17,0 1-15,-18 17 16,-17 0 0,17-17 15,18 0-16,-35-18 1,18 17 0,-19-17-1,19 18 1,-1-18-16,0 0 62,36 0 1,35 0-47,-35 0-16,-1 0 0,1 0 15,17 0 1,0 0-1,-17 0-15,0 0 16,-1 0 0,1 0-1,0 0 17,-18 18-17,35 17 16,-35-17-31,17-18 0,-17 35 32,0-18-17,0 19 1,0-1 15,-35-17-31,18-1 16,-19 1-1,1-18 1,0 0 0,17 0-1,0 0 1,1 0 0</inkml:trace>
  <inkml:trace contextRef="#ctx0" brushRef="#br0" timeOffset="55930.31">6844 7108 0,'0'18'297,"0"17"-297,0-17 16,0 0 0,0-1-16,0 1 15,0 0 1,0-1-16,0 36 31,0-35 0,0-1 16,-18 1-16,18 17 16,0-17-15,0 0-1,0-1 31,0 1-46,0 0 15</inkml:trace>
  <inkml:trace contextRef="#ctx0" brushRef="#br0" timeOffset="57318.75">7232 7461 0,'0'18'297,"0"0"-265,0-1-17,0 1 1,0-1 15,-18-17-31,18 18 16,0 0 46,0-1-15,0 1 31,0 0-62,0-1-1,0 1 1,0 0 0,0-1-1,0 1 17</inkml:trace>
  <inkml:trace contextRef="#ctx0" brushRef="#br0" timeOffset="59657.25">7585 7179 0,'17'0'297,"-17"-18"-282,18-17 17,0 17-1,17 18 0,-17-17 0,-18-1-31,70 1 32,-52 17-17,-1 0-15,1 0 16,0 0-1,-1 0 17,1 0 15,0 17-16,-18 1-16,0-1 32,0 19-47,0-19 32,0 1-32,0 0 31,0-1-31,0 1 15,0 0-15,-18-1 16,0-17 0,18 18 15,-17-1-15,-1 1-1,-17 0-15,17 35 31,0-36-15,1-17 0,-1 36-1,1-19 1,-19 19 0,36-19-1,-17-17 32,17 18 47,0-1-63,35-17-15,-17 0-16,-1 0 15,1 0 1,-1 0 0,19 0-1,-1 0 1,-17 0-1,-1 0 1,1 0 0,0 0 31,-1 0-32,1 0 32,-18 18-31</inkml:trace>
  <inkml:trace contextRef="#ctx0" brushRef="#br0" timeOffset="60911.46">8184 7532 0,'0'17'344,"0"1"-313,0 0-15,0-1-1,-17 1-15,17 0 16,0-1 0,0 1-1,0 17 16,0 18 16,0 0 0,0-35-47,0 17 16</inkml:trace>
  <inkml:trace contextRef="#ctx0" brushRef="#br0" timeOffset="62799.13">8502 7302 0,'18'0'234,"-18"-17"-234,17 17 16,1 0-16,-1 0 0,1 0 31,0 0-31,-1 17 15,1 1 1,0-18-16,-18 18 0,0 35 31,17-36-15,-17 36 15,0 35 0,0-35 1,0-17-17,0-19 32,0 19-16,-17-36-31,-1 0 16,0 0 31,36 0 47,0 0-94,-1-18 0,-17 0 15,36 18 1,-19 0 15,19 0-15,-19 0 46,1 0-46,-18 36-16,0-19 31,0 1-31,0-1 16,0 19-1,0-1 1,0-17 0,0-1-1,0 1 1,0 0 15,-18-1-15,-17-17-16,17 35 31,-17-35-31,17 0 31,1 0-15</inkml:trace>
  <inkml:trace contextRef="#ctx0" brushRef="#br0" timeOffset="63872.12">8996 7920 0,'0'17'297,"0"1"-297,0 0 31,0-1-15,0 1 0,0 0-1</inkml:trace>
  <inkml:trace contextRef="#ctx0" brushRef="#br0" timeOffset="66339.75">9560 7232 0,'18'0'234,"0"0"-187,-1 0 0,1 0-16,-53 18 94,17-1-125,-17 1 16,-36-1 0,53 19-1,1-1 1,-18-35-16,17 18 0,0-18 31,1 0-31,-1 0 31,18 17 1,0 19-17,-18-19 1,18 19 0,0-19-16,0 1 15,0-1 32,0 1-47,18-18 188,0 0-188,-1 0 15,1 0-15,17 0 16,-17 0-1,-1 0 1,1-18-16,17 18 31,18 0-15,-35 0-16,0 0 31,-1 0-15,18 0-1,-17 0 1,0 18 0,-1 0 15,1 17-15,0-17 15,-18-1-31,0 1 31,0 0-15,0-1-1,0 18 1,0-17 0,0 17-1,0-17-15,0 0 16,0 17-1,-18 0 1,0-35-16,-17 18 16,0-1-1,17-17 1,1 0-16,-1 0 16,0 0 15,-17 0-31,0 0 31,17 0-15,0 0 15,1 0-15</inkml:trace>
  <inkml:trace contextRef="#ctx0" brushRef="#br0" timeOffset="68731.27">9472 7232 0,'18'0'281,"-1"0"-265,1 0-16,0 0 31,-1 0-31,1 0 16,0 0 15,-1 0-31,1 0 31,-1 0 0,1 0 1,0 0-1,-1 0-31,1 0 47,17 0-32,-17 0 17,0 0-1,-1 0 31,1 0-46,-1 0 31</inkml:trace>
  <inkml:trace contextRef="#ctx0" brushRef="#br0" timeOffset="71320">4445 9331 0,'0'35'297,"0"-17"-281,0 0-16,0-1 15,0 18-15,0-17 32,0 0-32,0-1 31,0 1 0,0 0-15,-18-18 31,18 35-16,0-17 0,18-18 16,35 0-31,17 0-16,-17 0 0,71 0 31,-71 0-31,17 0 16,-34 0-1,-19 0 1,1 0 15,0 0-15,-18-36 15,35 19-31,-35-19 16,0 19-1,0-36 1,0 35 15,0 1-15,0-1-1,0 0 17,-18 18 14,1 0-14,-1 0-17,0 0 1,1 18-16,17 17 16,-18 18-1,18-18 1,0-17-1,0 17 1,0 1 0,0-1-1,0-18 1,0 36 0,0-17-1,0-19 1,0 19 31</inkml:trace>
  <inkml:trace contextRef="#ctx0" brushRef="#br0" timeOffset="74941.17">7267 9155 0,'0'-18'297,"0"0"-265,18 18-17,-18-17 1,17 17 31,1 0-47,17 0 31,-17 0 0,17 0 0,-17 0 1,-18 35-1,0-17 0,0-1-31,0 1 16,0-1-1,0 19 1,0-19-16,0 19 31,0-19-15,0 1-16,0 17 16,-35-17-1,35 17 1,-53 36-1,35-36 1,0 0 0,1 1-1,17-19 1,0 1 15,0-1 0,-18-17-15,36 0 140,17 0-140,0 0 0,-17 0-1,0 0 1,-1 0 15,1 0 32,0 0-48,17 0 1,-17 0-1,-1 0-15,1 0 32</inkml:trace>
  <inkml:trace contextRef="#ctx0" brushRef="#br0" timeOffset="76161.23">7726 9578 0,'0'18'297,"0"-1"-281,0 1-16,0 17 0,0-17 15,0 17 1,-18-35-16,18 18 16,0-1-16,0 1 15,0 0 16,0-1 1,-17-17-32,17 35 31,0-17 31</inkml:trace>
  <inkml:trace contextRef="#ctx0" brushRef="#br0" timeOffset="79291.39">8079 9190 0,'17'0'250,"1"0"-234,0 0 15,-1 0 1,1 0 30,-1 0 47,36-18-93,-17 1 0,-1 17-1,-17 0-15,17 0 32,-18 0-1,1 0 47,0 0-47,-36 0 79,0 0-95,-17 0-15,18 0 31,-1 0-31,18 17 16,-18-17 0,1 0-16,-1 0 15,-17 18 32,17-18-16,18 17 16,-18-17-15,18 18-17,-17-18 16,17 18-15,0-1 0,0 1-1,-18 0 1,18-1 0,0 1-16,-17 0 0,17-1 31,0 1-16,0 0 1,0-1 0,0 1-1,0-1 1,0 1 31,0 0-16,17-18 266,1 0-281,-1 0-1,1 0 48,0 0-32,-1 0-15,1 17 15,17 19 0,-17-36 0,0 53-15,-18-36 15,17 1-31,-17-1 16,0 1-1,0 0 1,0 17 0,0-17-1,0-1 17,0 1-17,-35 0 1,0-1-1,17-17 1,0 18 0,1-18-16,17 17 31,-18-17 0,0 0-15,1 0 15</inkml:trace>
  <inkml:trace contextRef="#ctx0" brushRef="#br0" timeOffset="82098.78">4516 11289 0,'17'0'219,"1"0"-219,17 0 15,-17 0-15,17 0 16,18 0-1,-18 0 48,0 0-47,-17 0 30,-53 0 48,-18 0-94,18 0 16,-36 0-16,1 0 15,17 0 1,17 0 0,19 0-1,-1 0-15,0 0 32,-17 0-32,18 0 31,17 53 0,0-18-15,0 0-16,0 1 15,0-1 1,0 0 0,0 0-1,0 1 1,0-19 15,35-17 157,-18 0-157,1 0-16,0 0-15,-1 0 0,1 0 16,17 0 0,-17 0-1,35-17 1,-18 17 0,0 0 15,-17 0-31,17 0 31,1 0-15,-19 0-1,1 0 32,-18 17-31,17-17-1,-17 18 17,0 17-17,0-17-15,0 0 32,0-1-32,0 1 15,0-1 1,0 1 15,0 0-15,0-1-1,0 19 1,-35-36 0,-53 0-1,70 0-15,-17 0 31,0 0-31,17 0 32,1 0-17,-1 0 1,0 0 31,1 0-32,-1 0 1,18 17 15,-18-17-15</inkml:trace>
  <inkml:trace contextRef="#ctx0" brushRef="#br0" timeOffset="85009.75">7814 10672 0,'0'17'219,"0"36"-219,0-18 15,0 1-15,0-1 16,0-17-16,0-1 0,0 1 15,0 17 1,0-17-16,0-1 0,0 1 16,0 105 15,0-52 0,0-53-15,0 35-1,0-18 17,0-17 15,0-1-32</inkml:trace>
  <inkml:trace contextRef="#ctx0" brushRef="#br0" timeOffset="86263.03">8008 11236 0,'0'18'297,"0"-1"-297,0 1 63,0 0-32,0 17 31,0-18-46,0 1 15,0 0-31,0-1 31,0 1-31,0 0 32,0 17-17,0-17 1,0-1 0,0 1-16</inkml:trace>
  <inkml:trace contextRef="#ctx0" brushRef="#br0" timeOffset="88815.34">8555 10830 0,'0'-17'297,"0"-1"-281,0-17-1,0 17 1,0 0 31,0 1-32,0-36 32,0 18 0,0 17-16,17 18 16,1 0-47,17 0 16,18 0 15,-35 0-15,17 0-16,-17 0 47,-18 35-47,18-35 31,-18 36-16,0-19-15,0 1 16,0-1 0,0 36-1,0-17 1,0-19 15,0 1-31,0 0 16,0 17 31,0-18-32,-18 1 1,18 0 0,-35-18-16,17 17 0,0 19 31,1-36-16,-1 17 1,0 1 0,-17 17 15,0-17-31,17 17 16,-17-17-1,17-18 16,1 17 16,34-17 47,1 18-78,17-18-16,-17 0 15,-1 0-15,1 0 16,17 18 0,-17-18-16,0 0 15,-1 0 1,1 0 31,17 0-32,-17 0 48,0 0-16</inkml:trace>
  <inkml:trace contextRef="#ctx0" brushRef="#br0" timeOffset="89910.26">9119 11201 0,'0'17'297,"0"1"-297,-17 0 15,17-1 1,0 19 15,-18-36-31,18 17 16,0 1 77</inkml:trace>
  <inkml:trace contextRef="#ctx0" brushRef="#br0" timeOffset="92472.61">9402 10689 0,'0'-17'219,"0"-1"-188,17 18-15,1 0-16,-1-18 15,19 1 1,-1 17 0,-17 0-16,17-18 31,-17 18 0,17 0 0,-18 0 1,19 0-32,-19 0 31,1 0-15,-18 18 30,0-1-30,0 1 0,0 0-16,0-1 15,0 18 1,0-17 0,0 0-1,0 35 1,0-18-1,0-17 17,-18 17-32,1-35 15,17 17 17,-18 1-17,0 0 16,1-18 1,-1 0-17,1 17 17,17 1 14,17-18 79,1 0-109,-1 0 0,1 0-1,-18 18 1,18-18 0,-1 0 15,1 0-16,-18 17-15,0 1 32,18-18-17,-18 18 1,17-1 0,-17 1-1,18-18 1,-18 17-1,0 1 1,0 0 15,0 17 1,0-17-1,0-1 0,0 1 16,-18-18-16,1 18-15,17-1-16,-18-17 15,0 0 1,1 0 0,17 36-1,-18-36 1,-17 0 0,17 17-1,1-17 16,-1 0 1</inkml:trace>
  <inkml:trace contextRef="#ctx0" brushRef="#br0" timeOffset="96400.6">4498 12753 0,'-18'0'234,"18"18"-218,-17-18-16,-1 17 16,0 1-16,1-1 0,-19-17 15,36 18 1,-17 17-16,-1-35 0,1 36 15,17-19 1,-18-17-16,0 18 0,1 0 16,-19 34-1,36 1 17,-17-53-17,17 53 16,0 0 1,0-17-1,0-19-15,0 18 15,17-17-16,36 0 1,-35-1 0,0-17-16,17 0 15,0 0 17,-17 0-17,-1 0 32,-52 0 187,17 0-234,18-17 16,-17 17 0,-1 0-1,1 0 1,-1 0 31,0 0-16,1 0-31,-1 0 63,0 0-17</inkml:trace>
  <inkml:trace contextRef="#ctx0" brushRef="#br0" timeOffset="101033.88">8061 12277 0,'0'-18'359,"0"0"-343,18 18-16,-1 0 15,1 0 1,0-17 0,17 17-1,-18 0 1,1 0-1,17 0 32,-17 0-15,-18 17-1,0 1-16,0 17 1,0-17-16,0 0 16,0-1-1,0 1 17,0 17-32,0 0 15,0 1 16,0-19-15,-18 1 0,18 0-1,-17-1 1,-1 1 0,0 0-1,-17-18 32,35 17 47,18-17-32,-1 0-30,1 18-17,0-1 1,-1 1 15,1 17-15,-18-17-1,0 0 1,35-18 0,-35 17 30,0 1-46,0 0 16,0 17 15,0-18-15,0 1 46,0 0-30,-17-18-17,17 17 1,-18-17 0,0 18-1,1-18 16,17 18-15,-18-18 0,0 0-1,-17 0 32,18 0-31,-1 0 15</inkml:trace>
  <inkml:trace contextRef="#ctx0" brushRef="#br0" timeOffset="102360.37">8731 12876 0,'0'18'297,"0"0"-282,0-1-15,0 19 47,0-19-15,0 1-1,0-1 0,0 1 16</inkml:trace>
  <inkml:trace contextRef="#ctx0" brushRef="#br0" timeOffset="105365.06">9296 12277 0,'17'0'296,"1"0"-296,35 0 16,-35 0-16,-1 0 16,1 0-16,-1 0 15,1 0 1,0 0 0,-1 0 15,-34 0 266,-1 0-297,0 0 15,1 0 17,-1 0 14,18 17 1,-17-17-15,17 53-17,0-35-15,-18-1 16,18 19-1,0-19 1,0 19 0,0 17-1,0-36 1,0 1 15,0 0-31,0 17 16,0 0-1,0-17 1,0-1 47,18-17 202,-1-35-234,1 17-31,-1 18 16,1 0 0,0 0-16,-1-17 31,19 17-31,-19 0 31,1 0-15,0 0-1,17 0 1,-18 0 0,1 0-1,0 17 1,-1 19 0,1-1-1,-18-17 1,0-1-1,0 1 1,0 17 15,0-17-15,0-1-16,0 1 0,0 0 31,0-1-31,-35 19 31,-1-1-15,1-35 0,18 18-1,-19-1 1,1-17 0,0 0-1,-1 0 1,1 0 15,18 0-15,-1 0-1</inkml:trace>
  <inkml:trace contextRef="#ctx0" brushRef="#br0" timeOffset="109660.02">3969 14393 0,'17'0'359,"19"0"-328,-19 0 32,1 0-48,0 0 17,-1 0-1,1 18 0,17-18 16,-17 0-31,-18 18-1,17-1 16,1-17-15,0 0 15,-1 0-15,1 0 0,-18 18 46,0 0-31,0-1-31,0 1 16,0-1 0,0 1-1,0 35 1,0-35-16,-18 35 15,1-36 1,17 1 0,0 35-1,-18-18 1,18-17 0,0 35-1,0-18 1,0 0 15,0-17-31,0-1 47,0 1-47,0 0 31,0-1 0,0 1 1,0 0 46</inkml:trace>
  <inkml:trace contextRef="#ctx0" brushRef="#br0" timeOffset="111140.24">4004 14870 0,'18'0'219,"17"0"-203,-17 0-1,-1 17 1,1-17 0,-1 0-16,1 0 15,17 18 1,1-18 31,-1 0-16,0 0 0,-17 0 32,0 0-32</inkml:trace>
  <inkml:trace contextRef="#ctx0" brushRef="#br0" timeOffset="113610.16">7320 14287 0,'0'18'281,"0"0"-265,0-1-16,0 1 15,0 0 1,0-1-16,0 19 15,0-19 1,0 1 0,0 0-16,0-1 15,0 1 17,0 17-1,0-17 16,0-1 0,0 1-16,0 0-16,0-1 32,0 1-15,0 0-17,0-1 1,0 1-16,0-1 31,0 1-31,0 0 47</inkml:trace>
  <inkml:trace contextRef="#ctx0" brushRef="#br0" timeOffset="114893.21">7673 14746 0,'0'18'313,"0"-1"-313,0 1 15,0 0-15,0-1 16,0 1-1,0 0-15,0-1 32,0 1 46,0-1-47</inkml:trace>
  <inkml:trace contextRef="#ctx0" brushRef="#br0" timeOffset="118007.9">8149 14287 0,'0'-17'312,"0"-1"-280,0 1-1,18-19 63,-1 36-63,1 0-15,0 0-1,-1 0 48,1 0-32,-18 18 16,18 0-32,-18-1 1,0 1 0,0-1-16,0 36 15,0-35 1,0 35-16,0 18 31,-18-36-15,0 18-16,18-18 31,-17-17-31,17 17 31,0-17 1,0-1-17,-18 1 1,18-1 31,0 1 0,18-18 31,-1 0-63,1 0-15,17 0 0,-17 0 16,0 0 0,17 0-1,-18 0 1,1 0-1,0 0 1,-1 0 15,1 0 1</inkml:trace>
  <inkml:trace contextRef="#ctx0" brushRef="#br0" timeOffset="119133.21">8696 14764 0,'0'17'281,"0"1"-265,0 0-1,-18-18-15,18 17 16,0 1-16,0 0 16,0-1-1,0 1 1,0-1 31,0 1-16,0 0 0,0-1 1</inkml:trace>
  <inkml:trace contextRef="#ctx0" brushRef="#br0" timeOffset="121214.93">8855 14111 0,'17'-18'313,"1"18"-313,17 0 0,1 0 16,-19 0-16,1 0 15,-1 0 1,19 0-1,-19 0 1,1 0 0,0 0 15,-18 18 0,17 0-31,-17-1 16,0 1-1,0 0 1,0 17 0,0-17-1,0-1 1,0 1-16,0 17 31,0-17-15,-53 35-16,18-18 31,0-17-15,-18 17-1,0-17 1,53-1 15,-18-17-15,54-17 62,-1-1-78,18 0 0,0-17 16,-18 17-1,18-17 1,-18 35-16,0 0 31,-17 0-15,0 0-16,17 0 31,-17 0-15,-1 18-16,-17-1 15,0 19 1,0 17-1,0-36 1,0 1 0,0-1 15,0 19-31,0-1 47,0-17-47,0-1 31,0 1 0,0 0 32,0-1-16,0 1-16</inkml:trace>
  <inkml:trace contextRef="#ctx0" brushRef="#br0" timeOffset="123212.19">9296 14728 0,'-18'18'297,"0"-18"-281,1 0 0,-19 0 15,19 0 0,-1 0 0,1 0 16,17 18-47,-18-18 31,0 0-15,-17 0 15,17 0 16</inkml:trace>
  <inkml:trace contextRef="#ctx0" brushRef="#br0" timeOffset="124650.06">9666 14764 0,'0'17'297,"0"1"-266,0 0 32,0-1-32,0 1 0,0 0-15,0 17 31,0 0-16,-18-35-15,18 18-16,0-1 15,0 36 16,-17-53-31,17 18 16,0 0 0</inkml:trace>
  <inkml:trace contextRef="#ctx0" brushRef="#br0" timeOffset="127396.4">10195 14164 0,'0'0'16,"0"-35"171,53 17-171,0 0 0,35 18-16,-17 0 31,-54 0-31,1 0 0,0 0 16,-1 0 30,1 0-14,0 0 15,-1 0-1,1 0-14,-36 0 93,1 0-125,-19 18 15,19-18-15,-36 18 16,35-18 0,-17 17-1,17-17-15,-35 18 16,18-18-1,0 18 17,17-18-17,18 17 1,-17 1 0,-19 35 15,36-36-16,0 1-15,0 0 16,0 17 0,0 18-1,0-18 1,0-17 0,0 0 30,0-1 1,18-17 235,0 0-267,-1 0 1,1 0-16,-1 0 15,1 0 1,0 0-16,-1 0 16,1 0-1,0 0-15,17 0 16,-17 0 31,-1 0-32,1 18 17,-18-1-1,0 1-31,17 0 16,-17-1 15,0 1-16,0 0 1,0-1 0,0 1-1,0 0 1,0-1 15,0 1 0,0-1-31,-17-17 0,-18 0 32,35 18-32,-36-18 31,-17 0-15,36 0-16,-36 0 31,35 0-16,1 0-15,-1 0 32,0 0-1</inkml:trace>
  <inkml:trace contextRef="#ctx0" brushRef="#br0" timeOffset="131160.96">13212 3881 0,'17'0'281,"18"-18"-265,-17 18-1,0 0-15,-1 0 16,1 0 15,0 0-15,-1 0 31,19 0 0,-36 18-32,0 52 16,0-35-15,-18 1 0,18-1-16,-18-17 15,18 17 1,0 0 0,0-17-1,-17 52 1,17-34-1,0-1 17,0 0-32,0 0 31,0-17-15,0 0-1,0-1 1,0 19 15,17-36-15,19 0-1,-19 0 1,1 0-16,-1 0 62,-17-18-15,0 0-31,0 1 0,0-1-1,0 0 32,0 1-31,0-1-1,-17 1 1,-1-1-16,18 0 16,-53 18-1,36-35 1,-19 17 15,1 1-15,0 17-16,17-36 31,1 36-15,-1-17-1,0-1 1,1 18-1,-1 0 1,18-18 15,0 1-15,-18 17-16,18-18 31,-17 18-15,17-17 15</inkml:trace>
  <inkml:trace contextRef="#ctx0" brushRef="#br0" timeOffset="134582.68">15716 3528 0,'0'17'281,"0"1"-265,0 0-1,0 17-15,0-17 0,0-1 16,0 1-16,0 0 31,0-1-31,0 18 31,0-17-31,0 35 32,0 35-17,0-35 32,0 0-16,0-35 1,0-1 15</inkml:trace>
  <inkml:trace contextRef="#ctx0" brushRef="#br0" timeOffset="135651.68">15840 4039 0,'0'18'282,"0"0"-267,0-1 1,0 1 0</inkml:trace>
  <inkml:trace contextRef="#ctx0" brushRef="#br0" timeOffset="138730.87">16140 3563 0,'17'0'281,"1"0"-265,-1 0 15,1 0 16,0 0 172,-1 0-204,1 0 64,0 0-48,-36 0 125,-17 0-140,17 0-1,-17 0-15,17 0 32,1 0-32,-1 0 15,-17 0 1,-1 0-1,19 0 17,-1 0 30,0 0-46,1 18-16,17-1 15,0 1-15,0 0 32,-18-18-17,18 17 1,0 1 0,0 0-1,0-1 48,0 1-1,18-18 1,17 0-63,18 0 15,-35 0-15,17 0 16,0 0 0,0 0-1,1 0 1,-19 0-1,1 0 32,0 0-47,-1 0 47,19 0-16,-19 0 1,1 0-17,0 0 17,-18 17 46,0 1-78,0 0 15,0-1 1,0 1-16,0 0 31,0 17-15,0 0-1,0-17 1,-18-1 15,0 1-31,-35-18 32,36 18-17,-1-18 1,0 35-1,1-35 1,-1 0 0,0 0 15,1 0 0,-1 0-31,1 0 31,-1 0-31,0 0 32</inkml:trace>
  <inkml:trace contextRef="#ctx0" brushRef="#br0" timeOffset="140934.46">13758 5256 0,'-17'0'312,"-1"0"-312,0 0 16,18 18-1,-17-18-15,-1 18 16,18-1-16,-18-17 0,18 18 16,0 0-1,0-1-15,0 18 31,-17 1 1,17 34-1,0-34 0,0-19-31,0 1 16,0 0-1,0 17 17,17-35 46,1 0-63,0-18-15,-1-17 16,1 0 0,17 17-1,-35-35-15,0 35 16,0-17 0,0 0-1,0-18 1,0 35-1,0-17 1,0 17 15,0 1-15,0-1 0,0 36 109,0 35-125,18-18 0,0 35 15,-18 54 1,0-36-1,0-53-15,0 18 16,17-35 0,1 17-1,-18 1 1,18-1 15,-18-18-31,0 1 31,17 0-15,-17-1 15,18-17 1</inkml:trace>
  <inkml:trace contextRef="#ctx0" brushRef="#br0" timeOffset="143088.41">15857 5080 0,'0'18'219,"18"-1"-219,-18 19 0,0-19 16,0 18-1,18 1-15,-1-1 16,-17-17-1,18-1-15,0 71 32,-1 89-1,-17-107 0,0 1 0,0-18 1,0-35 15</inkml:trace>
  <inkml:trace contextRef="#ctx0" brushRef="#br0" timeOffset="144389.21">16510 5609 0,'0'18'328,"0"-1"-281,0 1 0,0 0 0,0-1-16,0 1-31,0 0 31</inkml:trace>
  <inkml:trace contextRef="#ctx0" brushRef="#br0" timeOffset="146858.97">16933 5009 0,'0'-17'219,"0"-1"-188,0 1 1,0-1-32,53-17 31,-35 17-31,52 0 31,-34 18 0,-19 0 16,19 0-15,-19 0-17,1 0-15,0 0 31,-1 0 16,-17 18-31,0 0 15,0-1-15,0 1 15,0 0-15,0-1 31,0 1-16,0-1-31,0 1 15,0 0 1,0-1-16,0 1 31,-17 0-15,17-1 0,-18 1-1,18 0 32,-18-18-47,18 17 16,-17-17-1,17 18 17,17-18 124,1 0-156,0 0 15,-1 0 1,1 0 0,-1 0-1,36-18-15,18 18 32,-53 0-32,52 0 15,-35 0-15,-17 0 31,0 0-31,-1 0 32,1 0-32,0 0 31,-1 0-15,-17 18-1,0-1 1,18 1-1,-18 35 1,0-35 0,0-1-1,0 36 1,0-35 15,0-1-31,-18 19 31,-35-19-15,18 36 0,17-53-16,-17 18 15,0 0 1,0-18 0,-1 17-1,19-17 16,-1 0 16</inkml:trace>
  <inkml:trace contextRef="#ctx0" brushRef="#br0" timeOffset="152410.41">15628 7602 0,'-18'0'219,"1"0"-203,-1 18-1,0 0-15,1-1 16,-18 1-1,17 0-15,18-1 16,-53 71 15,35-17-15,18-36 31,0-17-16,0-1 16,0 1-16,36 17 32,-19-35-63,1 0 15,35 0-15,-18 0 32,-17 0-32,-1 0 15,1 0 16,0 0-15,-1 0 15,1 0-15,0 18 15,-1-18-15,-17 18 15,0-1 0,36-17-31,-36 18 16,0 0 15,0-1-31,0 19 31,0-19-31,0 1 16,-18 17 0,0-17-1,1 17-15,-1-17 16,0-18 0,1 17-1,-1-17 63,0 0-62,1 0 0,-1 0-1,0 0 1,18 18 140</inkml:trace>
  <inkml:trace contextRef="#ctx0" brushRef="#br0" timeOffset="154779.97">16051 8202 0,'0'18'203,"0"-1"-188,0 1 1,0 0-16,18-1 16,-18 1-16,0 0 15,0-1-15,18-17 16,-18 18 31,0-1-16,0-34 203,0-1-171,0 1-63,17-36 31,1 35-31,17 18 0,-17-35 31,-1 35-15,1 0 31,17 0-16,-17 0 0,0 0-15,-1 0 31,1 0-32,-18 17 1,18-17-16,-18 18 31,0 0-31,0-1 16,0 1 15,0 0 16,0-36 47,0 0-94,0 1 0,0-1 31,0-17-31,0 17 31,0 0-15,0 1 0,0-1-1,0 1 1,17 17 15,-17-18 0,18 18-31,0 0 32,-1 0-1,1 0 0,-1 0 0,1 0-15,0 0 0,-1 0-1,1 18 1,-18-1-1,18 1 1,-18-1 0,0 1-1,0 0 1,0-1 0,17-17-1,-17 18 1,0 0 15,18-18-31,-18 17 31</inkml:trace>
  <inkml:trace contextRef="#ctx0" brushRef="#br0" timeOffset="156140.14">16757 8096 0,'0'18'297,"0"0"-266,0-1-15,18-17 15,-18 18 32,17 17-1,1-17-30,-18-1-1,0 1 0,0 0 47</inkml:trace>
  <inkml:trace contextRef="#ctx0" brushRef="#br0" timeOffset="156910.57">16722 7867 0</inkml:trace>
  <inkml:trace contextRef="#ctx0" brushRef="#br0" timeOffset="158970.4">17022 8008 0,'0'18'312,"0"-1"-281,0 1-15,0 0 0,0-1 30,0 1 1,0 0-15,0 17-32,35 35 15,-35-52 1,0 35-1,0-35 1,0 17-16,0-18 31,0-34 219,0-1-250,0 1 16,0-1-16,0 0 31,0 1-15,0-1-1,0 0 1,0-17 0,0 17 15,0 1-15,17 17 46,-17-18-31,18 18-31,0-17 16,-1 17 15,1 0-15,0 0-1,-1 0 1,1 0 31,0 0-47,-1 0 16,1 0 15,-1 0-16,1 0 1,0 17 0,-1 1-1,1-1 1,0 36-16,-18-35 31,0 17-15,17-35-1,-17 18 17,36 0-17,-36-1 17,0 1-17</inkml:trace>
  <inkml:trace contextRef="#ctx0" brushRef="#br0" timeOffset="160210.06">17974 7761 0,'0'-18'219,"0"1"-203,18 17-16,-1-18 31,19 1-31,-1 17 0,0 0 16,-17 0-16,-1 0 15,1 0-15,17 0 31,54-18 1,-1 18-1,-71 0 0,1 0-31,0 0 47</inkml:trace>
  <inkml:trace contextRef="#ctx0" brushRef="#br0" timeOffset="161399.31">18150 8061 0,'36'0'297,"-19"0"-297,1 0 15,0 0 1,-1 0-16,1 0 0,0 0 16,-1 0 15,1 0 0,-1 0-15,1 0 46,0 0-46,-1 0 31</inkml:trace>
  <inkml:trace contextRef="#ctx0" brushRef="#br0" timeOffset="164415.6">18944 7338 0,'18'0'297,"-1"0"-297,1 0 0,0 0 16,-1 0-16,1 0 16,0 0-1,-1 0 16,1-18-15,0 18 0,-1 0 15,1 0-31,-1 0 31,1 0 16,0 0-31,-71 0 218,35 0-218,1 0-16,-1 18 15,0-18 1,-17 17 0,17-17-1,1 0 1,17 18 15,-18 0 0,0-1-31,1 19 16,-18-1 0,17-17 15,18-1-31,0 18 15,0-17 17,-18 0-17,18-1 17,0 1-17,0 0 48,0 17-16,18-35 187,0 0-218,-1 0-16,1 0 15,-1 0 1,1 0 15,0 0 0,-1 0-15,1 0 46,17 0-15,-17 35-15,-18-17-1,0-1-16,0 1 1,0 0-16,0-1 16,0 1-1,0 17 1,0-17 0,0 0-16,0-1 15,0 18 1,0 18-1,0-35 17,0 0-1,-35-1-31,17-17 16,-17 18 15,17-18-16,-17 0 1,17 35-16,-17-35 16,17 0 15,1 0-15</inkml:trace>
  <inkml:trace contextRef="#ctx0" brushRef="#br0" timeOffset="166120.06">19456 7779 0,'0'17'329,"0"1"-314,0 0 1,-18-1-1,18 1-15,0 0 16,0-1 0,0 1-16,0-1 15,0 1 32,0 35 0,18-18-16,-1 1-15,1-36-16,0 0 16,17 0-1,-17 0 1,17 0-1,0 0 17,-17 0-32,17 0 31,0 0-31,-17-53 16,0 17-1,34 1 1,-34 0-16,35-71 31,-53 71-15,0-36-1,0 18 1,0 36 0,0-1-1,0-17 1,-35 17-1,-53 0 1,52 18 0,19 0 15,-19 0-31,-17 0 16,36 0 15,-18 0-31,-1 0 31,19 71-15,-36-18-1,0-18 1,35 18 0,18-18-1,-18-35 1,18 18-1</inkml:trace>
  <inkml:trace contextRef="#ctx0" brushRef="#br0" timeOffset="167510.81">20532 7532 0,'0'17'281,"-18"19"-265,18-19-16,-35 1 15,35 0 1,0-1-16,0 1 0,0 0 16,-18-1-16,18 1 15,-18-1 1,18 19 0,-35-1 15,18-17 0,17 17 0,-36-17 1,19-18-1,17 17 0</inkml:trace>
  <inkml:trace contextRef="#ctx0" brushRef="#br0" timeOffset="168170.52">20302 7602 0</inkml:trace>
  <inkml:trace contextRef="#ctx0" brushRef="#br0" timeOffset="168830.43">20973 7885 0</inkml:trace>
  <inkml:trace contextRef="#ctx0" brushRef="#br0" timeOffset="171059.73">13617 8220 0,'-17'-18'219,"-1"18"-219,0 0 15,1-18-15,-19 18 0,-17 0 16,1 0 0,-1 0-16,35 0 0,-35 0 15,35 0 1,1 0-16,-18 0 16,-36 36 30,-17 52-14,17 0-1,71-70-31,-35 70 31,35-70-15,0 34-1,0-16 1,0-1 0,0 0 15,0-17-31,0 17 31,0-17-31,18 17 16,-18-17-1,17-1 1,54 36 0,-36-35-1,18 0 1,0-18 0,0 17-1,53-17 1,-71 0-1,-17 0 17,17 0-32,-18 0 31,1 0 0,0 0 0</inkml:trace>
  <inkml:trace contextRef="#ctx0" brushRef="#br0" timeOffset="172460.5">14235 8273 0,'17'0'297,"1"0"-281,-1 0-16,1 0 15,0 0-15,-1 0 16,1 0 15,0 0 16,17 0-31,-17 0 46,-18 17 63</inkml:trace>
  <inkml:trace contextRef="#ctx0" brushRef="#br0" timeOffset="173774.43">14429 8661 0,'35'0'328,"-17"0"-297,-1 0-15,1 0 31,-1 0-16,1 0 0,0 0 0,-18-18-15,17 18 0,1 0-1,0 0 32,-1 0 31,-17-18-31,18 18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2/10/2022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2/10/2022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2/10/2022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2/10/2022</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2/10/2022</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2/10/2022</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2/10/2022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2/10/2022</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2/10/2022</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2/10/2022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2/10/2022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2/10/2022</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A6AF5-FD73-4811-8FB8-61ACC32DFA46}"/>
              </a:ext>
            </a:extLst>
          </p:cNvPr>
          <p:cNvSpPr>
            <a:spLocks noGrp="1"/>
          </p:cNvSpPr>
          <p:nvPr>
            <p:ph type="ctrTitle"/>
          </p:nvPr>
        </p:nvSpPr>
        <p:spPr/>
        <p:txBody>
          <a:bodyPr>
            <a:normAutofit fontScale="90000"/>
          </a:bodyPr>
          <a:lstStyle/>
          <a:p>
            <a:pPr algn="ctr"/>
            <a:r>
              <a:rPr lang="en-US" dirty="0"/>
              <a:t>Concept Description, Mining Frequent Patterns, Associations and Correlations</a:t>
            </a:r>
            <a:endParaRPr lang="en-IN" dirty="0"/>
          </a:p>
        </p:txBody>
      </p:sp>
      <p:sp>
        <p:nvSpPr>
          <p:cNvPr id="3" name="Subtitle 2">
            <a:extLst>
              <a:ext uri="{FF2B5EF4-FFF2-40B4-BE49-F238E27FC236}">
                <a16:creationId xmlns:a16="http://schemas.microsoft.com/office/drawing/2014/main" id="{E364AAB0-FF2C-4222-9DE7-73514800BB49}"/>
              </a:ext>
            </a:extLst>
          </p:cNvPr>
          <p:cNvSpPr>
            <a:spLocks noGrp="1"/>
          </p:cNvSpPr>
          <p:nvPr>
            <p:ph type="subTitle" idx="1"/>
          </p:nvPr>
        </p:nvSpPr>
        <p:spPr/>
        <p:txBody>
          <a:bodyPr/>
          <a:lstStyle/>
          <a:p>
            <a:pPr algn="ctr"/>
            <a:r>
              <a:rPr lang="en-US" dirty="0"/>
              <a:t>Unit-3</a:t>
            </a:r>
            <a:endParaRPr lang="en-IN" dirty="0"/>
          </a:p>
        </p:txBody>
      </p:sp>
      <p:sp>
        <p:nvSpPr>
          <p:cNvPr id="4" name="TextBox 3">
            <a:extLst>
              <a:ext uri="{FF2B5EF4-FFF2-40B4-BE49-F238E27FC236}">
                <a16:creationId xmlns:a16="http://schemas.microsoft.com/office/drawing/2014/main" id="{341743BD-B085-484C-9A5E-B75DC35D84C4}"/>
              </a:ext>
            </a:extLst>
          </p:cNvPr>
          <p:cNvSpPr txBox="1"/>
          <p:nvPr/>
        </p:nvSpPr>
        <p:spPr>
          <a:xfrm>
            <a:off x="9352625" y="1997839"/>
            <a:ext cx="2436920" cy="3416320"/>
          </a:xfrm>
          <a:prstGeom prst="rect">
            <a:avLst/>
          </a:prstGeom>
          <a:noFill/>
        </p:spPr>
        <p:txBody>
          <a:bodyPr wrap="square">
            <a:spAutoFit/>
          </a:bodyPr>
          <a:lstStyle/>
          <a:p>
            <a:r>
              <a:rPr lang="en-IN" dirty="0">
                <a:latin typeface="Calibri" panose="020F0502020204030204" pitchFamily="34" charset="0"/>
                <a:cs typeface="Calibri" panose="020F0502020204030204" pitchFamily="34" charset="0"/>
              </a:rPr>
              <a:t>Department of Computer Engineering</a:t>
            </a:r>
          </a:p>
          <a:p>
            <a:endParaRPr lang="en-IN"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Unit no:</a:t>
            </a:r>
            <a:r>
              <a:rPr lang="en-IN" b="1" dirty="0">
                <a:latin typeface="Calibri" panose="020F0502020204030204" pitchFamily="34" charset="0"/>
                <a:cs typeface="Calibri" panose="020F0502020204030204" pitchFamily="34" charset="0"/>
              </a:rPr>
              <a:t> 3</a:t>
            </a:r>
          </a:p>
          <a:p>
            <a:r>
              <a:rPr lang="en-IN" dirty="0">
                <a:latin typeface="Calibri" panose="020F0502020204030204" pitchFamily="34" charset="0"/>
                <a:cs typeface="Calibri" panose="020F0502020204030204" pitchFamily="34" charset="0"/>
              </a:rPr>
              <a:t>Unit title</a:t>
            </a:r>
            <a:r>
              <a:rPr lang="en-IN" b="1" dirty="0">
                <a:latin typeface="Calibri" panose="020F0502020204030204" pitchFamily="34" charset="0"/>
                <a:cs typeface="Calibri" panose="020F0502020204030204" pitchFamily="34" charset="0"/>
              </a:rPr>
              <a:t>: Concept Description, Mining Frequent patterns, Associations and </a:t>
            </a:r>
            <a:r>
              <a:rPr lang="en-IN" b="1" dirty="0" err="1">
                <a:latin typeface="Calibri" panose="020F0502020204030204" pitchFamily="34" charset="0"/>
                <a:cs typeface="Calibri" panose="020F0502020204030204" pitchFamily="34" charset="0"/>
              </a:rPr>
              <a:t>Correlatiom</a:t>
            </a:r>
            <a:endParaRPr lang="en-US" b="1"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Subject name and code: </a:t>
            </a:r>
            <a:r>
              <a:rPr lang="en-IN" b="1" dirty="0">
                <a:latin typeface="Calibri" panose="020F0502020204030204" pitchFamily="34" charset="0"/>
                <a:cs typeface="Calibri" panose="020F0502020204030204" pitchFamily="34" charset="0"/>
              </a:rPr>
              <a:t>Data Mining</a:t>
            </a:r>
          </a:p>
          <a:p>
            <a:r>
              <a:rPr lang="en-IN" b="1" dirty="0">
                <a:latin typeface="Calibri" panose="020F0502020204030204" pitchFamily="34" charset="0"/>
                <a:cs typeface="Calibri" panose="020F0502020204030204" pitchFamily="34" charset="0"/>
              </a:rPr>
              <a:t>(3160714)</a:t>
            </a:r>
          </a:p>
        </p:txBody>
      </p:sp>
      <p:sp>
        <p:nvSpPr>
          <p:cNvPr id="5" name="Rectangle 4">
            <a:extLst>
              <a:ext uri="{FF2B5EF4-FFF2-40B4-BE49-F238E27FC236}">
                <a16:creationId xmlns:a16="http://schemas.microsoft.com/office/drawing/2014/main" id="{4D6E4DBA-F9AD-4562-A0B2-BBB51756B807}"/>
              </a:ext>
            </a:extLst>
          </p:cNvPr>
          <p:cNvSpPr/>
          <p:nvPr/>
        </p:nvSpPr>
        <p:spPr>
          <a:xfrm>
            <a:off x="9504374" y="5620748"/>
            <a:ext cx="2440092" cy="400110"/>
          </a:xfrm>
          <a:prstGeom prst="rect">
            <a:avLst/>
          </a:prstGeom>
        </p:spPr>
        <p:txBody>
          <a:bodyPr wrap="none">
            <a:spAutoFit/>
          </a:bodyPr>
          <a:lstStyle/>
          <a:p>
            <a:r>
              <a:rPr lang="en-IN" sz="2000" dirty="0" err="1">
                <a:latin typeface="CastleT" panose="020E0602050706020204" pitchFamily="34" charset="0"/>
              </a:rPr>
              <a:t>Prof.</a:t>
            </a:r>
            <a:r>
              <a:rPr lang="en-IN" sz="2000" dirty="0">
                <a:latin typeface="CastleT" panose="020E0602050706020204" pitchFamily="34" charset="0"/>
              </a:rPr>
              <a:t> </a:t>
            </a:r>
            <a:r>
              <a:rPr lang="en-IN" sz="2000" dirty="0" err="1">
                <a:latin typeface="CastleT" panose="020E0602050706020204" pitchFamily="34" charset="0"/>
              </a:rPr>
              <a:t>Aastha</a:t>
            </a:r>
            <a:r>
              <a:rPr lang="en-IN" sz="2000" dirty="0">
                <a:latin typeface="CastleT" panose="020E0602050706020204" pitchFamily="34" charset="0"/>
              </a:rPr>
              <a:t> </a:t>
            </a:r>
            <a:r>
              <a:rPr lang="en-IN" sz="2000" dirty="0" err="1">
                <a:latin typeface="CastleT" panose="020E0602050706020204" pitchFamily="34" charset="0"/>
              </a:rPr>
              <a:t>Masrani</a:t>
            </a:r>
            <a:endParaRPr lang="en-IN" sz="2000" dirty="0">
              <a:latin typeface="CastleT" panose="020E0602050706020204" pitchFamily="34" charset="0"/>
            </a:endParaRPr>
          </a:p>
        </p:txBody>
      </p:sp>
      <p:pic>
        <p:nvPicPr>
          <p:cNvPr id="6" name="Picture 5">
            <a:extLst>
              <a:ext uri="{FF2B5EF4-FFF2-40B4-BE49-F238E27FC236}">
                <a16:creationId xmlns:a16="http://schemas.microsoft.com/office/drawing/2014/main" id="{A37B32E5-DFD7-40D8-9DF7-B3DA7775E2FE}"/>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103000"/>
                    </a14:imgEffect>
                  </a14:imgLayer>
                </a14:imgProps>
              </a:ext>
              <a:ext uri="{28A0092B-C50C-407E-A947-70E740481C1C}">
                <a14:useLocalDpi xmlns:a14="http://schemas.microsoft.com/office/drawing/2010/main" val="0"/>
              </a:ext>
            </a:extLst>
          </a:blip>
          <a:srcRect/>
          <a:stretch>
            <a:fillRect/>
          </a:stretch>
        </p:blipFill>
        <p:spPr bwMode="auto">
          <a:xfrm>
            <a:off x="9504374" y="1056237"/>
            <a:ext cx="2390775" cy="735013"/>
          </a:xfrm>
          <a:prstGeom prst="rect">
            <a:avLst/>
          </a:prstGeom>
          <a:noFill/>
          <a:ln>
            <a:noFill/>
          </a:ln>
          <a:effectLst>
            <a:glow rad="127000">
              <a:schemeClr val="accent1">
                <a:alpha val="0"/>
              </a:schemeClr>
            </a:glow>
            <a:outerShdw blurRad="50800" dist="50800" dir="5400000" algn="ctr" rotWithShape="0">
              <a:srgbClr val="000000">
                <a:alpha val="11000"/>
              </a:srgbClr>
            </a:outerShdw>
          </a:effectLst>
        </p:spPr>
      </p:pic>
    </p:spTree>
    <p:extLst>
      <p:ext uri="{BB962C8B-B14F-4D97-AF65-F5344CB8AC3E}">
        <p14:creationId xmlns:p14="http://schemas.microsoft.com/office/powerpoint/2010/main" val="1542657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600F3-12C5-4CC8-AACE-45DA29C82D31}"/>
              </a:ext>
            </a:extLst>
          </p:cNvPr>
          <p:cNvSpPr>
            <a:spLocks noGrp="1"/>
          </p:cNvSpPr>
          <p:nvPr>
            <p:ph type="title"/>
          </p:nvPr>
        </p:nvSpPr>
        <p:spPr/>
        <p:txBody>
          <a:bodyPr/>
          <a:lstStyle/>
          <a:p>
            <a:r>
              <a:rPr lang="en-US" dirty="0"/>
              <a:t>OUTLINES</a:t>
            </a:r>
            <a:endParaRPr lang="en-IN" dirty="0"/>
          </a:p>
        </p:txBody>
      </p:sp>
      <p:sp>
        <p:nvSpPr>
          <p:cNvPr id="3" name="Content Placeholder 2">
            <a:extLst>
              <a:ext uri="{FF2B5EF4-FFF2-40B4-BE49-F238E27FC236}">
                <a16:creationId xmlns:a16="http://schemas.microsoft.com/office/drawing/2014/main" id="{62D2DFE1-3912-41FE-86D0-650096F54C7A}"/>
              </a:ext>
            </a:extLst>
          </p:cNvPr>
          <p:cNvSpPr>
            <a:spLocks noGrp="1"/>
          </p:cNvSpPr>
          <p:nvPr>
            <p:ph idx="1"/>
          </p:nvPr>
        </p:nvSpPr>
        <p:spPr/>
        <p:txBody>
          <a:bodyPr/>
          <a:lstStyle/>
          <a:p>
            <a:r>
              <a:rPr lang="en-US" dirty="0"/>
              <a:t>Concept Description</a:t>
            </a:r>
          </a:p>
          <a:p>
            <a:r>
              <a:rPr lang="en-US" dirty="0"/>
              <a:t>Attribute Relevance</a:t>
            </a:r>
          </a:p>
          <a:p>
            <a:r>
              <a:rPr lang="en-US" dirty="0"/>
              <a:t>Class </a:t>
            </a:r>
            <a:r>
              <a:rPr lang="en-US" dirty="0" err="1"/>
              <a:t>Comparisions</a:t>
            </a:r>
            <a:endParaRPr lang="en-US" dirty="0"/>
          </a:p>
          <a:p>
            <a:r>
              <a:rPr lang="en-US" dirty="0"/>
              <a:t>Frequent Item-set Mining</a:t>
            </a:r>
          </a:p>
          <a:p>
            <a:r>
              <a:rPr lang="en-US" dirty="0"/>
              <a:t>Association Rule Mining</a:t>
            </a:r>
          </a:p>
          <a:p>
            <a:r>
              <a:rPr lang="en-US" dirty="0"/>
              <a:t>Correlation Analysis in Association rule mining</a:t>
            </a:r>
          </a:p>
          <a:p>
            <a:r>
              <a:rPr lang="en-US" dirty="0"/>
              <a:t>Advanced Association Rule techniques</a:t>
            </a:r>
            <a:endParaRPr lang="en-IN" dirty="0"/>
          </a:p>
        </p:txBody>
      </p:sp>
    </p:spTree>
    <p:extLst>
      <p:ext uri="{BB962C8B-B14F-4D97-AF65-F5344CB8AC3E}">
        <p14:creationId xmlns:p14="http://schemas.microsoft.com/office/powerpoint/2010/main" val="450073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05C83-B5E0-4753-8EB3-0A2A029E17A0}"/>
              </a:ext>
            </a:extLst>
          </p:cNvPr>
          <p:cNvSpPr>
            <a:spLocks noGrp="1"/>
          </p:cNvSpPr>
          <p:nvPr>
            <p:ph type="title"/>
          </p:nvPr>
        </p:nvSpPr>
        <p:spPr/>
        <p:txBody>
          <a:bodyPr/>
          <a:lstStyle/>
          <a:p>
            <a:r>
              <a:rPr lang="en-US" dirty="0"/>
              <a:t>Concept Description</a:t>
            </a:r>
            <a:endParaRPr lang="en-IN" dirty="0"/>
          </a:p>
        </p:txBody>
      </p:sp>
      <p:sp>
        <p:nvSpPr>
          <p:cNvPr id="3" name="Content Placeholder 2">
            <a:extLst>
              <a:ext uri="{FF2B5EF4-FFF2-40B4-BE49-F238E27FC236}">
                <a16:creationId xmlns:a16="http://schemas.microsoft.com/office/drawing/2014/main" id="{0A02B003-703D-43C4-AA99-B404E2B35E21}"/>
              </a:ext>
            </a:extLst>
          </p:cNvPr>
          <p:cNvSpPr>
            <a:spLocks noGrp="1"/>
          </p:cNvSpPr>
          <p:nvPr>
            <p:ph idx="1"/>
          </p:nvPr>
        </p:nvSpPr>
        <p:spPr/>
        <p:txBody>
          <a:bodyPr/>
          <a:lstStyle/>
          <a:p>
            <a:r>
              <a:rPr lang="en-US" dirty="0"/>
              <a:t>Data Mining can be classified in two categories</a:t>
            </a:r>
          </a:p>
          <a:p>
            <a:pPr lvl="1"/>
            <a:r>
              <a:rPr lang="en-US" dirty="0"/>
              <a:t>Descriptive Data Mining</a:t>
            </a:r>
          </a:p>
          <a:p>
            <a:pPr lvl="1"/>
            <a:r>
              <a:rPr lang="en-US" dirty="0"/>
              <a:t>Predictive Data Mining</a:t>
            </a:r>
            <a:endParaRPr lang="en-IN" dirty="0"/>
          </a:p>
        </p:txBody>
      </p:sp>
    </p:spTree>
    <p:extLst>
      <p:ext uri="{BB962C8B-B14F-4D97-AF65-F5344CB8AC3E}">
        <p14:creationId xmlns:p14="http://schemas.microsoft.com/office/powerpoint/2010/main" val="2976803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D8AE3-58CC-44A0-B75B-0AF4B78CF134}"/>
              </a:ext>
            </a:extLst>
          </p:cNvPr>
          <p:cNvSpPr>
            <a:spLocks noGrp="1"/>
          </p:cNvSpPr>
          <p:nvPr>
            <p:ph type="title"/>
          </p:nvPr>
        </p:nvSpPr>
        <p:spPr/>
        <p:txBody>
          <a:bodyPr/>
          <a:lstStyle/>
          <a:p>
            <a:r>
              <a:rPr lang="en-US" dirty="0"/>
              <a:t>Descriptive Analysis</a:t>
            </a:r>
            <a:endParaRPr lang="en-IN" dirty="0"/>
          </a:p>
        </p:txBody>
      </p:sp>
      <p:sp>
        <p:nvSpPr>
          <p:cNvPr id="3" name="Content Placeholder 2">
            <a:extLst>
              <a:ext uri="{FF2B5EF4-FFF2-40B4-BE49-F238E27FC236}">
                <a16:creationId xmlns:a16="http://schemas.microsoft.com/office/drawing/2014/main" id="{86BAED80-EB0B-49D9-94EF-85F6214B7FDE}"/>
              </a:ext>
            </a:extLst>
          </p:cNvPr>
          <p:cNvSpPr>
            <a:spLocks noGrp="1"/>
          </p:cNvSpPr>
          <p:nvPr>
            <p:ph idx="1"/>
          </p:nvPr>
        </p:nvSpPr>
        <p:spPr/>
        <p:txBody>
          <a:bodyPr/>
          <a:lstStyle/>
          <a:p>
            <a:r>
              <a:rPr lang="en-US" dirty="0"/>
              <a:t>The descriptive function deals with the general properties of data in the database. </a:t>
            </a:r>
            <a:endParaRPr lang="en-IN" dirty="0"/>
          </a:p>
          <a:p>
            <a:r>
              <a:rPr lang="en-IN" dirty="0"/>
              <a:t>Techniques for Descriptive analysis</a:t>
            </a:r>
          </a:p>
          <a:p>
            <a:pPr lvl="1"/>
            <a:r>
              <a:rPr lang="en-US" dirty="0"/>
              <a:t>Class/Concept Description</a:t>
            </a:r>
          </a:p>
          <a:p>
            <a:pPr lvl="1"/>
            <a:r>
              <a:rPr lang="en-US" dirty="0"/>
              <a:t>Mining of Frequent Patterns</a:t>
            </a:r>
          </a:p>
          <a:p>
            <a:pPr lvl="1"/>
            <a:r>
              <a:rPr lang="en-US" dirty="0"/>
              <a:t>Mining of Associations</a:t>
            </a:r>
          </a:p>
          <a:p>
            <a:pPr lvl="1"/>
            <a:r>
              <a:rPr lang="en-US" dirty="0"/>
              <a:t>Mining of Correlations</a:t>
            </a:r>
          </a:p>
          <a:p>
            <a:pPr lvl="1"/>
            <a:r>
              <a:rPr lang="en-US" dirty="0"/>
              <a:t>Mining of Clusters</a:t>
            </a:r>
          </a:p>
        </p:txBody>
      </p:sp>
    </p:spTree>
    <p:extLst>
      <p:ext uri="{BB962C8B-B14F-4D97-AF65-F5344CB8AC3E}">
        <p14:creationId xmlns:p14="http://schemas.microsoft.com/office/powerpoint/2010/main" val="1358572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2D4EC-A77C-4371-93F7-1896D60CDFEA}"/>
              </a:ext>
            </a:extLst>
          </p:cNvPr>
          <p:cNvSpPr>
            <a:spLocks noGrp="1"/>
          </p:cNvSpPr>
          <p:nvPr>
            <p:ph type="title"/>
          </p:nvPr>
        </p:nvSpPr>
        <p:spPr/>
        <p:txBody>
          <a:bodyPr/>
          <a:lstStyle/>
          <a:p>
            <a:r>
              <a:rPr lang="en-US" dirty="0"/>
              <a:t>Concepts/Class</a:t>
            </a:r>
            <a:br>
              <a:rPr lang="en-US" dirty="0"/>
            </a:br>
            <a:br>
              <a:rPr lang="en-US" dirty="0"/>
            </a:br>
            <a:endParaRPr lang="en-IN" dirty="0"/>
          </a:p>
        </p:txBody>
      </p:sp>
      <p:sp>
        <p:nvSpPr>
          <p:cNvPr id="3" name="Content Placeholder 2">
            <a:extLst>
              <a:ext uri="{FF2B5EF4-FFF2-40B4-BE49-F238E27FC236}">
                <a16:creationId xmlns:a16="http://schemas.microsoft.com/office/drawing/2014/main" id="{1EE11737-1EA3-47CE-9C73-E3BDC9C8CA98}"/>
              </a:ext>
            </a:extLst>
          </p:cNvPr>
          <p:cNvSpPr>
            <a:spLocks noGrp="1"/>
          </p:cNvSpPr>
          <p:nvPr>
            <p:ph idx="1"/>
          </p:nvPr>
        </p:nvSpPr>
        <p:spPr/>
        <p:txBody>
          <a:bodyPr/>
          <a:lstStyle/>
          <a:p>
            <a:r>
              <a:rPr lang="en-US" dirty="0"/>
              <a:t>Data can be associated with classes or concepts. </a:t>
            </a:r>
          </a:p>
          <a:p>
            <a:r>
              <a:rPr lang="en-US" dirty="0"/>
              <a:t>It can be useful to describe individual classes and concepts in summarized, concise, and yet precise terms. </a:t>
            </a:r>
          </a:p>
          <a:p>
            <a:r>
              <a:rPr lang="en-US" dirty="0"/>
              <a:t>Such descriptions of a class or a concept are called class/concept descriptions. </a:t>
            </a:r>
          </a:p>
          <a:p>
            <a:r>
              <a:rPr lang="en-US" dirty="0"/>
              <a:t>These descriptions can be derived via</a:t>
            </a:r>
          </a:p>
          <a:p>
            <a:pPr marL="0" indent="0">
              <a:buNone/>
            </a:pPr>
            <a:r>
              <a:rPr lang="en-US" dirty="0"/>
              <a:t> (1) data characterization, by summarizing the data of the class under study (often called the target class) in general terms </a:t>
            </a:r>
          </a:p>
          <a:p>
            <a:pPr marL="0" indent="0">
              <a:buNone/>
            </a:pPr>
            <a:r>
              <a:rPr lang="en-US" dirty="0"/>
              <a:t>(2) data discrimination, by comparison of the target class with one or a set of comparative classes (often called the contrasting classes)</a:t>
            </a:r>
          </a:p>
          <a:p>
            <a:pPr marL="0" indent="0">
              <a:buNone/>
            </a:pPr>
            <a:r>
              <a:rPr lang="en-US" dirty="0"/>
              <a:t> (3) both data characterization and discrimination.</a:t>
            </a:r>
            <a:endParaRPr lang="en-IN" dirty="0"/>
          </a:p>
        </p:txBody>
      </p:sp>
    </p:spTree>
    <p:extLst>
      <p:ext uri="{BB962C8B-B14F-4D97-AF65-F5344CB8AC3E}">
        <p14:creationId xmlns:p14="http://schemas.microsoft.com/office/powerpoint/2010/main" val="1220975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2D4EC-A77C-4371-93F7-1896D60CDFEA}"/>
              </a:ext>
            </a:extLst>
          </p:cNvPr>
          <p:cNvSpPr>
            <a:spLocks noGrp="1"/>
          </p:cNvSpPr>
          <p:nvPr>
            <p:ph type="title"/>
          </p:nvPr>
        </p:nvSpPr>
        <p:spPr>
          <a:xfrm>
            <a:off x="226287" y="1123836"/>
            <a:ext cx="2947482" cy="4601183"/>
          </a:xfrm>
        </p:spPr>
        <p:txBody>
          <a:bodyPr/>
          <a:lstStyle/>
          <a:p>
            <a:br>
              <a:rPr lang="en-US" dirty="0"/>
            </a:br>
            <a:r>
              <a:rPr lang="en-US" dirty="0"/>
              <a:t>Frequent pattern Mining</a:t>
            </a:r>
            <a:br>
              <a:rPr lang="en-US" dirty="0"/>
            </a:br>
            <a:endParaRPr lang="en-IN" dirty="0"/>
          </a:p>
        </p:txBody>
      </p:sp>
      <p:sp>
        <p:nvSpPr>
          <p:cNvPr id="3" name="Content Placeholder 2">
            <a:extLst>
              <a:ext uri="{FF2B5EF4-FFF2-40B4-BE49-F238E27FC236}">
                <a16:creationId xmlns:a16="http://schemas.microsoft.com/office/drawing/2014/main" id="{1EE11737-1EA3-47CE-9C73-E3BDC9C8CA98}"/>
              </a:ext>
            </a:extLst>
          </p:cNvPr>
          <p:cNvSpPr>
            <a:spLocks noGrp="1"/>
          </p:cNvSpPr>
          <p:nvPr>
            <p:ph idx="1"/>
          </p:nvPr>
        </p:nvSpPr>
        <p:spPr/>
        <p:txBody>
          <a:bodyPr/>
          <a:lstStyle/>
          <a:p>
            <a:r>
              <a:rPr lang="en-US" b="1" dirty="0"/>
              <a:t>Frequent Pattern</a:t>
            </a:r>
            <a:r>
              <a:rPr lang="en-US" dirty="0"/>
              <a:t>: a pattern (a set of items, subsequences, substructures, etc.) that occurs frequently in a data set </a:t>
            </a:r>
          </a:p>
          <a:p>
            <a:r>
              <a:rPr lang="en-US" b="1" dirty="0"/>
              <a:t>Goal</a:t>
            </a:r>
            <a:r>
              <a:rPr lang="en-US" dirty="0"/>
              <a:t>:  finding inherent regularities in data</a:t>
            </a:r>
          </a:p>
          <a:p>
            <a:pPr lvl="1"/>
            <a:r>
              <a:rPr lang="en-US" dirty="0"/>
              <a:t>What products were often purchased together?— Beer and diapers?!</a:t>
            </a:r>
          </a:p>
          <a:p>
            <a:pPr lvl="1"/>
            <a:r>
              <a:rPr lang="en-US" dirty="0"/>
              <a:t>What are the subsequent purchases after buying a PC?</a:t>
            </a:r>
          </a:p>
          <a:p>
            <a:pPr lvl="1"/>
            <a:r>
              <a:rPr lang="en-US" dirty="0"/>
              <a:t>What kinds of DNA are sensitive to this new drug?</a:t>
            </a:r>
          </a:p>
          <a:p>
            <a:pPr lvl="1"/>
            <a:r>
              <a:rPr lang="en-US" dirty="0"/>
              <a:t>Can we automatically classify Web documents?</a:t>
            </a:r>
          </a:p>
          <a:p>
            <a:r>
              <a:rPr lang="en-US" dirty="0"/>
              <a:t>Applications:</a:t>
            </a:r>
          </a:p>
          <a:p>
            <a:pPr lvl="1"/>
            <a:r>
              <a:rPr lang="en-US" dirty="0"/>
              <a:t>Basket data analysis, cross-marketing, catalog design, sale campaign analysis, Web log (click stream) analysis, and DNA sequence analysis</a:t>
            </a:r>
          </a:p>
          <a:p>
            <a:endParaRPr lang="en-IN" dirty="0"/>
          </a:p>
        </p:txBody>
      </p:sp>
    </p:spTree>
    <p:extLst>
      <p:ext uri="{BB962C8B-B14F-4D97-AF65-F5344CB8AC3E}">
        <p14:creationId xmlns:p14="http://schemas.microsoft.com/office/powerpoint/2010/main" val="1650487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2D4EC-A77C-4371-93F7-1896D60CDFEA}"/>
              </a:ext>
            </a:extLst>
          </p:cNvPr>
          <p:cNvSpPr>
            <a:spLocks noGrp="1"/>
          </p:cNvSpPr>
          <p:nvPr>
            <p:ph type="title"/>
          </p:nvPr>
        </p:nvSpPr>
        <p:spPr>
          <a:xfrm>
            <a:off x="226287" y="1128408"/>
            <a:ext cx="2947482" cy="4601183"/>
          </a:xfrm>
        </p:spPr>
        <p:txBody>
          <a:bodyPr/>
          <a:lstStyle/>
          <a:p>
            <a:br>
              <a:rPr lang="en-US" dirty="0"/>
            </a:br>
            <a:r>
              <a:rPr lang="en-US" dirty="0"/>
              <a:t>Basic Concepts: Frequent pattern Mining</a:t>
            </a:r>
            <a:br>
              <a:rPr lang="en-US" dirty="0"/>
            </a:br>
            <a:endParaRPr lang="en-IN" dirty="0"/>
          </a:p>
        </p:txBody>
      </p:sp>
      <p:pic>
        <p:nvPicPr>
          <p:cNvPr id="5" name="Content Placeholder 4">
            <a:extLst>
              <a:ext uri="{FF2B5EF4-FFF2-40B4-BE49-F238E27FC236}">
                <a16:creationId xmlns:a16="http://schemas.microsoft.com/office/drawing/2014/main" id="{9AF21549-5E63-4DEF-9A86-5010E05DC0C5}"/>
              </a:ext>
            </a:extLst>
          </p:cNvPr>
          <p:cNvPicPr>
            <a:picLocks noGrp="1" noChangeAspect="1"/>
          </p:cNvPicPr>
          <p:nvPr>
            <p:ph idx="1"/>
          </p:nvPr>
        </p:nvPicPr>
        <p:blipFill>
          <a:blip r:embed="rId2"/>
          <a:stretch>
            <a:fillRect/>
          </a:stretch>
        </p:blipFill>
        <p:spPr>
          <a:xfrm>
            <a:off x="3891205" y="784929"/>
            <a:ext cx="3932261" cy="2206943"/>
          </a:xfrm>
        </p:spPr>
      </p:pic>
      <p:pic>
        <p:nvPicPr>
          <p:cNvPr id="7" name="Picture 6">
            <a:extLst>
              <a:ext uri="{FF2B5EF4-FFF2-40B4-BE49-F238E27FC236}">
                <a16:creationId xmlns:a16="http://schemas.microsoft.com/office/drawing/2014/main" id="{4D5C686F-8B1A-413B-AAC3-38C70FF6817B}"/>
              </a:ext>
            </a:extLst>
          </p:cNvPr>
          <p:cNvPicPr>
            <a:picLocks noChangeAspect="1"/>
          </p:cNvPicPr>
          <p:nvPr/>
        </p:nvPicPr>
        <p:blipFill>
          <a:blip r:embed="rId3"/>
          <a:stretch>
            <a:fillRect/>
          </a:stretch>
        </p:blipFill>
        <p:spPr>
          <a:xfrm>
            <a:off x="3790004" y="3523432"/>
            <a:ext cx="3901778" cy="2651990"/>
          </a:xfrm>
          <a:prstGeom prst="rect">
            <a:avLst/>
          </a:prstGeom>
        </p:spPr>
      </p:pic>
      <p:sp>
        <p:nvSpPr>
          <p:cNvPr id="12" name="object 6">
            <a:extLst>
              <a:ext uri="{FF2B5EF4-FFF2-40B4-BE49-F238E27FC236}">
                <a16:creationId xmlns:a16="http://schemas.microsoft.com/office/drawing/2014/main" id="{9D488269-EA5B-4B2F-A35B-8EE93BC48FE2}"/>
              </a:ext>
            </a:extLst>
          </p:cNvPr>
          <p:cNvSpPr txBox="1"/>
          <p:nvPr/>
        </p:nvSpPr>
        <p:spPr>
          <a:xfrm>
            <a:off x="7891420" y="621279"/>
            <a:ext cx="4786630" cy="3244850"/>
          </a:xfrm>
          <a:prstGeom prst="rect">
            <a:avLst/>
          </a:prstGeom>
        </p:spPr>
        <p:txBody>
          <a:bodyPr vert="horz" wrap="square" lIns="0" tIns="53975" rIns="0" bIns="0" rtlCol="0">
            <a:spAutoFit/>
          </a:bodyPr>
          <a:lstStyle/>
          <a:p>
            <a:pPr marL="381000" marR="428625" indent="-342900">
              <a:lnSpc>
                <a:spcPts val="2590"/>
              </a:lnSpc>
              <a:spcBef>
                <a:spcPts val="425"/>
              </a:spcBef>
              <a:buClr>
                <a:srgbClr val="3333CC"/>
              </a:buClr>
              <a:buSzPct val="60416"/>
              <a:buFont typeface="Wingdings"/>
              <a:buChar char=""/>
              <a:tabLst>
                <a:tab pos="380365" algn="l"/>
                <a:tab pos="381000" algn="l"/>
              </a:tabLst>
            </a:pPr>
            <a:r>
              <a:rPr sz="2400" spc="-5" dirty="0">
                <a:solidFill>
                  <a:srgbClr val="FF0000"/>
                </a:solidFill>
                <a:latin typeface="Tahoma"/>
                <a:cs typeface="Tahoma"/>
              </a:rPr>
              <a:t>itemset</a:t>
            </a:r>
            <a:r>
              <a:rPr sz="2400" spc="-5" dirty="0">
                <a:latin typeface="Tahoma"/>
                <a:cs typeface="Tahoma"/>
              </a:rPr>
              <a:t>: A set </a:t>
            </a:r>
            <a:r>
              <a:rPr sz="2400" dirty="0">
                <a:latin typeface="Tahoma"/>
                <a:cs typeface="Tahoma"/>
              </a:rPr>
              <a:t>of one or</a:t>
            </a:r>
            <a:r>
              <a:rPr sz="2400" spc="-75" dirty="0">
                <a:latin typeface="Tahoma"/>
                <a:cs typeface="Tahoma"/>
              </a:rPr>
              <a:t> </a:t>
            </a:r>
            <a:r>
              <a:rPr sz="2400" dirty="0">
                <a:latin typeface="Tahoma"/>
                <a:cs typeface="Tahoma"/>
              </a:rPr>
              <a:t>more  items</a:t>
            </a:r>
          </a:p>
          <a:p>
            <a:pPr marL="381000" indent="-342900">
              <a:lnSpc>
                <a:spcPct val="100000"/>
              </a:lnSpc>
              <a:spcBef>
                <a:spcPts val="254"/>
              </a:spcBef>
              <a:buClr>
                <a:srgbClr val="3333CC"/>
              </a:buClr>
              <a:buSzPct val="60416"/>
              <a:buFont typeface="Wingdings"/>
              <a:buChar char=""/>
              <a:tabLst>
                <a:tab pos="380365" algn="l"/>
                <a:tab pos="381000" algn="l"/>
              </a:tabLst>
            </a:pPr>
            <a:r>
              <a:rPr sz="2400" dirty="0">
                <a:solidFill>
                  <a:srgbClr val="FF0000"/>
                </a:solidFill>
                <a:latin typeface="Tahoma"/>
                <a:cs typeface="Tahoma"/>
              </a:rPr>
              <a:t>k-itemset </a:t>
            </a:r>
            <a:r>
              <a:rPr sz="2400" spc="-5" dirty="0">
                <a:latin typeface="Tahoma"/>
                <a:cs typeface="Tahoma"/>
              </a:rPr>
              <a:t>X = {x</a:t>
            </a:r>
            <a:r>
              <a:rPr sz="2400" spc="-7" baseline="-20833" dirty="0">
                <a:latin typeface="Tahoma"/>
                <a:cs typeface="Tahoma"/>
              </a:rPr>
              <a:t>1</a:t>
            </a:r>
            <a:r>
              <a:rPr sz="2400" spc="-5" dirty="0">
                <a:latin typeface="Tahoma"/>
                <a:cs typeface="Tahoma"/>
              </a:rPr>
              <a:t>, …,</a:t>
            </a:r>
            <a:r>
              <a:rPr sz="2400" spc="-35" dirty="0">
                <a:latin typeface="Tahoma"/>
                <a:cs typeface="Tahoma"/>
              </a:rPr>
              <a:t> </a:t>
            </a:r>
            <a:r>
              <a:rPr sz="2400" spc="-5" dirty="0">
                <a:latin typeface="Tahoma"/>
                <a:cs typeface="Tahoma"/>
              </a:rPr>
              <a:t>x</a:t>
            </a:r>
            <a:r>
              <a:rPr sz="2400" spc="-7" baseline="-20833" dirty="0">
                <a:latin typeface="Tahoma"/>
                <a:cs typeface="Tahoma"/>
              </a:rPr>
              <a:t>k</a:t>
            </a:r>
            <a:r>
              <a:rPr sz="2400" spc="-5" dirty="0">
                <a:latin typeface="Tahoma"/>
                <a:cs typeface="Tahoma"/>
              </a:rPr>
              <a:t>}</a:t>
            </a:r>
            <a:endParaRPr sz="2400" dirty="0">
              <a:latin typeface="Tahoma"/>
              <a:cs typeface="Tahoma"/>
            </a:endParaRPr>
          </a:p>
          <a:p>
            <a:pPr marL="381000" marR="130175" indent="-342900">
              <a:lnSpc>
                <a:spcPts val="2590"/>
              </a:lnSpc>
              <a:spcBef>
                <a:spcPts val="615"/>
              </a:spcBef>
              <a:buClr>
                <a:srgbClr val="3333CC"/>
              </a:buClr>
              <a:buSzPct val="58000"/>
              <a:buFont typeface="Wingdings"/>
              <a:buChar char=""/>
              <a:tabLst>
                <a:tab pos="380365" algn="l"/>
                <a:tab pos="381000" algn="l"/>
              </a:tabLst>
            </a:pPr>
            <a:r>
              <a:rPr sz="2500" i="1" spc="-45" dirty="0">
                <a:solidFill>
                  <a:srgbClr val="FF0000"/>
                </a:solidFill>
                <a:latin typeface="Tahoma"/>
                <a:cs typeface="Tahoma"/>
              </a:rPr>
              <a:t>support</a:t>
            </a:r>
            <a:r>
              <a:rPr sz="2400" spc="-45" dirty="0">
                <a:latin typeface="Tahoma"/>
                <a:cs typeface="Tahoma"/>
              </a:rPr>
              <a:t>, </a:t>
            </a:r>
            <a:r>
              <a:rPr sz="2400" dirty="0">
                <a:latin typeface="Tahoma"/>
                <a:cs typeface="Tahoma"/>
              </a:rPr>
              <a:t>or, </a:t>
            </a:r>
            <a:r>
              <a:rPr sz="2500" i="1" spc="-50" dirty="0">
                <a:solidFill>
                  <a:srgbClr val="FF0000"/>
                </a:solidFill>
                <a:latin typeface="Tahoma"/>
                <a:cs typeface="Tahoma"/>
              </a:rPr>
              <a:t>support </a:t>
            </a:r>
            <a:r>
              <a:rPr sz="2500" i="1" spc="-55" dirty="0">
                <a:solidFill>
                  <a:srgbClr val="FF0000"/>
                </a:solidFill>
                <a:latin typeface="Tahoma"/>
                <a:cs typeface="Tahoma"/>
              </a:rPr>
              <a:t>count </a:t>
            </a:r>
            <a:r>
              <a:rPr sz="2400" dirty="0">
                <a:latin typeface="Tahoma"/>
                <a:cs typeface="Tahoma"/>
              </a:rPr>
              <a:t>of </a:t>
            </a:r>
            <a:r>
              <a:rPr sz="2400" spc="-10" dirty="0">
                <a:latin typeface="Tahoma"/>
                <a:cs typeface="Tahoma"/>
              </a:rPr>
              <a:t>X:  </a:t>
            </a:r>
            <a:r>
              <a:rPr sz="2400" spc="-5" dirty="0">
                <a:latin typeface="Tahoma"/>
                <a:cs typeface="Tahoma"/>
              </a:rPr>
              <a:t>Frequency </a:t>
            </a:r>
            <a:r>
              <a:rPr sz="2400" dirty="0">
                <a:latin typeface="Tahoma"/>
                <a:cs typeface="Tahoma"/>
              </a:rPr>
              <a:t>or occurrence of </a:t>
            </a:r>
            <a:r>
              <a:rPr sz="2400" spc="-5" dirty="0">
                <a:latin typeface="Tahoma"/>
                <a:cs typeface="Tahoma"/>
              </a:rPr>
              <a:t>an  </a:t>
            </a:r>
            <a:r>
              <a:rPr sz="2400" dirty="0">
                <a:latin typeface="Tahoma"/>
                <a:cs typeface="Tahoma"/>
              </a:rPr>
              <a:t>itemset</a:t>
            </a:r>
            <a:r>
              <a:rPr sz="2400" spc="-35" dirty="0">
                <a:latin typeface="Tahoma"/>
                <a:cs typeface="Tahoma"/>
              </a:rPr>
              <a:t> </a:t>
            </a:r>
            <a:r>
              <a:rPr sz="2400" spc="-5" dirty="0">
                <a:latin typeface="Tahoma"/>
                <a:cs typeface="Tahoma"/>
              </a:rPr>
              <a:t>X</a:t>
            </a:r>
            <a:endParaRPr sz="2400" dirty="0">
              <a:latin typeface="Tahoma"/>
              <a:cs typeface="Tahoma"/>
            </a:endParaRPr>
          </a:p>
          <a:p>
            <a:pPr marL="381000" marR="30480" indent="-342900">
              <a:lnSpc>
                <a:spcPts val="2590"/>
              </a:lnSpc>
              <a:spcBef>
                <a:spcPts val="585"/>
              </a:spcBef>
              <a:buClr>
                <a:srgbClr val="3333CC"/>
              </a:buClr>
              <a:buSzPct val="60416"/>
              <a:buFont typeface="Wingdings"/>
              <a:buChar char=""/>
              <a:tabLst>
                <a:tab pos="380365" algn="l"/>
                <a:tab pos="381000" algn="l"/>
              </a:tabLst>
            </a:pPr>
            <a:r>
              <a:rPr sz="2400" spc="-5" dirty="0">
                <a:latin typeface="Tahoma"/>
                <a:cs typeface="Tahoma"/>
              </a:rPr>
              <a:t>An </a:t>
            </a:r>
            <a:r>
              <a:rPr sz="2400" dirty="0">
                <a:latin typeface="Tahoma"/>
                <a:cs typeface="Tahoma"/>
              </a:rPr>
              <a:t>itemset </a:t>
            </a:r>
            <a:r>
              <a:rPr sz="2400" spc="-5" dirty="0">
                <a:latin typeface="Tahoma"/>
                <a:cs typeface="Tahoma"/>
              </a:rPr>
              <a:t>X </a:t>
            </a:r>
            <a:r>
              <a:rPr sz="2400" dirty="0">
                <a:latin typeface="Tahoma"/>
                <a:cs typeface="Tahoma"/>
              </a:rPr>
              <a:t>is </a:t>
            </a:r>
            <a:r>
              <a:rPr sz="2500" i="1" spc="-50" dirty="0">
                <a:solidFill>
                  <a:srgbClr val="FF0000"/>
                </a:solidFill>
                <a:latin typeface="Tahoma"/>
                <a:cs typeface="Tahoma"/>
              </a:rPr>
              <a:t>frequent </a:t>
            </a:r>
            <a:r>
              <a:rPr sz="2400" dirty="0">
                <a:latin typeface="Tahoma"/>
                <a:cs typeface="Tahoma"/>
              </a:rPr>
              <a:t>if X’s  </a:t>
            </a:r>
            <a:r>
              <a:rPr sz="2400" spc="-5" dirty="0">
                <a:latin typeface="Tahoma"/>
                <a:cs typeface="Tahoma"/>
              </a:rPr>
              <a:t>support </a:t>
            </a:r>
            <a:r>
              <a:rPr sz="2400" dirty="0">
                <a:latin typeface="Tahoma"/>
                <a:cs typeface="Tahoma"/>
              </a:rPr>
              <a:t>is no less </a:t>
            </a:r>
            <a:r>
              <a:rPr sz="2400" spc="-5" dirty="0">
                <a:latin typeface="Tahoma"/>
                <a:cs typeface="Tahoma"/>
              </a:rPr>
              <a:t>than </a:t>
            </a:r>
            <a:r>
              <a:rPr sz="2400" dirty="0">
                <a:latin typeface="Tahoma"/>
                <a:cs typeface="Tahoma"/>
              </a:rPr>
              <a:t>a</a:t>
            </a:r>
            <a:r>
              <a:rPr sz="2400" spc="-85" dirty="0">
                <a:latin typeface="Tahoma"/>
                <a:cs typeface="Tahoma"/>
              </a:rPr>
              <a:t> </a:t>
            </a:r>
            <a:r>
              <a:rPr sz="2500" i="1" spc="-55" dirty="0">
                <a:latin typeface="Tahoma"/>
                <a:cs typeface="Tahoma"/>
              </a:rPr>
              <a:t>minsup  </a:t>
            </a:r>
            <a:r>
              <a:rPr sz="2400" spc="-5" dirty="0">
                <a:latin typeface="Tahoma"/>
                <a:cs typeface="Tahoma"/>
              </a:rPr>
              <a:t>threshold</a:t>
            </a:r>
            <a:endParaRPr sz="2400" dirty="0">
              <a:latin typeface="Tahoma"/>
              <a:cs typeface="Tahoma"/>
            </a:endParaRPr>
          </a:p>
        </p:txBody>
      </p:sp>
      <p:sp>
        <p:nvSpPr>
          <p:cNvPr id="13" name="object 22">
            <a:extLst>
              <a:ext uri="{FF2B5EF4-FFF2-40B4-BE49-F238E27FC236}">
                <a16:creationId xmlns:a16="http://schemas.microsoft.com/office/drawing/2014/main" id="{CD4E4DA3-6A59-4DC2-9B98-2C5C1F01FAF3}"/>
              </a:ext>
            </a:extLst>
          </p:cNvPr>
          <p:cNvSpPr/>
          <p:nvPr/>
        </p:nvSpPr>
        <p:spPr>
          <a:xfrm>
            <a:off x="7802716" y="4133820"/>
            <a:ext cx="4162997" cy="803736"/>
          </a:xfrm>
          <a:prstGeom prst="rect">
            <a:avLst/>
          </a:prstGeom>
          <a:blipFill>
            <a:blip r:embed="rId4"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2633968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AF288-E126-4D48-A66C-C02875159BF9}"/>
              </a:ext>
            </a:extLst>
          </p:cNvPr>
          <p:cNvSpPr>
            <a:spLocks noGrp="1"/>
          </p:cNvSpPr>
          <p:nvPr>
            <p:ph type="title"/>
          </p:nvPr>
        </p:nvSpPr>
        <p:spPr/>
        <p:txBody>
          <a:bodyPr/>
          <a:lstStyle/>
          <a:p>
            <a:r>
              <a:rPr lang="en-US" dirty="0"/>
              <a:t>Basic Concepts: Frequent pattern Mining</a:t>
            </a:r>
            <a:endParaRPr lang="en-IN" dirty="0"/>
          </a:p>
        </p:txBody>
      </p:sp>
      <p:pic>
        <p:nvPicPr>
          <p:cNvPr id="5" name="Content Placeholder 4">
            <a:extLst>
              <a:ext uri="{FF2B5EF4-FFF2-40B4-BE49-F238E27FC236}">
                <a16:creationId xmlns:a16="http://schemas.microsoft.com/office/drawing/2014/main" id="{DA21A975-52EB-4D02-87DC-26ED240E9BF7}"/>
              </a:ext>
            </a:extLst>
          </p:cNvPr>
          <p:cNvPicPr>
            <a:picLocks noGrp="1" noChangeAspect="1"/>
          </p:cNvPicPr>
          <p:nvPr>
            <p:ph idx="1"/>
          </p:nvPr>
        </p:nvPicPr>
        <p:blipFill>
          <a:blip r:embed="rId2"/>
          <a:stretch>
            <a:fillRect/>
          </a:stretch>
        </p:blipFill>
        <p:spPr>
          <a:xfrm>
            <a:off x="3868738" y="3095277"/>
            <a:ext cx="7315200" cy="657921"/>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D24A17B-339C-4BDE-8859-A71A5D8FF0FD}"/>
                  </a:ext>
                </a:extLst>
              </p14:cNvPr>
              <p14:cNvContentPartPr/>
              <p14:nvPr/>
            </p14:nvContentPartPr>
            <p14:xfrm>
              <a:off x="4070520" y="1790640"/>
              <a:ext cx="4165920" cy="2858040"/>
            </p14:xfrm>
          </p:contentPart>
        </mc:Choice>
        <mc:Fallback xmlns="">
          <p:pic>
            <p:nvPicPr>
              <p:cNvPr id="3" name="Ink 2">
                <a:extLst>
                  <a:ext uri="{FF2B5EF4-FFF2-40B4-BE49-F238E27FC236}">
                    <a16:creationId xmlns:a16="http://schemas.microsoft.com/office/drawing/2014/main" id="{0D24A17B-339C-4BDE-8859-A71A5D8FF0FD}"/>
                  </a:ext>
                </a:extLst>
              </p:cNvPr>
              <p:cNvPicPr/>
              <p:nvPr/>
            </p:nvPicPr>
            <p:blipFill>
              <a:blip r:embed="rId4"/>
              <a:stretch>
                <a:fillRect/>
              </a:stretch>
            </p:blipFill>
            <p:spPr>
              <a:xfrm>
                <a:off x="4061160" y="1781280"/>
                <a:ext cx="4184640" cy="2876760"/>
              </a:xfrm>
              <a:prstGeom prst="rect">
                <a:avLst/>
              </a:prstGeom>
            </p:spPr>
          </p:pic>
        </mc:Fallback>
      </mc:AlternateContent>
    </p:spTree>
    <p:extLst>
      <p:ext uri="{BB962C8B-B14F-4D97-AF65-F5344CB8AC3E}">
        <p14:creationId xmlns:p14="http://schemas.microsoft.com/office/powerpoint/2010/main" val="2466548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C2781-8183-4EA0-BD4E-B34E857047A1}"/>
              </a:ext>
            </a:extLst>
          </p:cNvPr>
          <p:cNvSpPr>
            <a:spLocks noGrp="1"/>
          </p:cNvSpPr>
          <p:nvPr>
            <p:ph type="title"/>
          </p:nvPr>
        </p:nvSpPr>
        <p:spPr/>
        <p:txBody>
          <a:bodyPr/>
          <a:lstStyle/>
          <a:p>
            <a:r>
              <a:rPr lang="en-US" dirty="0"/>
              <a:t>Basic Concept: Association Rule</a:t>
            </a:r>
            <a:endParaRPr lang="en-IN" dirty="0"/>
          </a:p>
        </p:txBody>
      </p:sp>
      <p:pic>
        <p:nvPicPr>
          <p:cNvPr id="18" name="Content Placeholder 17">
            <a:extLst>
              <a:ext uri="{FF2B5EF4-FFF2-40B4-BE49-F238E27FC236}">
                <a16:creationId xmlns:a16="http://schemas.microsoft.com/office/drawing/2014/main" id="{4B380922-12C4-417D-90DD-FC9E204F67D3}"/>
              </a:ext>
            </a:extLst>
          </p:cNvPr>
          <p:cNvPicPr>
            <a:picLocks noGrp="1" noChangeAspect="1"/>
          </p:cNvPicPr>
          <p:nvPr>
            <p:ph idx="1"/>
          </p:nvPr>
        </p:nvPicPr>
        <p:blipFill>
          <a:blip r:embed="rId2"/>
          <a:stretch>
            <a:fillRect/>
          </a:stretch>
        </p:blipFill>
        <p:spPr>
          <a:xfrm>
            <a:off x="3722529" y="811562"/>
            <a:ext cx="3932261" cy="2206943"/>
          </a:xfrm>
          <a:prstGeom prst="rect">
            <a:avLst/>
          </a:prstGeom>
        </p:spPr>
      </p:pic>
      <p:sp>
        <p:nvSpPr>
          <p:cNvPr id="19" name="object 22">
            <a:extLst>
              <a:ext uri="{FF2B5EF4-FFF2-40B4-BE49-F238E27FC236}">
                <a16:creationId xmlns:a16="http://schemas.microsoft.com/office/drawing/2014/main" id="{CA93705B-1EC9-4090-A901-A7D558C48FC5}"/>
              </a:ext>
            </a:extLst>
          </p:cNvPr>
          <p:cNvSpPr/>
          <p:nvPr/>
        </p:nvSpPr>
        <p:spPr>
          <a:xfrm>
            <a:off x="3799644" y="3249227"/>
            <a:ext cx="3855146" cy="2446807"/>
          </a:xfrm>
          <a:custGeom>
            <a:avLst/>
            <a:gdLst/>
            <a:ahLst/>
            <a:cxnLst/>
            <a:rect l="l" t="t" r="r" b="b"/>
            <a:pathLst>
              <a:path w="3352800" h="2241550">
                <a:moveTo>
                  <a:pt x="0" y="2241550"/>
                </a:moveTo>
                <a:lnTo>
                  <a:pt x="3352800" y="2241550"/>
                </a:lnTo>
                <a:lnTo>
                  <a:pt x="3352800" y="0"/>
                </a:lnTo>
                <a:lnTo>
                  <a:pt x="0" y="0"/>
                </a:lnTo>
                <a:lnTo>
                  <a:pt x="0" y="2241550"/>
                </a:lnTo>
                <a:close/>
              </a:path>
            </a:pathLst>
          </a:custGeom>
          <a:ln w="12700">
            <a:solidFill>
              <a:srgbClr val="000000"/>
            </a:solidFill>
          </a:ln>
        </p:spPr>
        <p:txBody>
          <a:bodyPr wrap="square" lIns="0" tIns="0" rIns="0" bIns="0" rtlCol="0"/>
          <a:lstStyle/>
          <a:p>
            <a:endParaRPr/>
          </a:p>
        </p:txBody>
      </p:sp>
      <p:grpSp>
        <p:nvGrpSpPr>
          <p:cNvPr id="20" name="object 11">
            <a:extLst>
              <a:ext uri="{FF2B5EF4-FFF2-40B4-BE49-F238E27FC236}">
                <a16:creationId xmlns:a16="http://schemas.microsoft.com/office/drawing/2014/main" id="{74CD16A2-467E-4CFB-A78E-0B6E4B6A872E}"/>
              </a:ext>
            </a:extLst>
          </p:cNvPr>
          <p:cNvGrpSpPr/>
          <p:nvPr/>
        </p:nvGrpSpPr>
        <p:grpSpPr>
          <a:xfrm>
            <a:off x="4334223" y="3818656"/>
            <a:ext cx="2522855" cy="1513205"/>
            <a:chOff x="479425" y="3725926"/>
            <a:chExt cx="2522855" cy="1513205"/>
          </a:xfrm>
        </p:grpSpPr>
        <p:sp>
          <p:nvSpPr>
            <p:cNvPr id="21" name="object 12">
              <a:extLst>
                <a:ext uri="{FF2B5EF4-FFF2-40B4-BE49-F238E27FC236}">
                  <a16:creationId xmlns:a16="http://schemas.microsoft.com/office/drawing/2014/main" id="{6FEF5FE6-E118-43A7-BAA3-67D6DC3506C9}"/>
                </a:ext>
              </a:extLst>
            </p:cNvPr>
            <p:cNvSpPr/>
            <p:nvPr/>
          </p:nvSpPr>
          <p:spPr>
            <a:xfrm>
              <a:off x="492125" y="3927475"/>
              <a:ext cx="1643380" cy="1168400"/>
            </a:xfrm>
            <a:custGeom>
              <a:avLst/>
              <a:gdLst/>
              <a:ahLst/>
              <a:cxnLst/>
              <a:rect l="l" t="t" r="r" b="b"/>
              <a:pathLst>
                <a:path w="1643380" h="1168400">
                  <a:moveTo>
                    <a:pt x="821563" y="0"/>
                  </a:moveTo>
                  <a:lnTo>
                    <a:pt x="765312" y="1347"/>
                  </a:lnTo>
                  <a:lnTo>
                    <a:pt x="710079" y="5331"/>
                  </a:lnTo>
                  <a:lnTo>
                    <a:pt x="655986" y="11866"/>
                  </a:lnTo>
                  <a:lnTo>
                    <a:pt x="603155" y="20863"/>
                  </a:lnTo>
                  <a:lnTo>
                    <a:pt x="551709" y="32237"/>
                  </a:lnTo>
                  <a:lnTo>
                    <a:pt x="501769" y="45900"/>
                  </a:lnTo>
                  <a:lnTo>
                    <a:pt x="453459" y="61765"/>
                  </a:lnTo>
                  <a:lnTo>
                    <a:pt x="406900" y="79746"/>
                  </a:lnTo>
                  <a:lnTo>
                    <a:pt x="362215" y="99755"/>
                  </a:lnTo>
                  <a:lnTo>
                    <a:pt x="319526" y="121706"/>
                  </a:lnTo>
                  <a:lnTo>
                    <a:pt x="278956" y="145511"/>
                  </a:lnTo>
                  <a:lnTo>
                    <a:pt x="240626" y="171084"/>
                  </a:lnTo>
                  <a:lnTo>
                    <a:pt x="204660" y="198338"/>
                  </a:lnTo>
                  <a:lnTo>
                    <a:pt x="171180" y="227186"/>
                  </a:lnTo>
                  <a:lnTo>
                    <a:pt x="140307" y="257540"/>
                  </a:lnTo>
                  <a:lnTo>
                    <a:pt x="112165" y="289315"/>
                  </a:lnTo>
                  <a:lnTo>
                    <a:pt x="86875" y="322423"/>
                  </a:lnTo>
                  <a:lnTo>
                    <a:pt x="64561" y="356776"/>
                  </a:lnTo>
                  <a:lnTo>
                    <a:pt x="45343" y="392289"/>
                  </a:lnTo>
                  <a:lnTo>
                    <a:pt x="29346" y="428874"/>
                  </a:lnTo>
                  <a:lnTo>
                    <a:pt x="16690" y="466445"/>
                  </a:lnTo>
                  <a:lnTo>
                    <a:pt x="7499" y="504914"/>
                  </a:lnTo>
                  <a:lnTo>
                    <a:pt x="1895" y="544194"/>
                  </a:lnTo>
                  <a:lnTo>
                    <a:pt x="0" y="584200"/>
                  </a:lnTo>
                  <a:lnTo>
                    <a:pt x="1895" y="624205"/>
                  </a:lnTo>
                  <a:lnTo>
                    <a:pt x="7499" y="663485"/>
                  </a:lnTo>
                  <a:lnTo>
                    <a:pt x="16690" y="701954"/>
                  </a:lnTo>
                  <a:lnTo>
                    <a:pt x="29346" y="739525"/>
                  </a:lnTo>
                  <a:lnTo>
                    <a:pt x="45343" y="776110"/>
                  </a:lnTo>
                  <a:lnTo>
                    <a:pt x="64561" y="811623"/>
                  </a:lnTo>
                  <a:lnTo>
                    <a:pt x="86875" y="845976"/>
                  </a:lnTo>
                  <a:lnTo>
                    <a:pt x="112165" y="879084"/>
                  </a:lnTo>
                  <a:lnTo>
                    <a:pt x="140307" y="910859"/>
                  </a:lnTo>
                  <a:lnTo>
                    <a:pt x="171180" y="941213"/>
                  </a:lnTo>
                  <a:lnTo>
                    <a:pt x="204660" y="970061"/>
                  </a:lnTo>
                  <a:lnTo>
                    <a:pt x="240626" y="997315"/>
                  </a:lnTo>
                  <a:lnTo>
                    <a:pt x="278956" y="1022888"/>
                  </a:lnTo>
                  <a:lnTo>
                    <a:pt x="319526" y="1046693"/>
                  </a:lnTo>
                  <a:lnTo>
                    <a:pt x="362215" y="1068644"/>
                  </a:lnTo>
                  <a:lnTo>
                    <a:pt x="406900" y="1088653"/>
                  </a:lnTo>
                  <a:lnTo>
                    <a:pt x="453459" y="1106634"/>
                  </a:lnTo>
                  <a:lnTo>
                    <a:pt x="501769" y="1122499"/>
                  </a:lnTo>
                  <a:lnTo>
                    <a:pt x="551709" y="1136162"/>
                  </a:lnTo>
                  <a:lnTo>
                    <a:pt x="603155" y="1147536"/>
                  </a:lnTo>
                  <a:lnTo>
                    <a:pt x="655986" y="1156533"/>
                  </a:lnTo>
                  <a:lnTo>
                    <a:pt x="710079" y="1163068"/>
                  </a:lnTo>
                  <a:lnTo>
                    <a:pt x="765312" y="1167052"/>
                  </a:lnTo>
                  <a:lnTo>
                    <a:pt x="821563" y="1168400"/>
                  </a:lnTo>
                  <a:lnTo>
                    <a:pt x="877801" y="1167052"/>
                  </a:lnTo>
                  <a:lnTo>
                    <a:pt x="933024" y="1163068"/>
                  </a:lnTo>
                  <a:lnTo>
                    <a:pt x="987109" y="1156533"/>
                  </a:lnTo>
                  <a:lnTo>
                    <a:pt x="1039934" y="1147536"/>
                  </a:lnTo>
                  <a:lnTo>
                    <a:pt x="1091376" y="1136162"/>
                  </a:lnTo>
                  <a:lnTo>
                    <a:pt x="1141313" y="1122499"/>
                  </a:lnTo>
                  <a:lnTo>
                    <a:pt x="1189621" y="1106634"/>
                  </a:lnTo>
                  <a:lnTo>
                    <a:pt x="1236180" y="1088653"/>
                  </a:lnTo>
                  <a:lnTo>
                    <a:pt x="1280865" y="1068644"/>
                  </a:lnTo>
                  <a:lnTo>
                    <a:pt x="1323556" y="1046693"/>
                  </a:lnTo>
                  <a:lnTo>
                    <a:pt x="1364128" y="1022888"/>
                  </a:lnTo>
                  <a:lnTo>
                    <a:pt x="1402460" y="997315"/>
                  </a:lnTo>
                  <a:lnTo>
                    <a:pt x="1438430" y="970061"/>
                  </a:lnTo>
                  <a:lnTo>
                    <a:pt x="1471914" y="941213"/>
                  </a:lnTo>
                  <a:lnTo>
                    <a:pt x="1502791" y="910859"/>
                  </a:lnTo>
                  <a:lnTo>
                    <a:pt x="1530937" y="879084"/>
                  </a:lnTo>
                  <a:lnTo>
                    <a:pt x="1556231" y="845976"/>
                  </a:lnTo>
                  <a:lnTo>
                    <a:pt x="1578550" y="811623"/>
                  </a:lnTo>
                  <a:lnTo>
                    <a:pt x="1597771" y="776110"/>
                  </a:lnTo>
                  <a:lnTo>
                    <a:pt x="1613772" y="739525"/>
                  </a:lnTo>
                  <a:lnTo>
                    <a:pt x="1626430" y="701954"/>
                  </a:lnTo>
                  <a:lnTo>
                    <a:pt x="1635624" y="663485"/>
                  </a:lnTo>
                  <a:lnTo>
                    <a:pt x="1641230" y="624205"/>
                  </a:lnTo>
                  <a:lnTo>
                    <a:pt x="1643126" y="584200"/>
                  </a:lnTo>
                  <a:lnTo>
                    <a:pt x="1641230" y="544194"/>
                  </a:lnTo>
                  <a:lnTo>
                    <a:pt x="1635624" y="504914"/>
                  </a:lnTo>
                  <a:lnTo>
                    <a:pt x="1626430" y="466445"/>
                  </a:lnTo>
                  <a:lnTo>
                    <a:pt x="1613772" y="428874"/>
                  </a:lnTo>
                  <a:lnTo>
                    <a:pt x="1597771" y="392289"/>
                  </a:lnTo>
                  <a:lnTo>
                    <a:pt x="1578550" y="356776"/>
                  </a:lnTo>
                  <a:lnTo>
                    <a:pt x="1556231" y="322423"/>
                  </a:lnTo>
                  <a:lnTo>
                    <a:pt x="1530937" y="289315"/>
                  </a:lnTo>
                  <a:lnTo>
                    <a:pt x="1502791" y="257540"/>
                  </a:lnTo>
                  <a:lnTo>
                    <a:pt x="1471914" y="227186"/>
                  </a:lnTo>
                  <a:lnTo>
                    <a:pt x="1438430" y="198338"/>
                  </a:lnTo>
                  <a:lnTo>
                    <a:pt x="1402461" y="171084"/>
                  </a:lnTo>
                  <a:lnTo>
                    <a:pt x="1364128" y="145511"/>
                  </a:lnTo>
                  <a:lnTo>
                    <a:pt x="1323556" y="121706"/>
                  </a:lnTo>
                  <a:lnTo>
                    <a:pt x="1280865" y="99755"/>
                  </a:lnTo>
                  <a:lnTo>
                    <a:pt x="1236180" y="79746"/>
                  </a:lnTo>
                  <a:lnTo>
                    <a:pt x="1189621" y="61765"/>
                  </a:lnTo>
                  <a:lnTo>
                    <a:pt x="1141313" y="45900"/>
                  </a:lnTo>
                  <a:lnTo>
                    <a:pt x="1091376" y="32237"/>
                  </a:lnTo>
                  <a:lnTo>
                    <a:pt x="1039934" y="20863"/>
                  </a:lnTo>
                  <a:lnTo>
                    <a:pt x="987109" y="11866"/>
                  </a:lnTo>
                  <a:lnTo>
                    <a:pt x="933024" y="5331"/>
                  </a:lnTo>
                  <a:lnTo>
                    <a:pt x="877801" y="1347"/>
                  </a:lnTo>
                  <a:lnTo>
                    <a:pt x="821563" y="0"/>
                  </a:lnTo>
                  <a:close/>
                </a:path>
              </a:pathLst>
            </a:custGeom>
            <a:solidFill>
              <a:srgbClr val="FFFF00"/>
            </a:solidFill>
          </p:spPr>
          <p:txBody>
            <a:bodyPr wrap="square" lIns="0" tIns="0" rIns="0" bIns="0" rtlCol="0"/>
            <a:lstStyle/>
            <a:p>
              <a:endParaRPr/>
            </a:p>
          </p:txBody>
        </p:sp>
        <p:sp>
          <p:nvSpPr>
            <p:cNvPr id="22" name="object 13">
              <a:extLst>
                <a:ext uri="{FF2B5EF4-FFF2-40B4-BE49-F238E27FC236}">
                  <a16:creationId xmlns:a16="http://schemas.microsoft.com/office/drawing/2014/main" id="{A58F6C54-5A2A-43DC-91C9-7EB670A0134C}"/>
                </a:ext>
              </a:extLst>
            </p:cNvPr>
            <p:cNvSpPr/>
            <p:nvPr/>
          </p:nvSpPr>
          <p:spPr>
            <a:xfrm>
              <a:off x="492125" y="3927475"/>
              <a:ext cx="1643380" cy="1168400"/>
            </a:xfrm>
            <a:custGeom>
              <a:avLst/>
              <a:gdLst/>
              <a:ahLst/>
              <a:cxnLst/>
              <a:rect l="l" t="t" r="r" b="b"/>
              <a:pathLst>
                <a:path w="1643380" h="1168400">
                  <a:moveTo>
                    <a:pt x="0" y="584200"/>
                  </a:moveTo>
                  <a:lnTo>
                    <a:pt x="1895" y="544194"/>
                  </a:lnTo>
                  <a:lnTo>
                    <a:pt x="7499" y="504914"/>
                  </a:lnTo>
                  <a:lnTo>
                    <a:pt x="16690" y="466445"/>
                  </a:lnTo>
                  <a:lnTo>
                    <a:pt x="29346" y="428874"/>
                  </a:lnTo>
                  <a:lnTo>
                    <a:pt x="45343" y="392289"/>
                  </a:lnTo>
                  <a:lnTo>
                    <a:pt x="64561" y="356776"/>
                  </a:lnTo>
                  <a:lnTo>
                    <a:pt x="86875" y="322423"/>
                  </a:lnTo>
                  <a:lnTo>
                    <a:pt x="112165" y="289315"/>
                  </a:lnTo>
                  <a:lnTo>
                    <a:pt x="140307" y="257540"/>
                  </a:lnTo>
                  <a:lnTo>
                    <a:pt x="171180" y="227186"/>
                  </a:lnTo>
                  <a:lnTo>
                    <a:pt x="204660" y="198338"/>
                  </a:lnTo>
                  <a:lnTo>
                    <a:pt x="240626" y="171084"/>
                  </a:lnTo>
                  <a:lnTo>
                    <a:pt x="278956" y="145511"/>
                  </a:lnTo>
                  <a:lnTo>
                    <a:pt x="319526" y="121706"/>
                  </a:lnTo>
                  <a:lnTo>
                    <a:pt x="362215" y="99755"/>
                  </a:lnTo>
                  <a:lnTo>
                    <a:pt x="406900" y="79746"/>
                  </a:lnTo>
                  <a:lnTo>
                    <a:pt x="453459" y="61765"/>
                  </a:lnTo>
                  <a:lnTo>
                    <a:pt x="501769" y="45900"/>
                  </a:lnTo>
                  <a:lnTo>
                    <a:pt x="551709" y="32237"/>
                  </a:lnTo>
                  <a:lnTo>
                    <a:pt x="603155" y="20863"/>
                  </a:lnTo>
                  <a:lnTo>
                    <a:pt x="655986" y="11866"/>
                  </a:lnTo>
                  <a:lnTo>
                    <a:pt x="710079" y="5331"/>
                  </a:lnTo>
                  <a:lnTo>
                    <a:pt x="765312" y="1347"/>
                  </a:lnTo>
                  <a:lnTo>
                    <a:pt x="821563" y="0"/>
                  </a:lnTo>
                  <a:lnTo>
                    <a:pt x="877801" y="1347"/>
                  </a:lnTo>
                  <a:lnTo>
                    <a:pt x="933024" y="5331"/>
                  </a:lnTo>
                  <a:lnTo>
                    <a:pt x="987109" y="11866"/>
                  </a:lnTo>
                  <a:lnTo>
                    <a:pt x="1039934" y="20863"/>
                  </a:lnTo>
                  <a:lnTo>
                    <a:pt x="1091376" y="32237"/>
                  </a:lnTo>
                  <a:lnTo>
                    <a:pt x="1141313" y="45900"/>
                  </a:lnTo>
                  <a:lnTo>
                    <a:pt x="1189621" y="61765"/>
                  </a:lnTo>
                  <a:lnTo>
                    <a:pt x="1236180" y="79746"/>
                  </a:lnTo>
                  <a:lnTo>
                    <a:pt x="1280865" y="99755"/>
                  </a:lnTo>
                  <a:lnTo>
                    <a:pt x="1323556" y="121706"/>
                  </a:lnTo>
                  <a:lnTo>
                    <a:pt x="1364128" y="145511"/>
                  </a:lnTo>
                  <a:lnTo>
                    <a:pt x="1402461" y="171084"/>
                  </a:lnTo>
                  <a:lnTo>
                    <a:pt x="1438430" y="198338"/>
                  </a:lnTo>
                  <a:lnTo>
                    <a:pt x="1471914" y="227186"/>
                  </a:lnTo>
                  <a:lnTo>
                    <a:pt x="1502791" y="257540"/>
                  </a:lnTo>
                  <a:lnTo>
                    <a:pt x="1530937" y="289315"/>
                  </a:lnTo>
                  <a:lnTo>
                    <a:pt x="1556231" y="322423"/>
                  </a:lnTo>
                  <a:lnTo>
                    <a:pt x="1578550" y="356776"/>
                  </a:lnTo>
                  <a:lnTo>
                    <a:pt x="1597771" y="392289"/>
                  </a:lnTo>
                  <a:lnTo>
                    <a:pt x="1613772" y="428874"/>
                  </a:lnTo>
                  <a:lnTo>
                    <a:pt x="1626430" y="466445"/>
                  </a:lnTo>
                  <a:lnTo>
                    <a:pt x="1635624" y="504914"/>
                  </a:lnTo>
                  <a:lnTo>
                    <a:pt x="1641230" y="544194"/>
                  </a:lnTo>
                  <a:lnTo>
                    <a:pt x="1643126" y="584200"/>
                  </a:lnTo>
                  <a:lnTo>
                    <a:pt x="1641230" y="624205"/>
                  </a:lnTo>
                  <a:lnTo>
                    <a:pt x="1635624" y="663485"/>
                  </a:lnTo>
                  <a:lnTo>
                    <a:pt x="1626430" y="701954"/>
                  </a:lnTo>
                  <a:lnTo>
                    <a:pt x="1613772" y="739525"/>
                  </a:lnTo>
                  <a:lnTo>
                    <a:pt x="1597771" y="776110"/>
                  </a:lnTo>
                  <a:lnTo>
                    <a:pt x="1578550" y="811623"/>
                  </a:lnTo>
                  <a:lnTo>
                    <a:pt x="1556231" y="845976"/>
                  </a:lnTo>
                  <a:lnTo>
                    <a:pt x="1530937" y="879084"/>
                  </a:lnTo>
                  <a:lnTo>
                    <a:pt x="1502791" y="910859"/>
                  </a:lnTo>
                  <a:lnTo>
                    <a:pt x="1471914" y="941213"/>
                  </a:lnTo>
                  <a:lnTo>
                    <a:pt x="1438430" y="970061"/>
                  </a:lnTo>
                  <a:lnTo>
                    <a:pt x="1402460" y="997315"/>
                  </a:lnTo>
                  <a:lnTo>
                    <a:pt x="1364128" y="1022888"/>
                  </a:lnTo>
                  <a:lnTo>
                    <a:pt x="1323556" y="1046693"/>
                  </a:lnTo>
                  <a:lnTo>
                    <a:pt x="1280865" y="1068644"/>
                  </a:lnTo>
                  <a:lnTo>
                    <a:pt x="1236180" y="1088653"/>
                  </a:lnTo>
                  <a:lnTo>
                    <a:pt x="1189621" y="1106634"/>
                  </a:lnTo>
                  <a:lnTo>
                    <a:pt x="1141313" y="1122499"/>
                  </a:lnTo>
                  <a:lnTo>
                    <a:pt x="1091376" y="1136162"/>
                  </a:lnTo>
                  <a:lnTo>
                    <a:pt x="1039934" y="1147536"/>
                  </a:lnTo>
                  <a:lnTo>
                    <a:pt x="987109" y="1156533"/>
                  </a:lnTo>
                  <a:lnTo>
                    <a:pt x="933024" y="1163068"/>
                  </a:lnTo>
                  <a:lnTo>
                    <a:pt x="877801" y="1167052"/>
                  </a:lnTo>
                  <a:lnTo>
                    <a:pt x="821563" y="1168400"/>
                  </a:lnTo>
                  <a:lnTo>
                    <a:pt x="765312" y="1167052"/>
                  </a:lnTo>
                  <a:lnTo>
                    <a:pt x="710079" y="1163068"/>
                  </a:lnTo>
                  <a:lnTo>
                    <a:pt x="655986" y="1156533"/>
                  </a:lnTo>
                  <a:lnTo>
                    <a:pt x="603155" y="1147536"/>
                  </a:lnTo>
                  <a:lnTo>
                    <a:pt x="551709" y="1136162"/>
                  </a:lnTo>
                  <a:lnTo>
                    <a:pt x="501769" y="1122499"/>
                  </a:lnTo>
                  <a:lnTo>
                    <a:pt x="453459" y="1106634"/>
                  </a:lnTo>
                  <a:lnTo>
                    <a:pt x="406900" y="1088653"/>
                  </a:lnTo>
                  <a:lnTo>
                    <a:pt x="362215" y="1068644"/>
                  </a:lnTo>
                  <a:lnTo>
                    <a:pt x="319526" y="1046693"/>
                  </a:lnTo>
                  <a:lnTo>
                    <a:pt x="278956" y="1022888"/>
                  </a:lnTo>
                  <a:lnTo>
                    <a:pt x="240626" y="997315"/>
                  </a:lnTo>
                  <a:lnTo>
                    <a:pt x="204660" y="970061"/>
                  </a:lnTo>
                  <a:lnTo>
                    <a:pt x="171180" y="941213"/>
                  </a:lnTo>
                  <a:lnTo>
                    <a:pt x="140307" y="910859"/>
                  </a:lnTo>
                  <a:lnTo>
                    <a:pt x="112165" y="879084"/>
                  </a:lnTo>
                  <a:lnTo>
                    <a:pt x="86875" y="845976"/>
                  </a:lnTo>
                  <a:lnTo>
                    <a:pt x="64561" y="811623"/>
                  </a:lnTo>
                  <a:lnTo>
                    <a:pt x="45343" y="776110"/>
                  </a:lnTo>
                  <a:lnTo>
                    <a:pt x="29346" y="739525"/>
                  </a:lnTo>
                  <a:lnTo>
                    <a:pt x="16690" y="701954"/>
                  </a:lnTo>
                  <a:lnTo>
                    <a:pt x="7499" y="663485"/>
                  </a:lnTo>
                  <a:lnTo>
                    <a:pt x="1895" y="624205"/>
                  </a:lnTo>
                  <a:lnTo>
                    <a:pt x="0" y="584200"/>
                  </a:lnTo>
                  <a:close/>
                </a:path>
              </a:pathLst>
            </a:custGeom>
            <a:ln w="25400">
              <a:solidFill>
                <a:srgbClr val="333399"/>
              </a:solidFill>
            </a:ln>
          </p:spPr>
          <p:txBody>
            <a:bodyPr wrap="square" lIns="0" tIns="0" rIns="0" bIns="0" rtlCol="0"/>
            <a:lstStyle/>
            <a:p>
              <a:endParaRPr/>
            </a:p>
          </p:txBody>
        </p:sp>
        <p:sp>
          <p:nvSpPr>
            <p:cNvPr id="23" name="object 14">
              <a:extLst>
                <a:ext uri="{FF2B5EF4-FFF2-40B4-BE49-F238E27FC236}">
                  <a16:creationId xmlns:a16="http://schemas.microsoft.com/office/drawing/2014/main" id="{FCAF5C21-99AB-40CA-9557-4BE2EE9FB45D}"/>
                </a:ext>
              </a:extLst>
            </p:cNvPr>
            <p:cNvSpPr/>
            <p:nvPr/>
          </p:nvSpPr>
          <p:spPr>
            <a:xfrm>
              <a:off x="1346200" y="3927475"/>
              <a:ext cx="1643380" cy="1298575"/>
            </a:xfrm>
            <a:custGeom>
              <a:avLst/>
              <a:gdLst/>
              <a:ahLst/>
              <a:cxnLst/>
              <a:rect l="l" t="t" r="r" b="b"/>
              <a:pathLst>
                <a:path w="1643380" h="1298575">
                  <a:moveTo>
                    <a:pt x="821563" y="0"/>
                  </a:moveTo>
                  <a:lnTo>
                    <a:pt x="767541" y="1381"/>
                  </a:lnTo>
                  <a:lnTo>
                    <a:pt x="714453" y="5467"/>
                  </a:lnTo>
                  <a:lnTo>
                    <a:pt x="662406" y="12173"/>
                  </a:lnTo>
                  <a:lnTo>
                    <a:pt x="611510" y="21413"/>
                  </a:lnTo>
                  <a:lnTo>
                    <a:pt x="561872" y="33102"/>
                  </a:lnTo>
                  <a:lnTo>
                    <a:pt x="513600" y="47154"/>
                  </a:lnTo>
                  <a:lnTo>
                    <a:pt x="466803" y="63483"/>
                  </a:lnTo>
                  <a:lnTo>
                    <a:pt x="421590" y="82004"/>
                  </a:lnTo>
                  <a:lnTo>
                    <a:pt x="378067" y="102632"/>
                  </a:lnTo>
                  <a:lnTo>
                    <a:pt x="336343" y="125280"/>
                  </a:lnTo>
                  <a:lnTo>
                    <a:pt x="296527" y="149864"/>
                  </a:lnTo>
                  <a:lnTo>
                    <a:pt x="258727" y="176298"/>
                  </a:lnTo>
                  <a:lnTo>
                    <a:pt x="223051" y="204496"/>
                  </a:lnTo>
                  <a:lnTo>
                    <a:pt x="189607" y="234373"/>
                  </a:lnTo>
                  <a:lnTo>
                    <a:pt x="158504" y="265843"/>
                  </a:lnTo>
                  <a:lnTo>
                    <a:pt x="129849" y="298821"/>
                  </a:lnTo>
                  <a:lnTo>
                    <a:pt x="103751" y="333220"/>
                  </a:lnTo>
                  <a:lnTo>
                    <a:pt x="80318" y="368957"/>
                  </a:lnTo>
                  <a:lnTo>
                    <a:pt x="59658" y="405944"/>
                  </a:lnTo>
                  <a:lnTo>
                    <a:pt x="41880" y="444097"/>
                  </a:lnTo>
                  <a:lnTo>
                    <a:pt x="27092" y="483330"/>
                  </a:lnTo>
                  <a:lnTo>
                    <a:pt x="15401" y="523557"/>
                  </a:lnTo>
                  <a:lnTo>
                    <a:pt x="6917" y="564694"/>
                  </a:lnTo>
                  <a:lnTo>
                    <a:pt x="1747" y="606653"/>
                  </a:lnTo>
                  <a:lnTo>
                    <a:pt x="0" y="649351"/>
                  </a:lnTo>
                  <a:lnTo>
                    <a:pt x="1747" y="692033"/>
                  </a:lnTo>
                  <a:lnTo>
                    <a:pt x="6917" y="733979"/>
                  </a:lnTo>
                  <a:lnTo>
                    <a:pt x="15401" y="775103"/>
                  </a:lnTo>
                  <a:lnTo>
                    <a:pt x="27092" y="815319"/>
                  </a:lnTo>
                  <a:lnTo>
                    <a:pt x="41880" y="854542"/>
                  </a:lnTo>
                  <a:lnTo>
                    <a:pt x="59658" y="892686"/>
                  </a:lnTo>
                  <a:lnTo>
                    <a:pt x="80318" y="929665"/>
                  </a:lnTo>
                  <a:lnTo>
                    <a:pt x="103751" y="965393"/>
                  </a:lnTo>
                  <a:lnTo>
                    <a:pt x="129849" y="999787"/>
                  </a:lnTo>
                  <a:lnTo>
                    <a:pt x="158504" y="1032758"/>
                  </a:lnTo>
                  <a:lnTo>
                    <a:pt x="189607" y="1064223"/>
                  </a:lnTo>
                  <a:lnTo>
                    <a:pt x="223051" y="1094096"/>
                  </a:lnTo>
                  <a:lnTo>
                    <a:pt x="258727" y="1122290"/>
                  </a:lnTo>
                  <a:lnTo>
                    <a:pt x="296527" y="1148720"/>
                  </a:lnTo>
                  <a:lnTo>
                    <a:pt x="336343" y="1173302"/>
                  </a:lnTo>
                  <a:lnTo>
                    <a:pt x="378067" y="1195948"/>
                  </a:lnTo>
                  <a:lnTo>
                    <a:pt x="421590" y="1216574"/>
                  </a:lnTo>
                  <a:lnTo>
                    <a:pt x="466803" y="1235094"/>
                  </a:lnTo>
                  <a:lnTo>
                    <a:pt x="513600" y="1251422"/>
                  </a:lnTo>
                  <a:lnTo>
                    <a:pt x="561872" y="1265473"/>
                  </a:lnTo>
                  <a:lnTo>
                    <a:pt x="611510" y="1277161"/>
                  </a:lnTo>
                  <a:lnTo>
                    <a:pt x="662406" y="1286401"/>
                  </a:lnTo>
                  <a:lnTo>
                    <a:pt x="714453" y="1293107"/>
                  </a:lnTo>
                  <a:lnTo>
                    <a:pt x="767541" y="1297193"/>
                  </a:lnTo>
                  <a:lnTo>
                    <a:pt x="821563" y="1298575"/>
                  </a:lnTo>
                  <a:lnTo>
                    <a:pt x="875570" y="1297193"/>
                  </a:lnTo>
                  <a:lnTo>
                    <a:pt x="928647" y="1293107"/>
                  </a:lnTo>
                  <a:lnTo>
                    <a:pt x="980683" y="1286401"/>
                  </a:lnTo>
                  <a:lnTo>
                    <a:pt x="1031572" y="1277161"/>
                  </a:lnTo>
                  <a:lnTo>
                    <a:pt x="1081204" y="1265473"/>
                  </a:lnTo>
                  <a:lnTo>
                    <a:pt x="1129472" y="1251422"/>
                  </a:lnTo>
                  <a:lnTo>
                    <a:pt x="1176266" y="1235094"/>
                  </a:lnTo>
                  <a:lnTo>
                    <a:pt x="1221479" y="1216574"/>
                  </a:lnTo>
                  <a:lnTo>
                    <a:pt x="1265002" y="1195948"/>
                  </a:lnTo>
                  <a:lnTo>
                    <a:pt x="1306727" y="1173302"/>
                  </a:lnTo>
                  <a:lnTo>
                    <a:pt x="1346545" y="1148720"/>
                  </a:lnTo>
                  <a:lnTo>
                    <a:pt x="1384348" y="1122290"/>
                  </a:lnTo>
                  <a:lnTo>
                    <a:pt x="1420028" y="1094096"/>
                  </a:lnTo>
                  <a:lnTo>
                    <a:pt x="1453477" y="1064223"/>
                  </a:lnTo>
                  <a:lnTo>
                    <a:pt x="1484585" y="1032758"/>
                  </a:lnTo>
                  <a:lnTo>
                    <a:pt x="1513245" y="999787"/>
                  </a:lnTo>
                  <a:lnTo>
                    <a:pt x="1539348" y="965393"/>
                  </a:lnTo>
                  <a:lnTo>
                    <a:pt x="1562786" y="929665"/>
                  </a:lnTo>
                  <a:lnTo>
                    <a:pt x="1583450" y="892686"/>
                  </a:lnTo>
                  <a:lnTo>
                    <a:pt x="1601233" y="854542"/>
                  </a:lnTo>
                  <a:lnTo>
                    <a:pt x="1616025" y="815319"/>
                  </a:lnTo>
                  <a:lnTo>
                    <a:pt x="1627719" y="775103"/>
                  </a:lnTo>
                  <a:lnTo>
                    <a:pt x="1636206" y="733979"/>
                  </a:lnTo>
                  <a:lnTo>
                    <a:pt x="1641378" y="692033"/>
                  </a:lnTo>
                  <a:lnTo>
                    <a:pt x="1643126" y="649351"/>
                  </a:lnTo>
                  <a:lnTo>
                    <a:pt x="1641378" y="606653"/>
                  </a:lnTo>
                  <a:lnTo>
                    <a:pt x="1636206" y="564694"/>
                  </a:lnTo>
                  <a:lnTo>
                    <a:pt x="1627719" y="523557"/>
                  </a:lnTo>
                  <a:lnTo>
                    <a:pt x="1616025" y="483330"/>
                  </a:lnTo>
                  <a:lnTo>
                    <a:pt x="1601233" y="444097"/>
                  </a:lnTo>
                  <a:lnTo>
                    <a:pt x="1583450" y="405944"/>
                  </a:lnTo>
                  <a:lnTo>
                    <a:pt x="1562786" y="368957"/>
                  </a:lnTo>
                  <a:lnTo>
                    <a:pt x="1539348" y="333220"/>
                  </a:lnTo>
                  <a:lnTo>
                    <a:pt x="1513245" y="298821"/>
                  </a:lnTo>
                  <a:lnTo>
                    <a:pt x="1484585" y="265843"/>
                  </a:lnTo>
                  <a:lnTo>
                    <a:pt x="1453477" y="234373"/>
                  </a:lnTo>
                  <a:lnTo>
                    <a:pt x="1420028" y="204496"/>
                  </a:lnTo>
                  <a:lnTo>
                    <a:pt x="1384348" y="176298"/>
                  </a:lnTo>
                  <a:lnTo>
                    <a:pt x="1346545" y="149864"/>
                  </a:lnTo>
                  <a:lnTo>
                    <a:pt x="1306727" y="125280"/>
                  </a:lnTo>
                  <a:lnTo>
                    <a:pt x="1265002" y="102632"/>
                  </a:lnTo>
                  <a:lnTo>
                    <a:pt x="1221479" y="82004"/>
                  </a:lnTo>
                  <a:lnTo>
                    <a:pt x="1176266" y="63483"/>
                  </a:lnTo>
                  <a:lnTo>
                    <a:pt x="1129472" y="47154"/>
                  </a:lnTo>
                  <a:lnTo>
                    <a:pt x="1081204" y="33102"/>
                  </a:lnTo>
                  <a:lnTo>
                    <a:pt x="1031572" y="21413"/>
                  </a:lnTo>
                  <a:lnTo>
                    <a:pt x="980683" y="12173"/>
                  </a:lnTo>
                  <a:lnTo>
                    <a:pt x="928647" y="5467"/>
                  </a:lnTo>
                  <a:lnTo>
                    <a:pt x="875570" y="1381"/>
                  </a:lnTo>
                  <a:lnTo>
                    <a:pt x="821563" y="0"/>
                  </a:lnTo>
                  <a:close/>
                </a:path>
              </a:pathLst>
            </a:custGeom>
            <a:solidFill>
              <a:srgbClr val="99CCFF">
                <a:alpha val="50195"/>
              </a:srgbClr>
            </a:solidFill>
          </p:spPr>
          <p:txBody>
            <a:bodyPr wrap="square" lIns="0" tIns="0" rIns="0" bIns="0" rtlCol="0"/>
            <a:lstStyle/>
            <a:p>
              <a:endParaRPr/>
            </a:p>
          </p:txBody>
        </p:sp>
        <p:sp>
          <p:nvSpPr>
            <p:cNvPr id="24" name="object 15">
              <a:extLst>
                <a:ext uri="{FF2B5EF4-FFF2-40B4-BE49-F238E27FC236}">
                  <a16:creationId xmlns:a16="http://schemas.microsoft.com/office/drawing/2014/main" id="{54B2162B-4DD4-4DF0-93DD-8E1767A2A037}"/>
                </a:ext>
              </a:extLst>
            </p:cNvPr>
            <p:cNvSpPr/>
            <p:nvPr/>
          </p:nvSpPr>
          <p:spPr>
            <a:xfrm>
              <a:off x="1346200" y="3927475"/>
              <a:ext cx="1643380" cy="1298575"/>
            </a:xfrm>
            <a:custGeom>
              <a:avLst/>
              <a:gdLst/>
              <a:ahLst/>
              <a:cxnLst/>
              <a:rect l="l" t="t" r="r" b="b"/>
              <a:pathLst>
                <a:path w="1643380" h="1298575">
                  <a:moveTo>
                    <a:pt x="0" y="649351"/>
                  </a:moveTo>
                  <a:lnTo>
                    <a:pt x="1747" y="606653"/>
                  </a:lnTo>
                  <a:lnTo>
                    <a:pt x="6917" y="564694"/>
                  </a:lnTo>
                  <a:lnTo>
                    <a:pt x="15401" y="523557"/>
                  </a:lnTo>
                  <a:lnTo>
                    <a:pt x="27092" y="483330"/>
                  </a:lnTo>
                  <a:lnTo>
                    <a:pt x="41880" y="444097"/>
                  </a:lnTo>
                  <a:lnTo>
                    <a:pt x="59658" y="405944"/>
                  </a:lnTo>
                  <a:lnTo>
                    <a:pt x="80318" y="368957"/>
                  </a:lnTo>
                  <a:lnTo>
                    <a:pt x="103751" y="333220"/>
                  </a:lnTo>
                  <a:lnTo>
                    <a:pt x="129849" y="298821"/>
                  </a:lnTo>
                  <a:lnTo>
                    <a:pt x="158504" y="265843"/>
                  </a:lnTo>
                  <a:lnTo>
                    <a:pt x="189607" y="234373"/>
                  </a:lnTo>
                  <a:lnTo>
                    <a:pt x="223051" y="204496"/>
                  </a:lnTo>
                  <a:lnTo>
                    <a:pt x="258727" y="176298"/>
                  </a:lnTo>
                  <a:lnTo>
                    <a:pt x="296527" y="149864"/>
                  </a:lnTo>
                  <a:lnTo>
                    <a:pt x="336343" y="125280"/>
                  </a:lnTo>
                  <a:lnTo>
                    <a:pt x="378067" y="102632"/>
                  </a:lnTo>
                  <a:lnTo>
                    <a:pt x="421590" y="82004"/>
                  </a:lnTo>
                  <a:lnTo>
                    <a:pt x="466803" y="63483"/>
                  </a:lnTo>
                  <a:lnTo>
                    <a:pt x="513600" y="47154"/>
                  </a:lnTo>
                  <a:lnTo>
                    <a:pt x="561872" y="33102"/>
                  </a:lnTo>
                  <a:lnTo>
                    <a:pt x="611510" y="21413"/>
                  </a:lnTo>
                  <a:lnTo>
                    <a:pt x="662406" y="12173"/>
                  </a:lnTo>
                  <a:lnTo>
                    <a:pt x="714453" y="5467"/>
                  </a:lnTo>
                  <a:lnTo>
                    <a:pt x="767541" y="1381"/>
                  </a:lnTo>
                  <a:lnTo>
                    <a:pt x="821563" y="0"/>
                  </a:lnTo>
                  <a:lnTo>
                    <a:pt x="875570" y="1381"/>
                  </a:lnTo>
                  <a:lnTo>
                    <a:pt x="928647" y="5467"/>
                  </a:lnTo>
                  <a:lnTo>
                    <a:pt x="980683" y="12173"/>
                  </a:lnTo>
                  <a:lnTo>
                    <a:pt x="1031572" y="21413"/>
                  </a:lnTo>
                  <a:lnTo>
                    <a:pt x="1081204" y="33102"/>
                  </a:lnTo>
                  <a:lnTo>
                    <a:pt x="1129472" y="47154"/>
                  </a:lnTo>
                  <a:lnTo>
                    <a:pt x="1176266" y="63483"/>
                  </a:lnTo>
                  <a:lnTo>
                    <a:pt x="1221479" y="82004"/>
                  </a:lnTo>
                  <a:lnTo>
                    <a:pt x="1265002" y="102632"/>
                  </a:lnTo>
                  <a:lnTo>
                    <a:pt x="1306727" y="125280"/>
                  </a:lnTo>
                  <a:lnTo>
                    <a:pt x="1346545" y="149864"/>
                  </a:lnTo>
                  <a:lnTo>
                    <a:pt x="1384348" y="176298"/>
                  </a:lnTo>
                  <a:lnTo>
                    <a:pt x="1420028" y="204496"/>
                  </a:lnTo>
                  <a:lnTo>
                    <a:pt x="1453477" y="234373"/>
                  </a:lnTo>
                  <a:lnTo>
                    <a:pt x="1484585" y="265843"/>
                  </a:lnTo>
                  <a:lnTo>
                    <a:pt x="1513245" y="298821"/>
                  </a:lnTo>
                  <a:lnTo>
                    <a:pt x="1539348" y="333220"/>
                  </a:lnTo>
                  <a:lnTo>
                    <a:pt x="1562786" y="368957"/>
                  </a:lnTo>
                  <a:lnTo>
                    <a:pt x="1583450" y="405944"/>
                  </a:lnTo>
                  <a:lnTo>
                    <a:pt x="1601233" y="444097"/>
                  </a:lnTo>
                  <a:lnTo>
                    <a:pt x="1616025" y="483330"/>
                  </a:lnTo>
                  <a:lnTo>
                    <a:pt x="1627719" y="523557"/>
                  </a:lnTo>
                  <a:lnTo>
                    <a:pt x="1636206" y="564694"/>
                  </a:lnTo>
                  <a:lnTo>
                    <a:pt x="1641378" y="606653"/>
                  </a:lnTo>
                  <a:lnTo>
                    <a:pt x="1643126" y="649351"/>
                  </a:lnTo>
                  <a:lnTo>
                    <a:pt x="1641378" y="692033"/>
                  </a:lnTo>
                  <a:lnTo>
                    <a:pt x="1636206" y="733979"/>
                  </a:lnTo>
                  <a:lnTo>
                    <a:pt x="1627719" y="775103"/>
                  </a:lnTo>
                  <a:lnTo>
                    <a:pt x="1616025" y="815319"/>
                  </a:lnTo>
                  <a:lnTo>
                    <a:pt x="1601233" y="854542"/>
                  </a:lnTo>
                  <a:lnTo>
                    <a:pt x="1583450" y="892686"/>
                  </a:lnTo>
                  <a:lnTo>
                    <a:pt x="1562786" y="929665"/>
                  </a:lnTo>
                  <a:lnTo>
                    <a:pt x="1539348" y="965393"/>
                  </a:lnTo>
                  <a:lnTo>
                    <a:pt x="1513245" y="999787"/>
                  </a:lnTo>
                  <a:lnTo>
                    <a:pt x="1484585" y="1032758"/>
                  </a:lnTo>
                  <a:lnTo>
                    <a:pt x="1453477" y="1064223"/>
                  </a:lnTo>
                  <a:lnTo>
                    <a:pt x="1420028" y="1094096"/>
                  </a:lnTo>
                  <a:lnTo>
                    <a:pt x="1384348" y="1122290"/>
                  </a:lnTo>
                  <a:lnTo>
                    <a:pt x="1346545" y="1148720"/>
                  </a:lnTo>
                  <a:lnTo>
                    <a:pt x="1306727" y="1173302"/>
                  </a:lnTo>
                  <a:lnTo>
                    <a:pt x="1265002" y="1195948"/>
                  </a:lnTo>
                  <a:lnTo>
                    <a:pt x="1221479" y="1216574"/>
                  </a:lnTo>
                  <a:lnTo>
                    <a:pt x="1176266" y="1235094"/>
                  </a:lnTo>
                  <a:lnTo>
                    <a:pt x="1129472" y="1251422"/>
                  </a:lnTo>
                  <a:lnTo>
                    <a:pt x="1081204" y="1265473"/>
                  </a:lnTo>
                  <a:lnTo>
                    <a:pt x="1031572" y="1277161"/>
                  </a:lnTo>
                  <a:lnTo>
                    <a:pt x="980683" y="1286401"/>
                  </a:lnTo>
                  <a:lnTo>
                    <a:pt x="928647" y="1293107"/>
                  </a:lnTo>
                  <a:lnTo>
                    <a:pt x="875570" y="1297193"/>
                  </a:lnTo>
                  <a:lnTo>
                    <a:pt x="821563" y="1298575"/>
                  </a:lnTo>
                  <a:lnTo>
                    <a:pt x="767541" y="1297193"/>
                  </a:lnTo>
                  <a:lnTo>
                    <a:pt x="714453" y="1293107"/>
                  </a:lnTo>
                  <a:lnTo>
                    <a:pt x="662406" y="1286401"/>
                  </a:lnTo>
                  <a:lnTo>
                    <a:pt x="611510" y="1277161"/>
                  </a:lnTo>
                  <a:lnTo>
                    <a:pt x="561872" y="1265473"/>
                  </a:lnTo>
                  <a:lnTo>
                    <a:pt x="513600" y="1251422"/>
                  </a:lnTo>
                  <a:lnTo>
                    <a:pt x="466803" y="1235094"/>
                  </a:lnTo>
                  <a:lnTo>
                    <a:pt x="421590" y="1216574"/>
                  </a:lnTo>
                  <a:lnTo>
                    <a:pt x="378067" y="1195948"/>
                  </a:lnTo>
                  <a:lnTo>
                    <a:pt x="336343" y="1173302"/>
                  </a:lnTo>
                  <a:lnTo>
                    <a:pt x="296527" y="1148720"/>
                  </a:lnTo>
                  <a:lnTo>
                    <a:pt x="258727" y="1122290"/>
                  </a:lnTo>
                  <a:lnTo>
                    <a:pt x="223051" y="1094096"/>
                  </a:lnTo>
                  <a:lnTo>
                    <a:pt x="189607" y="1064223"/>
                  </a:lnTo>
                  <a:lnTo>
                    <a:pt x="158504" y="1032758"/>
                  </a:lnTo>
                  <a:lnTo>
                    <a:pt x="129849" y="999787"/>
                  </a:lnTo>
                  <a:lnTo>
                    <a:pt x="103751" y="965393"/>
                  </a:lnTo>
                  <a:lnTo>
                    <a:pt x="80318" y="929665"/>
                  </a:lnTo>
                  <a:lnTo>
                    <a:pt x="59658" y="892686"/>
                  </a:lnTo>
                  <a:lnTo>
                    <a:pt x="41880" y="854542"/>
                  </a:lnTo>
                  <a:lnTo>
                    <a:pt x="27092" y="815319"/>
                  </a:lnTo>
                  <a:lnTo>
                    <a:pt x="15401" y="775103"/>
                  </a:lnTo>
                  <a:lnTo>
                    <a:pt x="6917" y="733979"/>
                  </a:lnTo>
                  <a:lnTo>
                    <a:pt x="1747" y="692033"/>
                  </a:lnTo>
                  <a:lnTo>
                    <a:pt x="0" y="649351"/>
                  </a:lnTo>
                  <a:close/>
                </a:path>
              </a:pathLst>
            </a:custGeom>
            <a:ln w="25400">
              <a:solidFill>
                <a:srgbClr val="FF0000"/>
              </a:solidFill>
            </a:ln>
          </p:spPr>
          <p:txBody>
            <a:bodyPr wrap="square" lIns="0" tIns="0" rIns="0" bIns="0" rtlCol="0"/>
            <a:lstStyle/>
            <a:p>
              <a:endParaRPr/>
            </a:p>
          </p:txBody>
        </p:sp>
        <p:sp>
          <p:nvSpPr>
            <p:cNvPr id="25" name="object 16">
              <a:extLst>
                <a:ext uri="{FF2B5EF4-FFF2-40B4-BE49-F238E27FC236}">
                  <a16:creationId xmlns:a16="http://schemas.microsoft.com/office/drawing/2014/main" id="{63E657A2-AB11-4DD0-ADFA-3D35BE0D2A56}"/>
                </a:ext>
              </a:extLst>
            </p:cNvPr>
            <p:cNvSpPr/>
            <p:nvPr/>
          </p:nvSpPr>
          <p:spPr>
            <a:xfrm>
              <a:off x="754062" y="4511675"/>
              <a:ext cx="198755" cy="649605"/>
            </a:xfrm>
            <a:custGeom>
              <a:avLst/>
              <a:gdLst/>
              <a:ahLst/>
              <a:cxnLst/>
              <a:rect l="l" t="t" r="r" b="b"/>
              <a:pathLst>
                <a:path w="198755" h="649604">
                  <a:moveTo>
                    <a:pt x="198437" y="0"/>
                  </a:moveTo>
                  <a:lnTo>
                    <a:pt x="0" y="649224"/>
                  </a:lnTo>
                </a:path>
              </a:pathLst>
            </a:custGeom>
            <a:ln w="12700">
              <a:solidFill>
                <a:srgbClr val="333399"/>
              </a:solidFill>
            </a:ln>
          </p:spPr>
          <p:txBody>
            <a:bodyPr wrap="square" lIns="0" tIns="0" rIns="0" bIns="0" rtlCol="0"/>
            <a:lstStyle/>
            <a:p>
              <a:endParaRPr/>
            </a:p>
          </p:txBody>
        </p:sp>
        <p:sp>
          <p:nvSpPr>
            <p:cNvPr id="26" name="object 17">
              <a:extLst>
                <a:ext uri="{FF2B5EF4-FFF2-40B4-BE49-F238E27FC236}">
                  <a16:creationId xmlns:a16="http://schemas.microsoft.com/office/drawing/2014/main" id="{ADA3DADD-63A1-4276-8255-70004D4F60D6}"/>
                </a:ext>
              </a:extLst>
            </p:cNvPr>
            <p:cNvSpPr/>
            <p:nvPr/>
          </p:nvSpPr>
          <p:spPr>
            <a:xfrm>
              <a:off x="2727325" y="4057650"/>
              <a:ext cx="196850" cy="584200"/>
            </a:xfrm>
            <a:custGeom>
              <a:avLst/>
              <a:gdLst/>
              <a:ahLst/>
              <a:cxnLst/>
              <a:rect l="l" t="t" r="r" b="b"/>
              <a:pathLst>
                <a:path w="196850" h="584200">
                  <a:moveTo>
                    <a:pt x="0" y="584200"/>
                  </a:moveTo>
                  <a:lnTo>
                    <a:pt x="196850" y="0"/>
                  </a:lnTo>
                </a:path>
              </a:pathLst>
            </a:custGeom>
            <a:ln w="12700">
              <a:solidFill>
                <a:srgbClr val="FF0000"/>
              </a:solidFill>
            </a:ln>
          </p:spPr>
          <p:txBody>
            <a:bodyPr wrap="square" lIns="0" tIns="0" rIns="0" bIns="0" rtlCol="0"/>
            <a:lstStyle/>
            <a:p>
              <a:endParaRPr/>
            </a:p>
          </p:txBody>
        </p:sp>
        <p:sp>
          <p:nvSpPr>
            <p:cNvPr id="27" name="object 18">
              <a:extLst>
                <a:ext uri="{FF2B5EF4-FFF2-40B4-BE49-F238E27FC236}">
                  <a16:creationId xmlns:a16="http://schemas.microsoft.com/office/drawing/2014/main" id="{A5FC0292-25D3-40D1-B9D5-D7239511A6CA}"/>
                </a:ext>
              </a:extLst>
            </p:cNvPr>
            <p:cNvSpPr/>
            <p:nvPr/>
          </p:nvSpPr>
          <p:spPr>
            <a:xfrm>
              <a:off x="1938400" y="3732276"/>
              <a:ext cx="0" cy="779780"/>
            </a:xfrm>
            <a:custGeom>
              <a:avLst/>
              <a:gdLst/>
              <a:ahLst/>
              <a:cxnLst/>
              <a:rect l="l" t="t" r="r" b="b"/>
              <a:pathLst>
                <a:path h="779779">
                  <a:moveTo>
                    <a:pt x="0" y="779399"/>
                  </a:moveTo>
                  <a:lnTo>
                    <a:pt x="0" y="0"/>
                  </a:lnTo>
                </a:path>
              </a:pathLst>
            </a:custGeom>
            <a:ln w="12700">
              <a:solidFill>
                <a:srgbClr val="008000"/>
              </a:solidFill>
            </a:ln>
          </p:spPr>
          <p:txBody>
            <a:bodyPr wrap="square" lIns="0" tIns="0" rIns="0" bIns="0" rtlCol="0"/>
            <a:lstStyle/>
            <a:p>
              <a:endParaRPr/>
            </a:p>
          </p:txBody>
        </p:sp>
      </p:grpSp>
      <p:sp>
        <p:nvSpPr>
          <p:cNvPr id="28" name="object 19">
            <a:extLst>
              <a:ext uri="{FF2B5EF4-FFF2-40B4-BE49-F238E27FC236}">
                <a16:creationId xmlns:a16="http://schemas.microsoft.com/office/drawing/2014/main" id="{DAA9878C-0EFD-4F0E-A636-72EA62E0C1DF}"/>
              </a:ext>
            </a:extLst>
          </p:cNvPr>
          <p:cNvSpPr txBox="1"/>
          <p:nvPr/>
        </p:nvSpPr>
        <p:spPr>
          <a:xfrm>
            <a:off x="6596836" y="3319800"/>
            <a:ext cx="866775" cy="830580"/>
          </a:xfrm>
          <a:prstGeom prst="rect">
            <a:avLst/>
          </a:prstGeom>
        </p:spPr>
        <p:txBody>
          <a:bodyPr vert="horz" wrap="square" lIns="0" tIns="12700" rIns="0" bIns="0" rtlCol="0">
            <a:spAutoFit/>
          </a:bodyPr>
          <a:lstStyle/>
          <a:p>
            <a:pPr marR="5080">
              <a:lnSpc>
                <a:spcPct val="110000"/>
              </a:lnSpc>
              <a:spcBef>
                <a:spcPts val="100"/>
              </a:spcBef>
            </a:pPr>
            <a:r>
              <a:rPr sz="1600" b="1" spc="-5" dirty="0">
                <a:solidFill>
                  <a:srgbClr val="FF0000"/>
                </a:solidFill>
                <a:latin typeface="Times New Roman"/>
                <a:cs typeface="Times New Roman"/>
              </a:rPr>
              <a:t>Custo</a:t>
            </a:r>
            <a:r>
              <a:rPr sz="1600" b="1" spc="-30" dirty="0">
                <a:solidFill>
                  <a:srgbClr val="FF0000"/>
                </a:solidFill>
                <a:latin typeface="Times New Roman"/>
                <a:cs typeface="Times New Roman"/>
              </a:rPr>
              <a:t>m</a:t>
            </a:r>
            <a:r>
              <a:rPr sz="1600" b="1" spc="-5" dirty="0">
                <a:solidFill>
                  <a:srgbClr val="FF0000"/>
                </a:solidFill>
                <a:latin typeface="Times New Roman"/>
                <a:cs typeface="Times New Roman"/>
              </a:rPr>
              <a:t>er  buys  diaper</a:t>
            </a:r>
            <a:endParaRPr sz="1600" dirty="0">
              <a:latin typeface="Times New Roman"/>
              <a:cs typeface="Times New Roman"/>
            </a:endParaRPr>
          </a:p>
        </p:txBody>
      </p:sp>
      <p:sp>
        <p:nvSpPr>
          <p:cNvPr id="29" name="object 20">
            <a:extLst>
              <a:ext uri="{FF2B5EF4-FFF2-40B4-BE49-F238E27FC236}">
                <a16:creationId xmlns:a16="http://schemas.microsoft.com/office/drawing/2014/main" id="{5846C579-9270-4E2B-8E4E-5BCC190C02C3}"/>
              </a:ext>
            </a:extLst>
          </p:cNvPr>
          <p:cNvSpPr txBox="1"/>
          <p:nvPr/>
        </p:nvSpPr>
        <p:spPr>
          <a:xfrm>
            <a:off x="5411245" y="3317577"/>
            <a:ext cx="763905" cy="495300"/>
          </a:xfrm>
          <a:prstGeom prst="rect">
            <a:avLst/>
          </a:prstGeom>
        </p:spPr>
        <p:txBody>
          <a:bodyPr vert="horz" wrap="square" lIns="0" tIns="12700" rIns="0" bIns="0" rtlCol="0">
            <a:spAutoFit/>
          </a:bodyPr>
          <a:lstStyle/>
          <a:p>
            <a:pPr marR="5080">
              <a:lnSpc>
                <a:spcPct val="110000"/>
              </a:lnSpc>
              <a:spcBef>
                <a:spcPts val="100"/>
              </a:spcBef>
            </a:pPr>
            <a:r>
              <a:rPr sz="1400" b="1" spc="-10" dirty="0">
                <a:solidFill>
                  <a:srgbClr val="5FA080"/>
                </a:solidFill>
                <a:latin typeface="Times New Roman"/>
                <a:cs typeface="Times New Roman"/>
              </a:rPr>
              <a:t>C</a:t>
            </a:r>
            <a:r>
              <a:rPr sz="1400" b="1" dirty="0">
                <a:solidFill>
                  <a:srgbClr val="5FA080"/>
                </a:solidFill>
                <a:latin typeface="Times New Roman"/>
                <a:cs typeface="Times New Roman"/>
              </a:rPr>
              <a:t>ust</a:t>
            </a:r>
            <a:r>
              <a:rPr sz="1400" b="1" spc="5" dirty="0">
                <a:solidFill>
                  <a:srgbClr val="5FA080"/>
                </a:solidFill>
                <a:latin typeface="Times New Roman"/>
                <a:cs typeface="Times New Roman"/>
              </a:rPr>
              <a:t>o</a:t>
            </a:r>
            <a:r>
              <a:rPr sz="1400" b="1" spc="-20" dirty="0">
                <a:solidFill>
                  <a:srgbClr val="5FA080"/>
                </a:solidFill>
                <a:latin typeface="Times New Roman"/>
                <a:cs typeface="Times New Roman"/>
              </a:rPr>
              <a:t>m</a:t>
            </a:r>
            <a:r>
              <a:rPr sz="1400" b="1" dirty="0">
                <a:solidFill>
                  <a:srgbClr val="5FA080"/>
                </a:solidFill>
                <a:latin typeface="Times New Roman"/>
                <a:cs typeface="Times New Roman"/>
              </a:rPr>
              <a:t>er  buys</a:t>
            </a:r>
            <a:r>
              <a:rPr sz="1400" b="1" spc="-105" dirty="0">
                <a:solidFill>
                  <a:srgbClr val="5FA080"/>
                </a:solidFill>
                <a:latin typeface="Times New Roman"/>
                <a:cs typeface="Times New Roman"/>
              </a:rPr>
              <a:t> </a:t>
            </a:r>
            <a:r>
              <a:rPr sz="1400" b="1" dirty="0">
                <a:solidFill>
                  <a:srgbClr val="5FA080"/>
                </a:solidFill>
                <a:latin typeface="Times New Roman"/>
                <a:cs typeface="Times New Roman"/>
              </a:rPr>
              <a:t>both</a:t>
            </a:r>
            <a:endParaRPr sz="1400" dirty="0">
              <a:latin typeface="Times New Roman"/>
              <a:cs typeface="Times New Roman"/>
            </a:endParaRPr>
          </a:p>
        </p:txBody>
      </p:sp>
      <p:sp>
        <p:nvSpPr>
          <p:cNvPr id="30" name="object 21">
            <a:extLst>
              <a:ext uri="{FF2B5EF4-FFF2-40B4-BE49-F238E27FC236}">
                <a16:creationId xmlns:a16="http://schemas.microsoft.com/office/drawing/2014/main" id="{76ADDF8F-621F-44FE-8EC7-3521CD5BB544}"/>
              </a:ext>
            </a:extLst>
          </p:cNvPr>
          <p:cNvSpPr txBox="1"/>
          <p:nvPr/>
        </p:nvSpPr>
        <p:spPr>
          <a:xfrm>
            <a:off x="4137531" y="5166127"/>
            <a:ext cx="866775" cy="562610"/>
          </a:xfrm>
          <a:prstGeom prst="rect">
            <a:avLst/>
          </a:prstGeom>
        </p:spPr>
        <p:txBody>
          <a:bodyPr vert="horz" wrap="square" lIns="0" tIns="36830" rIns="0" bIns="0" rtlCol="0">
            <a:spAutoFit/>
          </a:bodyPr>
          <a:lstStyle/>
          <a:p>
            <a:pPr>
              <a:lnSpc>
                <a:spcPct val="100000"/>
              </a:lnSpc>
              <a:spcBef>
                <a:spcPts val="290"/>
              </a:spcBef>
            </a:pPr>
            <a:r>
              <a:rPr sz="1600" b="1" spc="-10" dirty="0">
                <a:solidFill>
                  <a:srgbClr val="333399"/>
                </a:solidFill>
                <a:latin typeface="Times New Roman"/>
                <a:cs typeface="Times New Roman"/>
              </a:rPr>
              <a:t>Customer</a:t>
            </a:r>
            <a:endParaRPr sz="1600" dirty="0">
              <a:latin typeface="Times New Roman"/>
              <a:cs typeface="Times New Roman"/>
            </a:endParaRPr>
          </a:p>
          <a:p>
            <a:pPr>
              <a:lnSpc>
                <a:spcPct val="100000"/>
              </a:lnSpc>
              <a:spcBef>
                <a:spcPts val="195"/>
              </a:spcBef>
            </a:pPr>
            <a:r>
              <a:rPr sz="1600" b="1" spc="-5" dirty="0">
                <a:solidFill>
                  <a:srgbClr val="333399"/>
                </a:solidFill>
                <a:latin typeface="Times New Roman"/>
                <a:cs typeface="Times New Roman"/>
              </a:rPr>
              <a:t>buys</a:t>
            </a:r>
            <a:r>
              <a:rPr sz="1600" b="1" spc="-85" dirty="0">
                <a:solidFill>
                  <a:srgbClr val="333399"/>
                </a:solidFill>
                <a:latin typeface="Times New Roman"/>
                <a:cs typeface="Times New Roman"/>
              </a:rPr>
              <a:t> </a:t>
            </a:r>
            <a:r>
              <a:rPr sz="1600" b="1" spc="-5" dirty="0">
                <a:solidFill>
                  <a:srgbClr val="333399"/>
                </a:solidFill>
                <a:latin typeface="Times New Roman"/>
                <a:cs typeface="Times New Roman"/>
              </a:rPr>
              <a:t>beer</a:t>
            </a:r>
            <a:endParaRPr sz="1600" dirty="0">
              <a:latin typeface="Times New Roman"/>
              <a:cs typeface="Times New Roman"/>
            </a:endParaRPr>
          </a:p>
        </p:txBody>
      </p:sp>
      <p:sp>
        <p:nvSpPr>
          <p:cNvPr id="31" name="object 8">
            <a:extLst>
              <a:ext uri="{FF2B5EF4-FFF2-40B4-BE49-F238E27FC236}">
                <a16:creationId xmlns:a16="http://schemas.microsoft.com/office/drawing/2014/main" id="{1DC27BDC-8185-4A7B-96A4-6F17D05C7DC9}"/>
              </a:ext>
            </a:extLst>
          </p:cNvPr>
          <p:cNvSpPr txBox="1"/>
          <p:nvPr/>
        </p:nvSpPr>
        <p:spPr>
          <a:xfrm>
            <a:off x="7749682" y="733629"/>
            <a:ext cx="4973955" cy="780415"/>
          </a:xfrm>
          <a:prstGeom prst="rect">
            <a:avLst/>
          </a:prstGeom>
        </p:spPr>
        <p:txBody>
          <a:bodyPr vert="horz" wrap="square" lIns="0" tIns="12700" rIns="0" bIns="0" rtlCol="0">
            <a:spAutoFit/>
          </a:bodyPr>
          <a:lstStyle/>
          <a:p>
            <a:pPr marL="469900" marR="5080" indent="-457834">
              <a:lnSpc>
                <a:spcPct val="101000"/>
              </a:lnSpc>
              <a:spcBef>
                <a:spcPts val="100"/>
              </a:spcBef>
              <a:buClr>
                <a:srgbClr val="3333CC"/>
              </a:buClr>
              <a:buSzPct val="60416"/>
              <a:buFont typeface="Wingdings"/>
              <a:buChar char=""/>
              <a:tabLst>
                <a:tab pos="469900" algn="l"/>
                <a:tab pos="470534" algn="l"/>
              </a:tabLst>
            </a:pPr>
            <a:r>
              <a:rPr sz="2400" spc="-5" dirty="0">
                <a:latin typeface="Tahoma"/>
                <a:cs typeface="Tahoma"/>
              </a:rPr>
              <a:t>Find all the rules </a:t>
            </a:r>
            <a:r>
              <a:rPr sz="2500" i="1" spc="-60" dirty="0">
                <a:latin typeface="Tahoma"/>
                <a:cs typeface="Tahoma"/>
              </a:rPr>
              <a:t>X </a:t>
            </a:r>
            <a:r>
              <a:rPr sz="2400" dirty="0">
                <a:latin typeface="Wingdings"/>
                <a:cs typeface="Wingdings"/>
              </a:rPr>
              <a:t></a:t>
            </a:r>
            <a:r>
              <a:rPr sz="2400" dirty="0">
                <a:latin typeface="Times New Roman"/>
                <a:cs typeface="Times New Roman"/>
              </a:rPr>
              <a:t> </a:t>
            </a:r>
            <a:r>
              <a:rPr sz="2500" i="1" spc="-60" dirty="0">
                <a:latin typeface="Tahoma"/>
                <a:cs typeface="Tahoma"/>
              </a:rPr>
              <a:t>Y </a:t>
            </a:r>
            <a:r>
              <a:rPr sz="2400" spc="-10" dirty="0">
                <a:latin typeface="Tahoma"/>
                <a:cs typeface="Tahoma"/>
              </a:rPr>
              <a:t>with  </a:t>
            </a:r>
            <a:r>
              <a:rPr sz="2400" dirty="0">
                <a:latin typeface="Tahoma"/>
                <a:cs typeface="Tahoma"/>
              </a:rPr>
              <a:t>minimum </a:t>
            </a:r>
            <a:r>
              <a:rPr sz="2400" spc="-5" dirty="0">
                <a:latin typeface="Tahoma"/>
                <a:cs typeface="Tahoma"/>
              </a:rPr>
              <a:t>support </a:t>
            </a:r>
            <a:r>
              <a:rPr sz="2400" dirty="0">
                <a:latin typeface="Tahoma"/>
                <a:cs typeface="Tahoma"/>
              </a:rPr>
              <a:t>and</a:t>
            </a:r>
            <a:r>
              <a:rPr sz="2400" spc="-110" dirty="0">
                <a:latin typeface="Tahoma"/>
                <a:cs typeface="Tahoma"/>
              </a:rPr>
              <a:t> </a:t>
            </a:r>
            <a:r>
              <a:rPr sz="2400" spc="-5" dirty="0">
                <a:latin typeface="Tahoma"/>
                <a:cs typeface="Tahoma"/>
              </a:rPr>
              <a:t>confidence</a:t>
            </a:r>
            <a:endParaRPr sz="2400" dirty="0">
              <a:latin typeface="Tahoma"/>
              <a:cs typeface="Tahoma"/>
            </a:endParaRPr>
          </a:p>
        </p:txBody>
      </p:sp>
      <p:sp>
        <p:nvSpPr>
          <p:cNvPr id="32" name="object 9">
            <a:extLst>
              <a:ext uri="{FF2B5EF4-FFF2-40B4-BE49-F238E27FC236}">
                <a16:creationId xmlns:a16="http://schemas.microsoft.com/office/drawing/2014/main" id="{DD902AE8-6FCD-4423-BA89-56BA1C8BB4B8}"/>
              </a:ext>
            </a:extLst>
          </p:cNvPr>
          <p:cNvSpPr txBox="1"/>
          <p:nvPr/>
        </p:nvSpPr>
        <p:spPr>
          <a:xfrm>
            <a:off x="8086880" y="1617682"/>
            <a:ext cx="4347845" cy="1947545"/>
          </a:xfrm>
          <a:prstGeom prst="rect">
            <a:avLst/>
          </a:prstGeom>
        </p:spPr>
        <p:txBody>
          <a:bodyPr vert="horz" wrap="square" lIns="0" tIns="43180" rIns="0" bIns="0" rtlCol="0">
            <a:spAutoFit/>
          </a:bodyPr>
          <a:lstStyle/>
          <a:p>
            <a:pPr marL="469900" marR="53975" indent="-457200">
              <a:lnSpc>
                <a:spcPts val="2860"/>
              </a:lnSpc>
              <a:spcBef>
                <a:spcPts val="340"/>
              </a:spcBef>
              <a:buSzPct val="54166"/>
              <a:buFont typeface="Wingdings"/>
              <a:buChar char=""/>
              <a:tabLst>
                <a:tab pos="469265" algn="l"/>
                <a:tab pos="469900" algn="l"/>
              </a:tabLst>
            </a:pPr>
            <a:r>
              <a:rPr sz="2400" spc="-5" dirty="0">
                <a:solidFill>
                  <a:srgbClr val="FF0000"/>
                </a:solidFill>
                <a:latin typeface="Tahoma"/>
                <a:cs typeface="Tahoma"/>
              </a:rPr>
              <a:t>support</a:t>
            </a:r>
            <a:r>
              <a:rPr sz="2400" spc="-5" dirty="0">
                <a:latin typeface="Tahoma"/>
                <a:cs typeface="Tahoma"/>
              </a:rPr>
              <a:t>, </a:t>
            </a:r>
            <a:r>
              <a:rPr sz="2500" i="1" spc="-25" dirty="0">
                <a:latin typeface="Tahoma"/>
                <a:cs typeface="Tahoma"/>
              </a:rPr>
              <a:t>s</a:t>
            </a:r>
            <a:r>
              <a:rPr sz="2400" spc="-25" dirty="0">
                <a:latin typeface="Tahoma"/>
                <a:cs typeface="Tahoma"/>
              </a:rPr>
              <a:t>, </a:t>
            </a:r>
            <a:r>
              <a:rPr sz="2400" dirty="0">
                <a:solidFill>
                  <a:srgbClr val="333399"/>
                </a:solidFill>
                <a:latin typeface="Tahoma"/>
                <a:cs typeface="Tahoma"/>
              </a:rPr>
              <a:t>probability </a:t>
            </a:r>
            <a:r>
              <a:rPr sz="2400" spc="-5" dirty="0">
                <a:latin typeface="Tahoma"/>
                <a:cs typeface="Tahoma"/>
              </a:rPr>
              <a:t>that</a:t>
            </a:r>
            <a:r>
              <a:rPr sz="2400" spc="-85" dirty="0">
                <a:latin typeface="Tahoma"/>
                <a:cs typeface="Tahoma"/>
              </a:rPr>
              <a:t> </a:t>
            </a:r>
            <a:r>
              <a:rPr sz="2400" dirty="0">
                <a:latin typeface="Tahoma"/>
                <a:cs typeface="Tahoma"/>
              </a:rPr>
              <a:t>a  </a:t>
            </a:r>
            <a:r>
              <a:rPr sz="2400" spc="-5" dirty="0">
                <a:latin typeface="Tahoma"/>
                <a:cs typeface="Tahoma"/>
              </a:rPr>
              <a:t>transaction contains X </a:t>
            </a:r>
            <a:r>
              <a:rPr sz="2400" dirty="0">
                <a:latin typeface="Symbol"/>
                <a:cs typeface="Symbol"/>
              </a:rPr>
              <a:t></a:t>
            </a:r>
            <a:r>
              <a:rPr sz="2400" spc="110" dirty="0">
                <a:latin typeface="Times New Roman"/>
                <a:cs typeface="Times New Roman"/>
              </a:rPr>
              <a:t> </a:t>
            </a:r>
            <a:r>
              <a:rPr sz="2400" dirty="0">
                <a:latin typeface="Tahoma"/>
                <a:cs typeface="Tahoma"/>
              </a:rPr>
              <a:t>Y</a:t>
            </a:r>
          </a:p>
          <a:p>
            <a:pPr marL="469900" marR="5080" indent="-457200">
              <a:lnSpc>
                <a:spcPct val="98000"/>
              </a:lnSpc>
              <a:spcBef>
                <a:spcPts val="465"/>
              </a:spcBef>
              <a:buSzPct val="54166"/>
              <a:buFont typeface="Wingdings"/>
              <a:buChar char=""/>
              <a:tabLst>
                <a:tab pos="469265" algn="l"/>
                <a:tab pos="469900" algn="l"/>
              </a:tabLst>
            </a:pPr>
            <a:r>
              <a:rPr sz="2400" spc="-5" dirty="0">
                <a:solidFill>
                  <a:srgbClr val="FF0000"/>
                </a:solidFill>
                <a:latin typeface="Tahoma"/>
                <a:cs typeface="Tahoma"/>
              </a:rPr>
              <a:t>confidence</a:t>
            </a:r>
            <a:r>
              <a:rPr sz="2400" spc="-5" dirty="0">
                <a:latin typeface="Tahoma"/>
                <a:cs typeface="Tahoma"/>
              </a:rPr>
              <a:t>, </a:t>
            </a:r>
            <a:r>
              <a:rPr sz="2500" i="1" spc="-45" dirty="0">
                <a:latin typeface="Tahoma"/>
                <a:cs typeface="Tahoma"/>
              </a:rPr>
              <a:t>c, </a:t>
            </a:r>
            <a:r>
              <a:rPr sz="2400" spc="-5" dirty="0">
                <a:solidFill>
                  <a:srgbClr val="333399"/>
                </a:solidFill>
                <a:latin typeface="Tahoma"/>
                <a:cs typeface="Tahoma"/>
              </a:rPr>
              <a:t>conditional  </a:t>
            </a:r>
            <a:r>
              <a:rPr sz="2400" dirty="0">
                <a:solidFill>
                  <a:srgbClr val="333399"/>
                </a:solidFill>
                <a:latin typeface="Tahoma"/>
                <a:cs typeface="Tahoma"/>
              </a:rPr>
              <a:t>probability </a:t>
            </a:r>
            <a:r>
              <a:rPr sz="2400" spc="-5" dirty="0">
                <a:latin typeface="Tahoma"/>
                <a:cs typeface="Tahoma"/>
              </a:rPr>
              <a:t>that </a:t>
            </a:r>
            <a:r>
              <a:rPr sz="2400" dirty="0">
                <a:latin typeface="Tahoma"/>
                <a:cs typeface="Tahoma"/>
              </a:rPr>
              <a:t>a</a:t>
            </a:r>
            <a:r>
              <a:rPr sz="2400" spc="-100" dirty="0">
                <a:latin typeface="Tahoma"/>
                <a:cs typeface="Tahoma"/>
              </a:rPr>
              <a:t> </a:t>
            </a:r>
            <a:r>
              <a:rPr sz="2400" spc="-5" dirty="0">
                <a:latin typeface="Tahoma"/>
                <a:cs typeface="Tahoma"/>
              </a:rPr>
              <a:t>transaction  </a:t>
            </a:r>
            <a:r>
              <a:rPr sz="2400" dirty="0">
                <a:latin typeface="Tahoma"/>
                <a:cs typeface="Tahoma"/>
              </a:rPr>
              <a:t>having </a:t>
            </a:r>
            <a:r>
              <a:rPr sz="2400" spc="-5" dirty="0">
                <a:latin typeface="Tahoma"/>
                <a:cs typeface="Tahoma"/>
              </a:rPr>
              <a:t>X </a:t>
            </a:r>
            <a:r>
              <a:rPr sz="2400" dirty="0">
                <a:latin typeface="Tahoma"/>
                <a:cs typeface="Tahoma"/>
              </a:rPr>
              <a:t>also </a:t>
            </a:r>
            <a:r>
              <a:rPr sz="2400" spc="-5" dirty="0">
                <a:latin typeface="Tahoma"/>
                <a:cs typeface="Tahoma"/>
              </a:rPr>
              <a:t>contains</a:t>
            </a:r>
            <a:r>
              <a:rPr sz="2400" spc="-45" dirty="0">
                <a:latin typeface="Tahoma"/>
                <a:cs typeface="Tahoma"/>
              </a:rPr>
              <a:t> </a:t>
            </a:r>
            <a:r>
              <a:rPr sz="2500" i="1" spc="-60" dirty="0">
                <a:latin typeface="Tahoma"/>
                <a:cs typeface="Tahoma"/>
              </a:rPr>
              <a:t>Y</a:t>
            </a:r>
            <a:endParaRPr sz="2500" dirty="0">
              <a:latin typeface="Tahoma"/>
              <a:cs typeface="Tahoma"/>
            </a:endParaRPr>
          </a:p>
        </p:txBody>
      </p:sp>
      <p:sp>
        <p:nvSpPr>
          <p:cNvPr id="33" name="object 10">
            <a:extLst>
              <a:ext uri="{FF2B5EF4-FFF2-40B4-BE49-F238E27FC236}">
                <a16:creationId xmlns:a16="http://schemas.microsoft.com/office/drawing/2014/main" id="{B1FD5508-1A3B-458A-BE16-A9B024C229CD}"/>
              </a:ext>
            </a:extLst>
          </p:cNvPr>
          <p:cNvSpPr txBox="1"/>
          <p:nvPr/>
        </p:nvSpPr>
        <p:spPr>
          <a:xfrm>
            <a:off x="7733179" y="3812877"/>
            <a:ext cx="5024120" cy="1059815"/>
          </a:xfrm>
          <a:prstGeom prst="rect">
            <a:avLst/>
          </a:prstGeom>
        </p:spPr>
        <p:txBody>
          <a:bodyPr vert="horz" wrap="square" lIns="0" tIns="57785" rIns="0" bIns="0" rtlCol="0">
            <a:spAutoFit/>
          </a:bodyPr>
          <a:lstStyle/>
          <a:p>
            <a:pPr marL="12700">
              <a:lnSpc>
                <a:spcPct val="100000"/>
              </a:lnSpc>
              <a:spcBef>
                <a:spcPts val="455"/>
              </a:spcBef>
              <a:tabLst>
                <a:tab pos="515620" algn="l"/>
              </a:tabLst>
            </a:pPr>
            <a:r>
              <a:rPr sz="2100" i="1" spc="-45" dirty="0">
                <a:latin typeface="Tahoma"/>
                <a:cs typeface="Tahoma"/>
              </a:rPr>
              <a:t>Let	</a:t>
            </a:r>
            <a:r>
              <a:rPr sz="2100" i="1" spc="-55" dirty="0">
                <a:latin typeface="Tahoma"/>
                <a:cs typeface="Tahoma"/>
              </a:rPr>
              <a:t>minsup </a:t>
            </a:r>
            <a:r>
              <a:rPr sz="2100" i="1" spc="-75" dirty="0">
                <a:latin typeface="Tahoma"/>
                <a:cs typeface="Tahoma"/>
              </a:rPr>
              <a:t>= </a:t>
            </a:r>
            <a:r>
              <a:rPr sz="2100" i="1" spc="-60" dirty="0">
                <a:latin typeface="Tahoma"/>
                <a:cs typeface="Tahoma"/>
              </a:rPr>
              <a:t>50%, </a:t>
            </a:r>
            <a:r>
              <a:rPr sz="2100" i="1" spc="-50" dirty="0">
                <a:latin typeface="Tahoma"/>
                <a:cs typeface="Tahoma"/>
              </a:rPr>
              <a:t>minconf </a:t>
            </a:r>
            <a:r>
              <a:rPr sz="2100" i="1" spc="-75" dirty="0">
                <a:latin typeface="Tahoma"/>
                <a:cs typeface="Tahoma"/>
              </a:rPr>
              <a:t>=</a:t>
            </a:r>
            <a:r>
              <a:rPr sz="2100" i="1" spc="-10" dirty="0">
                <a:latin typeface="Tahoma"/>
                <a:cs typeface="Tahoma"/>
              </a:rPr>
              <a:t> </a:t>
            </a:r>
            <a:r>
              <a:rPr sz="2100" i="1" spc="-70" dirty="0">
                <a:latin typeface="Tahoma"/>
                <a:cs typeface="Tahoma"/>
              </a:rPr>
              <a:t>50%</a:t>
            </a:r>
            <a:endParaRPr sz="2100" dirty="0">
              <a:latin typeface="Tahoma"/>
              <a:cs typeface="Tahoma"/>
            </a:endParaRPr>
          </a:p>
          <a:p>
            <a:pPr marL="12700">
              <a:lnSpc>
                <a:spcPts val="2510"/>
              </a:lnSpc>
              <a:spcBef>
                <a:spcPts val="360"/>
              </a:spcBef>
            </a:pPr>
            <a:r>
              <a:rPr sz="2100" i="1" spc="-50" dirty="0">
                <a:latin typeface="Tahoma"/>
                <a:cs typeface="Tahoma"/>
              </a:rPr>
              <a:t>Freq. </a:t>
            </a:r>
            <a:r>
              <a:rPr sz="2100" i="1" spc="-45" dirty="0">
                <a:latin typeface="Tahoma"/>
                <a:cs typeface="Tahoma"/>
              </a:rPr>
              <a:t>Pat.: </a:t>
            </a:r>
            <a:r>
              <a:rPr sz="2000" spc="-5" dirty="0">
                <a:latin typeface="Tahoma"/>
                <a:cs typeface="Tahoma"/>
              </a:rPr>
              <a:t>Beer:3, Nuts:3, Diaper:4,</a:t>
            </a:r>
            <a:r>
              <a:rPr sz="2000" spc="-35" dirty="0">
                <a:latin typeface="Tahoma"/>
                <a:cs typeface="Tahoma"/>
              </a:rPr>
              <a:t> </a:t>
            </a:r>
            <a:r>
              <a:rPr sz="2000" spc="-5" dirty="0">
                <a:latin typeface="Tahoma"/>
                <a:cs typeface="Tahoma"/>
              </a:rPr>
              <a:t>Eggs:3,</a:t>
            </a:r>
            <a:endParaRPr sz="2000" dirty="0">
              <a:latin typeface="Tahoma"/>
              <a:cs typeface="Tahoma"/>
            </a:endParaRPr>
          </a:p>
          <a:p>
            <a:pPr marL="469900">
              <a:lnSpc>
                <a:spcPts val="2390"/>
              </a:lnSpc>
            </a:pPr>
            <a:r>
              <a:rPr sz="2000" spc="-5" dirty="0">
                <a:latin typeface="Tahoma"/>
                <a:cs typeface="Tahoma"/>
              </a:rPr>
              <a:t>{Beer,</a:t>
            </a:r>
            <a:r>
              <a:rPr sz="2000" spc="-30" dirty="0">
                <a:latin typeface="Tahoma"/>
                <a:cs typeface="Tahoma"/>
              </a:rPr>
              <a:t> </a:t>
            </a:r>
            <a:r>
              <a:rPr sz="2000" dirty="0">
                <a:latin typeface="Tahoma"/>
                <a:cs typeface="Tahoma"/>
              </a:rPr>
              <a:t>Diaper}:3</a:t>
            </a:r>
          </a:p>
        </p:txBody>
      </p:sp>
      <p:sp>
        <p:nvSpPr>
          <p:cNvPr id="34" name="object 45">
            <a:extLst>
              <a:ext uri="{FF2B5EF4-FFF2-40B4-BE49-F238E27FC236}">
                <a16:creationId xmlns:a16="http://schemas.microsoft.com/office/drawing/2014/main" id="{E7192692-D708-4968-BA70-3282EB616099}"/>
              </a:ext>
            </a:extLst>
          </p:cNvPr>
          <p:cNvSpPr txBox="1"/>
          <p:nvPr/>
        </p:nvSpPr>
        <p:spPr>
          <a:xfrm>
            <a:off x="7749682" y="5179778"/>
            <a:ext cx="4779645" cy="391160"/>
          </a:xfrm>
          <a:prstGeom prst="rect">
            <a:avLst/>
          </a:prstGeom>
        </p:spPr>
        <p:txBody>
          <a:bodyPr vert="horz" wrap="square" lIns="0" tIns="12700" rIns="0" bIns="0" rtlCol="0">
            <a:spAutoFit/>
          </a:bodyPr>
          <a:lstStyle/>
          <a:p>
            <a:pPr marL="469900" indent="-457834">
              <a:lnSpc>
                <a:spcPct val="100000"/>
              </a:lnSpc>
              <a:spcBef>
                <a:spcPts val="100"/>
              </a:spcBef>
              <a:buClr>
                <a:srgbClr val="3333CC"/>
              </a:buClr>
              <a:buSzPct val="60416"/>
              <a:buFont typeface="Wingdings"/>
              <a:buChar char=""/>
              <a:tabLst>
                <a:tab pos="469900" algn="l"/>
                <a:tab pos="470534" algn="l"/>
              </a:tabLst>
            </a:pPr>
            <a:r>
              <a:rPr sz="2400" dirty="0">
                <a:latin typeface="Tahoma"/>
                <a:cs typeface="Tahoma"/>
              </a:rPr>
              <a:t>Association </a:t>
            </a:r>
            <a:r>
              <a:rPr sz="2400" spc="-5" dirty="0">
                <a:latin typeface="Tahoma"/>
                <a:cs typeface="Tahoma"/>
              </a:rPr>
              <a:t>rules: (many</a:t>
            </a:r>
            <a:r>
              <a:rPr sz="2400" spc="-85" dirty="0">
                <a:latin typeface="Tahoma"/>
                <a:cs typeface="Tahoma"/>
              </a:rPr>
              <a:t> </a:t>
            </a:r>
            <a:r>
              <a:rPr sz="2400" spc="-5" dirty="0">
                <a:latin typeface="Tahoma"/>
                <a:cs typeface="Tahoma"/>
              </a:rPr>
              <a:t>more!)</a:t>
            </a:r>
            <a:endParaRPr sz="2400" dirty="0">
              <a:latin typeface="Tahoma"/>
              <a:cs typeface="Tahoma"/>
            </a:endParaRPr>
          </a:p>
        </p:txBody>
      </p:sp>
      <p:sp>
        <p:nvSpPr>
          <p:cNvPr id="35" name="object 46">
            <a:extLst>
              <a:ext uri="{FF2B5EF4-FFF2-40B4-BE49-F238E27FC236}">
                <a16:creationId xmlns:a16="http://schemas.microsoft.com/office/drawing/2014/main" id="{E73F5504-A3EB-4418-A792-44FC13285D23}"/>
              </a:ext>
            </a:extLst>
          </p:cNvPr>
          <p:cNvSpPr txBox="1"/>
          <p:nvPr/>
        </p:nvSpPr>
        <p:spPr>
          <a:xfrm>
            <a:off x="8254033" y="5585263"/>
            <a:ext cx="4496435" cy="777240"/>
          </a:xfrm>
          <a:prstGeom prst="rect">
            <a:avLst/>
          </a:prstGeom>
        </p:spPr>
        <p:txBody>
          <a:bodyPr vert="horz" wrap="square" lIns="0" tIns="16510" rIns="0" bIns="0" rtlCol="0">
            <a:spAutoFit/>
          </a:bodyPr>
          <a:lstStyle/>
          <a:p>
            <a:pPr marL="469900" indent="-457200">
              <a:lnSpc>
                <a:spcPts val="2940"/>
              </a:lnSpc>
              <a:spcBef>
                <a:spcPts val="130"/>
              </a:spcBef>
              <a:buClr>
                <a:srgbClr val="FF0000"/>
              </a:buClr>
              <a:buSzPct val="52000"/>
              <a:buFont typeface="Wingdings"/>
              <a:buChar char=""/>
              <a:tabLst>
                <a:tab pos="469265" algn="l"/>
                <a:tab pos="469900" algn="l"/>
                <a:tab pos="2633980" algn="l"/>
              </a:tabLst>
            </a:pPr>
            <a:r>
              <a:rPr sz="2500" i="1" spc="-50" dirty="0">
                <a:latin typeface="Tahoma"/>
                <a:cs typeface="Tahoma"/>
              </a:rPr>
              <a:t>Beer </a:t>
            </a:r>
            <a:r>
              <a:rPr sz="2400" dirty="0">
                <a:latin typeface="Wingdings"/>
                <a:cs typeface="Wingdings"/>
              </a:rPr>
              <a:t></a:t>
            </a:r>
            <a:r>
              <a:rPr sz="2400" spc="165" dirty="0">
                <a:latin typeface="Times New Roman"/>
                <a:cs typeface="Times New Roman"/>
              </a:rPr>
              <a:t> </a:t>
            </a:r>
            <a:r>
              <a:rPr sz="2500" i="1" spc="-50" dirty="0">
                <a:latin typeface="Tahoma"/>
                <a:cs typeface="Tahoma"/>
              </a:rPr>
              <a:t>Diaper	</a:t>
            </a:r>
            <a:r>
              <a:rPr sz="2400" spc="-5" dirty="0">
                <a:latin typeface="Tahoma"/>
                <a:cs typeface="Tahoma"/>
              </a:rPr>
              <a:t>(60%,</a:t>
            </a:r>
            <a:r>
              <a:rPr sz="2400" spc="-50" dirty="0">
                <a:latin typeface="Tahoma"/>
                <a:cs typeface="Tahoma"/>
              </a:rPr>
              <a:t> </a:t>
            </a:r>
            <a:r>
              <a:rPr sz="2400" spc="-5" dirty="0">
                <a:latin typeface="Tahoma"/>
                <a:cs typeface="Tahoma"/>
              </a:rPr>
              <a:t>100%)</a:t>
            </a:r>
            <a:endParaRPr sz="2400" dirty="0">
              <a:latin typeface="Tahoma"/>
              <a:cs typeface="Tahoma"/>
            </a:endParaRPr>
          </a:p>
          <a:p>
            <a:pPr marL="469900" indent="-457200">
              <a:lnSpc>
                <a:spcPts val="2940"/>
              </a:lnSpc>
              <a:buClr>
                <a:srgbClr val="FF0000"/>
              </a:buClr>
              <a:buSzPct val="52000"/>
              <a:buFont typeface="Wingdings"/>
              <a:buChar char=""/>
              <a:tabLst>
                <a:tab pos="469265" algn="l"/>
                <a:tab pos="469900" algn="l"/>
                <a:tab pos="2633980" algn="l"/>
              </a:tabLst>
            </a:pPr>
            <a:r>
              <a:rPr sz="2500" i="1" spc="-50" dirty="0">
                <a:latin typeface="Tahoma"/>
                <a:cs typeface="Tahoma"/>
              </a:rPr>
              <a:t>Diaper</a:t>
            </a:r>
            <a:r>
              <a:rPr sz="2500" i="1" spc="-60" dirty="0">
                <a:latin typeface="Tahoma"/>
                <a:cs typeface="Tahoma"/>
              </a:rPr>
              <a:t> </a:t>
            </a:r>
            <a:r>
              <a:rPr sz="2400" dirty="0">
                <a:latin typeface="Wingdings"/>
                <a:cs typeface="Wingdings"/>
              </a:rPr>
              <a:t></a:t>
            </a:r>
            <a:r>
              <a:rPr sz="2400" spc="165" dirty="0">
                <a:latin typeface="Times New Roman"/>
                <a:cs typeface="Times New Roman"/>
              </a:rPr>
              <a:t> </a:t>
            </a:r>
            <a:r>
              <a:rPr sz="2500" i="1" spc="-50" dirty="0">
                <a:latin typeface="Tahoma"/>
                <a:cs typeface="Tahoma"/>
              </a:rPr>
              <a:t>Beer	</a:t>
            </a:r>
            <a:r>
              <a:rPr sz="2400" spc="-5" dirty="0">
                <a:latin typeface="Tahoma"/>
                <a:cs typeface="Tahoma"/>
              </a:rPr>
              <a:t>(60%,</a:t>
            </a:r>
            <a:r>
              <a:rPr sz="2400" spc="-20" dirty="0">
                <a:latin typeface="Tahoma"/>
                <a:cs typeface="Tahoma"/>
              </a:rPr>
              <a:t> </a:t>
            </a:r>
            <a:r>
              <a:rPr sz="2400" spc="-5" dirty="0">
                <a:latin typeface="Tahoma"/>
                <a:cs typeface="Tahoma"/>
              </a:rPr>
              <a:t>75%)</a:t>
            </a:r>
            <a:endParaRPr sz="2400" dirty="0">
              <a:latin typeface="Tahoma"/>
              <a:cs typeface="Tahoma"/>
            </a:endParaRPr>
          </a:p>
        </p:txBody>
      </p:sp>
    </p:spTree>
    <p:extLst>
      <p:ext uri="{BB962C8B-B14F-4D97-AF65-F5344CB8AC3E}">
        <p14:creationId xmlns:p14="http://schemas.microsoft.com/office/powerpoint/2010/main" val="2635340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E8FB1-45B9-4CB8-9EB4-E7C3A2DC3B8B}"/>
              </a:ext>
            </a:extLst>
          </p:cNvPr>
          <p:cNvSpPr>
            <a:spLocks noGrp="1"/>
          </p:cNvSpPr>
          <p:nvPr>
            <p:ph type="title"/>
          </p:nvPr>
        </p:nvSpPr>
        <p:spPr/>
        <p:txBody>
          <a:bodyPr/>
          <a:lstStyle/>
          <a:p>
            <a:r>
              <a:rPr lang="en-IN" dirty="0"/>
              <a:t>Definition: Frequent Itemset</a:t>
            </a:r>
          </a:p>
        </p:txBody>
      </p:sp>
      <p:sp>
        <p:nvSpPr>
          <p:cNvPr id="4" name="object 8">
            <a:extLst>
              <a:ext uri="{FF2B5EF4-FFF2-40B4-BE49-F238E27FC236}">
                <a16:creationId xmlns:a16="http://schemas.microsoft.com/office/drawing/2014/main" id="{A5FF6D2F-68FF-4391-8B52-686481BBCA94}"/>
              </a:ext>
            </a:extLst>
          </p:cNvPr>
          <p:cNvSpPr txBox="1">
            <a:spLocks noGrp="1"/>
          </p:cNvSpPr>
          <p:nvPr>
            <p:ph idx="1"/>
          </p:nvPr>
        </p:nvSpPr>
        <p:spPr>
          <a:xfrm>
            <a:off x="3868738" y="863600"/>
            <a:ext cx="7315200" cy="5121275"/>
          </a:xfrm>
          <a:prstGeom prst="rect">
            <a:avLst/>
          </a:prstGeom>
        </p:spPr>
        <p:txBody>
          <a:bodyPr vert="horz" wrap="square" lIns="0" tIns="73660" rIns="0" bIns="0" rtlCol="0">
            <a:spAutoFit/>
          </a:bodyPr>
          <a:lstStyle/>
          <a:p>
            <a:pPr marL="355600" indent="-342900">
              <a:lnSpc>
                <a:spcPct val="100000"/>
              </a:lnSpc>
              <a:spcBef>
                <a:spcPts val="580"/>
              </a:spcBef>
              <a:buClr>
                <a:srgbClr val="3333CC"/>
              </a:buClr>
              <a:buSzPct val="60000"/>
              <a:buFont typeface="Wingdings"/>
              <a:buChar char=""/>
              <a:tabLst>
                <a:tab pos="354965" algn="l"/>
                <a:tab pos="355600" algn="l"/>
              </a:tabLst>
            </a:pPr>
            <a:r>
              <a:rPr sz="2000" b="1" spc="-5" dirty="0">
                <a:latin typeface="Tahoma"/>
                <a:cs typeface="Tahoma"/>
              </a:rPr>
              <a:t>Itemset</a:t>
            </a:r>
            <a:endParaRPr sz="2000" dirty="0">
              <a:latin typeface="Tahoma"/>
              <a:cs typeface="Tahoma"/>
            </a:endParaRPr>
          </a:p>
          <a:p>
            <a:pPr marL="756285" lvl="1" indent="-287020">
              <a:lnSpc>
                <a:spcPct val="100000"/>
              </a:lnSpc>
              <a:spcBef>
                <a:spcPts val="425"/>
              </a:spcBef>
              <a:buClr>
                <a:srgbClr val="FF0000"/>
              </a:buClr>
              <a:buSzPct val="55555"/>
              <a:buFont typeface="Wingdings"/>
              <a:buChar char=""/>
              <a:tabLst>
                <a:tab pos="756285" algn="l"/>
                <a:tab pos="756920" algn="l"/>
              </a:tabLst>
            </a:pPr>
            <a:r>
              <a:rPr sz="1800" spc="-5" dirty="0">
                <a:latin typeface="Tahoma"/>
                <a:cs typeface="Tahoma"/>
              </a:rPr>
              <a:t>A collection </a:t>
            </a:r>
            <a:r>
              <a:rPr sz="1800" dirty="0">
                <a:latin typeface="Tahoma"/>
                <a:cs typeface="Tahoma"/>
              </a:rPr>
              <a:t>of </a:t>
            </a:r>
            <a:r>
              <a:rPr sz="1800" spc="-5" dirty="0">
                <a:latin typeface="Tahoma"/>
                <a:cs typeface="Tahoma"/>
              </a:rPr>
              <a:t>one </a:t>
            </a:r>
            <a:r>
              <a:rPr sz="1800" dirty="0">
                <a:latin typeface="Tahoma"/>
                <a:cs typeface="Tahoma"/>
              </a:rPr>
              <a:t>or more</a:t>
            </a:r>
            <a:r>
              <a:rPr sz="1800" spc="-30" dirty="0">
                <a:latin typeface="Tahoma"/>
                <a:cs typeface="Tahoma"/>
              </a:rPr>
              <a:t> </a:t>
            </a:r>
            <a:r>
              <a:rPr sz="1800" spc="-10" dirty="0">
                <a:latin typeface="Tahoma"/>
                <a:cs typeface="Tahoma"/>
              </a:rPr>
              <a:t>items</a:t>
            </a:r>
            <a:endParaRPr sz="1800" dirty="0">
              <a:latin typeface="Tahoma"/>
              <a:cs typeface="Tahoma"/>
            </a:endParaRPr>
          </a:p>
          <a:p>
            <a:pPr marL="1155700" lvl="2" indent="-229235">
              <a:lnSpc>
                <a:spcPct val="100000"/>
              </a:lnSpc>
              <a:spcBef>
                <a:spcPts val="395"/>
              </a:spcBef>
              <a:buClr>
                <a:srgbClr val="3333CC"/>
              </a:buClr>
              <a:buSzPct val="50000"/>
              <a:buFont typeface="Wingdings"/>
              <a:buChar char=""/>
              <a:tabLst>
                <a:tab pos="1155700" algn="l"/>
                <a:tab pos="1156335" algn="l"/>
              </a:tabLst>
            </a:pPr>
            <a:r>
              <a:rPr sz="1600" spc="-5" dirty="0">
                <a:latin typeface="Tahoma"/>
                <a:cs typeface="Tahoma"/>
              </a:rPr>
              <a:t>Example: </a:t>
            </a:r>
            <a:r>
              <a:rPr sz="1600" spc="-10" dirty="0">
                <a:latin typeface="Tahoma"/>
                <a:cs typeface="Tahoma"/>
              </a:rPr>
              <a:t>{Milk, Bread,</a:t>
            </a:r>
            <a:r>
              <a:rPr sz="1600" spc="15" dirty="0">
                <a:latin typeface="Tahoma"/>
                <a:cs typeface="Tahoma"/>
              </a:rPr>
              <a:t> </a:t>
            </a:r>
            <a:r>
              <a:rPr sz="1600" spc="-10" dirty="0">
                <a:latin typeface="Tahoma"/>
                <a:cs typeface="Tahoma"/>
              </a:rPr>
              <a:t>Diaper}</a:t>
            </a:r>
            <a:endParaRPr sz="1600" dirty="0">
              <a:latin typeface="Tahoma"/>
              <a:cs typeface="Tahoma"/>
            </a:endParaRPr>
          </a:p>
          <a:p>
            <a:pPr marL="756285" lvl="1" indent="-287020">
              <a:lnSpc>
                <a:spcPct val="100000"/>
              </a:lnSpc>
              <a:spcBef>
                <a:spcPts val="425"/>
              </a:spcBef>
              <a:buClr>
                <a:srgbClr val="FF0000"/>
              </a:buClr>
              <a:buSzPct val="55555"/>
              <a:buFont typeface="Wingdings"/>
              <a:buChar char=""/>
              <a:tabLst>
                <a:tab pos="756285" algn="l"/>
                <a:tab pos="756920" algn="l"/>
              </a:tabLst>
            </a:pPr>
            <a:r>
              <a:rPr sz="1800" spc="-5" dirty="0">
                <a:latin typeface="Tahoma"/>
                <a:cs typeface="Tahoma"/>
              </a:rPr>
              <a:t>k-itemset</a:t>
            </a:r>
            <a:endParaRPr sz="1800" dirty="0">
              <a:latin typeface="Tahoma"/>
              <a:cs typeface="Tahoma"/>
            </a:endParaRPr>
          </a:p>
          <a:p>
            <a:pPr marL="1155700" lvl="2" indent="-229235">
              <a:lnSpc>
                <a:spcPct val="100000"/>
              </a:lnSpc>
              <a:spcBef>
                <a:spcPts val="390"/>
              </a:spcBef>
              <a:buClr>
                <a:srgbClr val="3333CC"/>
              </a:buClr>
              <a:buSzPct val="50000"/>
              <a:buFont typeface="Wingdings"/>
              <a:buChar char=""/>
              <a:tabLst>
                <a:tab pos="1155700" algn="l"/>
                <a:tab pos="1156335" algn="l"/>
              </a:tabLst>
            </a:pPr>
            <a:r>
              <a:rPr sz="1600" spc="-5" dirty="0">
                <a:latin typeface="Tahoma"/>
                <a:cs typeface="Tahoma"/>
              </a:rPr>
              <a:t>An </a:t>
            </a:r>
            <a:r>
              <a:rPr sz="1600" spc="-10" dirty="0">
                <a:latin typeface="Tahoma"/>
                <a:cs typeface="Tahoma"/>
              </a:rPr>
              <a:t>itemset </a:t>
            </a:r>
            <a:r>
              <a:rPr sz="1600" spc="-5" dirty="0">
                <a:latin typeface="Tahoma"/>
                <a:cs typeface="Tahoma"/>
              </a:rPr>
              <a:t>that </a:t>
            </a:r>
            <a:r>
              <a:rPr sz="1600" spc="-10" dirty="0">
                <a:latin typeface="Tahoma"/>
                <a:cs typeface="Tahoma"/>
              </a:rPr>
              <a:t>contains </a:t>
            </a:r>
            <a:r>
              <a:rPr sz="1600" spc="-5" dirty="0">
                <a:latin typeface="Tahoma"/>
                <a:cs typeface="Tahoma"/>
              </a:rPr>
              <a:t>k</a:t>
            </a:r>
            <a:r>
              <a:rPr sz="1600" spc="60" dirty="0">
                <a:latin typeface="Tahoma"/>
                <a:cs typeface="Tahoma"/>
              </a:rPr>
              <a:t> </a:t>
            </a:r>
            <a:r>
              <a:rPr sz="1600" spc="-10" dirty="0">
                <a:latin typeface="Tahoma"/>
                <a:cs typeface="Tahoma"/>
              </a:rPr>
              <a:t>items</a:t>
            </a:r>
            <a:endParaRPr sz="1600" dirty="0">
              <a:latin typeface="Tahoma"/>
              <a:cs typeface="Tahoma"/>
            </a:endParaRPr>
          </a:p>
          <a:p>
            <a:pPr marL="355600" indent="-342900">
              <a:lnSpc>
                <a:spcPct val="100000"/>
              </a:lnSpc>
              <a:spcBef>
                <a:spcPts val="455"/>
              </a:spcBef>
              <a:buClr>
                <a:srgbClr val="3333CC"/>
              </a:buClr>
              <a:buSzPct val="60000"/>
              <a:buFont typeface="Wingdings"/>
              <a:buChar char=""/>
              <a:tabLst>
                <a:tab pos="354965" algn="l"/>
                <a:tab pos="355600" algn="l"/>
              </a:tabLst>
            </a:pPr>
            <a:r>
              <a:rPr sz="2000" b="1" spc="-5" dirty="0">
                <a:latin typeface="Tahoma"/>
                <a:cs typeface="Tahoma"/>
              </a:rPr>
              <a:t>Support count</a:t>
            </a:r>
            <a:r>
              <a:rPr sz="2000" b="1" spc="-75" dirty="0">
                <a:latin typeface="Tahoma"/>
                <a:cs typeface="Tahoma"/>
              </a:rPr>
              <a:t> </a:t>
            </a:r>
            <a:r>
              <a:rPr sz="2000" b="1" spc="10" dirty="0">
                <a:latin typeface="Tahoma"/>
                <a:cs typeface="Tahoma"/>
              </a:rPr>
              <a:t>(</a:t>
            </a:r>
            <a:r>
              <a:rPr sz="2000" b="1" spc="10" dirty="0">
                <a:latin typeface="Symbol"/>
                <a:cs typeface="Symbol"/>
              </a:rPr>
              <a:t></a:t>
            </a:r>
            <a:r>
              <a:rPr sz="2000" b="1" spc="10" dirty="0">
                <a:latin typeface="Tahoma"/>
                <a:cs typeface="Tahoma"/>
              </a:rPr>
              <a:t>)</a:t>
            </a:r>
            <a:endParaRPr sz="2000" dirty="0">
              <a:latin typeface="Tahoma"/>
              <a:cs typeface="Tahoma"/>
            </a:endParaRPr>
          </a:p>
          <a:p>
            <a:pPr marL="756285" lvl="1" indent="-287020">
              <a:lnSpc>
                <a:spcPct val="100000"/>
              </a:lnSpc>
              <a:spcBef>
                <a:spcPts val="450"/>
              </a:spcBef>
              <a:buClr>
                <a:srgbClr val="FF0000"/>
              </a:buClr>
              <a:buSzPct val="55555"/>
              <a:buFont typeface="Wingdings"/>
              <a:buChar char=""/>
              <a:tabLst>
                <a:tab pos="756285" algn="l"/>
                <a:tab pos="756920" algn="l"/>
              </a:tabLst>
            </a:pPr>
            <a:r>
              <a:rPr sz="1800" spc="-5" dirty="0">
                <a:latin typeface="Tahoma"/>
                <a:cs typeface="Tahoma"/>
              </a:rPr>
              <a:t>Frequency </a:t>
            </a:r>
            <a:r>
              <a:rPr sz="1800" dirty="0">
                <a:latin typeface="Tahoma"/>
                <a:cs typeface="Tahoma"/>
              </a:rPr>
              <a:t>of </a:t>
            </a:r>
            <a:r>
              <a:rPr sz="1800" spc="-5" dirty="0">
                <a:latin typeface="Tahoma"/>
                <a:cs typeface="Tahoma"/>
              </a:rPr>
              <a:t>occurrence </a:t>
            </a:r>
            <a:r>
              <a:rPr sz="1800" dirty="0">
                <a:latin typeface="Tahoma"/>
                <a:cs typeface="Tahoma"/>
              </a:rPr>
              <a:t>of </a:t>
            </a:r>
            <a:r>
              <a:rPr sz="1800" spc="-5" dirty="0">
                <a:latin typeface="Tahoma"/>
                <a:cs typeface="Tahoma"/>
              </a:rPr>
              <a:t>an</a:t>
            </a:r>
            <a:r>
              <a:rPr sz="1800" spc="-100" dirty="0">
                <a:latin typeface="Tahoma"/>
                <a:cs typeface="Tahoma"/>
              </a:rPr>
              <a:t> </a:t>
            </a:r>
            <a:r>
              <a:rPr sz="1800" dirty="0">
                <a:latin typeface="Tahoma"/>
                <a:cs typeface="Tahoma"/>
              </a:rPr>
              <a:t>itemset</a:t>
            </a:r>
          </a:p>
          <a:p>
            <a:pPr marL="756285" lvl="1" indent="-287020">
              <a:lnSpc>
                <a:spcPct val="100000"/>
              </a:lnSpc>
              <a:spcBef>
                <a:spcPts val="420"/>
              </a:spcBef>
              <a:buClr>
                <a:srgbClr val="FF0000"/>
              </a:buClr>
              <a:buSzPct val="55555"/>
              <a:buFont typeface="Wingdings"/>
              <a:buChar char=""/>
              <a:tabLst>
                <a:tab pos="756285" algn="l"/>
                <a:tab pos="756920" algn="l"/>
                <a:tab pos="1364615" algn="l"/>
              </a:tabLst>
            </a:pPr>
            <a:r>
              <a:rPr sz="1800" spc="-5" dirty="0">
                <a:latin typeface="Tahoma"/>
                <a:cs typeface="Tahoma"/>
              </a:rPr>
              <a:t>E.g.	</a:t>
            </a:r>
            <a:r>
              <a:rPr sz="1800" spc="-5" dirty="0">
                <a:latin typeface="Symbol"/>
                <a:cs typeface="Symbol"/>
              </a:rPr>
              <a:t></a:t>
            </a:r>
            <a:r>
              <a:rPr sz="1800" spc="-5" dirty="0">
                <a:latin typeface="Tahoma"/>
                <a:cs typeface="Tahoma"/>
              </a:rPr>
              <a:t>({Milk, Bread,Diaper}) =</a:t>
            </a:r>
            <a:r>
              <a:rPr sz="1800" spc="55" dirty="0">
                <a:latin typeface="Tahoma"/>
                <a:cs typeface="Tahoma"/>
              </a:rPr>
              <a:t> </a:t>
            </a:r>
            <a:r>
              <a:rPr sz="1800" dirty="0">
                <a:latin typeface="Tahoma"/>
                <a:cs typeface="Tahoma"/>
              </a:rPr>
              <a:t>2</a:t>
            </a:r>
          </a:p>
          <a:p>
            <a:pPr marL="355600" indent="-342900">
              <a:lnSpc>
                <a:spcPct val="100000"/>
              </a:lnSpc>
              <a:spcBef>
                <a:spcPts val="500"/>
              </a:spcBef>
              <a:buClr>
                <a:srgbClr val="3333CC"/>
              </a:buClr>
              <a:buSzPct val="60000"/>
              <a:buFont typeface="Wingdings"/>
              <a:buChar char=""/>
              <a:tabLst>
                <a:tab pos="354965" algn="l"/>
                <a:tab pos="355600" algn="l"/>
              </a:tabLst>
            </a:pPr>
            <a:r>
              <a:rPr sz="2000" b="1" spc="-5" dirty="0">
                <a:latin typeface="Tahoma"/>
                <a:cs typeface="Tahoma"/>
              </a:rPr>
              <a:t>Support</a:t>
            </a:r>
            <a:endParaRPr sz="2000" dirty="0">
              <a:latin typeface="Tahoma"/>
              <a:cs typeface="Tahoma"/>
            </a:endParaRPr>
          </a:p>
          <a:p>
            <a:pPr marL="756285" marR="247015" lvl="1" indent="-287020">
              <a:lnSpc>
                <a:spcPct val="100000"/>
              </a:lnSpc>
              <a:spcBef>
                <a:spcPts val="425"/>
              </a:spcBef>
              <a:buClr>
                <a:srgbClr val="FF0000"/>
              </a:buClr>
              <a:buSzPct val="55555"/>
              <a:buFont typeface="Wingdings"/>
              <a:buChar char=""/>
              <a:tabLst>
                <a:tab pos="756285" algn="l"/>
                <a:tab pos="756920" algn="l"/>
              </a:tabLst>
            </a:pPr>
            <a:r>
              <a:rPr sz="1800" spc="-5" dirty="0">
                <a:latin typeface="Tahoma"/>
                <a:cs typeface="Tahoma"/>
              </a:rPr>
              <a:t>Fraction </a:t>
            </a:r>
            <a:r>
              <a:rPr sz="1800" dirty="0">
                <a:latin typeface="Tahoma"/>
                <a:cs typeface="Tahoma"/>
              </a:rPr>
              <a:t>of </a:t>
            </a:r>
            <a:r>
              <a:rPr sz="1800" spc="-5" dirty="0">
                <a:latin typeface="Tahoma"/>
                <a:cs typeface="Tahoma"/>
              </a:rPr>
              <a:t>transactions that contain  an</a:t>
            </a:r>
            <a:r>
              <a:rPr sz="1800" spc="-25" dirty="0">
                <a:latin typeface="Tahoma"/>
                <a:cs typeface="Tahoma"/>
              </a:rPr>
              <a:t> </a:t>
            </a:r>
            <a:r>
              <a:rPr sz="1800" dirty="0">
                <a:latin typeface="Tahoma"/>
                <a:cs typeface="Tahoma"/>
              </a:rPr>
              <a:t>itemset</a:t>
            </a:r>
          </a:p>
          <a:p>
            <a:pPr marL="756285" lvl="1" indent="-287020">
              <a:lnSpc>
                <a:spcPct val="100000"/>
              </a:lnSpc>
              <a:spcBef>
                <a:spcPts val="434"/>
              </a:spcBef>
              <a:buClr>
                <a:srgbClr val="FF0000"/>
              </a:buClr>
              <a:buSzPct val="55555"/>
              <a:buFont typeface="Wingdings"/>
              <a:buChar char=""/>
              <a:tabLst>
                <a:tab pos="756285" algn="l"/>
                <a:tab pos="756920" algn="l"/>
                <a:tab pos="1363980" algn="l"/>
              </a:tabLst>
            </a:pPr>
            <a:r>
              <a:rPr sz="1800" spc="-5" dirty="0">
                <a:latin typeface="Tahoma"/>
                <a:cs typeface="Tahoma"/>
              </a:rPr>
              <a:t>E.g.	</a:t>
            </a:r>
            <a:r>
              <a:rPr sz="1800" spc="-10" dirty="0">
                <a:latin typeface="Tahoma"/>
                <a:cs typeface="Tahoma"/>
              </a:rPr>
              <a:t>s({Milk, </a:t>
            </a:r>
            <a:r>
              <a:rPr sz="1800" spc="-5" dirty="0">
                <a:latin typeface="Tahoma"/>
                <a:cs typeface="Tahoma"/>
              </a:rPr>
              <a:t>Bread, Diaper}) =</a:t>
            </a:r>
            <a:r>
              <a:rPr sz="1800" spc="35" dirty="0">
                <a:latin typeface="Tahoma"/>
                <a:cs typeface="Tahoma"/>
              </a:rPr>
              <a:t> </a:t>
            </a:r>
            <a:r>
              <a:rPr sz="1800" dirty="0">
                <a:latin typeface="Tahoma"/>
                <a:cs typeface="Tahoma"/>
              </a:rPr>
              <a:t>2/5</a:t>
            </a:r>
          </a:p>
          <a:p>
            <a:pPr marL="355600" indent="-342900">
              <a:lnSpc>
                <a:spcPct val="100000"/>
              </a:lnSpc>
              <a:spcBef>
                <a:spcPts val="484"/>
              </a:spcBef>
              <a:buClr>
                <a:srgbClr val="3333CC"/>
              </a:buClr>
              <a:buSzPct val="60000"/>
              <a:buFont typeface="Wingdings"/>
              <a:buChar char=""/>
              <a:tabLst>
                <a:tab pos="354965" algn="l"/>
                <a:tab pos="355600" algn="l"/>
              </a:tabLst>
            </a:pPr>
            <a:r>
              <a:rPr sz="2000" b="1" spc="-5" dirty="0">
                <a:latin typeface="Tahoma"/>
                <a:cs typeface="Tahoma"/>
              </a:rPr>
              <a:t>Frequent</a:t>
            </a:r>
            <a:r>
              <a:rPr sz="2000" b="1" spc="-50" dirty="0">
                <a:latin typeface="Tahoma"/>
                <a:cs typeface="Tahoma"/>
              </a:rPr>
              <a:t> </a:t>
            </a:r>
            <a:r>
              <a:rPr sz="2000" b="1" spc="-5" dirty="0">
                <a:latin typeface="Tahoma"/>
                <a:cs typeface="Tahoma"/>
              </a:rPr>
              <a:t>Itemset</a:t>
            </a:r>
            <a:endParaRPr sz="2000" dirty="0">
              <a:latin typeface="Tahoma"/>
              <a:cs typeface="Tahoma"/>
            </a:endParaRPr>
          </a:p>
          <a:p>
            <a:pPr marL="756285" marR="226695" lvl="1" indent="-287020">
              <a:lnSpc>
                <a:spcPts val="2160"/>
              </a:lnSpc>
              <a:spcBef>
                <a:spcPts val="500"/>
              </a:spcBef>
              <a:buClr>
                <a:srgbClr val="FF0000"/>
              </a:buClr>
              <a:buSzPct val="55555"/>
              <a:buFont typeface="Wingdings"/>
              <a:buChar char=""/>
              <a:tabLst>
                <a:tab pos="756285" algn="l"/>
                <a:tab pos="756920" algn="l"/>
              </a:tabLst>
            </a:pPr>
            <a:r>
              <a:rPr sz="1800" spc="-5" dirty="0">
                <a:latin typeface="Tahoma"/>
                <a:cs typeface="Tahoma"/>
              </a:rPr>
              <a:t>An </a:t>
            </a:r>
            <a:r>
              <a:rPr sz="1800" dirty="0">
                <a:latin typeface="Tahoma"/>
                <a:cs typeface="Tahoma"/>
              </a:rPr>
              <a:t>itemset </a:t>
            </a:r>
            <a:r>
              <a:rPr sz="1800" spc="-5" dirty="0">
                <a:latin typeface="Tahoma"/>
                <a:cs typeface="Tahoma"/>
              </a:rPr>
              <a:t>whose support </a:t>
            </a:r>
            <a:r>
              <a:rPr sz="1800" dirty="0">
                <a:latin typeface="Tahoma"/>
                <a:cs typeface="Tahoma"/>
              </a:rPr>
              <a:t>is greater  </a:t>
            </a:r>
            <a:r>
              <a:rPr sz="1800" spc="-5" dirty="0">
                <a:latin typeface="Tahoma"/>
                <a:cs typeface="Tahoma"/>
              </a:rPr>
              <a:t>than </a:t>
            </a:r>
            <a:r>
              <a:rPr sz="1800" dirty="0">
                <a:latin typeface="Tahoma"/>
                <a:cs typeface="Tahoma"/>
              </a:rPr>
              <a:t>or </a:t>
            </a:r>
            <a:r>
              <a:rPr sz="1800" spc="-5" dirty="0">
                <a:latin typeface="Tahoma"/>
                <a:cs typeface="Tahoma"/>
              </a:rPr>
              <a:t>equal to </a:t>
            </a:r>
            <a:r>
              <a:rPr sz="1800" dirty="0">
                <a:latin typeface="Tahoma"/>
                <a:cs typeface="Tahoma"/>
              </a:rPr>
              <a:t>a </a:t>
            </a:r>
            <a:r>
              <a:rPr sz="1900" i="1" spc="-55" dirty="0">
                <a:latin typeface="Tahoma"/>
                <a:cs typeface="Tahoma"/>
              </a:rPr>
              <a:t>minsup</a:t>
            </a:r>
            <a:r>
              <a:rPr sz="1900" i="1" spc="-90" dirty="0">
                <a:latin typeface="Tahoma"/>
                <a:cs typeface="Tahoma"/>
              </a:rPr>
              <a:t> </a:t>
            </a:r>
            <a:r>
              <a:rPr sz="1800" spc="-5" dirty="0">
                <a:latin typeface="Tahoma"/>
                <a:cs typeface="Tahoma"/>
              </a:rPr>
              <a:t>threshold</a:t>
            </a:r>
            <a:endParaRPr sz="1800" dirty="0">
              <a:latin typeface="Tahoma"/>
              <a:cs typeface="Tahoma"/>
            </a:endParaRPr>
          </a:p>
        </p:txBody>
      </p:sp>
      <p:graphicFrame>
        <p:nvGraphicFramePr>
          <p:cNvPr id="5" name="object 9">
            <a:extLst>
              <a:ext uri="{FF2B5EF4-FFF2-40B4-BE49-F238E27FC236}">
                <a16:creationId xmlns:a16="http://schemas.microsoft.com/office/drawing/2014/main" id="{6C148480-2BA5-4051-A7D3-F6C93302FBB8}"/>
              </a:ext>
            </a:extLst>
          </p:cNvPr>
          <p:cNvGraphicFramePr>
            <a:graphicFrameLocks noGrp="1"/>
          </p:cNvGraphicFramePr>
          <p:nvPr>
            <p:extLst>
              <p:ext uri="{D42A27DB-BD31-4B8C-83A1-F6EECF244321}">
                <p14:modId xmlns:p14="http://schemas.microsoft.com/office/powerpoint/2010/main" val="2265650903"/>
              </p:ext>
            </p:extLst>
          </p:nvPr>
        </p:nvGraphicFramePr>
        <p:xfrm>
          <a:off x="8247798" y="775235"/>
          <a:ext cx="3464560" cy="1999534"/>
        </p:xfrm>
        <a:graphic>
          <a:graphicData uri="http://schemas.openxmlformats.org/drawingml/2006/table">
            <a:tbl>
              <a:tblPr firstRow="1" bandRow="1">
                <a:tableStyleId>{2D5ABB26-0587-4C30-8999-92F81FD0307C}</a:tableStyleId>
              </a:tblPr>
              <a:tblGrid>
                <a:gridCol w="727075">
                  <a:extLst>
                    <a:ext uri="{9D8B030D-6E8A-4147-A177-3AD203B41FA5}">
                      <a16:colId xmlns:a16="http://schemas.microsoft.com/office/drawing/2014/main" val="20000"/>
                    </a:ext>
                  </a:extLst>
                </a:gridCol>
                <a:gridCol w="2737485">
                  <a:extLst>
                    <a:ext uri="{9D8B030D-6E8A-4147-A177-3AD203B41FA5}">
                      <a16:colId xmlns:a16="http://schemas.microsoft.com/office/drawing/2014/main" val="20001"/>
                    </a:ext>
                  </a:extLst>
                </a:gridCol>
              </a:tblGrid>
              <a:tr h="338677">
                <a:tc>
                  <a:txBody>
                    <a:bodyPr/>
                    <a:lstStyle/>
                    <a:p>
                      <a:pPr marL="74295">
                        <a:lnSpc>
                          <a:spcPct val="100000"/>
                        </a:lnSpc>
                        <a:spcBef>
                          <a:spcPts val="15"/>
                        </a:spcBef>
                      </a:pPr>
                      <a:r>
                        <a:rPr sz="1500" b="1" i="1" spc="10" dirty="0">
                          <a:solidFill>
                            <a:srgbClr val="FFFFFF"/>
                          </a:solidFill>
                          <a:latin typeface="Times New Roman"/>
                          <a:cs typeface="Times New Roman"/>
                        </a:rPr>
                        <a:t>TID</a:t>
                      </a:r>
                      <a:endParaRPr sz="1500">
                        <a:latin typeface="Times New Roman"/>
                        <a:cs typeface="Times New Roman"/>
                      </a:endParaRPr>
                    </a:p>
                  </a:txBody>
                  <a:tcPr marL="0" marR="0" marT="1905"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000080"/>
                    </a:solidFill>
                  </a:tcPr>
                </a:tc>
                <a:tc>
                  <a:txBody>
                    <a:bodyPr/>
                    <a:lstStyle/>
                    <a:p>
                      <a:pPr marL="74295">
                        <a:lnSpc>
                          <a:spcPct val="100000"/>
                        </a:lnSpc>
                        <a:spcBef>
                          <a:spcPts val="15"/>
                        </a:spcBef>
                      </a:pPr>
                      <a:r>
                        <a:rPr sz="1500" b="1" i="1" spc="10" dirty="0">
                          <a:solidFill>
                            <a:srgbClr val="FFFFFF"/>
                          </a:solidFill>
                          <a:latin typeface="Times New Roman"/>
                          <a:cs typeface="Times New Roman"/>
                        </a:rPr>
                        <a:t>Items</a:t>
                      </a:r>
                      <a:endParaRPr sz="1500">
                        <a:latin typeface="Times New Roman"/>
                        <a:cs typeface="Times New Roman"/>
                      </a:endParaRPr>
                    </a:p>
                  </a:txBody>
                  <a:tcPr marL="0" marR="0" marT="1905"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000080"/>
                    </a:solidFill>
                  </a:tcPr>
                </a:tc>
                <a:extLst>
                  <a:ext uri="{0D108BD9-81ED-4DB2-BD59-A6C34878D82A}">
                    <a16:rowId xmlns:a16="http://schemas.microsoft.com/office/drawing/2014/main" val="10000"/>
                  </a:ext>
                </a:extLst>
              </a:tr>
              <a:tr h="332180">
                <a:tc>
                  <a:txBody>
                    <a:bodyPr/>
                    <a:lstStyle/>
                    <a:p>
                      <a:pPr marL="74295">
                        <a:lnSpc>
                          <a:spcPts val="2005"/>
                        </a:lnSpc>
                      </a:pPr>
                      <a:r>
                        <a:rPr sz="1700" b="1" dirty="0">
                          <a:solidFill>
                            <a:srgbClr val="000080"/>
                          </a:solidFill>
                          <a:latin typeface="Times New Roman"/>
                          <a:cs typeface="Times New Roman"/>
                        </a:rPr>
                        <a:t>1</a:t>
                      </a:r>
                      <a:endParaRPr sz="1700" dirty="0">
                        <a:latin typeface="Times New Roman"/>
                        <a:cs typeface="Times New Roman"/>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4295">
                        <a:lnSpc>
                          <a:spcPts val="2005"/>
                        </a:lnSpc>
                      </a:pPr>
                      <a:r>
                        <a:rPr sz="1700" b="1" spc="15" dirty="0">
                          <a:solidFill>
                            <a:srgbClr val="000080"/>
                          </a:solidFill>
                          <a:latin typeface="Times New Roman"/>
                          <a:cs typeface="Times New Roman"/>
                        </a:rPr>
                        <a:t>Bread,</a:t>
                      </a:r>
                      <a:r>
                        <a:rPr sz="1700" b="1" dirty="0">
                          <a:solidFill>
                            <a:srgbClr val="000080"/>
                          </a:solidFill>
                          <a:latin typeface="Times New Roman"/>
                          <a:cs typeface="Times New Roman"/>
                        </a:rPr>
                        <a:t> </a:t>
                      </a:r>
                      <a:r>
                        <a:rPr sz="1700" b="1" spc="20" dirty="0">
                          <a:solidFill>
                            <a:srgbClr val="000080"/>
                          </a:solidFill>
                          <a:latin typeface="Times New Roman"/>
                          <a:cs typeface="Times New Roman"/>
                        </a:rPr>
                        <a:t>Milk</a:t>
                      </a:r>
                      <a:endParaRPr sz="17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30396">
                <a:tc>
                  <a:txBody>
                    <a:bodyPr/>
                    <a:lstStyle/>
                    <a:p>
                      <a:pPr marL="74295">
                        <a:lnSpc>
                          <a:spcPts val="2000"/>
                        </a:lnSpc>
                      </a:pPr>
                      <a:r>
                        <a:rPr sz="1700" b="1" dirty="0">
                          <a:solidFill>
                            <a:srgbClr val="000080"/>
                          </a:solidFill>
                          <a:latin typeface="Times New Roman"/>
                          <a:cs typeface="Times New Roman"/>
                        </a:rPr>
                        <a:t>2</a:t>
                      </a:r>
                      <a:endParaRPr sz="1700">
                        <a:latin typeface="Times New Roman"/>
                        <a:cs typeface="Times New Roman"/>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4295">
                        <a:lnSpc>
                          <a:spcPts val="2000"/>
                        </a:lnSpc>
                      </a:pPr>
                      <a:r>
                        <a:rPr sz="1700" b="1" spc="15" dirty="0">
                          <a:solidFill>
                            <a:srgbClr val="000080"/>
                          </a:solidFill>
                          <a:latin typeface="Times New Roman"/>
                          <a:cs typeface="Times New Roman"/>
                        </a:rPr>
                        <a:t>Bread, Diaper, Beer,</a:t>
                      </a:r>
                      <a:r>
                        <a:rPr sz="1700" b="1" spc="-40" dirty="0">
                          <a:solidFill>
                            <a:srgbClr val="000080"/>
                          </a:solidFill>
                          <a:latin typeface="Times New Roman"/>
                          <a:cs typeface="Times New Roman"/>
                        </a:rPr>
                        <a:t> </a:t>
                      </a:r>
                      <a:r>
                        <a:rPr sz="1700" b="1" spc="20" dirty="0">
                          <a:solidFill>
                            <a:srgbClr val="000080"/>
                          </a:solidFill>
                          <a:latin typeface="Times New Roman"/>
                          <a:cs typeface="Times New Roman"/>
                        </a:rPr>
                        <a:t>Eggs</a:t>
                      </a:r>
                      <a:endParaRPr sz="17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30770">
                <a:tc>
                  <a:txBody>
                    <a:bodyPr/>
                    <a:lstStyle/>
                    <a:p>
                      <a:pPr marL="74295">
                        <a:lnSpc>
                          <a:spcPts val="2000"/>
                        </a:lnSpc>
                      </a:pPr>
                      <a:r>
                        <a:rPr sz="1700" b="1" dirty="0">
                          <a:solidFill>
                            <a:srgbClr val="000080"/>
                          </a:solidFill>
                          <a:latin typeface="Times New Roman"/>
                          <a:cs typeface="Times New Roman"/>
                        </a:rPr>
                        <a:t>3</a:t>
                      </a:r>
                      <a:endParaRPr sz="1700">
                        <a:latin typeface="Times New Roman"/>
                        <a:cs typeface="Times New Roman"/>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4295">
                        <a:lnSpc>
                          <a:spcPts val="2000"/>
                        </a:lnSpc>
                      </a:pPr>
                      <a:r>
                        <a:rPr sz="1700" b="1" spc="15" dirty="0">
                          <a:solidFill>
                            <a:srgbClr val="000080"/>
                          </a:solidFill>
                          <a:latin typeface="Times New Roman"/>
                          <a:cs typeface="Times New Roman"/>
                        </a:rPr>
                        <a:t>Milk, Diaper, Beer,</a:t>
                      </a:r>
                      <a:r>
                        <a:rPr sz="1700" b="1" spc="-30" dirty="0">
                          <a:solidFill>
                            <a:srgbClr val="000080"/>
                          </a:solidFill>
                          <a:latin typeface="Times New Roman"/>
                          <a:cs typeface="Times New Roman"/>
                        </a:rPr>
                        <a:t> </a:t>
                      </a:r>
                      <a:r>
                        <a:rPr sz="1700" b="1" spc="15" dirty="0">
                          <a:solidFill>
                            <a:srgbClr val="000080"/>
                          </a:solidFill>
                          <a:latin typeface="Times New Roman"/>
                          <a:cs typeface="Times New Roman"/>
                        </a:rPr>
                        <a:t>Coke</a:t>
                      </a:r>
                      <a:endParaRPr sz="17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30438">
                <a:tc>
                  <a:txBody>
                    <a:bodyPr/>
                    <a:lstStyle/>
                    <a:p>
                      <a:pPr marL="74295">
                        <a:lnSpc>
                          <a:spcPts val="2000"/>
                        </a:lnSpc>
                      </a:pPr>
                      <a:r>
                        <a:rPr sz="1700" b="1" dirty="0">
                          <a:solidFill>
                            <a:srgbClr val="000080"/>
                          </a:solidFill>
                          <a:latin typeface="Times New Roman"/>
                          <a:cs typeface="Times New Roman"/>
                        </a:rPr>
                        <a:t>4</a:t>
                      </a:r>
                      <a:endParaRPr sz="1700">
                        <a:latin typeface="Times New Roman"/>
                        <a:cs typeface="Times New Roman"/>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4295">
                        <a:lnSpc>
                          <a:spcPts val="2000"/>
                        </a:lnSpc>
                      </a:pPr>
                      <a:r>
                        <a:rPr sz="1700" b="1" spc="15" dirty="0">
                          <a:solidFill>
                            <a:srgbClr val="000080"/>
                          </a:solidFill>
                          <a:latin typeface="Times New Roman"/>
                          <a:cs typeface="Times New Roman"/>
                        </a:rPr>
                        <a:t>Bread, Milk, Diaper,</a:t>
                      </a:r>
                      <a:r>
                        <a:rPr sz="1700" b="1" spc="-30" dirty="0">
                          <a:solidFill>
                            <a:srgbClr val="000080"/>
                          </a:solidFill>
                          <a:latin typeface="Times New Roman"/>
                          <a:cs typeface="Times New Roman"/>
                        </a:rPr>
                        <a:t> </a:t>
                      </a:r>
                      <a:r>
                        <a:rPr sz="1700" b="1" spc="20" dirty="0">
                          <a:solidFill>
                            <a:srgbClr val="000080"/>
                          </a:solidFill>
                          <a:latin typeface="Times New Roman"/>
                          <a:cs typeface="Times New Roman"/>
                        </a:rPr>
                        <a:t>Beer</a:t>
                      </a:r>
                      <a:endParaRPr sz="17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37073">
                <a:tc>
                  <a:txBody>
                    <a:bodyPr/>
                    <a:lstStyle/>
                    <a:p>
                      <a:pPr marL="74295">
                        <a:lnSpc>
                          <a:spcPts val="2000"/>
                        </a:lnSpc>
                      </a:pPr>
                      <a:r>
                        <a:rPr sz="1700" b="1" dirty="0">
                          <a:solidFill>
                            <a:srgbClr val="000080"/>
                          </a:solidFill>
                          <a:latin typeface="Times New Roman"/>
                          <a:cs typeface="Times New Roman"/>
                        </a:rPr>
                        <a:t>5</a:t>
                      </a:r>
                      <a:endParaRPr sz="1700">
                        <a:latin typeface="Times New Roman"/>
                        <a:cs typeface="Times New Roman"/>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74295">
                        <a:lnSpc>
                          <a:spcPts val="2000"/>
                        </a:lnSpc>
                      </a:pPr>
                      <a:r>
                        <a:rPr sz="1700" b="1" spc="15" dirty="0">
                          <a:solidFill>
                            <a:srgbClr val="000080"/>
                          </a:solidFill>
                          <a:latin typeface="Times New Roman"/>
                          <a:cs typeface="Times New Roman"/>
                        </a:rPr>
                        <a:t>Bread, Milk, Diaper,</a:t>
                      </a:r>
                      <a:r>
                        <a:rPr sz="1700" b="1" spc="-30" dirty="0">
                          <a:solidFill>
                            <a:srgbClr val="000080"/>
                          </a:solidFill>
                          <a:latin typeface="Times New Roman"/>
                          <a:cs typeface="Times New Roman"/>
                        </a:rPr>
                        <a:t> </a:t>
                      </a:r>
                      <a:r>
                        <a:rPr sz="1700" b="1" spc="20" dirty="0">
                          <a:solidFill>
                            <a:srgbClr val="000080"/>
                          </a:solidFill>
                          <a:latin typeface="Times New Roman"/>
                          <a:cs typeface="Times New Roman"/>
                        </a:rPr>
                        <a:t>Coke</a:t>
                      </a:r>
                      <a:endParaRPr sz="1700" dirty="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6324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8B969-4B58-4E5B-BAF8-7769F4A3B250}"/>
              </a:ext>
            </a:extLst>
          </p:cNvPr>
          <p:cNvSpPr>
            <a:spLocks noGrp="1"/>
          </p:cNvSpPr>
          <p:nvPr>
            <p:ph type="title"/>
          </p:nvPr>
        </p:nvSpPr>
        <p:spPr/>
        <p:txBody>
          <a:bodyPr/>
          <a:lstStyle/>
          <a:p>
            <a:r>
              <a:rPr lang="en-IN" dirty="0"/>
              <a:t>Definition: Association Rule</a:t>
            </a:r>
          </a:p>
        </p:txBody>
      </p:sp>
      <p:sp>
        <p:nvSpPr>
          <p:cNvPr id="3" name="Content Placeholder 2">
            <a:extLst>
              <a:ext uri="{FF2B5EF4-FFF2-40B4-BE49-F238E27FC236}">
                <a16:creationId xmlns:a16="http://schemas.microsoft.com/office/drawing/2014/main" id="{57F0BF73-B408-4080-B73F-E06F835F6C12}"/>
              </a:ext>
            </a:extLst>
          </p:cNvPr>
          <p:cNvSpPr>
            <a:spLocks noGrp="1"/>
          </p:cNvSpPr>
          <p:nvPr>
            <p:ph idx="1"/>
          </p:nvPr>
        </p:nvSpPr>
        <p:spPr/>
        <p:txBody>
          <a:bodyPr/>
          <a:lstStyle/>
          <a:p>
            <a:pPr marL="0" indent="0">
              <a:buNone/>
            </a:pPr>
            <a:r>
              <a:rPr lang="en-IN" sz="2000" dirty="0">
                <a:latin typeface="Tahoma"/>
                <a:cs typeface="Tahoma"/>
              </a:rPr>
              <a:t>Association</a:t>
            </a:r>
            <a:r>
              <a:rPr lang="en-IN" sz="2000" spc="-80" dirty="0">
                <a:latin typeface="Tahoma"/>
                <a:cs typeface="Tahoma"/>
              </a:rPr>
              <a:t> </a:t>
            </a:r>
            <a:r>
              <a:rPr lang="en-IN" sz="2000" spc="-5" dirty="0">
                <a:latin typeface="Tahoma"/>
                <a:cs typeface="Tahoma"/>
              </a:rPr>
              <a:t>Rule</a:t>
            </a:r>
          </a:p>
          <a:p>
            <a:pPr marL="0" indent="0">
              <a:buNone/>
            </a:pPr>
            <a:endParaRPr lang="en-IN" spc="-5" dirty="0">
              <a:latin typeface="Tahoma"/>
              <a:cs typeface="Tahoma"/>
            </a:endParaRPr>
          </a:p>
          <a:p>
            <a:pPr marL="0" indent="0">
              <a:buNone/>
            </a:pPr>
            <a:endParaRPr lang="en-IN" sz="2000" spc="-5" dirty="0">
              <a:latin typeface="Tahoma"/>
              <a:cs typeface="Tahoma"/>
            </a:endParaRPr>
          </a:p>
          <a:p>
            <a:pPr marL="0" indent="0">
              <a:buNone/>
            </a:pPr>
            <a:endParaRPr lang="en-IN" spc="-5" dirty="0">
              <a:latin typeface="Tahoma"/>
              <a:cs typeface="Tahoma"/>
            </a:endParaRPr>
          </a:p>
          <a:p>
            <a:pPr marL="0" indent="0">
              <a:buNone/>
            </a:pPr>
            <a:endParaRPr lang="en-IN" sz="2000" spc="-5" dirty="0">
              <a:latin typeface="Tahoma"/>
              <a:cs typeface="Tahoma"/>
            </a:endParaRPr>
          </a:p>
          <a:p>
            <a:pPr marL="0" indent="0">
              <a:buNone/>
            </a:pPr>
            <a:endParaRPr lang="en-IN" spc="-5" dirty="0">
              <a:latin typeface="Tahoma"/>
              <a:cs typeface="Tahoma"/>
            </a:endParaRPr>
          </a:p>
          <a:p>
            <a:pPr marL="0" indent="0">
              <a:buNone/>
            </a:pPr>
            <a:endParaRPr lang="en-IN" sz="2000" spc="-5" dirty="0">
              <a:latin typeface="Tahoma"/>
              <a:cs typeface="Tahoma"/>
            </a:endParaRPr>
          </a:p>
          <a:p>
            <a:pPr marL="0" indent="0">
              <a:buNone/>
            </a:pPr>
            <a:endParaRPr lang="en-IN" spc="-5" dirty="0">
              <a:latin typeface="Tahoma"/>
              <a:cs typeface="Tahoma"/>
            </a:endParaRPr>
          </a:p>
          <a:p>
            <a:pPr marL="0" indent="0">
              <a:buNone/>
            </a:pPr>
            <a:endParaRPr lang="en-IN" sz="2000" spc="-5" dirty="0">
              <a:latin typeface="Tahoma"/>
              <a:cs typeface="Tahoma"/>
            </a:endParaRPr>
          </a:p>
          <a:p>
            <a:pPr marL="0" indent="0">
              <a:buNone/>
            </a:pPr>
            <a:endParaRPr lang="en-IN" sz="2000" dirty="0">
              <a:latin typeface="Tahoma"/>
              <a:cs typeface="Tahoma"/>
            </a:endParaRPr>
          </a:p>
          <a:p>
            <a:endParaRPr lang="en-IN" dirty="0"/>
          </a:p>
        </p:txBody>
      </p:sp>
      <p:sp>
        <p:nvSpPr>
          <p:cNvPr id="4" name="object 8">
            <a:extLst>
              <a:ext uri="{FF2B5EF4-FFF2-40B4-BE49-F238E27FC236}">
                <a16:creationId xmlns:a16="http://schemas.microsoft.com/office/drawing/2014/main" id="{88B33BAE-441A-40FF-A782-49744F8825A4}"/>
              </a:ext>
            </a:extLst>
          </p:cNvPr>
          <p:cNvSpPr txBox="1"/>
          <p:nvPr/>
        </p:nvSpPr>
        <p:spPr>
          <a:xfrm>
            <a:off x="4039068" y="1506852"/>
            <a:ext cx="4469103" cy="1280094"/>
          </a:xfrm>
          <a:prstGeom prst="rect">
            <a:avLst/>
          </a:prstGeom>
        </p:spPr>
        <p:txBody>
          <a:bodyPr vert="horz" wrap="square" lIns="0" tIns="12700" rIns="0" bIns="0" rtlCol="0">
            <a:spAutoFit/>
          </a:bodyPr>
          <a:lstStyle/>
          <a:p>
            <a:pPr marL="299085">
              <a:lnSpc>
                <a:spcPct val="100000"/>
              </a:lnSpc>
              <a:spcBef>
                <a:spcPts val="735"/>
              </a:spcBef>
            </a:pPr>
            <a:r>
              <a:rPr sz="1800" dirty="0">
                <a:solidFill>
                  <a:srgbClr val="0C7A9C"/>
                </a:solidFill>
                <a:latin typeface="Arial"/>
                <a:cs typeface="Arial"/>
              </a:rPr>
              <a:t>–	</a:t>
            </a:r>
            <a:r>
              <a:rPr sz="1800" spc="-5" dirty="0">
                <a:latin typeface="Tahoma"/>
                <a:cs typeface="Tahoma"/>
              </a:rPr>
              <a:t>An implication </a:t>
            </a:r>
            <a:r>
              <a:rPr sz="1800" spc="-10" dirty="0">
                <a:latin typeface="Tahoma"/>
                <a:cs typeface="Tahoma"/>
              </a:rPr>
              <a:t>expression </a:t>
            </a:r>
            <a:r>
              <a:rPr sz="1800" dirty="0">
                <a:latin typeface="Tahoma"/>
                <a:cs typeface="Tahoma"/>
              </a:rPr>
              <a:t>of </a:t>
            </a:r>
            <a:r>
              <a:rPr sz="1800" spc="-5" dirty="0">
                <a:latin typeface="Tahoma"/>
                <a:cs typeface="Tahoma"/>
              </a:rPr>
              <a:t>the</a:t>
            </a:r>
            <a:r>
              <a:rPr sz="1800" spc="15" dirty="0">
                <a:latin typeface="Tahoma"/>
                <a:cs typeface="Tahoma"/>
              </a:rPr>
              <a:t> </a:t>
            </a:r>
            <a:r>
              <a:rPr sz="1800" spc="-5" dirty="0">
                <a:latin typeface="Tahoma"/>
                <a:cs typeface="Tahoma"/>
              </a:rPr>
              <a:t>form</a:t>
            </a:r>
            <a:r>
              <a:rPr lang="en-US" sz="1800" spc="-5" dirty="0">
                <a:latin typeface="Tahoma"/>
                <a:cs typeface="Tahoma"/>
              </a:rPr>
              <a:t> </a:t>
            </a:r>
          </a:p>
          <a:p>
            <a:pPr marL="299085">
              <a:lnSpc>
                <a:spcPct val="100000"/>
              </a:lnSpc>
              <a:spcBef>
                <a:spcPts val="735"/>
              </a:spcBef>
            </a:pPr>
            <a:r>
              <a:rPr lang="en-US" sz="1800" spc="-5" dirty="0">
                <a:latin typeface="Tahoma"/>
                <a:cs typeface="Tahoma"/>
              </a:rPr>
              <a:t>X </a:t>
            </a:r>
            <a:r>
              <a:rPr lang="en-US" sz="1800" dirty="0">
                <a:latin typeface="Symbol"/>
                <a:cs typeface="Symbol"/>
              </a:rPr>
              <a:t></a:t>
            </a:r>
            <a:r>
              <a:rPr lang="en-US" sz="1800" dirty="0">
                <a:latin typeface="Times New Roman"/>
                <a:cs typeface="Times New Roman"/>
              </a:rPr>
              <a:t> </a:t>
            </a:r>
            <a:r>
              <a:rPr lang="en-US" sz="1800" spc="-130" dirty="0">
                <a:latin typeface="Tahoma"/>
                <a:cs typeface="Tahoma"/>
              </a:rPr>
              <a:t>Y, </a:t>
            </a:r>
            <a:r>
              <a:rPr lang="en-US" sz="1800" spc="-10" dirty="0">
                <a:latin typeface="Tahoma"/>
                <a:cs typeface="Tahoma"/>
              </a:rPr>
              <a:t>where </a:t>
            </a:r>
            <a:r>
              <a:rPr lang="en-US" sz="1800" spc="-5" dirty="0">
                <a:latin typeface="Tahoma"/>
                <a:cs typeface="Tahoma"/>
              </a:rPr>
              <a:t>X and </a:t>
            </a:r>
            <a:r>
              <a:rPr lang="en-US" sz="1800" dirty="0">
                <a:latin typeface="Tahoma"/>
                <a:cs typeface="Tahoma"/>
              </a:rPr>
              <a:t>Y </a:t>
            </a:r>
            <a:r>
              <a:rPr lang="en-US" sz="1800" spc="-5" dirty="0">
                <a:latin typeface="Tahoma"/>
                <a:cs typeface="Tahoma"/>
              </a:rPr>
              <a:t>are</a:t>
            </a:r>
            <a:r>
              <a:rPr lang="en-US" sz="1800" spc="235" dirty="0">
                <a:latin typeface="Tahoma"/>
                <a:cs typeface="Tahoma"/>
              </a:rPr>
              <a:t> </a:t>
            </a:r>
            <a:r>
              <a:rPr lang="en-US" sz="1800" dirty="0" err="1">
                <a:latin typeface="Tahoma"/>
                <a:cs typeface="Tahoma"/>
              </a:rPr>
              <a:t>itemsets</a:t>
            </a:r>
            <a:endParaRPr lang="en-US" sz="1800" dirty="0">
              <a:latin typeface="Tahoma"/>
              <a:cs typeface="Tahoma"/>
            </a:endParaRPr>
          </a:p>
          <a:p>
            <a:pPr marL="12700">
              <a:lnSpc>
                <a:spcPts val="2155"/>
              </a:lnSpc>
              <a:spcBef>
                <a:spcPts val="635"/>
              </a:spcBef>
              <a:tabLst>
                <a:tab pos="299085" algn="l"/>
              </a:tabLst>
            </a:pPr>
            <a:r>
              <a:rPr lang="en-US" sz="1800" dirty="0">
                <a:solidFill>
                  <a:srgbClr val="0C7A9C"/>
                </a:solidFill>
                <a:latin typeface="Arial"/>
                <a:cs typeface="Arial"/>
              </a:rPr>
              <a:t>	</a:t>
            </a:r>
            <a:r>
              <a:rPr lang="en-US" sz="1800" spc="-10" dirty="0">
                <a:latin typeface="Tahoma"/>
                <a:cs typeface="Tahoma"/>
              </a:rPr>
              <a:t>Example:</a:t>
            </a:r>
            <a:endParaRPr lang="en-US" sz="1800" dirty="0">
              <a:latin typeface="Tahoma"/>
              <a:cs typeface="Tahoma"/>
            </a:endParaRPr>
          </a:p>
          <a:p>
            <a:pPr marL="512445">
              <a:lnSpc>
                <a:spcPts val="2155"/>
              </a:lnSpc>
            </a:pPr>
            <a:r>
              <a:rPr lang="en-US" sz="1800" spc="-5" dirty="0">
                <a:latin typeface="Tahoma"/>
                <a:cs typeface="Tahoma"/>
              </a:rPr>
              <a:t>{Milk, Diaper} </a:t>
            </a:r>
            <a:r>
              <a:rPr lang="en-US" sz="1800" dirty="0">
                <a:latin typeface="Symbol"/>
                <a:cs typeface="Symbol"/>
              </a:rPr>
              <a:t></a:t>
            </a:r>
            <a:r>
              <a:rPr lang="en-US" sz="1800" spc="130" dirty="0">
                <a:latin typeface="Times New Roman"/>
                <a:cs typeface="Times New Roman"/>
              </a:rPr>
              <a:t> </a:t>
            </a:r>
            <a:r>
              <a:rPr lang="en-US" sz="1800" spc="-5" dirty="0">
                <a:latin typeface="Tahoma"/>
                <a:cs typeface="Tahoma"/>
              </a:rPr>
              <a:t>{Beer}</a:t>
            </a:r>
            <a:endParaRPr lang="en-US" sz="1800" dirty="0">
              <a:latin typeface="Tahoma"/>
              <a:cs typeface="Tahoma"/>
            </a:endParaRPr>
          </a:p>
        </p:txBody>
      </p:sp>
      <p:sp>
        <p:nvSpPr>
          <p:cNvPr id="5" name="object 10">
            <a:extLst>
              <a:ext uri="{FF2B5EF4-FFF2-40B4-BE49-F238E27FC236}">
                <a16:creationId xmlns:a16="http://schemas.microsoft.com/office/drawing/2014/main" id="{59FB1910-7562-43D0-986D-0111E3601622}"/>
              </a:ext>
            </a:extLst>
          </p:cNvPr>
          <p:cNvSpPr txBox="1"/>
          <p:nvPr/>
        </p:nvSpPr>
        <p:spPr>
          <a:xfrm>
            <a:off x="3869268" y="2965514"/>
            <a:ext cx="2967355" cy="330835"/>
          </a:xfrm>
          <a:prstGeom prst="rect">
            <a:avLst/>
          </a:prstGeom>
        </p:spPr>
        <p:txBody>
          <a:bodyPr vert="horz" wrap="square" lIns="0" tIns="13335" rIns="0" bIns="0" rtlCol="0">
            <a:spAutoFit/>
          </a:bodyPr>
          <a:lstStyle/>
          <a:p>
            <a:pPr marL="12700">
              <a:lnSpc>
                <a:spcPct val="100000"/>
              </a:lnSpc>
              <a:spcBef>
                <a:spcPts val="105"/>
              </a:spcBef>
              <a:buClr>
                <a:srgbClr val="0C7A9C"/>
              </a:buClr>
              <a:buSzPct val="75000"/>
              <a:tabLst>
                <a:tab pos="354965" algn="l"/>
                <a:tab pos="355600" algn="l"/>
              </a:tabLst>
            </a:pPr>
            <a:r>
              <a:rPr lang="en-US" sz="2000" spc="-5" dirty="0">
                <a:latin typeface="Tahoma"/>
                <a:cs typeface="Tahoma"/>
              </a:rPr>
              <a:t>  </a:t>
            </a:r>
            <a:r>
              <a:rPr sz="2000" spc="-5" dirty="0">
                <a:latin typeface="Tahoma"/>
                <a:cs typeface="Tahoma"/>
              </a:rPr>
              <a:t>Rule Evaluation</a:t>
            </a:r>
            <a:r>
              <a:rPr sz="2000" spc="-95" dirty="0">
                <a:latin typeface="Tahoma"/>
                <a:cs typeface="Tahoma"/>
              </a:rPr>
              <a:t> </a:t>
            </a:r>
            <a:r>
              <a:rPr sz="2000" dirty="0">
                <a:latin typeface="Tahoma"/>
                <a:cs typeface="Tahoma"/>
              </a:rPr>
              <a:t>Metrics</a:t>
            </a:r>
          </a:p>
        </p:txBody>
      </p:sp>
      <p:sp>
        <p:nvSpPr>
          <p:cNvPr id="6" name="object 11">
            <a:extLst>
              <a:ext uri="{FF2B5EF4-FFF2-40B4-BE49-F238E27FC236}">
                <a16:creationId xmlns:a16="http://schemas.microsoft.com/office/drawing/2014/main" id="{5057E3B5-9A34-4708-9397-9C9F0368EC4D}"/>
              </a:ext>
            </a:extLst>
          </p:cNvPr>
          <p:cNvSpPr txBox="1"/>
          <p:nvPr/>
        </p:nvSpPr>
        <p:spPr>
          <a:xfrm>
            <a:off x="4307024" y="3391538"/>
            <a:ext cx="3933190" cy="2108200"/>
          </a:xfrm>
          <a:prstGeom prst="rect">
            <a:avLst/>
          </a:prstGeom>
        </p:spPr>
        <p:txBody>
          <a:bodyPr vert="horz" wrap="square" lIns="0" tIns="98425" rIns="0" bIns="0" rtlCol="0">
            <a:spAutoFit/>
          </a:bodyPr>
          <a:lstStyle/>
          <a:p>
            <a:pPr marL="299085" indent="-287020">
              <a:lnSpc>
                <a:spcPct val="100000"/>
              </a:lnSpc>
              <a:spcBef>
                <a:spcPts val="775"/>
              </a:spcBef>
              <a:buClr>
                <a:srgbClr val="0C7A9C"/>
              </a:buClr>
              <a:buFont typeface="Arial"/>
              <a:buChar char="–"/>
              <a:tabLst>
                <a:tab pos="299085" algn="l"/>
                <a:tab pos="299720" algn="l"/>
              </a:tabLst>
            </a:pPr>
            <a:r>
              <a:rPr sz="1800" spc="-5" dirty="0">
                <a:latin typeface="Tahoma"/>
                <a:cs typeface="Tahoma"/>
              </a:rPr>
              <a:t>Support</a:t>
            </a:r>
            <a:r>
              <a:rPr sz="1800" spc="-15" dirty="0">
                <a:latin typeface="Tahoma"/>
                <a:cs typeface="Tahoma"/>
              </a:rPr>
              <a:t> </a:t>
            </a:r>
            <a:r>
              <a:rPr sz="1800" dirty="0">
                <a:latin typeface="Tahoma"/>
                <a:cs typeface="Tahoma"/>
              </a:rPr>
              <a:t>(s)</a:t>
            </a:r>
          </a:p>
          <a:p>
            <a:pPr marL="698500" lvl="1" indent="-229235">
              <a:lnSpc>
                <a:spcPct val="100000"/>
              </a:lnSpc>
              <a:spcBef>
                <a:spcPts val="600"/>
              </a:spcBef>
              <a:buClr>
                <a:srgbClr val="0C7A9C"/>
              </a:buClr>
              <a:buSzPct val="68750"/>
              <a:buFont typeface="Wingdings"/>
              <a:buChar char=""/>
              <a:tabLst>
                <a:tab pos="699135" algn="l"/>
              </a:tabLst>
            </a:pPr>
            <a:r>
              <a:rPr sz="1600" spc="-10" dirty="0">
                <a:latin typeface="Tahoma"/>
                <a:cs typeface="Tahoma"/>
              </a:rPr>
              <a:t>Fraction </a:t>
            </a:r>
            <a:r>
              <a:rPr sz="1600" spc="-5" dirty="0">
                <a:latin typeface="Tahoma"/>
                <a:cs typeface="Tahoma"/>
              </a:rPr>
              <a:t>of </a:t>
            </a:r>
            <a:r>
              <a:rPr sz="1600" spc="-10" dirty="0">
                <a:latin typeface="Tahoma"/>
                <a:cs typeface="Tahoma"/>
              </a:rPr>
              <a:t>transactions </a:t>
            </a:r>
            <a:r>
              <a:rPr sz="1600" spc="-5" dirty="0">
                <a:latin typeface="Tahoma"/>
                <a:cs typeface="Tahoma"/>
              </a:rPr>
              <a:t>that</a:t>
            </a:r>
            <a:r>
              <a:rPr sz="1600" spc="75" dirty="0">
                <a:latin typeface="Tahoma"/>
                <a:cs typeface="Tahoma"/>
              </a:rPr>
              <a:t> </a:t>
            </a:r>
            <a:r>
              <a:rPr sz="1600" spc="-10" dirty="0">
                <a:latin typeface="Tahoma"/>
                <a:cs typeface="Tahoma"/>
              </a:rPr>
              <a:t>contain</a:t>
            </a:r>
            <a:endParaRPr sz="1600" dirty="0">
              <a:latin typeface="Tahoma"/>
              <a:cs typeface="Tahoma"/>
            </a:endParaRPr>
          </a:p>
          <a:p>
            <a:pPr marL="698500">
              <a:lnSpc>
                <a:spcPct val="100000"/>
              </a:lnSpc>
            </a:pPr>
            <a:r>
              <a:rPr sz="1600" spc="-5" dirty="0">
                <a:latin typeface="Tahoma"/>
                <a:cs typeface="Tahoma"/>
              </a:rPr>
              <a:t>both X and</a:t>
            </a:r>
            <a:r>
              <a:rPr sz="1600" dirty="0">
                <a:latin typeface="Tahoma"/>
                <a:cs typeface="Tahoma"/>
              </a:rPr>
              <a:t> </a:t>
            </a:r>
            <a:r>
              <a:rPr sz="1600" spc="-5" dirty="0">
                <a:latin typeface="Tahoma"/>
                <a:cs typeface="Tahoma"/>
              </a:rPr>
              <a:t>Y</a:t>
            </a:r>
            <a:endParaRPr sz="1600" dirty="0">
              <a:latin typeface="Tahoma"/>
              <a:cs typeface="Tahoma"/>
            </a:endParaRPr>
          </a:p>
          <a:p>
            <a:pPr marL="299085" indent="-287020">
              <a:lnSpc>
                <a:spcPct val="100000"/>
              </a:lnSpc>
              <a:spcBef>
                <a:spcPts val="615"/>
              </a:spcBef>
              <a:buClr>
                <a:srgbClr val="0C7A9C"/>
              </a:buClr>
              <a:buFont typeface="Arial"/>
              <a:buChar char="–"/>
              <a:tabLst>
                <a:tab pos="299085" algn="l"/>
                <a:tab pos="299720" algn="l"/>
              </a:tabLst>
            </a:pPr>
            <a:r>
              <a:rPr sz="1800" spc="-5" dirty="0">
                <a:latin typeface="Tahoma"/>
                <a:cs typeface="Tahoma"/>
              </a:rPr>
              <a:t>Confidence</a:t>
            </a:r>
            <a:r>
              <a:rPr sz="1800" spc="-25" dirty="0">
                <a:latin typeface="Tahoma"/>
                <a:cs typeface="Tahoma"/>
              </a:rPr>
              <a:t> </a:t>
            </a:r>
            <a:r>
              <a:rPr sz="1800" spc="-5" dirty="0">
                <a:latin typeface="Tahoma"/>
                <a:cs typeface="Tahoma"/>
              </a:rPr>
              <a:t>(c)</a:t>
            </a:r>
            <a:endParaRPr sz="1800" dirty="0">
              <a:latin typeface="Tahoma"/>
              <a:cs typeface="Tahoma"/>
            </a:endParaRPr>
          </a:p>
          <a:p>
            <a:pPr marL="698500" marR="472440" lvl="1" indent="-228600">
              <a:lnSpc>
                <a:spcPct val="100000"/>
              </a:lnSpc>
              <a:spcBef>
                <a:spcPts val="585"/>
              </a:spcBef>
              <a:buClr>
                <a:srgbClr val="0C7A9C"/>
              </a:buClr>
              <a:buSzPct val="68750"/>
              <a:buFont typeface="Wingdings"/>
              <a:buChar char=""/>
              <a:tabLst>
                <a:tab pos="699135" algn="l"/>
              </a:tabLst>
            </a:pPr>
            <a:r>
              <a:rPr sz="1600" spc="-10" dirty="0">
                <a:latin typeface="Tahoma"/>
                <a:cs typeface="Tahoma"/>
              </a:rPr>
              <a:t>Measures </a:t>
            </a:r>
            <a:r>
              <a:rPr sz="1600" spc="-5" dirty="0">
                <a:latin typeface="Tahoma"/>
                <a:cs typeface="Tahoma"/>
              </a:rPr>
              <a:t>how </a:t>
            </a:r>
            <a:r>
              <a:rPr sz="1600" spc="-10" dirty="0">
                <a:latin typeface="Tahoma"/>
                <a:cs typeface="Tahoma"/>
              </a:rPr>
              <a:t>often items </a:t>
            </a:r>
            <a:r>
              <a:rPr sz="1600" spc="-5" dirty="0">
                <a:latin typeface="Tahoma"/>
                <a:cs typeface="Tahoma"/>
              </a:rPr>
              <a:t>in Y  appear in </a:t>
            </a:r>
            <a:r>
              <a:rPr sz="1600" spc="-10" dirty="0">
                <a:latin typeface="Tahoma"/>
                <a:cs typeface="Tahoma"/>
              </a:rPr>
              <a:t>transactions </a:t>
            </a:r>
            <a:r>
              <a:rPr sz="1600" spc="-5" dirty="0">
                <a:latin typeface="Tahoma"/>
                <a:cs typeface="Tahoma"/>
              </a:rPr>
              <a:t>that  </a:t>
            </a:r>
            <a:r>
              <a:rPr sz="1600" spc="-10" dirty="0">
                <a:latin typeface="Tahoma"/>
                <a:cs typeface="Tahoma"/>
              </a:rPr>
              <a:t>contain</a:t>
            </a:r>
            <a:r>
              <a:rPr sz="1600" spc="5" dirty="0">
                <a:latin typeface="Tahoma"/>
                <a:cs typeface="Tahoma"/>
              </a:rPr>
              <a:t> </a:t>
            </a:r>
            <a:r>
              <a:rPr sz="1600" spc="-5" dirty="0">
                <a:latin typeface="Tahoma"/>
                <a:cs typeface="Tahoma"/>
              </a:rPr>
              <a:t>X</a:t>
            </a:r>
            <a:endParaRPr sz="1600" dirty="0">
              <a:latin typeface="Tahoma"/>
              <a:cs typeface="Tahoma"/>
            </a:endParaRPr>
          </a:p>
        </p:txBody>
      </p:sp>
      <p:sp>
        <p:nvSpPr>
          <p:cNvPr id="7" name="object 3">
            <a:extLst>
              <a:ext uri="{FF2B5EF4-FFF2-40B4-BE49-F238E27FC236}">
                <a16:creationId xmlns:a16="http://schemas.microsoft.com/office/drawing/2014/main" id="{913506D9-F2C3-4F50-941C-02415A0EBC80}"/>
              </a:ext>
            </a:extLst>
          </p:cNvPr>
          <p:cNvSpPr txBox="1"/>
          <p:nvPr/>
        </p:nvSpPr>
        <p:spPr>
          <a:xfrm>
            <a:off x="8414175" y="3213522"/>
            <a:ext cx="3439160" cy="688975"/>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FF0000"/>
                </a:solidFill>
                <a:latin typeface="Times New Roman"/>
                <a:cs typeface="Times New Roman"/>
              </a:rPr>
              <a:t>Example:</a:t>
            </a:r>
            <a:endParaRPr sz="2000">
              <a:latin typeface="Times New Roman"/>
              <a:cs typeface="Times New Roman"/>
            </a:endParaRPr>
          </a:p>
          <a:p>
            <a:pPr marL="757555">
              <a:lnSpc>
                <a:spcPct val="100000"/>
              </a:lnSpc>
              <a:spcBef>
                <a:spcPts val="125"/>
              </a:spcBef>
            </a:pPr>
            <a:r>
              <a:rPr sz="2250" spc="10" dirty="0">
                <a:latin typeface="Times New Roman"/>
                <a:cs typeface="Times New Roman"/>
              </a:rPr>
              <a:t>{Milk,</a:t>
            </a:r>
            <a:r>
              <a:rPr sz="2250" spc="-305" dirty="0">
                <a:latin typeface="Times New Roman"/>
                <a:cs typeface="Times New Roman"/>
              </a:rPr>
              <a:t> </a:t>
            </a:r>
            <a:r>
              <a:rPr sz="2250" spc="15" dirty="0">
                <a:latin typeface="Times New Roman"/>
                <a:cs typeface="Times New Roman"/>
              </a:rPr>
              <a:t>Diaper}</a:t>
            </a:r>
            <a:r>
              <a:rPr sz="2250" spc="-305" dirty="0">
                <a:latin typeface="Times New Roman"/>
                <a:cs typeface="Times New Roman"/>
              </a:rPr>
              <a:t> </a:t>
            </a:r>
            <a:r>
              <a:rPr sz="2250" spc="140" dirty="0">
                <a:latin typeface="Symbol"/>
                <a:cs typeface="Symbol"/>
              </a:rPr>
              <a:t></a:t>
            </a:r>
            <a:r>
              <a:rPr sz="2250" spc="-125" dirty="0">
                <a:latin typeface="Times New Roman"/>
                <a:cs typeface="Times New Roman"/>
              </a:rPr>
              <a:t> </a:t>
            </a:r>
            <a:r>
              <a:rPr sz="2250" spc="-15" dirty="0">
                <a:latin typeface="Times New Roman"/>
                <a:cs typeface="Times New Roman"/>
              </a:rPr>
              <a:t>Beer</a:t>
            </a:r>
            <a:endParaRPr sz="2250">
              <a:latin typeface="Times New Roman"/>
              <a:cs typeface="Times New Roman"/>
            </a:endParaRPr>
          </a:p>
        </p:txBody>
      </p:sp>
      <p:sp>
        <p:nvSpPr>
          <p:cNvPr id="8" name="object 4">
            <a:extLst>
              <a:ext uri="{FF2B5EF4-FFF2-40B4-BE49-F238E27FC236}">
                <a16:creationId xmlns:a16="http://schemas.microsoft.com/office/drawing/2014/main" id="{5590F805-3559-47D8-9723-470361EE665F}"/>
              </a:ext>
            </a:extLst>
          </p:cNvPr>
          <p:cNvSpPr txBox="1"/>
          <p:nvPr/>
        </p:nvSpPr>
        <p:spPr>
          <a:xfrm>
            <a:off x="8203955" y="3997686"/>
            <a:ext cx="4067810" cy="1256030"/>
          </a:xfrm>
          <a:prstGeom prst="rect">
            <a:avLst/>
          </a:prstGeom>
        </p:spPr>
        <p:txBody>
          <a:bodyPr vert="horz" wrap="square" lIns="0" tIns="64135" rIns="0" bIns="0" rtlCol="0">
            <a:spAutoFit/>
          </a:bodyPr>
          <a:lstStyle/>
          <a:p>
            <a:pPr marL="132715">
              <a:lnSpc>
                <a:spcPct val="100000"/>
              </a:lnSpc>
              <a:spcBef>
                <a:spcPts val="505"/>
              </a:spcBef>
            </a:pPr>
            <a:r>
              <a:rPr lang="en-IN" sz="3225" i="1" spc="22" baseline="-33591">
                <a:latin typeface="Times New Roman"/>
                <a:cs typeface="Times New Roman"/>
              </a:rPr>
              <a:t>s</a:t>
            </a:r>
            <a:r>
              <a:rPr lang="en-IN" sz="3225" i="1" spc="-15" baseline="-33591">
                <a:latin typeface="Times New Roman"/>
                <a:cs typeface="Times New Roman"/>
              </a:rPr>
              <a:t> </a:t>
            </a:r>
            <a:r>
              <a:rPr lang="en-IN" sz="3225" spc="37" baseline="-33591">
                <a:latin typeface="Symbol"/>
                <a:cs typeface="Symbol"/>
              </a:rPr>
              <a:t></a:t>
            </a:r>
            <a:r>
              <a:rPr lang="en-IN" sz="3225" spc="-195" baseline="-33591">
                <a:latin typeface="Times New Roman"/>
                <a:cs typeface="Times New Roman"/>
              </a:rPr>
              <a:t> </a:t>
            </a:r>
            <a:r>
              <a:rPr lang="en-IN" sz="2250" i="1" u="sng" spc="100">
                <a:uFill>
                  <a:solidFill>
                    <a:srgbClr val="000000"/>
                  </a:solidFill>
                </a:uFill>
                <a:latin typeface="Symbol"/>
                <a:cs typeface="Symbol"/>
              </a:rPr>
              <a:t></a:t>
            </a:r>
            <a:r>
              <a:rPr lang="en-IN" sz="2250" i="1" u="sng" spc="-195">
                <a:uFill>
                  <a:solidFill>
                    <a:srgbClr val="000000"/>
                  </a:solidFill>
                </a:uFill>
                <a:latin typeface="Times New Roman"/>
                <a:cs typeface="Times New Roman"/>
              </a:rPr>
              <a:t> </a:t>
            </a:r>
            <a:r>
              <a:rPr lang="en-IN" sz="2150" u="sng" spc="25">
                <a:uFill>
                  <a:solidFill>
                    <a:srgbClr val="000000"/>
                  </a:solidFill>
                </a:uFill>
                <a:latin typeface="Times New Roman"/>
                <a:cs typeface="Times New Roman"/>
              </a:rPr>
              <a:t>(Milk,</a:t>
            </a:r>
            <a:r>
              <a:rPr lang="en-IN" sz="2150" u="sng" spc="-310">
                <a:uFill>
                  <a:solidFill>
                    <a:srgbClr val="000000"/>
                  </a:solidFill>
                </a:uFill>
                <a:latin typeface="Times New Roman"/>
                <a:cs typeface="Times New Roman"/>
              </a:rPr>
              <a:t> </a:t>
            </a:r>
            <a:r>
              <a:rPr lang="en-IN" sz="2150" u="sng">
                <a:uFill>
                  <a:solidFill>
                    <a:srgbClr val="000000"/>
                  </a:solidFill>
                </a:uFill>
                <a:latin typeface="Times New Roman"/>
                <a:cs typeface="Times New Roman"/>
              </a:rPr>
              <a:t>Diaper,</a:t>
            </a:r>
            <a:r>
              <a:rPr lang="en-IN" sz="2150" u="sng" spc="-315">
                <a:uFill>
                  <a:solidFill>
                    <a:srgbClr val="000000"/>
                  </a:solidFill>
                </a:uFill>
                <a:latin typeface="Times New Roman"/>
                <a:cs typeface="Times New Roman"/>
              </a:rPr>
              <a:t> </a:t>
            </a:r>
            <a:r>
              <a:rPr lang="en-IN" sz="2150" u="sng" spc="15">
                <a:uFill>
                  <a:solidFill>
                    <a:srgbClr val="000000"/>
                  </a:solidFill>
                </a:uFill>
                <a:latin typeface="Times New Roman"/>
                <a:cs typeface="Times New Roman"/>
              </a:rPr>
              <a:t>Beer)</a:t>
            </a:r>
            <a:r>
              <a:rPr lang="en-IN" sz="2150" spc="35">
                <a:latin typeface="Times New Roman"/>
                <a:cs typeface="Times New Roman"/>
              </a:rPr>
              <a:t> </a:t>
            </a:r>
            <a:r>
              <a:rPr lang="en-IN" sz="3225" spc="37" baseline="-33591">
                <a:latin typeface="Symbol"/>
                <a:cs typeface="Symbol"/>
              </a:rPr>
              <a:t></a:t>
            </a:r>
            <a:r>
              <a:rPr lang="en-IN" sz="3225" spc="60" baseline="-33591">
                <a:latin typeface="Times New Roman"/>
                <a:cs typeface="Times New Roman"/>
              </a:rPr>
              <a:t> </a:t>
            </a:r>
            <a:r>
              <a:rPr lang="en-IN" sz="2150" u="sng" spc="20">
                <a:uFill>
                  <a:solidFill>
                    <a:srgbClr val="000000"/>
                  </a:solidFill>
                </a:uFill>
                <a:latin typeface="Times New Roman"/>
                <a:cs typeface="Times New Roman"/>
              </a:rPr>
              <a:t>2</a:t>
            </a:r>
            <a:r>
              <a:rPr lang="en-IN" sz="2150" spc="10">
                <a:latin typeface="Times New Roman"/>
                <a:cs typeface="Times New Roman"/>
              </a:rPr>
              <a:t> </a:t>
            </a:r>
            <a:r>
              <a:rPr lang="en-IN" sz="3225" spc="37" baseline="-33591">
                <a:latin typeface="Symbol"/>
                <a:cs typeface="Symbol"/>
              </a:rPr>
              <a:t></a:t>
            </a:r>
            <a:r>
              <a:rPr lang="en-IN" sz="3225" spc="-135" baseline="-33591">
                <a:latin typeface="Times New Roman"/>
                <a:cs typeface="Times New Roman"/>
              </a:rPr>
              <a:t> </a:t>
            </a:r>
            <a:r>
              <a:rPr lang="en-IN" sz="3225" spc="15" baseline="-33591">
                <a:latin typeface="Times New Roman"/>
                <a:cs typeface="Times New Roman"/>
              </a:rPr>
              <a:t>0.4</a:t>
            </a:r>
            <a:endParaRPr lang="en-IN" sz="3225" baseline="-33591">
              <a:latin typeface="Times New Roman"/>
              <a:cs typeface="Times New Roman"/>
            </a:endParaRPr>
          </a:p>
          <a:p>
            <a:pPr marL="1543050">
              <a:lnSpc>
                <a:spcPct val="100000"/>
              </a:lnSpc>
              <a:spcBef>
                <a:spcPts val="375"/>
              </a:spcBef>
              <a:tabLst>
                <a:tab pos="3234055" algn="l"/>
              </a:tabLst>
            </a:pPr>
            <a:r>
              <a:rPr lang="en-IN" sz="2150" spc="5">
                <a:latin typeface="Times New Roman"/>
                <a:cs typeface="Times New Roman"/>
              </a:rPr>
              <a:t>|</a:t>
            </a:r>
            <a:r>
              <a:rPr lang="en-IN" sz="2150" spc="-165">
                <a:latin typeface="Times New Roman"/>
                <a:cs typeface="Times New Roman"/>
              </a:rPr>
              <a:t> </a:t>
            </a:r>
            <a:r>
              <a:rPr lang="en-IN" sz="2150" spc="30">
                <a:latin typeface="Times New Roman"/>
                <a:cs typeface="Times New Roman"/>
              </a:rPr>
              <a:t>T</a:t>
            </a:r>
            <a:r>
              <a:rPr lang="en-IN" sz="2150" spc="-150">
                <a:latin typeface="Times New Roman"/>
                <a:cs typeface="Times New Roman"/>
              </a:rPr>
              <a:t> </a:t>
            </a:r>
            <a:r>
              <a:rPr lang="en-IN" sz="2150" spc="5">
                <a:latin typeface="Times New Roman"/>
                <a:cs typeface="Times New Roman"/>
              </a:rPr>
              <a:t>|	</a:t>
            </a:r>
            <a:r>
              <a:rPr lang="en-IN" sz="2150" spc="20">
                <a:latin typeface="Times New Roman"/>
                <a:cs typeface="Times New Roman"/>
              </a:rPr>
              <a:t>5</a:t>
            </a:r>
            <a:endParaRPr lang="en-IN" sz="2150">
              <a:latin typeface="Times New Roman"/>
              <a:cs typeface="Times New Roman"/>
            </a:endParaRPr>
          </a:p>
          <a:p>
            <a:pPr marL="50800">
              <a:lnSpc>
                <a:spcPct val="100000"/>
              </a:lnSpc>
              <a:spcBef>
                <a:spcPts val="925"/>
              </a:spcBef>
            </a:pPr>
            <a:r>
              <a:rPr lang="en-IN" sz="3150" i="1" spc="22" baseline="-34391">
                <a:latin typeface="Times New Roman"/>
                <a:cs typeface="Times New Roman"/>
              </a:rPr>
              <a:t>c</a:t>
            </a:r>
            <a:r>
              <a:rPr lang="en-IN" sz="3150" i="1" spc="-44" baseline="-34391">
                <a:latin typeface="Times New Roman"/>
                <a:cs typeface="Times New Roman"/>
              </a:rPr>
              <a:t> </a:t>
            </a:r>
            <a:r>
              <a:rPr lang="en-IN" sz="3150" spc="30" baseline="-34391">
                <a:latin typeface="Symbol"/>
                <a:cs typeface="Symbol"/>
              </a:rPr>
              <a:t></a:t>
            </a:r>
            <a:r>
              <a:rPr lang="en-IN" sz="3150" spc="-195" baseline="-34391">
                <a:latin typeface="Times New Roman"/>
                <a:cs typeface="Times New Roman"/>
              </a:rPr>
              <a:t> </a:t>
            </a:r>
            <a:r>
              <a:rPr lang="en-IN" sz="2250" i="1" u="sng" spc="55">
                <a:uFill>
                  <a:solidFill>
                    <a:srgbClr val="000000"/>
                  </a:solidFill>
                </a:uFill>
                <a:latin typeface="Symbol"/>
                <a:cs typeface="Symbol"/>
              </a:rPr>
              <a:t></a:t>
            </a:r>
            <a:r>
              <a:rPr lang="en-IN" sz="2250" i="1" u="sng" spc="-200">
                <a:uFill>
                  <a:solidFill>
                    <a:srgbClr val="000000"/>
                  </a:solidFill>
                </a:uFill>
                <a:latin typeface="Times New Roman"/>
                <a:cs typeface="Times New Roman"/>
              </a:rPr>
              <a:t> </a:t>
            </a:r>
            <a:r>
              <a:rPr lang="en-IN" sz="2100" u="sng" spc="-15">
                <a:uFill>
                  <a:solidFill>
                    <a:srgbClr val="000000"/>
                  </a:solidFill>
                </a:uFill>
                <a:latin typeface="Times New Roman"/>
                <a:cs typeface="Times New Roman"/>
              </a:rPr>
              <a:t>(Milk,</a:t>
            </a:r>
            <a:r>
              <a:rPr lang="en-IN" sz="2100" u="sng" spc="-175">
                <a:uFill>
                  <a:solidFill>
                    <a:srgbClr val="000000"/>
                  </a:solidFill>
                </a:uFill>
                <a:latin typeface="Times New Roman"/>
                <a:cs typeface="Times New Roman"/>
              </a:rPr>
              <a:t> </a:t>
            </a:r>
            <a:r>
              <a:rPr lang="en-IN" sz="2100" u="sng" spc="-5">
                <a:uFill>
                  <a:solidFill>
                    <a:srgbClr val="000000"/>
                  </a:solidFill>
                </a:uFill>
                <a:latin typeface="Times New Roman"/>
                <a:cs typeface="Times New Roman"/>
              </a:rPr>
              <a:t>Diaper,</a:t>
            </a:r>
            <a:r>
              <a:rPr lang="en-IN" sz="2100" u="sng" spc="-310">
                <a:uFill>
                  <a:solidFill>
                    <a:srgbClr val="000000"/>
                  </a:solidFill>
                </a:uFill>
                <a:latin typeface="Times New Roman"/>
                <a:cs typeface="Times New Roman"/>
              </a:rPr>
              <a:t> </a:t>
            </a:r>
            <a:r>
              <a:rPr lang="en-IN" sz="2100" u="sng" spc="10">
                <a:uFill>
                  <a:solidFill>
                    <a:srgbClr val="000000"/>
                  </a:solidFill>
                </a:uFill>
                <a:latin typeface="Times New Roman"/>
                <a:cs typeface="Times New Roman"/>
              </a:rPr>
              <a:t>Beer)</a:t>
            </a:r>
            <a:r>
              <a:rPr lang="en-IN" sz="2100" spc="35">
                <a:latin typeface="Times New Roman"/>
                <a:cs typeface="Times New Roman"/>
              </a:rPr>
              <a:t> </a:t>
            </a:r>
            <a:r>
              <a:rPr lang="en-IN" sz="3150" spc="30" baseline="-34391">
                <a:latin typeface="Symbol"/>
                <a:cs typeface="Symbol"/>
              </a:rPr>
              <a:t></a:t>
            </a:r>
            <a:r>
              <a:rPr lang="en-IN" sz="3150" spc="52" baseline="-34391">
                <a:latin typeface="Times New Roman"/>
                <a:cs typeface="Times New Roman"/>
              </a:rPr>
              <a:t> </a:t>
            </a:r>
            <a:r>
              <a:rPr lang="en-IN" sz="2100" u="sng" spc="15">
                <a:uFill>
                  <a:solidFill>
                    <a:srgbClr val="000000"/>
                  </a:solidFill>
                </a:uFill>
                <a:latin typeface="Times New Roman"/>
                <a:cs typeface="Times New Roman"/>
              </a:rPr>
              <a:t>2</a:t>
            </a:r>
            <a:r>
              <a:rPr lang="en-IN" sz="2100" spc="5">
                <a:latin typeface="Times New Roman"/>
                <a:cs typeface="Times New Roman"/>
              </a:rPr>
              <a:t> </a:t>
            </a:r>
            <a:r>
              <a:rPr lang="en-IN" sz="3150" spc="30" baseline="-34391">
                <a:latin typeface="Symbol"/>
                <a:cs typeface="Symbol"/>
              </a:rPr>
              <a:t></a:t>
            </a:r>
            <a:r>
              <a:rPr lang="en-IN" sz="3150" spc="-127" baseline="-34391">
                <a:latin typeface="Times New Roman"/>
                <a:cs typeface="Times New Roman"/>
              </a:rPr>
              <a:t> </a:t>
            </a:r>
            <a:r>
              <a:rPr lang="en-IN" sz="3150" baseline="-34391">
                <a:latin typeface="Times New Roman"/>
                <a:cs typeface="Times New Roman"/>
              </a:rPr>
              <a:t>0.67</a:t>
            </a:r>
            <a:endParaRPr lang="en-IN" sz="3150" baseline="-34391" dirty="0">
              <a:latin typeface="Times New Roman"/>
              <a:cs typeface="Times New Roman"/>
            </a:endParaRPr>
          </a:p>
        </p:txBody>
      </p:sp>
      <p:sp>
        <p:nvSpPr>
          <p:cNvPr id="11" name="TextBox 10">
            <a:extLst>
              <a:ext uri="{FF2B5EF4-FFF2-40B4-BE49-F238E27FC236}">
                <a16:creationId xmlns:a16="http://schemas.microsoft.com/office/drawing/2014/main" id="{19849655-E184-4DEB-BEFD-8A4EE905A247}"/>
              </a:ext>
            </a:extLst>
          </p:cNvPr>
          <p:cNvSpPr txBox="1"/>
          <p:nvPr/>
        </p:nvSpPr>
        <p:spPr>
          <a:xfrm>
            <a:off x="8966446" y="5164239"/>
            <a:ext cx="1677170" cy="369332"/>
          </a:xfrm>
          <a:prstGeom prst="rect">
            <a:avLst/>
          </a:prstGeom>
          <a:noFill/>
        </p:spPr>
        <p:txBody>
          <a:bodyPr wrap="square">
            <a:spAutoFit/>
          </a:bodyPr>
          <a:lstStyle/>
          <a:p>
            <a:r>
              <a:rPr lang="en-IN" sz="1800" i="1" spc="50" dirty="0">
                <a:latin typeface="Symbol"/>
                <a:cs typeface="Symbol"/>
              </a:rPr>
              <a:t></a:t>
            </a:r>
            <a:r>
              <a:rPr lang="en-IN" sz="1800" i="1" spc="-240" dirty="0">
                <a:latin typeface="Times New Roman"/>
                <a:cs typeface="Times New Roman"/>
              </a:rPr>
              <a:t> </a:t>
            </a:r>
            <a:r>
              <a:rPr lang="en-IN" sz="1800" spc="20" dirty="0">
                <a:latin typeface="Times New Roman"/>
                <a:cs typeface="Times New Roman"/>
              </a:rPr>
              <a:t>(Milk,</a:t>
            </a:r>
            <a:r>
              <a:rPr lang="en-IN" sz="1800" spc="-320" dirty="0">
                <a:latin typeface="Times New Roman"/>
                <a:cs typeface="Times New Roman"/>
              </a:rPr>
              <a:t> </a:t>
            </a:r>
            <a:r>
              <a:rPr lang="en-IN" sz="1800" spc="10" dirty="0">
                <a:latin typeface="Times New Roman"/>
                <a:cs typeface="Times New Roman"/>
              </a:rPr>
              <a:t>Diaper)</a:t>
            </a:r>
            <a:endParaRPr lang="en-IN" dirty="0"/>
          </a:p>
        </p:txBody>
      </p:sp>
      <p:sp>
        <p:nvSpPr>
          <p:cNvPr id="12" name="object 5">
            <a:extLst>
              <a:ext uri="{FF2B5EF4-FFF2-40B4-BE49-F238E27FC236}">
                <a16:creationId xmlns:a16="http://schemas.microsoft.com/office/drawing/2014/main" id="{76ACA7C3-68F8-4DA9-B67E-AC81348173C4}"/>
              </a:ext>
            </a:extLst>
          </p:cNvPr>
          <p:cNvSpPr txBox="1"/>
          <p:nvPr/>
        </p:nvSpPr>
        <p:spPr>
          <a:xfrm>
            <a:off x="11276966" y="5164239"/>
            <a:ext cx="161290" cy="350520"/>
          </a:xfrm>
          <a:prstGeom prst="rect">
            <a:avLst/>
          </a:prstGeom>
        </p:spPr>
        <p:txBody>
          <a:bodyPr vert="horz" wrap="square" lIns="0" tIns="16510" rIns="0" bIns="0" rtlCol="0">
            <a:spAutoFit/>
          </a:bodyPr>
          <a:lstStyle/>
          <a:p>
            <a:pPr marL="12700">
              <a:lnSpc>
                <a:spcPct val="100000"/>
              </a:lnSpc>
              <a:spcBef>
                <a:spcPts val="130"/>
              </a:spcBef>
            </a:pPr>
            <a:r>
              <a:rPr sz="2100" spc="15" dirty="0">
                <a:latin typeface="Times New Roman"/>
                <a:cs typeface="Times New Roman"/>
              </a:rPr>
              <a:t>3</a:t>
            </a:r>
            <a:endParaRPr sz="2100" dirty="0">
              <a:latin typeface="Times New Roman"/>
              <a:cs typeface="Times New Roman"/>
            </a:endParaRPr>
          </a:p>
        </p:txBody>
      </p:sp>
      <p:graphicFrame>
        <p:nvGraphicFramePr>
          <p:cNvPr id="13" name="object 9">
            <a:extLst>
              <a:ext uri="{FF2B5EF4-FFF2-40B4-BE49-F238E27FC236}">
                <a16:creationId xmlns:a16="http://schemas.microsoft.com/office/drawing/2014/main" id="{6EBE4581-120A-4671-B6AD-4AB58432D628}"/>
              </a:ext>
            </a:extLst>
          </p:cNvPr>
          <p:cNvGraphicFramePr>
            <a:graphicFrameLocks noGrp="1"/>
          </p:cNvGraphicFramePr>
          <p:nvPr>
            <p:extLst>
              <p:ext uri="{D42A27DB-BD31-4B8C-83A1-F6EECF244321}">
                <p14:modId xmlns:p14="http://schemas.microsoft.com/office/powerpoint/2010/main" val="4157936550"/>
              </p:ext>
            </p:extLst>
          </p:nvPr>
        </p:nvGraphicFramePr>
        <p:xfrm>
          <a:off x="8247798" y="775235"/>
          <a:ext cx="3464560" cy="1999534"/>
        </p:xfrm>
        <a:graphic>
          <a:graphicData uri="http://schemas.openxmlformats.org/drawingml/2006/table">
            <a:tbl>
              <a:tblPr firstRow="1" bandRow="1">
                <a:tableStyleId>{2D5ABB26-0587-4C30-8999-92F81FD0307C}</a:tableStyleId>
              </a:tblPr>
              <a:tblGrid>
                <a:gridCol w="727075">
                  <a:extLst>
                    <a:ext uri="{9D8B030D-6E8A-4147-A177-3AD203B41FA5}">
                      <a16:colId xmlns:a16="http://schemas.microsoft.com/office/drawing/2014/main" val="20000"/>
                    </a:ext>
                  </a:extLst>
                </a:gridCol>
                <a:gridCol w="2737485">
                  <a:extLst>
                    <a:ext uri="{9D8B030D-6E8A-4147-A177-3AD203B41FA5}">
                      <a16:colId xmlns:a16="http://schemas.microsoft.com/office/drawing/2014/main" val="20001"/>
                    </a:ext>
                  </a:extLst>
                </a:gridCol>
              </a:tblGrid>
              <a:tr h="338677">
                <a:tc>
                  <a:txBody>
                    <a:bodyPr/>
                    <a:lstStyle/>
                    <a:p>
                      <a:pPr marL="74295">
                        <a:lnSpc>
                          <a:spcPct val="100000"/>
                        </a:lnSpc>
                        <a:spcBef>
                          <a:spcPts val="15"/>
                        </a:spcBef>
                      </a:pPr>
                      <a:r>
                        <a:rPr sz="1500" b="1" i="1" spc="10" dirty="0">
                          <a:solidFill>
                            <a:srgbClr val="FFFFFF"/>
                          </a:solidFill>
                          <a:latin typeface="Times New Roman"/>
                          <a:cs typeface="Times New Roman"/>
                        </a:rPr>
                        <a:t>TID</a:t>
                      </a:r>
                      <a:endParaRPr sz="1500">
                        <a:latin typeface="Times New Roman"/>
                        <a:cs typeface="Times New Roman"/>
                      </a:endParaRPr>
                    </a:p>
                  </a:txBody>
                  <a:tcPr marL="0" marR="0" marT="1905"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000080"/>
                    </a:solidFill>
                  </a:tcPr>
                </a:tc>
                <a:tc>
                  <a:txBody>
                    <a:bodyPr/>
                    <a:lstStyle/>
                    <a:p>
                      <a:pPr marL="74295">
                        <a:lnSpc>
                          <a:spcPct val="100000"/>
                        </a:lnSpc>
                        <a:spcBef>
                          <a:spcPts val="15"/>
                        </a:spcBef>
                      </a:pPr>
                      <a:r>
                        <a:rPr sz="1500" b="1" i="1" spc="10" dirty="0">
                          <a:solidFill>
                            <a:srgbClr val="FFFFFF"/>
                          </a:solidFill>
                          <a:latin typeface="Times New Roman"/>
                          <a:cs typeface="Times New Roman"/>
                        </a:rPr>
                        <a:t>Items</a:t>
                      </a:r>
                      <a:endParaRPr sz="1500">
                        <a:latin typeface="Times New Roman"/>
                        <a:cs typeface="Times New Roman"/>
                      </a:endParaRPr>
                    </a:p>
                  </a:txBody>
                  <a:tcPr marL="0" marR="0" marT="1905"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000080"/>
                    </a:solidFill>
                  </a:tcPr>
                </a:tc>
                <a:extLst>
                  <a:ext uri="{0D108BD9-81ED-4DB2-BD59-A6C34878D82A}">
                    <a16:rowId xmlns:a16="http://schemas.microsoft.com/office/drawing/2014/main" val="10000"/>
                  </a:ext>
                </a:extLst>
              </a:tr>
              <a:tr h="332180">
                <a:tc>
                  <a:txBody>
                    <a:bodyPr/>
                    <a:lstStyle/>
                    <a:p>
                      <a:pPr marL="74295">
                        <a:lnSpc>
                          <a:spcPts val="2005"/>
                        </a:lnSpc>
                      </a:pPr>
                      <a:r>
                        <a:rPr sz="1700" b="1" dirty="0">
                          <a:solidFill>
                            <a:srgbClr val="000080"/>
                          </a:solidFill>
                          <a:latin typeface="Times New Roman"/>
                          <a:cs typeface="Times New Roman"/>
                        </a:rPr>
                        <a:t>1</a:t>
                      </a:r>
                      <a:endParaRPr sz="1700" dirty="0">
                        <a:latin typeface="Times New Roman"/>
                        <a:cs typeface="Times New Roman"/>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4295">
                        <a:lnSpc>
                          <a:spcPts val="2005"/>
                        </a:lnSpc>
                      </a:pPr>
                      <a:r>
                        <a:rPr sz="1700" b="1" spc="15" dirty="0">
                          <a:solidFill>
                            <a:srgbClr val="000080"/>
                          </a:solidFill>
                          <a:latin typeface="Times New Roman"/>
                          <a:cs typeface="Times New Roman"/>
                        </a:rPr>
                        <a:t>Bread,</a:t>
                      </a:r>
                      <a:r>
                        <a:rPr sz="1700" b="1" dirty="0">
                          <a:solidFill>
                            <a:srgbClr val="000080"/>
                          </a:solidFill>
                          <a:latin typeface="Times New Roman"/>
                          <a:cs typeface="Times New Roman"/>
                        </a:rPr>
                        <a:t> </a:t>
                      </a:r>
                      <a:r>
                        <a:rPr sz="1700" b="1" spc="20" dirty="0">
                          <a:solidFill>
                            <a:srgbClr val="000080"/>
                          </a:solidFill>
                          <a:latin typeface="Times New Roman"/>
                          <a:cs typeface="Times New Roman"/>
                        </a:rPr>
                        <a:t>Milk</a:t>
                      </a:r>
                      <a:endParaRPr sz="17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30396">
                <a:tc>
                  <a:txBody>
                    <a:bodyPr/>
                    <a:lstStyle/>
                    <a:p>
                      <a:pPr marL="74295">
                        <a:lnSpc>
                          <a:spcPts val="2000"/>
                        </a:lnSpc>
                      </a:pPr>
                      <a:r>
                        <a:rPr sz="1700" b="1" dirty="0">
                          <a:solidFill>
                            <a:srgbClr val="000080"/>
                          </a:solidFill>
                          <a:latin typeface="Times New Roman"/>
                          <a:cs typeface="Times New Roman"/>
                        </a:rPr>
                        <a:t>2</a:t>
                      </a:r>
                      <a:endParaRPr sz="1700">
                        <a:latin typeface="Times New Roman"/>
                        <a:cs typeface="Times New Roman"/>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4295">
                        <a:lnSpc>
                          <a:spcPts val="2000"/>
                        </a:lnSpc>
                      </a:pPr>
                      <a:r>
                        <a:rPr sz="1700" b="1" spc="15" dirty="0">
                          <a:solidFill>
                            <a:srgbClr val="000080"/>
                          </a:solidFill>
                          <a:latin typeface="Times New Roman"/>
                          <a:cs typeface="Times New Roman"/>
                        </a:rPr>
                        <a:t>Bread, Diaper, Beer,</a:t>
                      </a:r>
                      <a:r>
                        <a:rPr sz="1700" b="1" spc="-40" dirty="0">
                          <a:solidFill>
                            <a:srgbClr val="000080"/>
                          </a:solidFill>
                          <a:latin typeface="Times New Roman"/>
                          <a:cs typeface="Times New Roman"/>
                        </a:rPr>
                        <a:t> </a:t>
                      </a:r>
                      <a:r>
                        <a:rPr sz="1700" b="1" spc="20" dirty="0">
                          <a:solidFill>
                            <a:srgbClr val="000080"/>
                          </a:solidFill>
                          <a:latin typeface="Times New Roman"/>
                          <a:cs typeface="Times New Roman"/>
                        </a:rPr>
                        <a:t>Eggs</a:t>
                      </a:r>
                      <a:endParaRPr sz="17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30770">
                <a:tc>
                  <a:txBody>
                    <a:bodyPr/>
                    <a:lstStyle/>
                    <a:p>
                      <a:pPr marL="74295">
                        <a:lnSpc>
                          <a:spcPts val="2000"/>
                        </a:lnSpc>
                      </a:pPr>
                      <a:r>
                        <a:rPr sz="1700" b="1" dirty="0">
                          <a:solidFill>
                            <a:srgbClr val="000080"/>
                          </a:solidFill>
                          <a:latin typeface="Times New Roman"/>
                          <a:cs typeface="Times New Roman"/>
                        </a:rPr>
                        <a:t>3</a:t>
                      </a:r>
                      <a:endParaRPr sz="1700">
                        <a:latin typeface="Times New Roman"/>
                        <a:cs typeface="Times New Roman"/>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4295">
                        <a:lnSpc>
                          <a:spcPts val="2000"/>
                        </a:lnSpc>
                      </a:pPr>
                      <a:r>
                        <a:rPr sz="1700" b="1" spc="15" dirty="0">
                          <a:solidFill>
                            <a:srgbClr val="000080"/>
                          </a:solidFill>
                          <a:latin typeface="Times New Roman"/>
                          <a:cs typeface="Times New Roman"/>
                        </a:rPr>
                        <a:t>Milk, Diaper, Beer,</a:t>
                      </a:r>
                      <a:r>
                        <a:rPr sz="1700" b="1" spc="-30" dirty="0">
                          <a:solidFill>
                            <a:srgbClr val="000080"/>
                          </a:solidFill>
                          <a:latin typeface="Times New Roman"/>
                          <a:cs typeface="Times New Roman"/>
                        </a:rPr>
                        <a:t> </a:t>
                      </a:r>
                      <a:r>
                        <a:rPr sz="1700" b="1" spc="15" dirty="0">
                          <a:solidFill>
                            <a:srgbClr val="000080"/>
                          </a:solidFill>
                          <a:latin typeface="Times New Roman"/>
                          <a:cs typeface="Times New Roman"/>
                        </a:rPr>
                        <a:t>Coke</a:t>
                      </a:r>
                      <a:endParaRPr sz="17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30438">
                <a:tc>
                  <a:txBody>
                    <a:bodyPr/>
                    <a:lstStyle/>
                    <a:p>
                      <a:pPr marL="74295">
                        <a:lnSpc>
                          <a:spcPts val="2000"/>
                        </a:lnSpc>
                      </a:pPr>
                      <a:r>
                        <a:rPr sz="1700" b="1" dirty="0">
                          <a:solidFill>
                            <a:srgbClr val="000080"/>
                          </a:solidFill>
                          <a:latin typeface="Times New Roman"/>
                          <a:cs typeface="Times New Roman"/>
                        </a:rPr>
                        <a:t>4</a:t>
                      </a:r>
                      <a:endParaRPr sz="1700">
                        <a:latin typeface="Times New Roman"/>
                        <a:cs typeface="Times New Roman"/>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4295">
                        <a:lnSpc>
                          <a:spcPts val="2000"/>
                        </a:lnSpc>
                      </a:pPr>
                      <a:r>
                        <a:rPr sz="1700" b="1" spc="15" dirty="0">
                          <a:solidFill>
                            <a:srgbClr val="000080"/>
                          </a:solidFill>
                          <a:latin typeface="Times New Roman"/>
                          <a:cs typeface="Times New Roman"/>
                        </a:rPr>
                        <a:t>Bread, Milk, Diaper,</a:t>
                      </a:r>
                      <a:r>
                        <a:rPr sz="1700" b="1" spc="-30" dirty="0">
                          <a:solidFill>
                            <a:srgbClr val="000080"/>
                          </a:solidFill>
                          <a:latin typeface="Times New Roman"/>
                          <a:cs typeface="Times New Roman"/>
                        </a:rPr>
                        <a:t> </a:t>
                      </a:r>
                      <a:r>
                        <a:rPr sz="1700" b="1" spc="20" dirty="0">
                          <a:solidFill>
                            <a:srgbClr val="000080"/>
                          </a:solidFill>
                          <a:latin typeface="Times New Roman"/>
                          <a:cs typeface="Times New Roman"/>
                        </a:rPr>
                        <a:t>Beer</a:t>
                      </a:r>
                      <a:endParaRPr sz="17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37073">
                <a:tc>
                  <a:txBody>
                    <a:bodyPr/>
                    <a:lstStyle/>
                    <a:p>
                      <a:pPr marL="74295">
                        <a:lnSpc>
                          <a:spcPts val="2000"/>
                        </a:lnSpc>
                      </a:pPr>
                      <a:r>
                        <a:rPr sz="1700" b="1" dirty="0">
                          <a:solidFill>
                            <a:srgbClr val="000080"/>
                          </a:solidFill>
                          <a:latin typeface="Times New Roman"/>
                          <a:cs typeface="Times New Roman"/>
                        </a:rPr>
                        <a:t>5</a:t>
                      </a:r>
                      <a:endParaRPr sz="1700">
                        <a:latin typeface="Times New Roman"/>
                        <a:cs typeface="Times New Roman"/>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74295">
                        <a:lnSpc>
                          <a:spcPts val="2000"/>
                        </a:lnSpc>
                      </a:pPr>
                      <a:r>
                        <a:rPr sz="1700" b="1" spc="15" dirty="0">
                          <a:solidFill>
                            <a:srgbClr val="000080"/>
                          </a:solidFill>
                          <a:latin typeface="Times New Roman"/>
                          <a:cs typeface="Times New Roman"/>
                        </a:rPr>
                        <a:t>Bread, Milk, Diaper,</a:t>
                      </a:r>
                      <a:r>
                        <a:rPr sz="1700" b="1" spc="-30" dirty="0">
                          <a:solidFill>
                            <a:srgbClr val="000080"/>
                          </a:solidFill>
                          <a:latin typeface="Times New Roman"/>
                          <a:cs typeface="Times New Roman"/>
                        </a:rPr>
                        <a:t> </a:t>
                      </a:r>
                      <a:r>
                        <a:rPr sz="1700" b="1" spc="20" dirty="0">
                          <a:solidFill>
                            <a:srgbClr val="000080"/>
                          </a:solidFill>
                          <a:latin typeface="Times New Roman"/>
                          <a:cs typeface="Times New Roman"/>
                        </a:rPr>
                        <a:t>Coke</a:t>
                      </a:r>
                      <a:endParaRPr sz="1700" dirty="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30175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2EB85-8C8B-4F9E-B0E4-5A3DFF999FFB}"/>
              </a:ext>
            </a:extLst>
          </p:cNvPr>
          <p:cNvSpPr>
            <a:spLocks noGrp="1"/>
          </p:cNvSpPr>
          <p:nvPr>
            <p:ph type="title"/>
          </p:nvPr>
        </p:nvSpPr>
        <p:spPr/>
        <p:txBody>
          <a:bodyPr/>
          <a:lstStyle/>
          <a:p>
            <a:r>
              <a:rPr lang="en-US" dirty="0"/>
              <a:t>Scalable Methods for Mining Frequent Patterns</a:t>
            </a:r>
            <a:endParaRPr lang="en-IN" dirty="0"/>
          </a:p>
        </p:txBody>
      </p:sp>
      <p:sp>
        <p:nvSpPr>
          <p:cNvPr id="3" name="Content Placeholder 2">
            <a:extLst>
              <a:ext uri="{FF2B5EF4-FFF2-40B4-BE49-F238E27FC236}">
                <a16:creationId xmlns:a16="http://schemas.microsoft.com/office/drawing/2014/main" id="{7DABE2C8-274E-41EC-9AD8-0560F166000A}"/>
              </a:ext>
            </a:extLst>
          </p:cNvPr>
          <p:cNvSpPr>
            <a:spLocks noGrp="1"/>
          </p:cNvSpPr>
          <p:nvPr>
            <p:ph idx="1"/>
          </p:nvPr>
        </p:nvSpPr>
        <p:spPr/>
        <p:txBody>
          <a:bodyPr/>
          <a:lstStyle/>
          <a:p>
            <a:r>
              <a:rPr lang="en-IN" dirty="0"/>
              <a:t>The downward closure property of frequent patterns</a:t>
            </a:r>
          </a:p>
          <a:p>
            <a:pPr lvl="1"/>
            <a:r>
              <a:rPr lang="en-IN" dirty="0"/>
              <a:t>Any subset of a frequent itemset must be frequent</a:t>
            </a:r>
          </a:p>
          <a:p>
            <a:pPr lvl="1"/>
            <a:r>
              <a:rPr lang="en-IN" dirty="0"/>
              <a:t>If {beer, diaper, nuts} is frequent, so is {beer, diaper}</a:t>
            </a:r>
          </a:p>
          <a:p>
            <a:pPr lvl="1"/>
            <a:r>
              <a:rPr lang="en-IN" dirty="0"/>
              <a:t>i.e., every transaction having {beer, diaper, nuts} also contains {beer, diaper} </a:t>
            </a:r>
          </a:p>
          <a:p>
            <a:r>
              <a:rPr lang="en-IN" dirty="0"/>
              <a:t>Scalable mining methods: Three major approaches</a:t>
            </a:r>
          </a:p>
          <a:p>
            <a:pPr lvl="1"/>
            <a:r>
              <a:rPr lang="en-IN" dirty="0" err="1"/>
              <a:t>Apriori</a:t>
            </a:r>
            <a:r>
              <a:rPr lang="en-IN" dirty="0"/>
              <a:t> (Agrawal &amp; Srikant@VLDB’94)</a:t>
            </a:r>
          </a:p>
          <a:p>
            <a:pPr lvl="1"/>
            <a:r>
              <a:rPr lang="en-IN" dirty="0"/>
              <a:t>Freq. pattern growth (</a:t>
            </a:r>
            <a:r>
              <a:rPr lang="en-IN" dirty="0" err="1"/>
              <a:t>FPgrowth</a:t>
            </a:r>
            <a:r>
              <a:rPr lang="en-IN" dirty="0"/>
              <a:t>—Han, Pei &amp; Yin @SIGMOD’00)</a:t>
            </a:r>
          </a:p>
          <a:p>
            <a:pPr lvl="1"/>
            <a:r>
              <a:rPr lang="en-IN" dirty="0"/>
              <a:t>Vertical data format approach (Charm—</a:t>
            </a:r>
            <a:r>
              <a:rPr lang="en-IN" dirty="0" err="1"/>
              <a:t>Zaki</a:t>
            </a:r>
            <a:r>
              <a:rPr lang="en-IN" dirty="0"/>
              <a:t> &amp; Hsiao @SDM’02)</a:t>
            </a:r>
          </a:p>
          <a:p>
            <a:endParaRPr lang="en-IN" dirty="0"/>
          </a:p>
        </p:txBody>
      </p:sp>
    </p:spTree>
    <p:extLst>
      <p:ext uri="{BB962C8B-B14F-4D97-AF65-F5344CB8AC3E}">
        <p14:creationId xmlns:p14="http://schemas.microsoft.com/office/powerpoint/2010/main" val="65525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CE2E4-517F-4531-AC20-45E23511A425}"/>
              </a:ext>
            </a:extLst>
          </p:cNvPr>
          <p:cNvSpPr>
            <a:spLocks noGrp="1"/>
          </p:cNvSpPr>
          <p:nvPr>
            <p:ph type="title"/>
          </p:nvPr>
        </p:nvSpPr>
        <p:spPr/>
        <p:txBody>
          <a:bodyPr/>
          <a:lstStyle/>
          <a:p>
            <a:r>
              <a:rPr lang="en-US" dirty="0" err="1"/>
              <a:t>Apriori</a:t>
            </a:r>
            <a:r>
              <a:rPr lang="en-US" dirty="0"/>
              <a:t>: A Candidate Generation-and-Test Approach</a:t>
            </a:r>
            <a:endParaRPr lang="en-IN" dirty="0"/>
          </a:p>
        </p:txBody>
      </p:sp>
      <p:sp>
        <p:nvSpPr>
          <p:cNvPr id="3" name="Content Placeholder 2">
            <a:extLst>
              <a:ext uri="{FF2B5EF4-FFF2-40B4-BE49-F238E27FC236}">
                <a16:creationId xmlns:a16="http://schemas.microsoft.com/office/drawing/2014/main" id="{B02E704D-1820-4E89-BDC5-1340E21522FD}"/>
              </a:ext>
            </a:extLst>
          </p:cNvPr>
          <p:cNvSpPr>
            <a:spLocks noGrp="1"/>
          </p:cNvSpPr>
          <p:nvPr>
            <p:ph idx="1"/>
          </p:nvPr>
        </p:nvSpPr>
        <p:spPr/>
        <p:txBody>
          <a:bodyPr/>
          <a:lstStyle/>
          <a:p>
            <a:r>
              <a:rPr lang="en-US" dirty="0" err="1"/>
              <a:t>Apriori</a:t>
            </a:r>
            <a:r>
              <a:rPr lang="en-US" dirty="0"/>
              <a:t> pruning principle: If there is any itemset which is infrequent, its superset should not be generated/tested! (Agrawal &amp; Srikant @VLDB’94, </a:t>
            </a:r>
            <a:r>
              <a:rPr lang="en-US" dirty="0" err="1"/>
              <a:t>Mannila</a:t>
            </a:r>
            <a:r>
              <a:rPr lang="en-US" dirty="0"/>
              <a:t>, et al. @ KDD’ 94)</a:t>
            </a:r>
          </a:p>
          <a:p>
            <a:r>
              <a:rPr lang="en-US" dirty="0"/>
              <a:t>Method: </a:t>
            </a:r>
          </a:p>
          <a:p>
            <a:pPr lvl="1"/>
            <a:r>
              <a:rPr lang="en-US" dirty="0"/>
              <a:t>Initially, scan DB once to get frequent 1-itemset</a:t>
            </a:r>
          </a:p>
          <a:p>
            <a:pPr lvl="1"/>
            <a:r>
              <a:rPr lang="en-US" dirty="0"/>
              <a:t>Generate length (k+1) candidate </a:t>
            </a:r>
            <a:r>
              <a:rPr lang="en-US" dirty="0" err="1"/>
              <a:t>itemsets</a:t>
            </a:r>
            <a:r>
              <a:rPr lang="en-US" dirty="0"/>
              <a:t> from length k frequent </a:t>
            </a:r>
            <a:r>
              <a:rPr lang="en-US" dirty="0" err="1"/>
              <a:t>itemsets</a:t>
            </a:r>
            <a:endParaRPr lang="en-US" dirty="0"/>
          </a:p>
          <a:p>
            <a:pPr lvl="1"/>
            <a:r>
              <a:rPr lang="en-US" dirty="0"/>
              <a:t>Test the candidates against DB</a:t>
            </a:r>
          </a:p>
          <a:p>
            <a:pPr lvl="1"/>
            <a:r>
              <a:rPr lang="en-US" dirty="0"/>
              <a:t>Terminate when no frequent or candidate set can be generated</a:t>
            </a:r>
          </a:p>
          <a:p>
            <a:endParaRPr lang="en-IN" dirty="0"/>
          </a:p>
        </p:txBody>
      </p:sp>
    </p:spTree>
    <p:extLst>
      <p:ext uri="{BB962C8B-B14F-4D97-AF65-F5344CB8AC3E}">
        <p14:creationId xmlns:p14="http://schemas.microsoft.com/office/powerpoint/2010/main" val="1539734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ED3C9-4EE8-45BB-AF69-D223613AD12E}"/>
              </a:ext>
            </a:extLst>
          </p:cNvPr>
          <p:cNvSpPr>
            <a:spLocks noGrp="1"/>
          </p:cNvSpPr>
          <p:nvPr>
            <p:ph type="title"/>
          </p:nvPr>
        </p:nvSpPr>
        <p:spPr/>
        <p:txBody>
          <a:bodyPr/>
          <a:lstStyle/>
          <a:p>
            <a:r>
              <a:rPr lang="en-US" dirty="0"/>
              <a:t>The </a:t>
            </a:r>
            <a:r>
              <a:rPr lang="en-US" dirty="0" err="1"/>
              <a:t>Apriori</a:t>
            </a:r>
            <a:r>
              <a:rPr lang="en-US" dirty="0"/>
              <a:t> Algorithm—An Example </a:t>
            </a:r>
            <a:endParaRPr lang="en-IN" dirty="0"/>
          </a:p>
        </p:txBody>
      </p:sp>
      <p:pic>
        <p:nvPicPr>
          <p:cNvPr id="4" name="Content Placeholder 3">
            <a:extLst>
              <a:ext uri="{FF2B5EF4-FFF2-40B4-BE49-F238E27FC236}">
                <a16:creationId xmlns:a16="http://schemas.microsoft.com/office/drawing/2014/main" id="{70D63B6C-45FB-4E92-AEB3-D4B40BDA2BC0}"/>
              </a:ext>
            </a:extLst>
          </p:cNvPr>
          <p:cNvPicPr>
            <a:picLocks noGrp="1" noChangeAspect="1"/>
          </p:cNvPicPr>
          <p:nvPr>
            <p:ph idx="1"/>
          </p:nvPr>
        </p:nvPicPr>
        <p:blipFill>
          <a:blip r:embed="rId2"/>
          <a:stretch>
            <a:fillRect/>
          </a:stretch>
        </p:blipFill>
        <p:spPr>
          <a:xfrm>
            <a:off x="3868738" y="1022486"/>
            <a:ext cx="7315200" cy="4821259"/>
          </a:xfrm>
          <a:prstGeom prst="rect">
            <a:avLst/>
          </a:prstGeom>
        </p:spPr>
      </p:pic>
      <p:graphicFrame>
        <p:nvGraphicFramePr>
          <p:cNvPr id="5" name="Group 21">
            <a:extLst>
              <a:ext uri="{FF2B5EF4-FFF2-40B4-BE49-F238E27FC236}">
                <a16:creationId xmlns:a16="http://schemas.microsoft.com/office/drawing/2014/main" id="{07156FB8-8B65-4A94-88B1-A152044FBFCC}"/>
              </a:ext>
            </a:extLst>
          </p:cNvPr>
          <p:cNvGraphicFramePr>
            <a:graphicFrameLocks noGrp="1"/>
          </p:cNvGraphicFramePr>
          <p:nvPr>
            <p:extLst>
              <p:ext uri="{D42A27DB-BD31-4B8C-83A1-F6EECF244321}">
                <p14:modId xmlns:p14="http://schemas.microsoft.com/office/powerpoint/2010/main" val="3882442167"/>
              </p:ext>
            </p:extLst>
          </p:nvPr>
        </p:nvGraphicFramePr>
        <p:xfrm>
          <a:off x="3501664" y="1447060"/>
          <a:ext cx="1905000" cy="1554480"/>
        </p:xfrm>
        <a:graphic>
          <a:graphicData uri="http://schemas.openxmlformats.org/drawingml/2006/table">
            <a:tbl>
              <a:tblPr/>
              <a:tblGrid>
                <a:gridCol w="685800">
                  <a:extLst>
                    <a:ext uri="{9D8B030D-6E8A-4147-A177-3AD203B41FA5}">
                      <a16:colId xmlns:a16="http://schemas.microsoft.com/office/drawing/2014/main" val="1699783257"/>
                    </a:ext>
                  </a:extLst>
                </a:gridCol>
                <a:gridCol w="1219200">
                  <a:extLst>
                    <a:ext uri="{9D8B030D-6E8A-4147-A177-3AD203B41FA5}">
                      <a16:colId xmlns:a16="http://schemas.microsoft.com/office/drawing/2014/main" val="1710038622"/>
                    </a:ext>
                  </a:extLst>
                </a:gridCol>
              </a:tblGrid>
              <a:tr h="161925">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tabLst/>
                      </a:pPr>
                      <a:r>
                        <a:rPr kumimoji="0" lang="en-US" altLang="en-US" sz="1600" b="1" i="0" u="none" strike="noStrike" cap="none" normalizeH="0" baseline="0">
                          <a:ln>
                            <a:noFill/>
                          </a:ln>
                          <a:solidFill>
                            <a:schemeClr val="hlink"/>
                          </a:solidFill>
                          <a:effectLst/>
                          <a:latin typeface="Tahoma" panose="020B0604030504040204" pitchFamily="34" charset="0"/>
                        </a:rPr>
                        <a:t>Tid</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tabLst/>
                      </a:pPr>
                      <a:r>
                        <a:rPr kumimoji="0" lang="en-US" altLang="en-US" sz="1600" b="1" i="0" u="none" strike="noStrike" cap="none" normalizeH="0" baseline="0" dirty="0">
                          <a:ln>
                            <a:noFill/>
                          </a:ln>
                          <a:solidFill>
                            <a:schemeClr val="hlink"/>
                          </a:solidFill>
                          <a:effectLst/>
                          <a:latin typeface="Tahoma" panose="020B0604030504040204" pitchFamily="34" charset="0"/>
                        </a:rPr>
                        <a:t>Items</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452640363"/>
                  </a:ext>
                </a:extLst>
              </a:tr>
              <a:tr h="163513">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10</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A, C, D</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090049329"/>
                  </a:ext>
                </a:extLst>
              </a:tr>
              <a:tr h="161925">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20</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B, C, E</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186453008"/>
                  </a:ext>
                </a:extLst>
              </a:tr>
              <a:tr h="163513">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30</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A, B, C, E</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990087190"/>
                  </a:ext>
                </a:extLst>
              </a:tr>
              <a:tr h="161925">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40</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dirty="0">
                          <a:ln>
                            <a:noFill/>
                          </a:ln>
                          <a:solidFill>
                            <a:schemeClr val="tx1"/>
                          </a:solidFill>
                          <a:effectLst/>
                          <a:latin typeface="Tahoma" panose="020B0604030504040204" pitchFamily="34" charset="0"/>
                        </a:rPr>
                        <a:t>B, E</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077642555"/>
                  </a:ext>
                </a:extLst>
              </a:tr>
            </a:tbl>
          </a:graphicData>
        </a:graphic>
      </p:graphicFrame>
    </p:spTree>
    <p:extLst>
      <p:ext uri="{BB962C8B-B14F-4D97-AF65-F5344CB8AC3E}">
        <p14:creationId xmlns:p14="http://schemas.microsoft.com/office/powerpoint/2010/main" val="2408111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3E5A030A-D3DA-4038-9FFA-AC05766E9A9E}"/>
                  </a:ext>
                </a:extLst>
              </p14:cNvPr>
              <p14:cNvContentPartPr/>
              <p14:nvPr/>
            </p14:nvContentPartPr>
            <p14:xfrm>
              <a:off x="1270080" y="755640"/>
              <a:ext cx="6280560" cy="4667760"/>
            </p14:xfrm>
          </p:contentPart>
        </mc:Choice>
        <mc:Fallback xmlns="">
          <p:pic>
            <p:nvPicPr>
              <p:cNvPr id="2" name="Ink 1">
                <a:extLst>
                  <a:ext uri="{FF2B5EF4-FFF2-40B4-BE49-F238E27FC236}">
                    <a16:creationId xmlns:a16="http://schemas.microsoft.com/office/drawing/2014/main" id="{3E5A030A-D3DA-4038-9FFA-AC05766E9A9E}"/>
                  </a:ext>
                </a:extLst>
              </p:cNvPr>
              <p:cNvPicPr/>
              <p:nvPr/>
            </p:nvPicPr>
            <p:blipFill>
              <a:blip r:embed="rId3"/>
              <a:stretch>
                <a:fillRect/>
              </a:stretch>
            </p:blipFill>
            <p:spPr>
              <a:xfrm>
                <a:off x="1260720" y="746280"/>
                <a:ext cx="6299280" cy="4686480"/>
              </a:xfrm>
              <a:prstGeom prst="rect">
                <a:avLst/>
              </a:prstGeom>
            </p:spPr>
          </p:pic>
        </mc:Fallback>
      </mc:AlternateContent>
    </p:spTree>
    <p:extLst>
      <p:ext uri="{BB962C8B-B14F-4D97-AF65-F5344CB8AC3E}">
        <p14:creationId xmlns:p14="http://schemas.microsoft.com/office/powerpoint/2010/main" val="1603042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1D1AC-7A25-441B-9DC3-E9AC4F1E42BE}"/>
              </a:ext>
            </a:extLst>
          </p:cNvPr>
          <p:cNvSpPr>
            <a:spLocks noGrp="1"/>
          </p:cNvSpPr>
          <p:nvPr>
            <p:ph type="title"/>
          </p:nvPr>
        </p:nvSpPr>
        <p:spPr/>
        <p:txBody>
          <a:bodyPr/>
          <a:lstStyle/>
          <a:p>
            <a:r>
              <a:rPr lang="en-US" dirty="0"/>
              <a:t>The </a:t>
            </a:r>
            <a:r>
              <a:rPr lang="en-US" dirty="0" err="1"/>
              <a:t>Apriori</a:t>
            </a:r>
            <a:r>
              <a:rPr lang="en-US"/>
              <a:t> Algorithm</a:t>
            </a:r>
            <a:endParaRPr lang="en-IN"/>
          </a:p>
        </p:txBody>
      </p:sp>
      <p:sp>
        <p:nvSpPr>
          <p:cNvPr id="4" name="Rectangle 3">
            <a:extLst>
              <a:ext uri="{FF2B5EF4-FFF2-40B4-BE49-F238E27FC236}">
                <a16:creationId xmlns:a16="http://schemas.microsoft.com/office/drawing/2014/main" id="{1B7A4E29-0E27-4689-8377-2FE1C70F52A9}"/>
              </a:ext>
            </a:extLst>
          </p:cNvPr>
          <p:cNvSpPr>
            <a:spLocks noGrp="1" noChangeArrowheads="1"/>
          </p:cNvSpPr>
          <p:nvPr>
            <p:ph idx="1"/>
          </p:nvPr>
        </p:nvSpPr>
        <p:spPr>
          <a:xfrm>
            <a:off x="3868738" y="967666"/>
            <a:ext cx="7315200" cy="5017209"/>
          </a:xfrm>
        </p:spPr>
        <p:txBody>
          <a:bodyPr/>
          <a:lstStyle/>
          <a:p>
            <a:pPr marL="0" indent="0" eaLnBrk="1" hangingPunct="1">
              <a:buNone/>
            </a:pPr>
            <a:r>
              <a:rPr lang="en-US" altLang="en-US" sz="2400" u="sng" dirty="0"/>
              <a:t>Pseudo-code</a:t>
            </a:r>
            <a:r>
              <a:rPr lang="en-US" altLang="en-US" sz="2400" dirty="0"/>
              <a:t>:</a:t>
            </a:r>
          </a:p>
          <a:p>
            <a:pPr lvl="2" eaLnBrk="1" hangingPunct="1">
              <a:spcBef>
                <a:spcPct val="0"/>
              </a:spcBef>
              <a:buFont typeface="Wingdings" panose="05000000000000000000" pitchFamily="2" charset="2"/>
              <a:buNone/>
            </a:pPr>
            <a:r>
              <a:rPr lang="en-US" altLang="en-US" i="1" dirty="0"/>
              <a:t>C</a:t>
            </a:r>
            <a:r>
              <a:rPr lang="en-US" altLang="en-US" i="1" baseline="-25000" dirty="0"/>
              <a:t>k</a:t>
            </a:r>
            <a:r>
              <a:rPr lang="en-US" altLang="en-US" dirty="0"/>
              <a:t>: Candidate itemset of size k</a:t>
            </a:r>
          </a:p>
          <a:p>
            <a:pPr lvl="2" eaLnBrk="1" hangingPunct="1">
              <a:spcBef>
                <a:spcPct val="0"/>
              </a:spcBef>
              <a:buFont typeface="Wingdings" panose="05000000000000000000" pitchFamily="2" charset="2"/>
              <a:buNone/>
            </a:pPr>
            <a:r>
              <a:rPr lang="en-US" altLang="en-US" i="1" dirty="0"/>
              <a:t>L</a:t>
            </a:r>
            <a:r>
              <a:rPr lang="en-US" altLang="en-US" i="1" baseline="-25000" dirty="0"/>
              <a:t>k</a:t>
            </a:r>
            <a:r>
              <a:rPr lang="en-US" altLang="en-US" dirty="0"/>
              <a:t> : frequent itemset of size k</a:t>
            </a:r>
          </a:p>
          <a:p>
            <a:pPr eaLnBrk="1" hangingPunct="1">
              <a:spcBef>
                <a:spcPct val="0"/>
              </a:spcBef>
              <a:buFont typeface="Wingdings" panose="05000000000000000000" pitchFamily="2" charset="2"/>
              <a:buNone/>
            </a:pPr>
            <a:endParaRPr lang="en-US" altLang="en-US" sz="1600" dirty="0"/>
          </a:p>
          <a:p>
            <a:pPr lvl="2" eaLnBrk="1" hangingPunct="1">
              <a:spcBef>
                <a:spcPct val="0"/>
              </a:spcBef>
              <a:buFont typeface="Wingdings" panose="05000000000000000000" pitchFamily="2" charset="2"/>
              <a:buNone/>
            </a:pPr>
            <a:r>
              <a:rPr lang="en-US" altLang="en-US" i="1" dirty="0"/>
              <a:t>L</a:t>
            </a:r>
            <a:r>
              <a:rPr lang="en-US" altLang="en-US" i="1" baseline="-25000" dirty="0"/>
              <a:t>1</a:t>
            </a:r>
            <a:r>
              <a:rPr lang="en-US" altLang="en-US" dirty="0"/>
              <a:t> = {frequent items};</a:t>
            </a:r>
          </a:p>
          <a:p>
            <a:pPr lvl="2" eaLnBrk="1" hangingPunct="1">
              <a:spcBef>
                <a:spcPct val="0"/>
              </a:spcBef>
              <a:buFont typeface="Wingdings" panose="05000000000000000000" pitchFamily="2" charset="2"/>
              <a:buNone/>
            </a:pPr>
            <a:r>
              <a:rPr lang="en-US" altLang="en-US" b="1" dirty="0">
                <a:solidFill>
                  <a:srgbClr val="F83F24"/>
                </a:solidFill>
              </a:rPr>
              <a:t>for</a:t>
            </a:r>
            <a:r>
              <a:rPr lang="en-US" altLang="en-US" b="1" dirty="0"/>
              <a:t> </a:t>
            </a:r>
            <a:r>
              <a:rPr lang="en-US" altLang="en-US" dirty="0"/>
              <a:t>(</a:t>
            </a:r>
            <a:r>
              <a:rPr lang="en-US" altLang="en-US" i="1" dirty="0"/>
              <a:t>k</a:t>
            </a:r>
            <a:r>
              <a:rPr lang="en-US" altLang="en-US" dirty="0"/>
              <a:t> = 1; </a:t>
            </a:r>
            <a:r>
              <a:rPr lang="en-US" altLang="en-US" i="1" dirty="0"/>
              <a:t>L</a:t>
            </a:r>
            <a:r>
              <a:rPr lang="en-US" altLang="en-US" i="1" baseline="-25000" dirty="0"/>
              <a:t>k</a:t>
            </a:r>
            <a:r>
              <a:rPr lang="en-US" altLang="en-US" dirty="0"/>
              <a:t> !=</a:t>
            </a:r>
            <a:r>
              <a:rPr lang="en-US" altLang="en-US" dirty="0">
                <a:sym typeface="Symbol" panose="05050102010706020507" pitchFamily="18" charset="2"/>
              </a:rPr>
              <a:t></a:t>
            </a:r>
            <a:r>
              <a:rPr lang="en-US" altLang="en-US" dirty="0"/>
              <a:t>; </a:t>
            </a:r>
            <a:r>
              <a:rPr lang="en-US" altLang="en-US" i="1" dirty="0"/>
              <a:t>k</a:t>
            </a:r>
            <a:r>
              <a:rPr lang="en-US" altLang="en-US" dirty="0"/>
              <a:t>++) </a:t>
            </a:r>
            <a:r>
              <a:rPr lang="en-US" altLang="en-US" b="1" dirty="0">
                <a:solidFill>
                  <a:srgbClr val="F83F24"/>
                </a:solidFill>
              </a:rPr>
              <a:t>do begin</a:t>
            </a:r>
            <a:endParaRPr lang="en-US" altLang="en-US" dirty="0"/>
          </a:p>
          <a:p>
            <a:pPr lvl="2" eaLnBrk="1" hangingPunct="1">
              <a:spcBef>
                <a:spcPct val="0"/>
              </a:spcBef>
              <a:buFont typeface="Wingdings" panose="05000000000000000000" pitchFamily="2" charset="2"/>
              <a:buNone/>
            </a:pPr>
            <a:r>
              <a:rPr lang="en-US" altLang="en-US" dirty="0"/>
              <a:t>     </a:t>
            </a:r>
            <a:r>
              <a:rPr lang="en-US" altLang="en-US" i="1" dirty="0"/>
              <a:t>C</a:t>
            </a:r>
            <a:r>
              <a:rPr lang="en-US" altLang="en-US" i="1" baseline="-25000" dirty="0"/>
              <a:t>k+1</a:t>
            </a:r>
            <a:r>
              <a:rPr lang="en-US" altLang="en-US" dirty="0"/>
              <a:t> = candidates generated from </a:t>
            </a:r>
            <a:r>
              <a:rPr lang="en-US" altLang="en-US" i="1" dirty="0"/>
              <a:t>L</a:t>
            </a:r>
            <a:r>
              <a:rPr lang="en-US" altLang="en-US" i="1" baseline="-25000" dirty="0"/>
              <a:t>k</a:t>
            </a:r>
            <a:r>
              <a:rPr lang="en-US" altLang="en-US" dirty="0"/>
              <a:t>;</a:t>
            </a:r>
          </a:p>
          <a:p>
            <a:pPr lvl="2" eaLnBrk="1" hangingPunct="1">
              <a:spcBef>
                <a:spcPct val="0"/>
              </a:spcBef>
              <a:buFont typeface="Wingdings" panose="05000000000000000000" pitchFamily="2" charset="2"/>
              <a:buNone/>
            </a:pPr>
            <a:r>
              <a:rPr lang="en-US" altLang="en-US" dirty="0"/>
              <a:t>    </a:t>
            </a:r>
            <a:r>
              <a:rPr lang="en-US" altLang="en-US" b="1" dirty="0">
                <a:solidFill>
                  <a:srgbClr val="F83F24"/>
                </a:solidFill>
              </a:rPr>
              <a:t>for each</a:t>
            </a:r>
            <a:r>
              <a:rPr lang="en-US" altLang="en-US" dirty="0"/>
              <a:t> transaction </a:t>
            </a:r>
            <a:r>
              <a:rPr lang="en-US" altLang="en-US" i="1" dirty="0"/>
              <a:t>t</a:t>
            </a:r>
            <a:r>
              <a:rPr lang="en-US" altLang="en-US" dirty="0"/>
              <a:t> in database do</a:t>
            </a:r>
          </a:p>
          <a:p>
            <a:pPr lvl="3" eaLnBrk="1" hangingPunct="1">
              <a:spcBef>
                <a:spcPct val="0"/>
              </a:spcBef>
              <a:buFont typeface="Wingdings" panose="05000000000000000000" pitchFamily="2" charset="2"/>
              <a:buNone/>
            </a:pPr>
            <a:r>
              <a:rPr lang="en-US" altLang="en-US" sz="3200" dirty="0"/>
              <a:t>       </a:t>
            </a:r>
            <a:r>
              <a:rPr lang="en-US" altLang="en-US" sz="2400" dirty="0"/>
              <a:t>increment the count of all candidates in </a:t>
            </a:r>
            <a:r>
              <a:rPr lang="en-US" altLang="en-US" sz="2400" i="1" dirty="0"/>
              <a:t>C</a:t>
            </a:r>
            <a:r>
              <a:rPr lang="en-US" altLang="en-US" sz="2400" i="1" baseline="-25000" dirty="0"/>
              <a:t>k+1</a:t>
            </a:r>
            <a:r>
              <a:rPr lang="en-US" altLang="en-US" sz="2400" dirty="0"/>
              <a:t>                            that are contained in </a:t>
            </a:r>
            <a:r>
              <a:rPr lang="en-US" altLang="en-US" sz="2400" i="1" dirty="0"/>
              <a:t>t</a:t>
            </a:r>
            <a:endParaRPr lang="en-US" altLang="en-US" sz="2400" dirty="0"/>
          </a:p>
          <a:p>
            <a:pPr lvl="2" eaLnBrk="1" hangingPunct="1">
              <a:spcBef>
                <a:spcPct val="0"/>
              </a:spcBef>
              <a:buFont typeface="Wingdings" panose="05000000000000000000" pitchFamily="2" charset="2"/>
              <a:buNone/>
            </a:pPr>
            <a:r>
              <a:rPr lang="en-US" altLang="en-US" dirty="0"/>
              <a:t>    </a:t>
            </a:r>
            <a:r>
              <a:rPr lang="en-US" altLang="en-US" i="1" dirty="0"/>
              <a:t>L</a:t>
            </a:r>
            <a:r>
              <a:rPr lang="en-US" altLang="en-US" i="1" baseline="-25000" dirty="0"/>
              <a:t>k+1</a:t>
            </a:r>
            <a:r>
              <a:rPr lang="en-US" altLang="en-US" dirty="0"/>
              <a:t>  = candidates in </a:t>
            </a:r>
            <a:r>
              <a:rPr lang="en-US" altLang="en-US" i="1" dirty="0"/>
              <a:t>C</a:t>
            </a:r>
            <a:r>
              <a:rPr lang="en-US" altLang="en-US" i="1" baseline="-25000" dirty="0"/>
              <a:t>k+1</a:t>
            </a:r>
            <a:r>
              <a:rPr lang="en-US" altLang="en-US" dirty="0"/>
              <a:t> with </a:t>
            </a:r>
            <a:r>
              <a:rPr lang="en-US" altLang="en-US" dirty="0" err="1"/>
              <a:t>min_support</a:t>
            </a:r>
            <a:endParaRPr lang="en-US" altLang="en-US" dirty="0"/>
          </a:p>
          <a:p>
            <a:pPr lvl="2" eaLnBrk="1" hangingPunct="1">
              <a:spcBef>
                <a:spcPct val="0"/>
              </a:spcBef>
              <a:buFont typeface="Wingdings" panose="05000000000000000000" pitchFamily="2" charset="2"/>
              <a:buNone/>
            </a:pPr>
            <a:r>
              <a:rPr lang="en-US" altLang="en-US" dirty="0"/>
              <a:t>   </a:t>
            </a:r>
            <a:r>
              <a:rPr lang="en-US" altLang="en-US" b="1" dirty="0">
                <a:solidFill>
                  <a:srgbClr val="F83F24"/>
                </a:solidFill>
              </a:rPr>
              <a:t> end</a:t>
            </a:r>
            <a:endParaRPr lang="en-US" altLang="en-US" dirty="0"/>
          </a:p>
          <a:p>
            <a:pPr lvl="2" eaLnBrk="1" hangingPunct="1">
              <a:spcBef>
                <a:spcPct val="0"/>
              </a:spcBef>
              <a:buFont typeface="Wingdings" panose="05000000000000000000" pitchFamily="2" charset="2"/>
              <a:buNone/>
            </a:pPr>
            <a:r>
              <a:rPr lang="en-US" altLang="en-US" b="1" dirty="0">
                <a:solidFill>
                  <a:srgbClr val="F83F24"/>
                </a:solidFill>
              </a:rPr>
              <a:t>return</a:t>
            </a:r>
            <a:r>
              <a:rPr lang="en-US" altLang="en-US" dirty="0"/>
              <a:t> </a:t>
            </a:r>
            <a:r>
              <a:rPr lang="en-US" altLang="en-US" dirty="0">
                <a:sym typeface="Symbol" panose="05050102010706020507" pitchFamily="18" charset="2"/>
              </a:rPr>
              <a:t></a:t>
            </a:r>
            <a:r>
              <a:rPr lang="en-US" altLang="en-US" i="1" baseline="-25000" dirty="0"/>
              <a:t>k</a:t>
            </a:r>
            <a:r>
              <a:rPr lang="en-US" altLang="en-US" dirty="0"/>
              <a:t> </a:t>
            </a:r>
            <a:r>
              <a:rPr lang="en-US" altLang="en-US" i="1" dirty="0"/>
              <a:t>L</a:t>
            </a:r>
            <a:r>
              <a:rPr lang="en-US" altLang="en-US" i="1" baseline="-25000" dirty="0"/>
              <a:t>k</a:t>
            </a:r>
            <a:r>
              <a:rPr lang="en-US" altLang="en-US" dirty="0"/>
              <a:t>;</a:t>
            </a:r>
          </a:p>
        </p:txBody>
      </p:sp>
    </p:spTree>
    <p:extLst>
      <p:ext uri="{BB962C8B-B14F-4D97-AF65-F5344CB8AC3E}">
        <p14:creationId xmlns:p14="http://schemas.microsoft.com/office/powerpoint/2010/main" val="2265249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AE0EC-5CC6-415D-8794-69C5DD58A0DC}"/>
              </a:ext>
            </a:extLst>
          </p:cNvPr>
          <p:cNvSpPr>
            <a:spLocks noGrp="1"/>
          </p:cNvSpPr>
          <p:nvPr>
            <p:ph type="title"/>
          </p:nvPr>
        </p:nvSpPr>
        <p:spPr/>
        <p:txBody>
          <a:bodyPr/>
          <a:lstStyle/>
          <a:p>
            <a:r>
              <a:rPr lang="en-US" altLang="en-US" dirty="0"/>
              <a:t>Important Details of </a:t>
            </a:r>
            <a:r>
              <a:rPr lang="en-US" altLang="en-US" dirty="0" err="1"/>
              <a:t>Apriori</a:t>
            </a:r>
            <a:endParaRPr lang="en-IN" dirty="0"/>
          </a:p>
        </p:txBody>
      </p:sp>
      <p:sp>
        <p:nvSpPr>
          <p:cNvPr id="3" name="Content Placeholder 2">
            <a:extLst>
              <a:ext uri="{FF2B5EF4-FFF2-40B4-BE49-F238E27FC236}">
                <a16:creationId xmlns:a16="http://schemas.microsoft.com/office/drawing/2014/main" id="{89820E60-DA5B-4F56-AF9A-43CF19537EFE}"/>
              </a:ext>
            </a:extLst>
          </p:cNvPr>
          <p:cNvSpPr>
            <a:spLocks noGrp="1"/>
          </p:cNvSpPr>
          <p:nvPr>
            <p:ph idx="1"/>
          </p:nvPr>
        </p:nvSpPr>
        <p:spPr/>
        <p:txBody>
          <a:bodyPr/>
          <a:lstStyle/>
          <a:p>
            <a:pPr eaLnBrk="1" hangingPunct="1">
              <a:lnSpc>
                <a:spcPct val="110000"/>
              </a:lnSpc>
            </a:pPr>
            <a:r>
              <a:rPr lang="en-US" altLang="en-US" sz="2000" dirty="0"/>
              <a:t>How to generate candidates?</a:t>
            </a:r>
          </a:p>
          <a:p>
            <a:pPr lvl="1" eaLnBrk="1" hangingPunct="1">
              <a:lnSpc>
                <a:spcPct val="110000"/>
              </a:lnSpc>
            </a:pPr>
            <a:r>
              <a:rPr lang="en-US" altLang="en-US" sz="2000" dirty="0"/>
              <a:t>Step 1: self-joining </a:t>
            </a:r>
            <a:r>
              <a:rPr lang="en-US" altLang="en-US" sz="2000" i="1" dirty="0"/>
              <a:t>L</a:t>
            </a:r>
            <a:r>
              <a:rPr lang="en-US" altLang="en-US" sz="2000" i="1" baseline="-25000" dirty="0"/>
              <a:t>k</a:t>
            </a:r>
          </a:p>
          <a:p>
            <a:pPr lvl="1" eaLnBrk="1" hangingPunct="1">
              <a:lnSpc>
                <a:spcPct val="110000"/>
              </a:lnSpc>
            </a:pPr>
            <a:r>
              <a:rPr lang="en-US" altLang="en-US" sz="2000" dirty="0"/>
              <a:t>Step 2: pruning</a:t>
            </a:r>
          </a:p>
          <a:p>
            <a:pPr eaLnBrk="1" hangingPunct="1">
              <a:lnSpc>
                <a:spcPct val="110000"/>
              </a:lnSpc>
            </a:pPr>
            <a:r>
              <a:rPr lang="en-US" altLang="en-US" sz="2000" dirty="0"/>
              <a:t>How to count supports of candidates?</a:t>
            </a:r>
          </a:p>
          <a:p>
            <a:pPr eaLnBrk="1" hangingPunct="1">
              <a:lnSpc>
                <a:spcPct val="110000"/>
              </a:lnSpc>
            </a:pPr>
            <a:r>
              <a:rPr lang="en-US" altLang="en-US" sz="2000" dirty="0"/>
              <a:t>Example of Candidate-generation</a:t>
            </a:r>
          </a:p>
          <a:p>
            <a:pPr lvl="1" eaLnBrk="1" hangingPunct="1">
              <a:lnSpc>
                <a:spcPct val="110000"/>
              </a:lnSpc>
            </a:pPr>
            <a:r>
              <a:rPr lang="en-US" altLang="en-US" sz="2000" i="1" dirty="0"/>
              <a:t>L</a:t>
            </a:r>
            <a:r>
              <a:rPr lang="en-US" altLang="en-US" sz="2000" i="1" baseline="-25000" dirty="0"/>
              <a:t>3</a:t>
            </a:r>
            <a:r>
              <a:rPr lang="en-US" altLang="en-US" sz="2000" i="1" dirty="0"/>
              <a:t>=</a:t>
            </a:r>
            <a:r>
              <a:rPr lang="en-US" altLang="en-US" sz="2000" dirty="0"/>
              <a:t>{</a:t>
            </a:r>
            <a:r>
              <a:rPr lang="en-US" altLang="en-US" sz="2000" i="1" dirty="0" err="1"/>
              <a:t>abc</a:t>
            </a:r>
            <a:r>
              <a:rPr lang="en-US" altLang="en-US" sz="2000" i="1" dirty="0"/>
              <a:t>, </a:t>
            </a:r>
            <a:r>
              <a:rPr lang="en-US" altLang="en-US" sz="2000" i="1" dirty="0" err="1"/>
              <a:t>abd</a:t>
            </a:r>
            <a:r>
              <a:rPr lang="en-US" altLang="en-US" sz="2000" i="1" dirty="0"/>
              <a:t>, </a:t>
            </a:r>
            <a:r>
              <a:rPr lang="en-US" altLang="en-US" sz="2000" i="1" dirty="0" err="1"/>
              <a:t>acd</a:t>
            </a:r>
            <a:r>
              <a:rPr lang="en-US" altLang="en-US" sz="2000" i="1" dirty="0"/>
              <a:t>, ace, </a:t>
            </a:r>
            <a:r>
              <a:rPr lang="en-US" altLang="en-US" sz="2000" i="1" dirty="0" err="1"/>
              <a:t>bcd</a:t>
            </a:r>
            <a:r>
              <a:rPr lang="en-US" altLang="en-US" sz="2000" dirty="0"/>
              <a:t>}</a:t>
            </a:r>
          </a:p>
          <a:p>
            <a:pPr lvl="1" eaLnBrk="1" hangingPunct="1">
              <a:lnSpc>
                <a:spcPct val="110000"/>
              </a:lnSpc>
            </a:pPr>
            <a:r>
              <a:rPr lang="en-US" altLang="en-US" sz="2000" dirty="0"/>
              <a:t>Self-joining: </a:t>
            </a:r>
            <a:r>
              <a:rPr lang="en-US" altLang="en-US" sz="2000" i="1" dirty="0"/>
              <a:t>L</a:t>
            </a:r>
            <a:r>
              <a:rPr lang="en-US" altLang="en-US" sz="2000" i="1" baseline="-25000" dirty="0"/>
              <a:t>3</a:t>
            </a:r>
            <a:r>
              <a:rPr lang="en-US" altLang="en-US" sz="2000" i="1" dirty="0"/>
              <a:t>*L</a:t>
            </a:r>
            <a:r>
              <a:rPr lang="en-US" altLang="en-US" sz="2000" i="1" baseline="-25000" dirty="0"/>
              <a:t>3</a:t>
            </a:r>
            <a:endParaRPr lang="en-US" altLang="en-US" sz="2000" i="1" dirty="0"/>
          </a:p>
          <a:p>
            <a:pPr lvl="2" eaLnBrk="1" hangingPunct="1">
              <a:lnSpc>
                <a:spcPct val="110000"/>
              </a:lnSpc>
            </a:pPr>
            <a:r>
              <a:rPr lang="en-US" altLang="en-US" sz="1800" i="1" dirty="0" err="1"/>
              <a:t>abcd</a:t>
            </a:r>
            <a:r>
              <a:rPr lang="en-US" altLang="en-US" sz="1800" i="1" dirty="0"/>
              <a:t> </a:t>
            </a:r>
            <a:r>
              <a:rPr lang="en-US" altLang="en-US" sz="1800" dirty="0"/>
              <a:t>from </a:t>
            </a:r>
            <a:r>
              <a:rPr lang="en-US" altLang="en-US" sz="1800" i="1" dirty="0" err="1"/>
              <a:t>abc</a:t>
            </a:r>
            <a:r>
              <a:rPr lang="en-US" altLang="en-US" sz="1800" dirty="0"/>
              <a:t> and </a:t>
            </a:r>
            <a:r>
              <a:rPr lang="en-US" altLang="en-US" sz="1800" i="1" dirty="0" err="1"/>
              <a:t>abd</a:t>
            </a:r>
            <a:endParaRPr lang="en-US" altLang="en-US" sz="1800" i="1" dirty="0"/>
          </a:p>
          <a:p>
            <a:pPr lvl="2" eaLnBrk="1" hangingPunct="1">
              <a:lnSpc>
                <a:spcPct val="110000"/>
              </a:lnSpc>
            </a:pPr>
            <a:r>
              <a:rPr lang="en-US" altLang="en-US" sz="1800" i="1" dirty="0" err="1"/>
              <a:t>acde</a:t>
            </a:r>
            <a:r>
              <a:rPr lang="en-US" altLang="en-US" sz="1800" dirty="0"/>
              <a:t> from </a:t>
            </a:r>
            <a:r>
              <a:rPr lang="en-US" altLang="en-US" sz="1800" i="1" dirty="0" err="1"/>
              <a:t>acd</a:t>
            </a:r>
            <a:r>
              <a:rPr lang="en-US" altLang="en-US" sz="1800" dirty="0"/>
              <a:t> and </a:t>
            </a:r>
            <a:r>
              <a:rPr lang="en-US" altLang="en-US" sz="1800" i="1" dirty="0"/>
              <a:t>ace</a:t>
            </a:r>
          </a:p>
          <a:p>
            <a:pPr lvl="1" eaLnBrk="1" hangingPunct="1">
              <a:lnSpc>
                <a:spcPct val="110000"/>
              </a:lnSpc>
            </a:pPr>
            <a:r>
              <a:rPr lang="en-US" altLang="en-US" sz="2000" dirty="0"/>
              <a:t>Pruning:</a:t>
            </a:r>
          </a:p>
          <a:p>
            <a:pPr lvl="2" eaLnBrk="1" hangingPunct="1">
              <a:lnSpc>
                <a:spcPct val="110000"/>
              </a:lnSpc>
            </a:pPr>
            <a:r>
              <a:rPr lang="en-US" altLang="en-US" sz="1800" i="1" dirty="0" err="1"/>
              <a:t>acde</a:t>
            </a:r>
            <a:r>
              <a:rPr lang="en-US" altLang="en-US" sz="1800" dirty="0"/>
              <a:t> is removed because </a:t>
            </a:r>
            <a:r>
              <a:rPr lang="en-US" altLang="en-US" sz="1800" i="1" dirty="0" err="1"/>
              <a:t>ade</a:t>
            </a:r>
            <a:r>
              <a:rPr lang="en-US" altLang="en-US" sz="1800" dirty="0"/>
              <a:t> is not in </a:t>
            </a:r>
            <a:r>
              <a:rPr lang="en-US" altLang="en-US" sz="1800" i="1" dirty="0"/>
              <a:t>L</a:t>
            </a:r>
            <a:r>
              <a:rPr lang="en-US" altLang="en-US" sz="1800" i="1" baseline="-25000" dirty="0"/>
              <a:t>3</a:t>
            </a:r>
          </a:p>
          <a:p>
            <a:pPr lvl="1" eaLnBrk="1" hangingPunct="1">
              <a:lnSpc>
                <a:spcPct val="110000"/>
              </a:lnSpc>
            </a:pPr>
            <a:r>
              <a:rPr lang="en-US" altLang="en-US" sz="2000" i="1" dirty="0"/>
              <a:t>C</a:t>
            </a:r>
            <a:r>
              <a:rPr lang="en-US" altLang="en-US" sz="2000" i="1" baseline="-25000" dirty="0"/>
              <a:t>4</a:t>
            </a:r>
            <a:r>
              <a:rPr lang="en-US" altLang="en-US" sz="2000" dirty="0"/>
              <a:t>={</a:t>
            </a:r>
            <a:r>
              <a:rPr lang="en-US" altLang="en-US" sz="2000" i="1" dirty="0" err="1"/>
              <a:t>abcd</a:t>
            </a:r>
            <a:r>
              <a:rPr lang="en-US" altLang="en-US" sz="2000" dirty="0"/>
              <a:t>}</a:t>
            </a:r>
          </a:p>
        </p:txBody>
      </p:sp>
    </p:spTree>
    <p:extLst>
      <p:ext uri="{BB962C8B-B14F-4D97-AF65-F5344CB8AC3E}">
        <p14:creationId xmlns:p14="http://schemas.microsoft.com/office/powerpoint/2010/main" val="596123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58958-71FD-4013-BB7B-E24B2C323388}"/>
              </a:ext>
            </a:extLst>
          </p:cNvPr>
          <p:cNvSpPr>
            <a:spLocks noGrp="1"/>
          </p:cNvSpPr>
          <p:nvPr>
            <p:ph type="title"/>
          </p:nvPr>
        </p:nvSpPr>
        <p:spPr/>
        <p:txBody>
          <a:bodyPr/>
          <a:lstStyle/>
          <a:p>
            <a:r>
              <a:rPr lang="en-US" altLang="en-US" sz="3600" dirty="0"/>
              <a:t>How to Count Supports of Candidates?</a:t>
            </a:r>
            <a:endParaRPr lang="en-IN" dirty="0"/>
          </a:p>
        </p:txBody>
      </p:sp>
      <p:sp>
        <p:nvSpPr>
          <p:cNvPr id="3" name="Content Placeholder 2">
            <a:extLst>
              <a:ext uri="{FF2B5EF4-FFF2-40B4-BE49-F238E27FC236}">
                <a16:creationId xmlns:a16="http://schemas.microsoft.com/office/drawing/2014/main" id="{B03FBF93-7874-4936-BA36-809A111965C3}"/>
              </a:ext>
            </a:extLst>
          </p:cNvPr>
          <p:cNvSpPr>
            <a:spLocks noGrp="1"/>
          </p:cNvSpPr>
          <p:nvPr>
            <p:ph idx="1"/>
          </p:nvPr>
        </p:nvSpPr>
        <p:spPr/>
        <p:txBody>
          <a:bodyPr/>
          <a:lstStyle/>
          <a:p>
            <a:pPr eaLnBrk="1" hangingPunct="1">
              <a:lnSpc>
                <a:spcPct val="110000"/>
              </a:lnSpc>
            </a:pPr>
            <a:r>
              <a:rPr lang="en-US" altLang="en-US" sz="2400" dirty="0"/>
              <a:t>Why counting supports of candidates a problem?</a:t>
            </a:r>
          </a:p>
          <a:p>
            <a:pPr lvl="1" eaLnBrk="1" hangingPunct="1">
              <a:lnSpc>
                <a:spcPct val="110000"/>
              </a:lnSpc>
            </a:pPr>
            <a:r>
              <a:rPr lang="en-US" altLang="en-US" sz="2400" dirty="0"/>
              <a:t>The total number of candidates can be very huge</a:t>
            </a:r>
          </a:p>
          <a:p>
            <a:pPr lvl="1" eaLnBrk="1" hangingPunct="1">
              <a:lnSpc>
                <a:spcPct val="110000"/>
              </a:lnSpc>
            </a:pPr>
            <a:r>
              <a:rPr lang="en-US" altLang="en-US" sz="2400" dirty="0"/>
              <a:t> One transaction may contain many candidates</a:t>
            </a:r>
          </a:p>
          <a:p>
            <a:pPr eaLnBrk="1" hangingPunct="1">
              <a:lnSpc>
                <a:spcPct val="110000"/>
              </a:lnSpc>
            </a:pPr>
            <a:r>
              <a:rPr lang="en-US" altLang="en-US" sz="2400" dirty="0"/>
              <a:t>Method:</a:t>
            </a:r>
          </a:p>
          <a:p>
            <a:pPr lvl="1" eaLnBrk="1" hangingPunct="1">
              <a:lnSpc>
                <a:spcPct val="110000"/>
              </a:lnSpc>
            </a:pPr>
            <a:r>
              <a:rPr lang="en-US" altLang="en-US" sz="2400" dirty="0"/>
              <a:t>Candidate </a:t>
            </a:r>
            <a:r>
              <a:rPr lang="en-US" altLang="en-US" sz="2400" dirty="0" err="1"/>
              <a:t>itemsets</a:t>
            </a:r>
            <a:r>
              <a:rPr lang="en-US" altLang="en-US" sz="2400" dirty="0"/>
              <a:t> are stored in a </a:t>
            </a:r>
            <a:r>
              <a:rPr lang="en-US" altLang="en-US" sz="2400" i="1" dirty="0">
                <a:solidFill>
                  <a:schemeClr val="hlink"/>
                </a:solidFill>
              </a:rPr>
              <a:t>hash-tree</a:t>
            </a:r>
          </a:p>
          <a:p>
            <a:pPr lvl="1" eaLnBrk="1" hangingPunct="1">
              <a:lnSpc>
                <a:spcPct val="110000"/>
              </a:lnSpc>
            </a:pPr>
            <a:r>
              <a:rPr lang="en-US" altLang="en-US" sz="2400" i="1" dirty="0">
                <a:solidFill>
                  <a:schemeClr val="hlink"/>
                </a:solidFill>
              </a:rPr>
              <a:t>Leaf </a:t>
            </a:r>
            <a:r>
              <a:rPr lang="en-US" altLang="en-US" sz="2400" dirty="0">
                <a:solidFill>
                  <a:schemeClr val="hlink"/>
                </a:solidFill>
              </a:rPr>
              <a:t>node </a:t>
            </a:r>
            <a:r>
              <a:rPr lang="en-US" altLang="en-US" sz="2400" dirty="0"/>
              <a:t>of hash-tree contains a list of </a:t>
            </a:r>
            <a:r>
              <a:rPr lang="en-US" altLang="en-US" sz="2400" dirty="0" err="1"/>
              <a:t>itemsets</a:t>
            </a:r>
            <a:r>
              <a:rPr lang="en-US" altLang="en-US" sz="2400" dirty="0"/>
              <a:t> and counts</a:t>
            </a:r>
          </a:p>
          <a:p>
            <a:pPr lvl="1" eaLnBrk="1" hangingPunct="1">
              <a:lnSpc>
                <a:spcPct val="110000"/>
              </a:lnSpc>
            </a:pPr>
            <a:r>
              <a:rPr lang="en-US" altLang="en-US" sz="2400" i="1" dirty="0">
                <a:solidFill>
                  <a:schemeClr val="hlink"/>
                </a:solidFill>
              </a:rPr>
              <a:t>Interior </a:t>
            </a:r>
            <a:r>
              <a:rPr lang="en-US" altLang="en-US" sz="2400" dirty="0">
                <a:solidFill>
                  <a:schemeClr val="hlink"/>
                </a:solidFill>
              </a:rPr>
              <a:t>node</a:t>
            </a:r>
            <a:r>
              <a:rPr lang="en-US" altLang="en-US" sz="2400" dirty="0"/>
              <a:t> contains a hash table</a:t>
            </a:r>
          </a:p>
          <a:p>
            <a:pPr lvl="1" eaLnBrk="1" hangingPunct="1">
              <a:lnSpc>
                <a:spcPct val="110000"/>
              </a:lnSpc>
            </a:pPr>
            <a:r>
              <a:rPr lang="en-US" altLang="en-US" sz="2400" i="1" dirty="0">
                <a:solidFill>
                  <a:schemeClr val="hlink"/>
                </a:solidFill>
              </a:rPr>
              <a:t>Subset function</a:t>
            </a:r>
            <a:r>
              <a:rPr lang="en-US" altLang="en-US" sz="2400" dirty="0"/>
              <a:t>: finds all the candidates contained in a transaction</a:t>
            </a:r>
            <a:endParaRPr lang="en-US" altLang="en-US" sz="2400" i="1" dirty="0"/>
          </a:p>
        </p:txBody>
      </p:sp>
    </p:spTree>
    <p:extLst>
      <p:ext uri="{BB962C8B-B14F-4D97-AF65-F5344CB8AC3E}">
        <p14:creationId xmlns:p14="http://schemas.microsoft.com/office/powerpoint/2010/main" val="1646012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90916-4128-4EBA-B469-7F82857BA74A}"/>
              </a:ext>
            </a:extLst>
          </p:cNvPr>
          <p:cNvSpPr>
            <a:spLocks noGrp="1"/>
          </p:cNvSpPr>
          <p:nvPr>
            <p:ph type="title"/>
          </p:nvPr>
        </p:nvSpPr>
        <p:spPr/>
        <p:txBody>
          <a:bodyPr/>
          <a:lstStyle/>
          <a:p>
            <a:r>
              <a:rPr lang="en-US" altLang="en-US" sz="3600" dirty="0"/>
              <a:t>Challenges of Frequent Pattern Mining</a:t>
            </a:r>
            <a:endParaRPr lang="en-IN" dirty="0"/>
          </a:p>
        </p:txBody>
      </p:sp>
      <p:sp>
        <p:nvSpPr>
          <p:cNvPr id="3" name="Content Placeholder 2">
            <a:extLst>
              <a:ext uri="{FF2B5EF4-FFF2-40B4-BE49-F238E27FC236}">
                <a16:creationId xmlns:a16="http://schemas.microsoft.com/office/drawing/2014/main" id="{C92E3992-7070-43CD-8A81-D2CCAF272471}"/>
              </a:ext>
            </a:extLst>
          </p:cNvPr>
          <p:cNvSpPr>
            <a:spLocks noGrp="1"/>
          </p:cNvSpPr>
          <p:nvPr>
            <p:ph idx="1"/>
          </p:nvPr>
        </p:nvSpPr>
        <p:spPr/>
        <p:txBody>
          <a:bodyPr/>
          <a:lstStyle/>
          <a:p>
            <a:pPr eaLnBrk="1" hangingPunct="1">
              <a:lnSpc>
                <a:spcPct val="130000"/>
              </a:lnSpc>
            </a:pPr>
            <a:r>
              <a:rPr lang="en-US" altLang="en-US" sz="2400" dirty="0"/>
              <a:t>Challenges</a:t>
            </a:r>
          </a:p>
          <a:p>
            <a:pPr lvl="1" eaLnBrk="1" hangingPunct="1">
              <a:lnSpc>
                <a:spcPct val="130000"/>
              </a:lnSpc>
            </a:pPr>
            <a:r>
              <a:rPr lang="en-US" altLang="en-US" sz="2400" dirty="0"/>
              <a:t>Multiple scans of transaction database</a:t>
            </a:r>
          </a:p>
          <a:p>
            <a:pPr lvl="1" eaLnBrk="1" hangingPunct="1">
              <a:lnSpc>
                <a:spcPct val="130000"/>
              </a:lnSpc>
            </a:pPr>
            <a:r>
              <a:rPr lang="en-US" altLang="en-US" sz="2400" dirty="0"/>
              <a:t>Huge number of candidates</a:t>
            </a:r>
          </a:p>
          <a:p>
            <a:pPr lvl="1" eaLnBrk="1" hangingPunct="1">
              <a:lnSpc>
                <a:spcPct val="130000"/>
              </a:lnSpc>
            </a:pPr>
            <a:r>
              <a:rPr lang="en-US" altLang="en-US" sz="2400" dirty="0"/>
              <a:t>Tedious workload of support counting for candidates</a:t>
            </a:r>
          </a:p>
          <a:p>
            <a:pPr eaLnBrk="1" hangingPunct="1">
              <a:lnSpc>
                <a:spcPct val="130000"/>
              </a:lnSpc>
            </a:pPr>
            <a:r>
              <a:rPr lang="en-US" altLang="en-US" sz="2400" dirty="0"/>
              <a:t>Improving </a:t>
            </a:r>
            <a:r>
              <a:rPr lang="en-US" altLang="en-US" sz="2400" dirty="0" err="1"/>
              <a:t>Apriori</a:t>
            </a:r>
            <a:r>
              <a:rPr lang="en-US" altLang="en-US" sz="2400" dirty="0"/>
              <a:t>: general ideas</a:t>
            </a:r>
          </a:p>
          <a:p>
            <a:pPr lvl="1" eaLnBrk="1" hangingPunct="1">
              <a:lnSpc>
                <a:spcPct val="130000"/>
              </a:lnSpc>
            </a:pPr>
            <a:r>
              <a:rPr lang="en-US" altLang="en-US" sz="2400" dirty="0"/>
              <a:t>Reduce passes of transaction database scans</a:t>
            </a:r>
          </a:p>
          <a:p>
            <a:pPr lvl="1" eaLnBrk="1" hangingPunct="1">
              <a:lnSpc>
                <a:spcPct val="130000"/>
              </a:lnSpc>
            </a:pPr>
            <a:r>
              <a:rPr lang="en-US" altLang="en-US" sz="2400" dirty="0"/>
              <a:t>Shrink number of candidates</a:t>
            </a:r>
          </a:p>
          <a:p>
            <a:pPr lvl="1" eaLnBrk="1" hangingPunct="1">
              <a:lnSpc>
                <a:spcPct val="130000"/>
              </a:lnSpc>
            </a:pPr>
            <a:r>
              <a:rPr lang="en-US" altLang="en-US" sz="2400" dirty="0"/>
              <a:t>Facilitate support counting of candidates</a:t>
            </a:r>
          </a:p>
        </p:txBody>
      </p:sp>
    </p:spTree>
    <p:extLst>
      <p:ext uri="{BB962C8B-B14F-4D97-AF65-F5344CB8AC3E}">
        <p14:creationId xmlns:p14="http://schemas.microsoft.com/office/powerpoint/2010/main" val="1561914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F8BAE-82C8-41E3-A858-97B0D3ED2D51}"/>
              </a:ext>
            </a:extLst>
          </p:cNvPr>
          <p:cNvSpPr>
            <a:spLocks noGrp="1"/>
          </p:cNvSpPr>
          <p:nvPr>
            <p:ph type="title"/>
          </p:nvPr>
        </p:nvSpPr>
        <p:spPr/>
        <p:txBody>
          <a:bodyPr/>
          <a:lstStyle/>
          <a:p>
            <a:r>
              <a:rPr lang="en-US" dirty="0" err="1"/>
              <a:t>Techiques</a:t>
            </a:r>
            <a:r>
              <a:rPr lang="en-US" dirty="0"/>
              <a:t> to improve efficiency of </a:t>
            </a:r>
            <a:r>
              <a:rPr lang="en-US" dirty="0" err="1"/>
              <a:t>Apriori</a:t>
            </a:r>
            <a:r>
              <a:rPr lang="en-US" dirty="0"/>
              <a:t> Algorithm</a:t>
            </a:r>
            <a:endParaRPr lang="en-IN" dirty="0"/>
          </a:p>
        </p:txBody>
      </p:sp>
      <p:sp>
        <p:nvSpPr>
          <p:cNvPr id="3" name="Content Placeholder 2">
            <a:extLst>
              <a:ext uri="{FF2B5EF4-FFF2-40B4-BE49-F238E27FC236}">
                <a16:creationId xmlns:a16="http://schemas.microsoft.com/office/drawing/2014/main" id="{B452E01A-FB25-42CB-BE6D-28533D2CDA04}"/>
              </a:ext>
            </a:extLst>
          </p:cNvPr>
          <p:cNvSpPr>
            <a:spLocks noGrp="1"/>
          </p:cNvSpPr>
          <p:nvPr>
            <p:ph idx="1"/>
          </p:nvPr>
        </p:nvSpPr>
        <p:spPr/>
        <p:txBody>
          <a:bodyPr/>
          <a:lstStyle/>
          <a:p>
            <a:r>
              <a:rPr lang="en-US" dirty="0"/>
              <a:t>Hash Based Technique</a:t>
            </a:r>
          </a:p>
          <a:p>
            <a:r>
              <a:rPr lang="en-US" dirty="0"/>
              <a:t>Transaction Reduction</a:t>
            </a:r>
          </a:p>
          <a:p>
            <a:r>
              <a:rPr lang="en-US" dirty="0"/>
              <a:t>Partitioning</a:t>
            </a:r>
          </a:p>
          <a:p>
            <a:r>
              <a:rPr lang="en-US" dirty="0"/>
              <a:t>Sampling</a:t>
            </a:r>
            <a:endParaRPr lang="en-IN" dirty="0"/>
          </a:p>
        </p:txBody>
      </p:sp>
    </p:spTree>
    <p:extLst>
      <p:ext uri="{BB962C8B-B14F-4D97-AF65-F5344CB8AC3E}">
        <p14:creationId xmlns:p14="http://schemas.microsoft.com/office/powerpoint/2010/main" val="32492502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356F0-AAD9-4C59-8E8F-13943C3D9ED1}"/>
              </a:ext>
            </a:extLst>
          </p:cNvPr>
          <p:cNvSpPr>
            <a:spLocks noGrp="1"/>
          </p:cNvSpPr>
          <p:nvPr>
            <p:ph type="title"/>
          </p:nvPr>
        </p:nvSpPr>
        <p:spPr/>
        <p:txBody>
          <a:bodyPr/>
          <a:lstStyle/>
          <a:p>
            <a:r>
              <a:rPr lang="en-US" dirty="0"/>
              <a:t>Hash Based Technique</a:t>
            </a:r>
          </a:p>
        </p:txBody>
      </p:sp>
      <p:sp>
        <p:nvSpPr>
          <p:cNvPr id="3" name="Content Placeholder 2">
            <a:extLst>
              <a:ext uri="{FF2B5EF4-FFF2-40B4-BE49-F238E27FC236}">
                <a16:creationId xmlns:a16="http://schemas.microsoft.com/office/drawing/2014/main" id="{A604207D-6CFE-4A47-BF9D-240FEAAD7FE4}"/>
              </a:ext>
            </a:extLst>
          </p:cNvPr>
          <p:cNvSpPr>
            <a:spLocks noGrp="1"/>
          </p:cNvSpPr>
          <p:nvPr>
            <p:ph idx="1"/>
          </p:nvPr>
        </p:nvSpPr>
        <p:spPr/>
        <p:txBody>
          <a:bodyPr/>
          <a:lstStyle/>
          <a:p>
            <a:r>
              <a:rPr lang="en-US" dirty="0"/>
              <a:t>A hash-based technique can be used to decrease the size of the candidate k-</a:t>
            </a:r>
            <a:r>
              <a:rPr lang="en-US" dirty="0" err="1"/>
              <a:t>itemsets</a:t>
            </a:r>
            <a:r>
              <a:rPr lang="en-US" dirty="0"/>
              <a:t>, Ck, for k &gt; 1</a:t>
            </a:r>
          </a:p>
          <a:p>
            <a:r>
              <a:rPr lang="en-US" dirty="0"/>
              <a:t>For instance, when scanning each transaction in the database to create the frequent 1-itemsets,L1, from the candidate 1-itemsets in C1, it can make some 2-itemsets for each transaction, hash (i.e., map) them into the several buckets of a hash table structure, and increase the equivalent bucket counts.</a:t>
            </a:r>
            <a:endParaRPr lang="en-IN" dirty="0"/>
          </a:p>
        </p:txBody>
      </p:sp>
    </p:spTree>
    <p:extLst>
      <p:ext uri="{BB962C8B-B14F-4D97-AF65-F5344CB8AC3E}">
        <p14:creationId xmlns:p14="http://schemas.microsoft.com/office/powerpoint/2010/main" val="1195702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C69F-846E-477A-B96E-41B6E712B9FF}"/>
              </a:ext>
            </a:extLst>
          </p:cNvPr>
          <p:cNvSpPr>
            <a:spLocks noGrp="1"/>
          </p:cNvSpPr>
          <p:nvPr>
            <p:ph type="title"/>
          </p:nvPr>
        </p:nvSpPr>
        <p:spPr/>
        <p:txBody>
          <a:bodyPr/>
          <a:lstStyle/>
          <a:p>
            <a:r>
              <a:rPr lang="en-US" dirty="0"/>
              <a:t>Hash Based Technique Example</a:t>
            </a:r>
            <a:endParaRPr lang="en-IN" dirty="0"/>
          </a:p>
        </p:txBody>
      </p:sp>
      <p:pic>
        <p:nvPicPr>
          <p:cNvPr id="5" name="Content Placeholder 4">
            <a:extLst>
              <a:ext uri="{FF2B5EF4-FFF2-40B4-BE49-F238E27FC236}">
                <a16:creationId xmlns:a16="http://schemas.microsoft.com/office/drawing/2014/main" id="{0F02EF1B-990E-4FC2-8D33-AC984DA46304}"/>
              </a:ext>
            </a:extLst>
          </p:cNvPr>
          <p:cNvPicPr>
            <a:picLocks noGrp="1" noChangeAspect="1"/>
          </p:cNvPicPr>
          <p:nvPr>
            <p:ph idx="1"/>
          </p:nvPr>
        </p:nvPicPr>
        <p:blipFill>
          <a:blip r:embed="rId2"/>
          <a:stretch>
            <a:fillRect/>
          </a:stretch>
        </p:blipFill>
        <p:spPr>
          <a:xfrm>
            <a:off x="3972385" y="863600"/>
            <a:ext cx="7107906" cy="5121275"/>
          </a:xfrm>
        </p:spPr>
      </p:pic>
    </p:spTree>
    <p:extLst>
      <p:ext uri="{BB962C8B-B14F-4D97-AF65-F5344CB8AC3E}">
        <p14:creationId xmlns:p14="http://schemas.microsoft.com/office/powerpoint/2010/main" val="3236902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5B39D-34D6-4BBA-B8B4-99475FD5FFCA}"/>
              </a:ext>
            </a:extLst>
          </p:cNvPr>
          <p:cNvSpPr>
            <a:spLocks noGrp="1"/>
          </p:cNvSpPr>
          <p:nvPr>
            <p:ph type="title"/>
          </p:nvPr>
        </p:nvSpPr>
        <p:spPr/>
        <p:txBody>
          <a:bodyPr/>
          <a:lstStyle/>
          <a:p>
            <a:r>
              <a:rPr lang="en-US" dirty="0"/>
              <a:t>Hash Based Technique Example</a:t>
            </a:r>
            <a:endParaRPr lang="en-IN" dirty="0"/>
          </a:p>
        </p:txBody>
      </p:sp>
      <p:pic>
        <p:nvPicPr>
          <p:cNvPr id="9" name="Picture 8">
            <a:extLst>
              <a:ext uri="{FF2B5EF4-FFF2-40B4-BE49-F238E27FC236}">
                <a16:creationId xmlns:a16="http://schemas.microsoft.com/office/drawing/2014/main" id="{D6401505-AA1C-49B9-9907-11FF428A4559}"/>
              </a:ext>
            </a:extLst>
          </p:cNvPr>
          <p:cNvPicPr>
            <a:picLocks noChangeAspect="1"/>
          </p:cNvPicPr>
          <p:nvPr/>
        </p:nvPicPr>
        <p:blipFill>
          <a:blip r:embed="rId2"/>
          <a:stretch>
            <a:fillRect/>
          </a:stretch>
        </p:blipFill>
        <p:spPr>
          <a:xfrm>
            <a:off x="3548432" y="1401008"/>
            <a:ext cx="8220075" cy="3771900"/>
          </a:xfrm>
          <a:prstGeom prst="rect">
            <a:avLst/>
          </a:prstGeom>
        </p:spPr>
      </p:pic>
    </p:spTree>
    <p:extLst>
      <p:ext uri="{BB962C8B-B14F-4D97-AF65-F5344CB8AC3E}">
        <p14:creationId xmlns:p14="http://schemas.microsoft.com/office/powerpoint/2010/main" val="1154816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C98BB-BA8D-4D8F-9916-AE05DD96A03C}"/>
              </a:ext>
            </a:extLst>
          </p:cNvPr>
          <p:cNvSpPr>
            <a:spLocks noGrp="1"/>
          </p:cNvSpPr>
          <p:nvPr>
            <p:ph type="title"/>
          </p:nvPr>
        </p:nvSpPr>
        <p:spPr/>
        <p:txBody>
          <a:bodyPr/>
          <a:lstStyle/>
          <a:p>
            <a:r>
              <a:rPr lang="en-US" dirty="0"/>
              <a:t>Transaction Reduction</a:t>
            </a:r>
            <a:endParaRPr lang="en-IN" dirty="0"/>
          </a:p>
        </p:txBody>
      </p:sp>
      <p:sp>
        <p:nvSpPr>
          <p:cNvPr id="3" name="Content Placeholder 2">
            <a:extLst>
              <a:ext uri="{FF2B5EF4-FFF2-40B4-BE49-F238E27FC236}">
                <a16:creationId xmlns:a16="http://schemas.microsoft.com/office/drawing/2014/main" id="{42FCFE7B-352F-4A16-A1B8-964731F51D01}"/>
              </a:ext>
            </a:extLst>
          </p:cNvPr>
          <p:cNvSpPr>
            <a:spLocks noGrp="1"/>
          </p:cNvSpPr>
          <p:nvPr>
            <p:ph idx="1"/>
          </p:nvPr>
        </p:nvSpPr>
        <p:spPr/>
        <p:txBody>
          <a:bodyPr/>
          <a:lstStyle/>
          <a:p>
            <a:r>
              <a:rPr lang="en-US" dirty="0"/>
              <a:t>A transaction that does not include some frequent k-</a:t>
            </a:r>
            <a:r>
              <a:rPr lang="en-US" dirty="0" err="1"/>
              <a:t>itemsets</a:t>
            </a:r>
            <a:r>
              <a:rPr lang="en-US" dirty="0"/>
              <a:t> cannot include some frequent (k + 1)-</a:t>
            </a:r>
            <a:r>
              <a:rPr lang="en-US" dirty="0" err="1"/>
              <a:t>itemsets</a:t>
            </a:r>
            <a:r>
              <a:rPr lang="en-US" dirty="0"/>
              <a:t>.</a:t>
            </a:r>
          </a:p>
          <a:p>
            <a:r>
              <a:rPr lang="en-US" dirty="0"/>
              <a:t>Thus, such a transaction can be marked or deleted from further consideration because subsequent scans of the database for j-</a:t>
            </a:r>
            <a:r>
              <a:rPr lang="en-US" dirty="0" err="1"/>
              <a:t>itemsets</a:t>
            </a:r>
            <a:r>
              <a:rPr lang="en-US" dirty="0"/>
              <a:t>, where j &gt; k, will not need it.</a:t>
            </a:r>
            <a:endParaRPr lang="en-IN" dirty="0"/>
          </a:p>
        </p:txBody>
      </p:sp>
    </p:spTree>
    <p:extLst>
      <p:ext uri="{BB962C8B-B14F-4D97-AF65-F5344CB8AC3E}">
        <p14:creationId xmlns:p14="http://schemas.microsoft.com/office/powerpoint/2010/main" val="41803259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2B482-0372-4C98-825C-87CD68A1C9A8}"/>
              </a:ext>
            </a:extLst>
          </p:cNvPr>
          <p:cNvSpPr>
            <a:spLocks noGrp="1"/>
          </p:cNvSpPr>
          <p:nvPr>
            <p:ph type="title"/>
          </p:nvPr>
        </p:nvSpPr>
        <p:spPr/>
        <p:txBody>
          <a:bodyPr/>
          <a:lstStyle/>
          <a:p>
            <a:r>
              <a:rPr lang="en-US" dirty="0"/>
              <a:t>Transaction Reduction Example</a:t>
            </a:r>
            <a:endParaRPr lang="en-IN" dirty="0"/>
          </a:p>
        </p:txBody>
      </p:sp>
      <p:pic>
        <p:nvPicPr>
          <p:cNvPr id="5" name="Content Placeholder 4">
            <a:extLst>
              <a:ext uri="{FF2B5EF4-FFF2-40B4-BE49-F238E27FC236}">
                <a16:creationId xmlns:a16="http://schemas.microsoft.com/office/drawing/2014/main" id="{5D17A87B-4353-4F63-9E18-205FE56EFC8B}"/>
              </a:ext>
            </a:extLst>
          </p:cNvPr>
          <p:cNvPicPr>
            <a:picLocks noGrp="1" noChangeAspect="1"/>
          </p:cNvPicPr>
          <p:nvPr>
            <p:ph idx="1"/>
          </p:nvPr>
        </p:nvPicPr>
        <p:blipFill>
          <a:blip r:embed="rId2"/>
          <a:stretch>
            <a:fillRect/>
          </a:stretch>
        </p:blipFill>
        <p:spPr>
          <a:xfrm>
            <a:off x="3868738" y="1171605"/>
            <a:ext cx="7315200" cy="4505264"/>
          </a:xfrm>
        </p:spPr>
      </p:pic>
    </p:spTree>
    <p:extLst>
      <p:ext uri="{BB962C8B-B14F-4D97-AF65-F5344CB8AC3E}">
        <p14:creationId xmlns:p14="http://schemas.microsoft.com/office/powerpoint/2010/main" val="3585674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45355-AC5B-4ECC-AFA8-C07A16C7A056}"/>
              </a:ext>
            </a:extLst>
          </p:cNvPr>
          <p:cNvSpPr>
            <a:spLocks noGrp="1"/>
          </p:cNvSpPr>
          <p:nvPr>
            <p:ph type="title"/>
          </p:nvPr>
        </p:nvSpPr>
        <p:spPr/>
        <p:txBody>
          <a:bodyPr/>
          <a:lstStyle/>
          <a:p>
            <a:r>
              <a:rPr lang="en-US" dirty="0"/>
              <a:t>Transaction Reduction Example</a:t>
            </a:r>
            <a:endParaRPr lang="en-IN" dirty="0"/>
          </a:p>
        </p:txBody>
      </p:sp>
      <p:pic>
        <p:nvPicPr>
          <p:cNvPr id="5" name="Content Placeholder 4">
            <a:extLst>
              <a:ext uri="{FF2B5EF4-FFF2-40B4-BE49-F238E27FC236}">
                <a16:creationId xmlns:a16="http://schemas.microsoft.com/office/drawing/2014/main" id="{FAF24590-FEA1-474D-B473-67BF99CCBA59}"/>
              </a:ext>
            </a:extLst>
          </p:cNvPr>
          <p:cNvPicPr>
            <a:picLocks noGrp="1" noChangeAspect="1"/>
          </p:cNvPicPr>
          <p:nvPr>
            <p:ph idx="1"/>
          </p:nvPr>
        </p:nvPicPr>
        <p:blipFill>
          <a:blip r:embed="rId2"/>
          <a:stretch>
            <a:fillRect/>
          </a:stretch>
        </p:blipFill>
        <p:spPr>
          <a:xfrm>
            <a:off x="3868738" y="1301715"/>
            <a:ext cx="7315200" cy="4245045"/>
          </a:xfrm>
        </p:spPr>
      </p:pic>
    </p:spTree>
    <p:extLst>
      <p:ext uri="{BB962C8B-B14F-4D97-AF65-F5344CB8AC3E}">
        <p14:creationId xmlns:p14="http://schemas.microsoft.com/office/powerpoint/2010/main" val="332549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F27D7-2E6A-409C-82E9-FFC421D0F25F}"/>
              </a:ext>
            </a:extLst>
          </p:cNvPr>
          <p:cNvSpPr>
            <a:spLocks noGrp="1"/>
          </p:cNvSpPr>
          <p:nvPr>
            <p:ph type="title"/>
          </p:nvPr>
        </p:nvSpPr>
        <p:spPr/>
        <p:txBody>
          <a:bodyPr/>
          <a:lstStyle/>
          <a:p>
            <a:r>
              <a:rPr lang="en-US" dirty="0"/>
              <a:t>Partitioning Technique</a:t>
            </a:r>
            <a:endParaRPr lang="en-IN" dirty="0"/>
          </a:p>
        </p:txBody>
      </p:sp>
      <p:pic>
        <p:nvPicPr>
          <p:cNvPr id="5" name="Content Placeholder 4">
            <a:extLst>
              <a:ext uri="{FF2B5EF4-FFF2-40B4-BE49-F238E27FC236}">
                <a16:creationId xmlns:a16="http://schemas.microsoft.com/office/drawing/2014/main" id="{322EB654-7152-4050-A7AE-56AAB96C0B00}"/>
              </a:ext>
            </a:extLst>
          </p:cNvPr>
          <p:cNvPicPr>
            <a:picLocks noGrp="1" noChangeAspect="1"/>
          </p:cNvPicPr>
          <p:nvPr>
            <p:ph idx="1"/>
          </p:nvPr>
        </p:nvPicPr>
        <p:blipFill>
          <a:blip r:embed="rId2"/>
          <a:stretch>
            <a:fillRect/>
          </a:stretch>
        </p:blipFill>
        <p:spPr>
          <a:xfrm>
            <a:off x="4172502" y="3935583"/>
            <a:ext cx="5997460" cy="1813717"/>
          </a:xfrm>
        </p:spPr>
      </p:pic>
      <p:sp>
        <p:nvSpPr>
          <p:cNvPr id="7" name="TextBox 6">
            <a:extLst>
              <a:ext uri="{FF2B5EF4-FFF2-40B4-BE49-F238E27FC236}">
                <a16:creationId xmlns:a16="http://schemas.microsoft.com/office/drawing/2014/main" id="{A5FCF800-84FD-4B9A-B239-248190124DCD}"/>
              </a:ext>
            </a:extLst>
          </p:cNvPr>
          <p:cNvSpPr txBox="1"/>
          <p:nvPr/>
        </p:nvSpPr>
        <p:spPr>
          <a:xfrm>
            <a:off x="3821837" y="1225988"/>
            <a:ext cx="6098958" cy="2585323"/>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000000"/>
                </a:solidFill>
                <a:effectLst/>
                <a:latin typeface="Arial" panose="020B0604020202020204" pitchFamily="34" charset="0"/>
              </a:rPr>
              <a:t>A partitioning technique can be used that needed two database scans to mine the frequent </a:t>
            </a:r>
            <a:r>
              <a:rPr lang="en-US" b="0" i="0" dirty="0" err="1">
                <a:solidFill>
                  <a:srgbClr val="000000"/>
                </a:solidFill>
                <a:effectLst/>
                <a:latin typeface="Arial" panose="020B0604020202020204" pitchFamily="34" charset="0"/>
              </a:rPr>
              <a:t>itemsets</a:t>
            </a:r>
            <a:r>
              <a:rPr lang="en-US" b="0" i="0" dirty="0">
                <a:solidFill>
                  <a:srgbClr val="000000"/>
                </a:solidFill>
                <a:effectLst/>
                <a:latin typeface="Arial" panose="020B0604020202020204" pitchFamily="34" charset="0"/>
              </a:rPr>
              <a:t>.</a:t>
            </a:r>
          </a:p>
          <a:p>
            <a:pPr marL="285750" indent="-285750">
              <a:buFont typeface="Arial" panose="020B0604020202020204" pitchFamily="34" charset="0"/>
              <a:buChar char="•"/>
            </a:pPr>
            <a:r>
              <a:rPr lang="en-US" b="0" i="0" dirty="0">
                <a:solidFill>
                  <a:srgbClr val="000000"/>
                </a:solidFill>
                <a:effectLst/>
                <a:latin typeface="Arial" panose="020B0604020202020204" pitchFamily="34" charset="0"/>
              </a:rPr>
              <a:t>It includes two phases involving In Phase I, the algorithm subdivides the transactions of D into n non-overlapping partitions</a:t>
            </a:r>
            <a:endParaRPr lang="en-US" dirty="0">
              <a:solidFill>
                <a:srgbClr val="000000"/>
              </a:solidFill>
              <a:latin typeface="Arial" panose="020B0604020202020204" pitchFamily="34" charset="0"/>
            </a:endParaRPr>
          </a:p>
          <a:p>
            <a:pPr marL="285750" indent="-285750">
              <a:buFont typeface="Arial" panose="020B0604020202020204" pitchFamily="34" charset="0"/>
              <a:buChar char="•"/>
            </a:pPr>
            <a:r>
              <a:rPr lang="en-US" b="0" i="0" dirty="0">
                <a:solidFill>
                  <a:srgbClr val="000000"/>
                </a:solidFill>
                <a:effectLst/>
                <a:latin typeface="Arial" panose="020B0604020202020204" pitchFamily="34" charset="0"/>
              </a:rPr>
              <a:t>If the minimum support threshold for transactions in D is </a:t>
            </a:r>
            <a:r>
              <a:rPr lang="en-US" b="0" i="0" dirty="0" err="1">
                <a:solidFill>
                  <a:srgbClr val="000000"/>
                </a:solidFill>
                <a:effectLst/>
                <a:latin typeface="Arial" panose="020B0604020202020204" pitchFamily="34" charset="0"/>
              </a:rPr>
              <a:t>min_sup</a:t>
            </a:r>
            <a:r>
              <a:rPr lang="en-US" b="0" i="0" dirty="0">
                <a:solidFill>
                  <a:srgbClr val="000000"/>
                </a:solidFill>
                <a:effectLst/>
                <a:latin typeface="Arial" panose="020B0604020202020204" pitchFamily="34" charset="0"/>
              </a:rPr>
              <a:t>, therefore the minimum support count for a partition is </a:t>
            </a:r>
            <a:r>
              <a:rPr lang="en-US" b="0" i="0" dirty="0" err="1">
                <a:solidFill>
                  <a:srgbClr val="000000"/>
                </a:solidFill>
                <a:effectLst/>
                <a:latin typeface="Arial" panose="020B0604020202020204" pitchFamily="34" charset="0"/>
              </a:rPr>
              <a:t>min_sup</a:t>
            </a:r>
            <a:r>
              <a:rPr lang="en-US" b="0" i="0" dirty="0">
                <a:solidFill>
                  <a:srgbClr val="000000"/>
                </a:solidFill>
                <a:effectLst/>
                <a:latin typeface="Arial" panose="020B0604020202020204" pitchFamily="34" charset="0"/>
              </a:rPr>
              <a:t> × the number of transactions in that partition</a:t>
            </a:r>
            <a:endParaRPr lang="en-IN" dirty="0"/>
          </a:p>
        </p:txBody>
      </p:sp>
    </p:spTree>
    <p:extLst>
      <p:ext uri="{BB962C8B-B14F-4D97-AF65-F5344CB8AC3E}">
        <p14:creationId xmlns:p14="http://schemas.microsoft.com/office/powerpoint/2010/main" val="10410992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F27D7-2E6A-409C-82E9-FFC421D0F25F}"/>
              </a:ext>
            </a:extLst>
          </p:cNvPr>
          <p:cNvSpPr>
            <a:spLocks noGrp="1"/>
          </p:cNvSpPr>
          <p:nvPr>
            <p:ph type="title"/>
          </p:nvPr>
        </p:nvSpPr>
        <p:spPr/>
        <p:txBody>
          <a:bodyPr/>
          <a:lstStyle/>
          <a:p>
            <a:r>
              <a:rPr lang="en-US" dirty="0"/>
              <a:t>Partitioning Technique Example</a:t>
            </a:r>
            <a:endParaRPr lang="en-IN" dirty="0"/>
          </a:p>
        </p:txBody>
      </p:sp>
      <p:pic>
        <p:nvPicPr>
          <p:cNvPr id="5" name="Content Placeholder 4">
            <a:extLst>
              <a:ext uri="{FF2B5EF4-FFF2-40B4-BE49-F238E27FC236}">
                <a16:creationId xmlns:a16="http://schemas.microsoft.com/office/drawing/2014/main" id="{7A0EC27D-153C-4492-8569-D14F68CE31F8}"/>
              </a:ext>
            </a:extLst>
          </p:cNvPr>
          <p:cNvPicPr>
            <a:picLocks noGrp="1" noChangeAspect="1"/>
          </p:cNvPicPr>
          <p:nvPr>
            <p:ph idx="1"/>
          </p:nvPr>
        </p:nvPicPr>
        <p:blipFill>
          <a:blip r:embed="rId2"/>
          <a:stretch>
            <a:fillRect/>
          </a:stretch>
        </p:blipFill>
        <p:spPr>
          <a:xfrm>
            <a:off x="3932808" y="1562470"/>
            <a:ext cx="6569398" cy="3551068"/>
          </a:xfrm>
        </p:spPr>
      </p:pic>
    </p:spTree>
    <p:extLst>
      <p:ext uri="{BB962C8B-B14F-4D97-AF65-F5344CB8AC3E}">
        <p14:creationId xmlns:p14="http://schemas.microsoft.com/office/powerpoint/2010/main" val="26482113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F27D7-2E6A-409C-82E9-FFC421D0F25F}"/>
              </a:ext>
            </a:extLst>
          </p:cNvPr>
          <p:cNvSpPr>
            <a:spLocks noGrp="1"/>
          </p:cNvSpPr>
          <p:nvPr>
            <p:ph type="title"/>
          </p:nvPr>
        </p:nvSpPr>
        <p:spPr/>
        <p:txBody>
          <a:bodyPr/>
          <a:lstStyle/>
          <a:p>
            <a:r>
              <a:rPr lang="en-US" dirty="0"/>
              <a:t>Partitioning Technique Example</a:t>
            </a:r>
            <a:endParaRPr lang="en-IN" dirty="0"/>
          </a:p>
        </p:txBody>
      </p:sp>
      <p:pic>
        <p:nvPicPr>
          <p:cNvPr id="5" name="Content Placeholder 4">
            <a:extLst>
              <a:ext uri="{FF2B5EF4-FFF2-40B4-BE49-F238E27FC236}">
                <a16:creationId xmlns:a16="http://schemas.microsoft.com/office/drawing/2014/main" id="{F64F6B02-0E8E-4371-B311-3D2F9F8BA14D}"/>
              </a:ext>
            </a:extLst>
          </p:cNvPr>
          <p:cNvPicPr>
            <a:picLocks noGrp="1" noChangeAspect="1"/>
          </p:cNvPicPr>
          <p:nvPr>
            <p:ph idx="1"/>
          </p:nvPr>
        </p:nvPicPr>
        <p:blipFill>
          <a:blip r:embed="rId2"/>
          <a:stretch>
            <a:fillRect/>
          </a:stretch>
        </p:blipFill>
        <p:spPr>
          <a:xfrm>
            <a:off x="4035425" y="1238250"/>
            <a:ext cx="6981825" cy="4371975"/>
          </a:xfrm>
        </p:spPr>
      </p:pic>
    </p:spTree>
    <p:extLst>
      <p:ext uri="{BB962C8B-B14F-4D97-AF65-F5344CB8AC3E}">
        <p14:creationId xmlns:p14="http://schemas.microsoft.com/office/powerpoint/2010/main" val="2123657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EBEA9-7CD8-4626-8830-A960FA770FA9}"/>
              </a:ext>
            </a:extLst>
          </p:cNvPr>
          <p:cNvSpPr>
            <a:spLocks noGrp="1"/>
          </p:cNvSpPr>
          <p:nvPr>
            <p:ph type="title"/>
          </p:nvPr>
        </p:nvSpPr>
        <p:spPr/>
        <p:txBody>
          <a:bodyPr/>
          <a:lstStyle/>
          <a:p>
            <a:r>
              <a:rPr lang="en-US" altLang="en-US" sz="3600" dirty="0"/>
              <a:t>Mining Frequent Patterns With FP-trees</a:t>
            </a:r>
            <a:endParaRPr lang="en-IN" dirty="0"/>
          </a:p>
        </p:txBody>
      </p:sp>
      <p:sp>
        <p:nvSpPr>
          <p:cNvPr id="3" name="Content Placeholder 2">
            <a:extLst>
              <a:ext uri="{FF2B5EF4-FFF2-40B4-BE49-F238E27FC236}">
                <a16:creationId xmlns:a16="http://schemas.microsoft.com/office/drawing/2014/main" id="{85AAACBD-CF2C-4CE8-A704-2B336760BCE0}"/>
              </a:ext>
            </a:extLst>
          </p:cNvPr>
          <p:cNvSpPr>
            <a:spLocks noGrp="1"/>
          </p:cNvSpPr>
          <p:nvPr>
            <p:ph idx="1"/>
          </p:nvPr>
        </p:nvSpPr>
        <p:spPr/>
        <p:txBody>
          <a:bodyPr/>
          <a:lstStyle/>
          <a:p>
            <a:pPr eaLnBrk="1" hangingPunct="1"/>
            <a:r>
              <a:rPr lang="en-US" altLang="en-US" sz="2400" dirty="0"/>
              <a:t>Idea: Frequent pattern growth</a:t>
            </a:r>
          </a:p>
          <a:p>
            <a:pPr lvl="1" eaLnBrk="1" hangingPunct="1"/>
            <a:r>
              <a:rPr lang="en-US" altLang="en-US" sz="2400" dirty="0"/>
              <a:t>Recursively grow frequent patterns by pattern and database partition</a:t>
            </a:r>
          </a:p>
          <a:p>
            <a:pPr eaLnBrk="1" hangingPunct="1"/>
            <a:r>
              <a:rPr lang="en-US" altLang="en-US" sz="2400" dirty="0"/>
              <a:t>Method </a:t>
            </a:r>
          </a:p>
          <a:p>
            <a:pPr lvl="1" eaLnBrk="1" hangingPunct="1"/>
            <a:r>
              <a:rPr lang="en-US" altLang="en-US" sz="2400" dirty="0"/>
              <a:t>For each frequent item, construct its conditional pattern-base, and then its conditional FP-tree</a:t>
            </a:r>
          </a:p>
          <a:p>
            <a:pPr lvl="1" eaLnBrk="1" hangingPunct="1"/>
            <a:r>
              <a:rPr lang="en-US" altLang="en-US" sz="2400" dirty="0"/>
              <a:t>Repeat the process on each newly created conditional FP-tree </a:t>
            </a:r>
          </a:p>
          <a:p>
            <a:pPr lvl="1" eaLnBrk="1" hangingPunct="1"/>
            <a:r>
              <a:rPr lang="en-US" altLang="en-US" sz="2400" dirty="0"/>
              <a:t>Until the resulting FP-tree is empty, or it contains only one path—single path will generate all the combinations of its sub-paths, each of which is a frequent pattern</a:t>
            </a:r>
          </a:p>
        </p:txBody>
      </p:sp>
    </p:spTree>
    <p:extLst>
      <p:ext uri="{BB962C8B-B14F-4D97-AF65-F5344CB8AC3E}">
        <p14:creationId xmlns:p14="http://schemas.microsoft.com/office/powerpoint/2010/main" val="22014307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96646-021B-41A2-9714-F3749BDDCB03}"/>
              </a:ext>
            </a:extLst>
          </p:cNvPr>
          <p:cNvSpPr>
            <a:spLocks noGrp="1"/>
          </p:cNvSpPr>
          <p:nvPr>
            <p:ph type="title"/>
          </p:nvPr>
        </p:nvSpPr>
        <p:spPr/>
        <p:txBody>
          <a:bodyPr/>
          <a:lstStyle/>
          <a:p>
            <a:r>
              <a:rPr lang="en-US" dirty="0"/>
              <a:t>Sampling</a:t>
            </a:r>
            <a:endParaRPr lang="en-IN" dirty="0"/>
          </a:p>
        </p:txBody>
      </p:sp>
      <p:sp>
        <p:nvSpPr>
          <p:cNvPr id="3" name="Content Placeholder 2">
            <a:extLst>
              <a:ext uri="{FF2B5EF4-FFF2-40B4-BE49-F238E27FC236}">
                <a16:creationId xmlns:a16="http://schemas.microsoft.com/office/drawing/2014/main" id="{36AD54F8-791F-431E-9918-8206887A1177}"/>
              </a:ext>
            </a:extLst>
          </p:cNvPr>
          <p:cNvSpPr>
            <a:spLocks noGrp="1"/>
          </p:cNvSpPr>
          <p:nvPr>
            <p:ph idx="1"/>
          </p:nvPr>
        </p:nvSpPr>
        <p:spPr/>
        <p:txBody>
          <a:bodyPr/>
          <a:lstStyle/>
          <a:p>
            <a:r>
              <a:rPr lang="en-US" dirty="0"/>
              <a:t>The fundamental idea of the sampling approach is to select a random sample S of the given data D, and then search for frequent </a:t>
            </a:r>
            <a:r>
              <a:rPr lang="en-US" dirty="0" err="1"/>
              <a:t>itemsets</a:t>
            </a:r>
            <a:r>
              <a:rPr lang="en-US" dirty="0"/>
              <a:t> in S rather than D.</a:t>
            </a:r>
          </a:p>
          <a:p>
            <a:r>
              <a:rPr lang="en-US" dirty="0"/>
              <a:t>In this method, it can trade off some degree of accuracy against efficiency.</a:t>
            </a:r>
          </a:p>
          <a:p>
            <a:r>
              <a:rPr lang="en-US" dirty="0"/>
              <a:t>The sample size of S is such that the search for frequent </a:t>
            </a:r>
            <a:r>
              <a:rPr lang="en-US" dirty="0" err="1"/>
              <a:t>itemsets</a:t>
            </a:r>
            <a:r>
              <a:rPr lang="en-US"/>
              <a:t> in S can be completed in main memory, and therefore only one scan of the transactions in S is needed overall.</a:t>
            </a:r>
            <a:endParaRPr lang="en-IN" dirty="0"/>
          </a:p>
        </p:txBody>
      </p:sp>
    </p:spTree>
    <p:extLst>
      <p:ext uri="{BB962C8B-B14F-4D97-AF65-F5344CB8AC3E}">
        <p14:creationId xmlns:p14="http://schemas.microsoft.com/office/powerpoint/2010/main" val="23973572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94310-51A8-4E39-9BAD-F448901547FA}"/>
              </a:ext>
            </a:extLst>
          </p:cNvPr>
          <p:cNvSpPr>
            <a:spLocks noGrp="1"/>
          </p:cNvSpPr>
          <p:nvPr>
            <p:ph type="title"/>
          </p:nvPr>
        </p:nvSpPr>
        <p:spPr/>
        <p:txBody>
          <a:bodyPr/>
          <a:lstStyle/>
          <a:p>
            <a:r>
              <a:rPr lang="en-US" altLang="en-US" sz="3600" dirty="0"/>
              <a:t>Benefits of the FP-tree Structure</a:t>
            </a:r>
            <a:endParaRPr lang="en-IN" dirty="0"/>
          </a:p>
        </p:txBody>
      </p:sp>
      <p:sp>
        <p:nvSpPr>
          <p:cNvPr id="3" name="Content Placeholder 2">
            <a:extLst>
              <a:ext uri="{FF2B5EF4-FFF2-40B4-BE49-F238E27FC236}">
                <a16:creationId xmlns:a16="http://schemas.microsoft.com/office/drawing/2014/main" id="{5C17CB9D-75A5-4BAF-9089-41EACD588DC0}"/>
              </a:ext>
            </a:extLst>
          </p:cNvPr>
          <p:cNvSpPr>
            <a:spLocks noGrp="1"/>
          </p:cNvSpPr>
          <p:nvPr>
            <p:ph idx="1"/>
          </p:nvPr>
        </p:nvSpPr>
        <p:spPr/>
        <p:txBody>
          <a:bodyPr/>
          <a:lstStyle/>
          <a:p>
            <a:pPr eaLnBrk="1" hangingPunct="1"/>
            <a:r>
              <a:rPr lang="en-US" altLang="en-US" sz="2400" dirty="0"/>
              <a:t>Completeness </a:t>
            </a:r>
          </a:p>
          <a:p>
            <a:pPr lvl="1" eaLnBrk="1" hangingPunct="1"/>
            <a:r>
              <a:rPr lang="en-US" altLang="en-US" sz="2400" dirty="0"/>
              <a:t>Preserve complete information for frequent pattern mining</a:t>
            </a:r>
          </a:p>
          <a:p>
            <a:pPr lvl="1" eaLnBrk="1" hangingPunct="1"/>
            <a:r>
              <a:rPr lang="en-US" altLang="en-US" sz="2400" dirty="0"/>
              <a:t>Never break a long pattern of any transaction</a:t>
            </a:r>
          </a:p>
          <a:p>
            <a:pPr eaLnBrk="1" hangingPunct="1"/>
            <a:r>
              <a:rPr lang="en-US" altLang="en-US" sz="2400" dirty="0"/>
              <a:t>Compactness</a:t>
            </a:r>
          </a:p>
          <a:p>
            <a:pPr lvl="1" eaLnBrk="1" hangingPunct="1"/>
            <a:r>
              <a:rPr lang="en-US" altLang="en-US" sz="2400" dirty="0"/>
              <a:t>Reduce irrelevant info—infrequent items are gone</a:t>
            </a:r>
          </a:p>
          <a:p>
            <a:pPr lvl="1" eaLnBrk="1" hangingPunct="1"/>
            <a:r>
              <a:rPr lang="en-US" altLang="en-US" sz="2400" dirty="0"/>
              <a:t>Items in frequency descending order: the more frequently occurring, the more likely to be shared</a:t>
            </a:r>
          </a:p>
          <a:p>
            <a:pPr lvl="1" eaLnBrk="1" hangingPunct="1"/>
            <a:r>
              <a:rPr lang="en-US" altLang="en-US" sz="2400" dirty="0"/>
              <a:t>Never be larger than the original database (not count node-links and the </a:t>
            </a:r>
            <a:r>
              <a:rPr lang="en-US" altLang="en-US" sz="2400" i="1" dirty="0"/>
              <a:t>count</a:t>
            </a:r>
            <a:r>
              <a:rPr lang="en-US" altLang="en-US" sz="2400" dirty="0"/>
              <a:t> field)</a:t>
            </a:r>
          </a:p>
          <a:p>
            <a:pPr lvl="1" eaLnBrk="1" hangingPunct="1"/>
            <a:r>
              <a:rPr lang="en-US" altLang="en-US" sz="2400" dirty="0"/>
              <a:t>For Connect-4 DB, compression ratio could be over 100</a:t>
            </a:r>
          </a:p>
        </p:txBody>
      </p:sp>
    </p:spTree>
    <p:extLst>
      <p:ext uri="{BB962C8B-B14F-4D97-AF65-F5344CB8AC3E}">
        <p14:creationId xmlns:p14="http://schemas.microsoft.com/office/powerpoint/2010/main" val="25293530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9A87-2112-42D5-96F4-15B58638CC41}"/>
              </a:ext>
            </a:extLst>
          </p:cNvPr>
          <p:cNvSpPr>
            <a:spLocks noGrp="1"/>
          </p:cNvSpPr>
          <p:nvPr>
            <p:ph type="title"/>
          </p:nvPr>
        </p:nvSpPr>
        <p:spPr/>
        <p:txBody>
          <a:bodyPr/>
          <a:lstStyle/>
          <a:p>
            <a:r>
              <a:rPr lang="en-US" altLang="en-US" sz="3600" dirty="0"/>
              <a:t>Construct FP-tree from a Transaction Database</a:t>
            </a:r>
            <a:endParaRPr lang="en-IN" dirty="0"/>
          </a:p>
        </p:txBody>
      </p:sp>
      <p:pic>
        <p:nvPicPr>
          <p:cNvPr id="5" name="Content Placeholder 4">
            <a:extLst>
              <a:ext uri="{FF2B5EF4-FFF2-40B4-BE49-F238E27FC236}">
                <a16:creationId xmlns:a16="http://schemas.microsoft.com/office/drawing/2014/main" id="{3ACEABFD-F7D6-4440-9F83-C300DF627627}"/>
              </a:ext>
            </a:extLst>
          </p:cNvPr>
          <p:cNvPicPr>
            <a:picLocks noGrp="1" noChangeAspect="1"/>
          </p:cNvPicPr>
          <p:nvPr>
            <p:ph idx="1"/>
          </p:nvPr>
        </p:nvPicPr>
        <p:blipFill>
          <a:blip r:embed="rId2"/>
          <a:stretch>
            <a:fillRect/>
          </a:stretch>
        </p:blipFill>
        <p:spPr>
          <a:xfrm>
            <a:off x="3860754" y="730108"/>
            <a:ext cx="6017274" cy="1908213"/>
          </a:xfrm>
          <a:prstGeom prst="rect">
            <a:avLst/>
          </a:prstGeom>
        </p:spPr>
      </p:pic>
      <p:sp>
        <p:nvSpPr>
          <p:cNvPr id="6" name="Text Box 41">
            <a:extLst>
              <a:ext uri="{FF2B5EF4-FFF2-40B4-BE49-F238E27FC236}">
                <a16:creationId xmlns:a16="http://schemas.microsoft.com/office/drawing/2014/main" id="{44FE11EE-CD17-4CBA-92BC-96CB05FF1698}"/>
              </a:ext>
            </a:extLst>
          </p:cNvPr>
          <p:cNvSpPr txBox="1">
            <a:spLocks noChangeArrowheads="1"/>
          </p:cNvSpPr>
          <p:nvPr/>
        </p:nvSpPr>
        <p:spPr bwMode="auto">
          <a:xfrm>
            <a:off x="3642804" y="3127159"/>
            <a:ext cx="3810000" cy="2825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ahoma" panose="020B0604030504040204" pitchFamily="34" charset="0"/>
              </a:defRPr>
            </a:lvl1pPr>
            <a:lvl2pPr marL="914400" indent="-457200">
              <a:defRPr sz="2400">
                <a:solidFill>
                  <a:schemeClr val="tx1"/>
                </a:solidFill>
                <a:latin typeface="Tahoma" panose="020B0604030504040204" pitchFamily="34" charset="0"/>
              </a:defRPr>
            </a:lvl2pPr>
            <a:lvl3pPr marL="1371600" indent="-457200">
              <a:defRPr sz="2400">
                <a:solidFill>
                  <a:schemeClr val="tx1"/>
                </a:solidFill>
                <a:latin typeface="Tahoma" panose="020B0604030504040204" pitchFamily="34" charset="0"/>
              </a:defRPr>
            </a:lvl3pPr>
            <a:lvl4pPr marL="1828800" indent="-457200">
              <a:defRPr sz="2400">
                <a:solidFill>
                  <a:schemeClr val="tx1"/>
                </a:solidFill>
                <a:latin typeface="Tahoma" panose="020B0604030504040204" pitchFamily="34" charset="0"/>
              </a:defRPr>
            </a:lvl4pPr>
            <a:lvl5pPr marL="2286000" indent="-457200">
              <a:defRPr sz="2400">
                <a:solidFill>
                  <a:schemeClr val="tx1"/>
                </a:solidFill>
                <a:latin typeface="Tahoma" panose="020B0604030504040204" pitchFamily="34" charset="0"/>
              </a:defRPr>
            </a:lvl5pPr>
            <a:lvl6pPr marL="2743200" indent="-457200" eaLnBrk="0" fontAlgn="base" hangingPunct="0">
              <a:spcBef>
                <a:spcPct val="0"/>
              </a:spcBef>
              <a:spcAft>
                <a:spcPct val="0"/>
              </a:spcAft>
              <a:defRPr sz="2400">
                <a:solidFill>
                  <a:schemeClr val="tx1"/>
                </a:solidFill>
                <a:latin typeface="Tahoma" panose="020B0604030504040204" pitchFamily="34" charset="0"/>
              </a:defRPr>
            </a:lvl6pPr>
            <a:lvl7pPr marL="3200400" indent="-457200" eaLnBrk="0" fontAlgn="base" hangingPunct="0">
              <a:spcBef>
                <a:spcPct val="0"/>
              </a:spcBef>
              <a:spcAft>
                <a:spcPct val="0"/>
              </a:spcAft>
              <a:defRPr sz="2400">
                <a:solidFill>
                  <a:schemeClr val="tx1"/>
                </a:solidFill>
                <a:latin typeface="Tahoma" panose="020B0604030504040204" pitchFamily="34" charset="0"/>
              </a:defRPr>
            </a:lvl7pPr>
            <a:lvl8pPr marL="3657600" indent="-457200" eaLnBrk="0" fontAlgn="base" hangingPunct="0">
              <a:spcBef>
                <a:spcPct val="0"/>
              </a:spcBef>
              <a:spcAft>
                <a:spcPct val="0"/>
              </a:spcAft>
              <a:defRPr sz="2400">
                <a:solidFill>
                  <a:schemeClr val="tx1"/>
                </a:solidFill>
                <a:latin typeface="Tahoma" panose="020B0604030504040204" pitchFamily="34" charset="0"/>
              </a:defRPr>
            </a:lvl8pPr>
            <a:lvl9pPr marL="4114800" indent="-4572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50000"/>
              </a:spcBef>
              <a:buFontTx/>
              <a:buAutoNum type="arabicPeriod"/>
            </a:pPr>
            <a:r>
              <a:rPr lang="en-US" altLang="en-US" dirty="0"/>
              <a:t>Scan DB once, find frequent 1-itemset (single item pattern)</a:t>
            </a:r>
          </a:p>
          <a:p>
            <a:pPr eaLnBrk="1" hangingPunct="1">
              <a:lnSpc>
                <a:spcPct val="80000"/>
              </a:lnSpc>
              <a:spcBef>
                <a:spcPct val="50000"/>
              </a:spcBef>
              <a:buFontTx/>
              <a:buAutoNum type="arabicPeriod"/>
            </a:pPr>
            <a:r>
              <a:rPr lang="en-US" altLang="en-US" dirty="0"/>
              <a:t>Sort frequent items in frequency descending order, f-list</a:t>
            </a:r>
          </a:p>
          <a:p>
            <a:pPr eaLnBrk="1" hangingPunct="1">
              <a:lnSpc>
                <a:spcPct val="80000"/>
              </a:lnSpc>
              <a:spcBef>
                <a:spcPct val="50000"/>
              </a:spcBef>
              <a:buFontTx/>
              <a:buAutoNum type="arabicPeriod"/>
            </a:pPr>
            <a:r>
              <a:rPr lang="en-US" altLang="en-US" dirty="0"/>
              <a:t>Scan DB again, construct FP-tree</a:t>
            </a:r>
          </a:p>
        </p:txBody>
      </p:sp>
      <p:grpSp>
        <p:nvGrpSpPr>
          <p:cNvPr id="7" name="Group 3">
            <a:extLst>
              <a:ext uri="{FF2B5EF4-FFF2-40B4-BE49-F238E27FC236}">
                <a16:creationId xmlns:a16="http://schemas.microsoft.com/office/drawing/2014/main" id="{F1198541-0C59-4F8B-84F5-7493B5138CE0}"/>
              </a:ext>
            </a:extLst>
          </p:cNvPr>
          <p:cNvGrpSpPr>
            <a:grpSpLocks/>
          </p:cNvGrpSpPr>
          <p:nvPr/>
        </p:nvGrpSpPr>
        <p:grpSpPr bwMode="auto">
          <a:xfrm>
            <a:off x="7359143" y="2776492"/>
            <a:ext cx="4579938" cy="3624263"/>
            <a:chOff x="2496" y="1772"/>
            <a:chExt cx="2926" cy="2218"/>
          </a:xfrm>
        </p:grpSpPr>
        <p:sp>
          <p:nvSpPr>
            <p:cNvPr id="8" name="Text Box 4">
              <a:extLst>
                <a:ext uri="{FF2B5EF4-FFF2-40B4-BE49-F238E27FC236}">
                  <a16:creationId xmlns:a16="http://schemas.microsoft.com/office/drawing/2014/main" id="{DAED421C-3EDF-4873-9D35-858C0A271BAB}"/>
                </a:ext>
              </a:extLst>
            </p:cNvPr>
            <p:cNvSpPr txBox="1">
              <a:spLocks noChangeArrowheads="1"/>
            </p:cNvSpPr>
            <p:nvPr/>
          </p:nvSpPr>
          <p:spPr bwMode="auto">
            <a:xfrm>
              <a:off x="4796" y="1772"/>
              <a:ext cx="282" cy="251"/>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sp>
          <p:nvSpPr>
            <p:cNvPr id="9" name="Text Box 5">
              <a:extLst>
                <a:ext uri="{FF2B5EF4-FFF2-40B4-BE49-F238E27FC236}">
                  <a16:creationId xmlns:a16="http://schemas.microsoft.com/office/drawing/2014/main" id="{91C89F37-01C3-43EF-B4C2-952401B85A61}"/>
                </a:ext>
              </a:extLst>
            </p:cNvPr>
            <p:cNvSpPr txBox="1">
              <a:spLocks noChangeArrowheads="1"/>
            </p:cNvSpPr>
            <p:nvPr/>
          </p:nvSpPr>
          <p:spPr bwMode="auto">
            <a:xfrm>
              <a:off x="4508" y="2205"/>
              <a:ext cx="305" cy="251"/>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f:4</a:t>
              </a:r>
            </a:p>
          </p:txBody>
        </p:sp>
        <p:sp>
          <p:nvSpPr>
            <p:cNvPr id="10" name="Text Box 6">
              <a:extLst>
                <a:ext uri="{FF2B5EF4-FFF2-40B4-BE49-F238E27FC236}">
                  <a16:creationId xmlns:a16="http://schemas.microsoft.com/office/drawing/2014/main" id="{3A16AF94-9514-4F63-BE3F-3454515034AA}"/>
                </a:ext>
              </a:extLst>
            </p:cNvPr>
            <p:cNvSpPr txBox="1">
              <a:spLocks noChangeArrowheads="1"/>
            </p:cNvSpPr>
            <p:nvPr/>
          </p:nvSpPr>
          <p:spPr bwMode="auto">
            <a:xfrm>
              <a:off x="5084" y="2205"/>
              <a:ext cx="333" cy="251"/>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c:1</a:t>
              </a:r>
            </a:p>
          </p:txBody>
        </p:sp>
        <p:sp>
          <p:nvSpPr>
            <p:cNvPr id="11" name="Text Box 7">
              <a:extLst>
                <a:ext uri="{FF2B5EF4-FFF2-40B4-BE49-F238E27FC236}">
                  <a16:creationId xmlns:a16="http://schemas.microsoft.com/office/drawing/2014/main" id="{71C4E5A5-89BE-4C10-AEBA-C359B4BEC93C}"/>
                </a:ext>
              </a:extLst>
            </p:cNvPr>
            <p:cNvSpPr txBox="1">
              <a:spLocks noChangeArrowheads="1"/>
            </p:cNvSpPr>
            <p:nvPr/>
          </p:nvSpPr>
          <p:spPr bwMode="auto">
            <a:xfrm>
              <a:off x="5080" y="2588"/>
              <a:ext cx="342" cy="251"/>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12" name="Text Box 8">
              <a:extLst>
                <a:ext uri="{FF2B5EF4-FFF2-40B4-BE49-F238E27FC236}">
                  <a16:creationId xmlns:a16="http://schemas.microsoft.com/office/drawing/2014/main" id="{C6904D76-2B23-4744-AB51-0F5B6532AA7C}"/>
                </a:ext>
              </a:extLst>
            </p:cNvPr>
            <p:cNvSpPr txBox="1">
              <a:spLocks noChangeArrowheads="1"/>
            </p:cNvSpPr>
            <p:nvPr/>
          </p:nvSpPr>
          <p:spPr bwMode="auto">
            <a:xfrm>
              <a:off x="5080" y="2971"/>
              <a:ext cx="342" cy="251"/>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p:1</a:t>
              </a:r>
            </a:p>
          </p:txBody>
        </p:sp>
        <p:cxnSp>
          <p:nvCxnSpPr>
            <p:cNvPr id="13" name="AutoShape 9">
              <a:extLst>
                <a:ext uri="{FF2B5EF4-FFF2-40B4-BE49-F238E27FC236}">
                  <a16:creationId xmlns:a16="http://schemas.microsoft.com/office/drawing/2014/main" id="{D3BFCB26-C717-434A-ADAC-54B0FDF71930}"/>
                </a:ext>
              </a:extLst>
            </p:cNvPr>
            <p:cNvCxnSpPr>
              <a:cxnSpLocks noChangeShapeType="1"/>
              <a:stCxn id="10" idx="2"/>
              <a:endCxn id="11" idx="0"/>
            </p:cNvCxnSpPr>
            <p:nvPr/>
          </p:nvCxnSpPr>
          <p:spPr bwMode="auto">
            <a:xfrm>
              <a:off x="5248" y="2458"/>
              <a:ext cx="1"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10">
              <a:extLst>
                <a:ext uri="{FF2B5EF4-FFF2-40B4-BE49-F238E27FC236}">
                  <a16:creationId xmlns:a16="http://schemas.microsoft.com/office/drawing/2014/main" id="{7AA8BB78-0580-4745-B009-1121B396E8AD}"/>
                </a:ext>
              </a:extLst>
            </p:cNvPr>
            <p:cNvCxnSpPr>
              <a:cxnSpLocks noChangeShapeType="1"/>
              <a:stCxn id="11" idx="2"/>
              <a:endCxn id="12" idx="0"/>
            </p:cNvCxnSpPr>
            <p:nvPr/>
          </p:nvCxnSpPr>
          <p:spPr bwMode="auto">
            <a:xfrm>
              <a:off x="5249" y="2842"/>
              <a:ext cx="0"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11">
              <a:extLst>
                <a:ext uri="{FF2B5EF4-FFF2-40B4-BE49-F238E27FC236}">
                  <a16:creationId xmlns:a16="http://schemas.microsoft.com/office/drawing/2014/main" id="{1C270151-7B3E-48A1-90FE-5AAA4B34C082}"/>
                </a:ext>
              </a:extLst>
            </p:cNvPr>
            <p:cNvCxnSpPr>
              <a:cxnSpLocks noChangeShapeType="1"/>
              <a:stCxn id="8" idx="2"/>
              <a:endCxn id="10" idx="0"/>
            </p:cNvCxnSpPr>
            <p:nvPr/>
          </p:nvCxnSpPr>
          <p:spPr bwMode="auto">
            <a:xfrm>
              <a:off x="4935" y="2026"/>
              <a:ext cx="313" cy="182"/>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2">
              <a:extLst>
                <a:ext uri="{FF2B5EF4-FFF2-40B4-BE49-F238E27FC236}">
                  <a16:creationId xmlns:a16="http://schemas.microsoft.com/office/drawing/2014/main" id="{28216731-D6F5-4D87-BF2C-2E7BC99EC657}"/>
                </a:ext>
              </a:extLst>
            </p:cNvPr>
            <p:cNvCxnSpPr>
              <a:cxnSpLocks noChangeShapeType="1"/>
              <a:stCxn id="8" idx="2"/>
              <a:endCxn id="9" idx="0"/>
            </p:cNvCxnSpPr>
            <p:nvPr/>
          </p:nvCxnSpPr>
          <p:spPr bwMode="auto">
            <a:xfrm flipH="1">
              <a:off x="4659" y="2026"/>
              <a:ext cx="276" cy="182"/>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 Box 13">
              <a:extLst>
                <a:ext uri="{FF2B5EF4-FFF2-40B4-BE49-F238E27FC236}">
                  <a16:creationId xmlns:a16="http://schemas.microsoft.com/office/drawing/2014/main" id="{6F4D1C7E-0910-43B5-A88F-0FE90CCB200F}"/>
                </a:ext>
              </a:extLst>
            </p:cNvPr>
            <p:cNvSpPr txBox="1">
              <a:spLocks noChangeArrowheads="1"/>
            </p:cNvSpPr>
            <p:nvPr/>
          </p:nvSpPr>
          <p:spPr bwMode="auto">
            <a:xfrm>
              <a:off x="4700" y="2588"/>
              <a:ext cx="342" cy="251"/>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18" name="Text Box 14">
              <a:extLst>
                <a:ext uri="{FF2B5EF4-FFF2-40B4-BE49-F238E27FC236}">
                  <a16:creationId xmlns:a16="http://schemas.microsoft.com/office/drawing/2014/main" id="{C4B49B66-307E-4A84-9C2B-8BF44334158F}"/>
                </a:ext>
              </a:extLst>
            </p:cNvPr>
            <p:cNvSpPr txBox="1">
              <a:spLocks noChangeArrowheads="1"/>
            </p:cNvSpPr>
            <p:nvPr/>
          </p:nvSpPr>
          <p:spPr bwMode="auto">
            <a:xfrm>
              <a:off x="4321" y="2588"/>
              <a:ext cx="332" cy="251"/>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c:3</a:t>
              </a:r>
            </a:p>
          </p:txBody>
        </p:sp>
        <p:cxnSp>
          <p:nvCxnSpPr>
            <p:cNvPr id="19" name="AutoShape 15">
              <a:extLst>
                <a:ext uri="{FF2B5EF4-FFF2-40B4-BE49-F238E27FC236}">
                  <a16:creationId xmlns:a16="http://schemas.microsoft.com/office/drawing/2014/main" id="{9D49F9B2-942A-410A-971D-71F67464C7BD}"/>
                </a:ext>
              </a:extLst>
            </p:cNvPr>
            <p:cNvCxnSpPr>
              <a:cxnSpLocks noChangeShapeType="1"/>
              <a:stCxn id="9" idx="2"/>
              <a:endCxn id="18" idx="0"/>
            </p:cNvCxnSpPr>
            <p:nvPr/>
          </p:nvCxnSpPr>
          <p:spPr bwMode="auto">
            <a:xfrm flipH="1">
              <a:off x="4485" y="2458"/>
              <a:ext cx="174"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16">
              <a:extLst>
                <a:ext uri="{FF2B5EF4-FFF2-40B4-BE49-F238E27FC236}">
                  <a16:creationId xmlns:a16="http://schemas.microsoft.com/office/drawing/2014/main" id="{FFEFA15F-4517-480C-8608-8CD98DB59AA5}"/>
                </a:ext>
              </a:extLst>
            </p:cNvPr>
            <p:cNvCxnSpPr>
              <a:cxnSpLocks noChangeShapeType="1"/>
              <a:stCxn id="9" idx="2"/>
              <a:endCxn id="17" idx="0"/>
            </p:cNvCxnSpPr>
            <p:nvPr/>
          </p:nvCxnSpPr>
          <p:spPr bwMode="auto">
            <a:xfrm>
              <a:off x="4659" y="2458"/>
              <a:ext cx="210"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Text Box 17">
              <a:extLst>
                <a:ext uri="{FF2B5EF4-FFF2-40B4-BE49-F238E27FC236}">
                  <a16:creationId xmlns:a16="http://schemas.microsoft.com/office/drawing/2014/main" id="{B41D54D7-1ACB-4CEB-A48E-6C3C99B24DD8}"/>
                </a:ext>
              </a:extLst>
            </p:cNvPr>
            <p:cNvSpPr txBox="1">
              <a:spLocks noChangeArrowheads="1"/>
            </p:cNvSpPr>
            <p:nvPr/>
          </p:nvSpPr>
          <p:spPr bwMode="auto">
            <a:xfrm>
              <a:off x="4315" y="2971"/>
              <a:ext cx="342" cy="251"/>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a:3</a:t>
              </a:r>
            </a:p>
          </p:txBody>
        </p:sp>
        <p:sp>
          <p:nvSpPr>
            <p:cNvPr id="22" name="Text Box 18">
              <a:extLst>
                <a:ext uri="{FF2B5EF4-FFF2-40B4-BE49-F238E27FC236}">
                  <a16:creationId xmlns:a16="http://schemas.microsoft.com/office/drawing/2014/main" id="{0180A66F-A309-4CD2-BB2F-EBA098617E1E}"/>
                </a:ext>
              </a:extLst>
            </p:cNvPr>
            <p:cNvSpPr txBox="1">
              <a:spLocks noChangeArrowheads="1"/>
            </p:cNvSpPr>
            <p:nvPr/>
          </p:nvSpPr>
          <p:spPr bwMode="auto">
            <a:xfrm>
              <a:off x="4556" y="3356"/>
              <a:ext cx="342" cy="250"/>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23" name="Text Box 19">
              <a:extLst>
                <a:ext uri="{FF2B5EF4-FFF2-40B4-BE49-F238E27FC236}">
                  <a16:creationId xmlns:a16="http://schemas.microsoft.com/office/drawing/2014/main" id="{66DB3E30-1877-4D34-BCEC-47F1E6A93994}"/>
                </a:ext>
              </a:extLst>
            </p:cNvPr>
            <p:cNvSpPr txBox="1">
              <a:spLocks noChangeArrowheads="1"/>
            </p:cNvSpPr>
            <p:nvPr/>
          </p:nvSpPr>
          <p:spPr bwMode="auto">
            <a:xfrm>
              <a:off x="4130" y="3356"/>
              <a:ext cx="378" cy="250"/>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m:2</a:t>
              </a:r>
            </a:p>
          </p:txBody>
        </p:sp>
        <p:sp>
          <p:nvSpPr>
            <p:cNvPr id="24" name="Text Box 20">
              <a:extLst>
                <a:ext uri="{FF2B5EF4-FFF2-40B4-BE49-F238E27FC236}">
                  <a16:creationId xmlns:a16="http://schemas.microsoft.com/office/drawing/2014/main" id="{FC2C804D-AC6D-44BA-B1B2-DCA2D9513943}"/>
                </a:ext>
              </a:extLst>
            </p:cNvPr>
            <p:cNvSpPr txBox="1">
              <a:spLocks noChangeArrowheads="1"/>
            </p:cNvSpPr>
            <p:nvPr/>
          </p:nvSpPr>
          <p:spPr bwMode="auto">
            <a:xfrm>
              <a:off x="4148" y="3739"/>
              <a:ext cx="342" cy="251"/>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p:2</a:t>
              </a:r>
            </a:p>
          </p:txBody>
        </p:sp>
        <p:cxnSp>
          <p:nvCxnSpPr>
            <p:cNvPr id="25" name="AutoShape 21">
              <a:extLst>
                <a:ext uri="{FF2B5EF4-FFF2-40B4-BE49-F238E27FC236}">
                  <a16:creationId xmlns:a16="http://schemas.microsoft.com/office/drawing/2014/main" id="{C3B4D580-3410-4F95-8544-BE268FF28770}"/>
                </a:ext>
              </a:extLst>
            </p:cNvPr>
            <p:cNvCxnSpPr>
              <a:cxnSpLocks noChangeShapeType="1"/>
              <a:stCxn id="18" idx="2"/>
              <a:endCxn id="21" idx="0"/>
            </p:cNvCxnSpPr>
            <p:nvPr/>
          </p:nvCxnSpPr>
          <p:spPr bwMode="auto">
            <a:xfrm>
              <a:off x="4485" y="2842"/>
              <a:ext cx="0"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AutoShape 22">
              <a:extLst>
                <a:ext uri="{FF2B5EF4-FFF2-40B4-BE49-F238E27FC236}">
                  <a16:creationId xmlns:a16="http://schemas.microsoft.com/office/drawing/2014/main" id="{CE6C0722-931B-4107-B7C8-091781DF7EB1}"/>
                </a:ext>
              </a:extLst>
            </p:cNvPr>
            <p:cNvCxnSpPr>
              <a:cxnSpLocks noChangeShapeType="1"/>
              <a:stCxn id="21" idx="2"/>
              <a:endCxn id="23" idx="0"/>
            </p:cNvCxnSpPr>
            <p:nvPr/>
          </p:nvCxnSpPr>
          <p:spPr bwMode="auto">
            <a:xfrm flipH="1">
              <a:off x="4317" y="3226"/>
              <a:ext cx="168"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23">
              <a:extLst>
                <a:ext uri="{FF2B5EF4-FFF2-40B4-BE49-F238E27FC236}">
                  <a16:creationId xmlns:a16="http://schemas.microsoft.com/office/drawing/2014/main" id="{B0C6EF90-2137-41A0-86F1-D1A91E203270}"/>
                </a:ext>
              </a:extLst>
            </p:cNvPr>
            <p:cNvCxnSpPr>
              <a:cxnSpLocks noChangeShapeType="1"/>
              <a:stCxn id="21" idx="2"/>
              <a:endCxn id="22" idx="0"/>
            </p:cNvCxnSpPr>
            <p:nvPr/>
          </p:nvCxnSpPr>
          <p:spPr bwMode="auto">
            <a:xfrm>
              <a:off x="4485" y="3226"/>
              <a:ext cx="240"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24">
              <a:extLst>
                <a:ext uri="{FF2B5EF4-FFF2-40B4-BE49-F238E27FC236}">
                  <a16:creationId xmlns:a16="http://schemas.microsoft.com/office/drawing/2014/main" id="{9C4BFAFF-7118-42E2-B5E8-C56CB541F110}"/>
                </a:ext>
              </a:extLst>
            </p:cNvPr>
            <p:cNvCxnSpPr>
              <a:cxnSpLocks noChangeShapeType="1"/>
              <a:stCxn id="23" idx="2"/>
              <a:endCxn id="24" idx="0"/>
            </p:cNvCxnSpPr>
            <p:nvPr/>
          </p:nvCxnSpPr>
          <p:spPr bwMode="auto">
            <a:xfrm>
              <a:off x="4317" y="3610"/>
              <a:ext cx="0"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 Box 25">
              <a:extLst>
                <a:ext uri="{FF2B5EF4-FFF2-40B4-BE49-F238E27FC236}">
                  <a16:creationId xmlns:a16="http://schemas.microsoft.com/office/drawing/2014/main" id="{AE65B67F-7AFB-4927-9F68-BAEFAC2970B8}"/>
                </a:ext>
              </a:extLst>
            </p:cNvPr>
            <p:cNvSpPr txBox="1">
              <a:spLocks noChangeArrowheads="1"/>
            </p:cNvSpPr>
            <p:nvPr/>
          </p:nvSpPr>
          <p:spPr bwMode="auto">
            <a:xfrm>
              <a:off x="4538" y="3739"/>
              <a:ext cx="378" cy="251"/>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m:1</a:t>
              </a:r>
            </a:p>
          </p:txBody>
        </p:sp>
        <p:cxnSp>
          <p:nvCxnSpPr>
            <p:cNvPr id="30" name="AutoShape 26">
              <a:extLst>
                <a:ext uri="{FF2B5EF4-FFF2-40B4-BE49-F238E27FC236}">
                  <a16:creationId xmlns:a16="http://schemas.microsoft.com/office/drawing/2014/main" id="{57D5DFBD-98E5-469A-BA30-EF2065E3AA71}"/>
                </a:ext>
              </a:extLst>
            </p:cNvPr>
            <p:cNvCxnSpPr>
              <a:cxnSpLocks noChangeShapeType="1"/>
              <a:stCxn id="22" idx="2"/>
              <a:endCxn id="29" idx="0"/>
            </p:cNvCxnSpPr>
            <p:nvPr/>
          </p:nvCxnSpPr>
          <p:spPr bwMode="auto">
            <a:xfrm>
              <a:off x="4725" y="3610"/>
              <a:ext cx="0"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27">
              <a:extLst>
                <a:ext uri="{FF2B5EF4-FFF2-40B4-BE49-F238E27FC236}">
                  <a16:creationId xmlns:a16="http://schemas.microsoft.com/office/drawing/2014/main" id="{A5E371E5-2B54-48F3-9A1C-C431FE7383FF}"/>
                </a:ext>
              </a:extLst>
            </p:cNvPr>
            <p:cNvSpPr txBox="1">
              <a:spLocks noChangeArrowheads="1"/>
            </p:cNvSpPr>
            <p:nvPr/>
          </p:nvSpPr>
          <p:spPr bwMode="auto">
            <a:xfrm>
              <a:off x="2496" y="1935"/>
              <a:ext cx="1625" cy="1577"/>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90000"/>
                </a:lnSpc>
              </a:pPr>
              <a:r>
                <a:rPr lang="en-US" altLang="en-US" sz="2000" b="1">
                  <a:latin typeface="Times New Roman" panose="02020603050405020304" pitchFamily="18" charset="0"/>
                </a:rPr>
                <a:t>Header Table</a:t>
              </a:r>
            </a:p>
            <a:p>
              <a:pPr>
                <a:lnSpc>
                  <a:spcPct val="90000"/>
                </a:lnSpc>
              </a:pPr>
              <a:endParaRPr lang="en-US" altLang="en-US" sz="2000" b="1">
                <a:latin typeface="Times New Roman" panose="02020603050405020304" pitchFamily="18" charset="0"/>
              </a:endParaRPr>
            </a:p>
            <a:p>
              <a:pPr>
                <a:lnSpc>
                  <a:spcPct val="90000"/>
                </a:lnSpc>
              </a:pPr>
              <a:r>
                <a:rPr lang="en-US" altLang="en-US" sz="2000" b="1" i="1" u="sng">
                  <a:latin typeface="Times New Roman" panose="02020603050405020304" pitchFamily="18" charset="0"/>
                </a:rPr>
                <a:t>Item  frequency  head </a:t>
              </a:r>
            </a:p>
            <a:p>
              <a:pPr>
                <a:lnSpc>
                  <a:spcPct val="90000"/>
                </a:lnSpc>
              </a:pPr>
              <a:r>
                <a:rPr lang="en-US" altLang="en-US" sz="2000" i="1">
                  <a:latin typeface="Times New Roman" panose="02020603050405020304" pitchFamily="18" charset="0"/>
                </a:rPr>
                <a:t> f	4</a:t>
              </a:r>
            </a:p>
            <a:p>
              <a:pPr>
                <a:lnSpc>
                  <a:spcPct val="90000"/>
                </a:lnSpc>
              </a:pPr>
              <a:r>
                <a:rPr lang="en-US" altLang="en-US" sz="2000" i="1">
                  <a:latin typeface="Times New Roman" panose="02020603050405020304" pitchFamily="18" charset="0"/>
                </a:rPr>
                <a:t>c	4</a:t>
              </a:r>
            </a:p>
            <a:p>
              <a:pPr>
                <a:lnSpc>
                  <a:spcPct val="90000"/>
                </a:lnSpc>
              </a:pPr>
              <a:r>
                <a:rPr lang="en-US" altLang="en-US" sz="2000" i="1">
                  <a:latin typeface="Times New Roman" panose="02020603050405020304" pitchFamily="18" charset="0"/>
                </a:rPr>
                <a:t>a	3</a:t>
              </a:r>
            </a:p>
            <a:p>
              <a:pPr>
                <a:lnSpc>
                  <a:spcPct val="90000"/>
                </a:lnSpc>
              </a:pPr>
              <a:r>
                <a:rPr lang="en-US" altLang="en-US" sz="2000" i="1">
                  <a:latin typeface="Times New Roman" panose="02020603050405020304" pitchFamily="18" charset="0"/>
                </a:rPr>
                <a:t>b	3</a:t>
              </a:r>
            </a:p>
            <a:p>
              <a:pPr>
                <a:lnSpc>
                  <a:spcPct val="90000"/>
                </a:lnSpc>
              </a:pPr>
              <a:r>
                <a:rPr lang="en-US" altLang="en-US" sz="2000" i="1">
                  <a:latin typeface="Times New Roman" panose="02020603050405020304" pitchFamily="18" charset="0"/>
                </a:rPr>
                <a:t>m	3</a:t>
              </a:r>
            </a:p>
            <a:p>
              <a:pPr>
                <a:lnSpc>
                  <a:spcPct val="90000"/>
                </a:lnSpc>
              </a:pPr>
              <a:r>
                <a:rPr lang="en-US" altLang="en-US" sz="2000" i="1">
                  <a:latin typeface="Times New Roman" panose="02020603050405020304" pitchFamily="18" charset="0"/>
                </a:rPr>
                <a:t>p	3</a:t>
              </a:r>
              <a:endParaRPr lang="en-US" altLang="en-US" sz="2000">
                <a:latin typeface="Times New Roman" panose="02020603050405020304" pitchFamily="18" charset="0"/>
              </a:endParaRPr>
            </a:p>
          </p:txBody>
        </p:sp>
        <p:sp>
          <p:nvSpPr>
            <p:cNvPr id="32" name="Freeform 28">
              <a:extLst>
                <a:ext uri="{FF2B5EF4-FFF2-40B4-BE49-F238E27FC236}">
                  <a16:creationId xmlns:a16="http://schemas.microsoft.com/office/drawing/2014/main" id="{46ED81DE-AF9E-43CD-801B-A2492C45210A}"/>
                </a:ext>
              </a:extLst>
            </p:cNvPr>
            <p:cNvSpPr>
              <a:spLocks/>
            </p:cNvSpPr>
            <p:nvPr/>
          </p:nvSpPr>
          <p:spPr bwMode="auto">
            <a:xfrm>
              <a:off x="3879" y="2341"/>
              <a:ext cx="672" cy="240"/>
            </a:xfrm>
            <a:custGeom>
              <a:avLst/>
              <a:gdLst>
                <a:gd name="T0" fmla="*/ 0 w 672"/>
                <a:gd name="T1" fmla="*/ 240 h 240"/>
                <a:gd name="T2" fmla="*/ 288 w 672"/>
                <a:gd name="T3" fmla="*/ 192 h 240"/>
                <a:gd name="T4" fmla="*/ 432 w 672"/>
                <a:gd name="T5" fmla="*/ 48 h 240"/>
                <a:gd name="T6" fmla="*/ 672 w 672"/>
                <a:gd name="T7" fmla="*/ 0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40">
                  <a:moveTo>
                    <a:pt x="0" y="240"/>
                  </a:moveTo>
                  <a:cubicBezTo>
                    <a:pt x="108" y="232"/>
                    <a:pt x="216" y="224"/>
                    <a:pt x="288" y="192"/>
                  </a:cubicBezTo>
                  <a:cubicBezTo>
                    <a:pt x="360" y="160"/>
                    <a:pt x="368" y="80"/>
                    <a:pt x="432" y="48"/>
                  </a:cubicBezTo>
                  <a:cubicBezTo>
                    <a:pt x="496" y="16"/>
                    <a:pt x="584" y="8"/>
                    <a:pt x="672" y="0"/>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 name="Freeform 29">
              <a:extLst>
                <a:ext uri="{FF2B5EF4-FFF2-40B4-BE49-F238E27FC236}">
                  <a16:creationId xmlns:a16="http://schemas.microsoft.com/office/drawing/2014/main" id="{9C38E3EE-1C52-4F8C-92A7-2225B30FE8CD}"/>
                </a:ext>
              </a:extLst>
            </p:cNvPr>
            <p:cNvSpPr>
              <a:spLocks/>
            </p:cNvSpPr>
            <p:nvPr/>
          </p:nvSpPr>
          <p:spPr bwMode="auto">
            <a:xfrm>
              <a:off x="3879" y="2725"/>
              <a:ext cx="432" cy="1"/>
            </a:xfrm>
            <a:custGeom>
              <a:avLst/>
              <a:gdLst>
                <a:gd name="T0" fmla="*/ 0 w 432"/>
                <a:gd name="T1" fmla="*/ 0 h 1"/>
                <a:gd name="T2" fmla="*/ 432 w 432"/>
                <a:gd name="T3" fmla="*/ 0 h 1"/>
                <a:gd name="T4" fmla="*/ 0 60000 65536"/>
                <a:gd name="T5" fmla="*/ 0 60000 65536"/>
              </a:gdLst>
              <a:ahLst/>
              <a:cxnLst>
                <a:cxn ang="T4">
                  <a:pos x="T0" y="T1"/>
                </a:cxn>
                <a:cxn ang="T5">
                  <a:pos x="T2" y="T3"/>
                </a:cxn>
              </a:cxnLst>
              <a:rect l="0" t="0" r="r" b="b"/>
              <a:pathLst>
                <a:path w="432" h="1">
                  <a:moveTo>
                    <a:pt x="0" y="0"/>
                  </a:moveTo>
                  <a:cubicBezTo>
                    <a:pt x="0" y="0"/>
                    <a:pt x="216" y="0"/>
                    <a:pt x="432" y="0"/>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 name="Freeform 30">
              <a:extLst>
                <a:ext uri="{FF2B5EF4-FFF2-40B4-BE49-F238E27FC236}">
                  <a16:creationId xmlns:a16="http://schemas.microsoft.com/office/drawing/2014/main" id="{BEF55EA9-1A90-40C5-A652-541A7A36BB20}"/>
                </a:ext>
              </a:extLst>
            </p:cNvPr>
            <p:cNvSpPr>
              <a:spLocks/>
            </p:cNvSpPr>
            <p:nvPr/>
          </p:nvSpPr>
          <p:spPr bwMode="auto">
            <a:xfrm>
              <a:off x="4599" y="2341"/>
              <a:ext cx="480" cy="384"/>
            </a:xfrm>
            <a:custGeom>
              <a:avLst/>
              <a:gdLst>
                <a:gd name="T0" fmla="*/ 0 w 480"/>
                <a:gd name="T1" fmla="*/ 384 h 384"/>
                <a:gd name="T2" fmla="*/ 48 w 480"/>
                <a:gd name="T3" fmla="*/ 336 h 384"/>
                <a:gd name="T4" fmla="*/ 240 w 480"/>
                <a:gd name="T5" fmla="*/ 96 h 384"/>
                <a:gd name="T6" fmla="*/ 480 w 480"/>
                <a:gd name="T7" fmla="*/ 0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384">
                  <a:moveTo>
                    <a:pt x="0" y="384"/>
                  </a:moveTo>
                  <a:cubicBezTo>
                    <a:pt x="4" y="384"/>
                    <a:pt x="8" y="384"/>
                    <a:pt x="48" y="336"/>
                  </a:cubicBezTo>
                  <a:cubicBezTo>
                    <a:pt x="88" y="288"/>
                    <a:pt x="168" y="152"/>
                    <a:pt x="240" y="96"/>
                  </a:cubicBezTo>
                  <a:cubicBezTo>
                    <a:pt x="312" y="40"/>
                    <a:pt x="396" y="20"/>
                    <a:pt x="480" y="0"/>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5" name="Freeform 31">
              <a:extLst>
                <a:ext uri="{FF2B5EF4-FFF2-40B4-BE49-F238E27FC236}">
                  <a16:creationId xmlns:a16="http://schemas.microsoft.com/office/drawing/2014/main" id="{5D3E3385-51F5-4F72-B652-56199678F232}"/>
                </a:ext>
              </a:extLst>
            </p:cNvPr>
            <p:cNvSpPr>
              <a:spLocks/>
            </p:cNvSpPr>
            <p:nvPr/>
          </p:nvSpPr>
          <p:spPr bwMode="auto">
            <a:xfrm>
              <a:off x="3879" y="2928"/>
              <a:ext cx="432" cy="192"/>
            </a:xfrm>
            <a:custGeom>
              <a:avLst/>
              <a:gdLst>
                <a:gd name="T0" fmla="*/ 0 w 432"/>
                <a:gd name="T1" fmla="*/ 0 h 192"/>
                <a:gd name="T2" fmla="*/ 144 w 432"/>
                <a:gd name="T3" fmla="*/ 48 h 192"/>
                <a:gd name="T4" fmla="*/ 288 w 432"/>
                <a:gd name="T5" fmla="*/ 144 h 192"/>
                <a:gd name="T6" fmla="*/ 432 w 432"/>
                <a:gd name="T7" fmla="*/ 192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 name="Freeform 32">
              <a:extLst>
                <a:ext uri="{FF2B5EF4-FFF2-40B4-BE49-F238E27FC236}">
                  <a16:creationId xmlns:a16="http://schemas.microsoft.com/office/drawing/2014/main" id="{B2ECC2C4-5F85-4F7C-9FE3-17DF88123029}"/>
                </a:ext>
              </a:extLst>
            </p:cNvPr>
            <p:cNvSpPr>
              <a:spLocks/>
            </p:cNvSpPr>
            <p:nvPr/>
          </p:nvSpPr>
          <p:spPr bwMode="auto">
            <a:xfrm>
              <a:off x="3888" y="3072"/>
              <a:ext cx="720" cy="384"/>
            </a:xfrm>
            <a:custGeom>
              <a:avLst/>
              <a:gdLst>
                <a:gd name="T0" fmla="*/ 0 w 720"/>
                <a:gd name="T1" fmla="*/ 0 h 384"/>
                <a:gd name="T2" fmla="*/ 240 w 720"/>
                <a:gd name="T3" fmla="*/ 48 h 384"/>
                <a:gd name="T4" fmla="*/ 528 w 720"/>
                <a:gd name="T5" fmla="*/ 288 h 384"/>
                <a:gd name="T6" fmla="*/ 720 w 720"/>
                <a:gd name="T7" fmla="*/ 384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0" h="384">
                  <a:moveTo>
                    <a:pt x="0" y="0"/>
                  </a:moveTo>
                  <a:cubicBezTo>
                    <a:pt x="76" y="0"/>
                    <a:pt x="152" y="0"/>
                    <a:pt x="240" y="48"/>
                  </a:cubicBezTo>
                  <a:cubicBezTo>
                    <a:pt x="328" y="96"/>
                    <a:pt x="448" y="232"/>
                    <a:pt x="528" y="288"/>
                  </a:cubicBezTo>
                  <a:cubicBezTo>
                    <a:pt x="608" y="344"/>
                    <a:pt x="664" y="364"/>
                    <a:pt x="720" y="384"/>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7" name="Freeform 33">
              <a:extLst>
                <a:ext uri="{FF2B5EF4-FFF2-40B4-BE49-F238E27FC236}">
                  <a16:creationId xmlns:a16="http://schemas.microsoft.com/office/drawing/2014/main" id="{FCB27726-285A-4D69-828A-530441E9F512}"/>
                </a:ext>
              </a:extLst>
            </p:cNvPr>
            <p:cNvSpPr>
              <a:spLocks/>
            </p:cNvSpPr>
            <p:nvPr/>
          </p:nvSpPr>
          <p:spPr bwMode="auto">
            <a:xfrm>
              <a:off x="4848" y="2832"/>
              <a:ext cx="56" cy="672"/>
            </a:xfrm>
            <a:custGeom>
              <a:avLst/>
              <a:gdLst>
                <a:gd name="T0" fmla="*/ 0 w 56"/>
                <a:gd name="T1" fmla="*/ 672 h 672"/>
                <a:gd name="T2" fmla="*/ 48 w 56"/>
                <a:gd name="T3" fmla="*/ 432 h 672"/>
                <a:gd name="T4" fmla="*/ 48 w 56"/>
                <a:gd name="T5" fmla="*/ 0 h 672"/>
                <a:gd name="T6" fmla="*/ 0 60000 65536"/>
                <a:gd name="T7" fmla="*/ 0 60000 65536"/>
                <a:gd name="T8" fmla="*/ 0 60000 65536"/>
              </a:gdLst>
              <a:ahLst/>
              <a:cxnLst>
                <a:cxn ang="T6">
                  <a:pos x="T0" y="T1"/>
                </a:cxn>
                <a:cxn ang="T7">
                  <a:pos x="T2" y="T3"/>
                </a:cxn>
                <a:cxn ang="T8">
                  <a:pos x="T4" y="T5"/>
                </a:cxn>
              </a:cxnLst>
              <a:rect l="0" t="0" r="r" b="b"/>
              <a:pathLst>
                <a:path w="56" h="672">
                  <a:moveTo>
                    <a:pt x="0" y="672"/>
                  </a:moveTo>
                  <a:cubicBezTo>
                    <a:pt x="20" y="608"/>
                    <a:pt x="40" y="544"/>
                    <a:pt x="48" y="432"/>
                  </a:cubicBezTo>
                  <a:cubicBezTo>
                    <a:pt x="56" y="320"/>
                    <a:pt x="52" y="160"/>
                    <a:pt x="48" y="0"/>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8" name="Line 34">
              <a:extLst>
                <a:ext uri="{FF2B5EF4-FFF2-40B4-BE49-F238E27FC236}">
                  <a16:creationId xmlns:a16="http://schemas.microsoft.com/office/drawing/2014/main" id="{FDC3C472-CD71-4103-9C8B-8A09025F6019}"/>
                </a:ext>
              </a:extLst>
            </p:cNvPr>
            <p:cNvSpPr>
              <a:spLocks noChangeShapeType="1"/>
            </p:cNvSpPr>
            <p:nvPr/>
          </p:nvSpPr>
          <p:spPr bwMode="auto">
            <a:xfrm>
              <a:off x="4983" y="2725"/>
              <a:ext cx="96" cy="0"/>
            </a:xfrm>
            <a:prstGeom prst="line">
              <a:avLst/>
            </a:prstGeom>
            <a:noFill/>
            <a:ln w="12700">
              <a:solidFill>
                <a:schemeClr val="tx2"/>
              </a:solidFill>
              <a:prstDash val="lgDash"/>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9" name="Freeform 35">
              <a:extLst>
                <a:ext uri="{FF2B5EF4-FFF2-40B4-BE49-F238E27FC236}">
                  <a16:creationId xmlns:a16="http://schemas.microsoft.com/office/drawing/2014/main" id="{A9FEC96D-541E-499E-B5CD-DE45796391BE}"/>
                </a:ext>
              </a:extLst>
            </p:cNvPr>
            <p:cNvSpPr>
              <a:spLocks/>
            </p:cNvSpPr>
            <p:nvPr/>
          </p:nvSpPr>
          <p:spPr bwMode="auto">
            <a:xfrm>
              <a:off x="3888" y="3264"/>
              <a:ext cx="288" cy="240"/>
            </a:xfrm>
            <a:custGeom>
              <a:avLst/>
              <a:gdLst>
                <a:gd name="T0" fmla="*/ 0 w 288"/>
                <a:gd name="T1" fmla="*/ 0 h 240"/>
                <a:gd name="T2" fmla="*/ 144 w 288"/>
                <a:gd name="T3" fmla="*/ 48 h 240"/>
                <a:gd name="T4" fmla="*/ 192 w 288"/>
                <a:gd name="T5" fmla="*/ 192 h 240"/>
                <a:gd name="T6" fmla="*/ 288 w 288"/>
                <a:gd name="T7" fmla="*/ 240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8" h="240">
                  <a:moveTo>
                    <a:pt x="0" y="0"/>
                  </a:moveTo>
                  <a:cubicBezTo>
                    <a:pt x="56" y="8"/>
                    <a:pt x="112" y="16"/>
                    <a:pt x="144" y="48"/>
                  </a:cubicBezTo>
                  <a:cubicBezTo>
                    <a:pt x="176" y="80"/>
                    <a:pt x="168" y="160"/>
                    <a:pt x="192" y="192"/>
                  </a:cubicBezTo>
                  <a:cubicBezTo>
                    <a:pt x="216" y="224"/>
                    <a:pt x="252" y="232"/>
                    <a:pt x="288" y="240"/>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0" name="Freeform 36">
              <a:extLst>
                <a:ext uri="{FF2B5EF4-FFF2-40B4-BE49-F238E27FC236}">
                  <a16:creationId xmlns:a16="http://schemas.microsoft.com/office/drawing/2014/main" id="{331266BE-6A1F-4CB9-8B31-B0EDBC97AEB9}"/>
                </a:ext>
              </a:extLst>
            </p:cNvPr>
            <p:cNvSpPr>
              <a:spLocks/>
            </p:cNvSpPr>
            <p:nvPr/>
          </p:nvSpPr>
          <p:spPr bwMode="auto">
            <a:xfrm>
              <a:off x="4464" y="3504"/>
              <a:ext cx="96" cy="384"/>
            </a:xfrm>
            <a:custGeom>
              <a:avLst/>
              <a:gdLst>
                <a:gd name="T0" fmla="*/ 0 w 96"/>
                <a:gd name="T1" fmla="*/ 0 h 384"/>
                <a:gd name="T2" fmla="*/ 48 w 96"/>
                <a:gd name="T3" fmla="*/ 96 h 384"/>
                <a:gd name="T4" fmla="*/ 48 w 96"/>
                <a:gd name="T5" fmla="*/ 288 h 384"/>
                <a:gd name="T6" fmla="*/ 96 w 96"/>
                <a:gd name="T7" fmla="*/ 384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384">
                  <a:moveTo>
                    <a:pt x="0" y="0"/>
                  </a:moveTo>
                  <a:cubicBezTo>
                    <a:pt x="20" y="24"/>
                    <a:pt x="40" y="48"/>
                    <a:pt x="48" y="96"/>
                  </a:cubicBezTo>
                  <a:cubicBezTo>
                    <a:pt x="56" y="144"/>
                    <a:pt x="40" y="240"/>
                    <a:pt x="48" y="288"/>
                  </a:cubicBezTo>
                  <a:cubicBezTo>
                    <a:pt x="56" y="336"/>
                    <a:pt x="76" y="360"/>
                    <a:pt x="96" y="384"/>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1" name="Freeform 37">
              <a:extLst>
                <a:ext uri="{FF2B5EF4-FFF2-40B4-BE49-F238E27FC236}">
                  <a16:creationId xmlns:a16="http://schemas.microsoft.com/office/drawing/2014/main" id="{9001C33C-6418-456A-8762-A9B3D03F0BCE}"/>
                </a:ext>
              </a:extLst>
            </p:cNvPr>
            <p:cNvSpPr>
              <a:spLocks/>
            </p:cNvSpPr>
            <p:nvPr/>
          </p:nvSpPr>
          <p:spPr bwMode="auto">
            <a:xfrm>
              <a:off x="3888" y="3456"/>
              <a:ext cx="288" cy="432"/>
            </a:xfrm>
            <a:custGeom>
              <a:avLst/>
              <a:gdLst>
                <a:gd name="T0" fmla="*/ 0 w 288"/>
                <a:gd name="T1" fmla="*/ 0 h 432"/>
                <a:gd name="T2" fmla="*/ 96 w 288"/>
                <a:gd name="T3" fmla="*/ 144 h 432"/>
                <a:gd name="T4" fmla="*/ 144 w 288"/>
                <a:gd name="T5" fmla="*/ 336 h 432"/>
                <a:gd name="T6" fmla="*/ 288 w 288"/>
                <a:gd name="T7" fmla="*/ 432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8" h="432">
                  <a:moveTo>
                    <a:pt x="0" y="0"/>
                  </a:moveTo>
                  <a:cubicBezTo>
                    <a:pt x="36" y="44"/>
                    <a:pt x="72" y="88"/>
                    <a:pt x="96" y="144"/>
                  </a:cubicBezTo>
                  <a:cubicBezTo>
                    <a:pt x="120" y="200"/>
                    <a:pt x="112" y="288"/>
                    <a:pt x="144" y="336"/>
                  </a:cubicBezTo>
                  <a:cubicBezTo>
                    <a:pt x="176" y="384"/>
                    <a:pt x="232" y="408"/>
                    <a:pt x="288" y="432"/>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2" name="Freeform 38">
              <a:extLst>
                <a:ext uri="{FF2B5EF4-FFF2-40B4-BE49-F238E27FC236}">
                  <a16:creationId xmlns:a16="http://schemas.microsoft.com/office/drawing/2014/main" id="{0FD19956-9566-4AFA-BA72-49819BE24B13}"/>
                </a:ext>
              </a:extLst>
            </p:cNvPr>
            <p:cNvSpPr>
              <a:spLocks/>
            </p:cNvSpPr>
            <p:nvPr/>
          </p:nvSpPr>
          <p:spPr bwMode="auto">
            <a:xfrm>
              <a:off x="4464" y="3216"/>
              <a:ext cx="768" cy="672"/>
            </a:xfrm>
            <a:custGeom>
              <a:avLst/>
              <a:gdLst>
                <a:gd name="T0" fmla="*/ 0 w 768"/>
                <a:gd name="T1" fmla="*/ 672 h 672"/>
                <a:gd name="T2" fmla="*/ 96 w 768"/>
                <a:gd name="T3" fmla="*/ 528 h 672"/>
                <a:gd name="T4" fmla="*/ 528 w 768"/>
                <a:gd name="T5" fmla="*/ 384 h 672"/>
                <a:gd name="T6" fmla="*/ 768 w 768"/>
                <a:gd name="T7" fmla="*/ 0 h 6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8" h="672">
                  <a:moveTo>
                    <a:pt x="0" y="672"/>
                  </a:moveTo>
                  <a:cubicBezTo>
                    <a:pt x="4" y="624"/>
                    <a:pt x="8" y="576"/>
                    <a:pt x="96" y="528"/>
                  </a:cubicBezTo>
                  <a:cubicBezTo>
                    <a:pt x="184" y="480"/>
                    <a:pt x="416" y="472"/>
                    <a:pt x="528" y="384"/>
                  </a:cubicBezTo>
                  <a:cubicBezTo>
                    <a:pt x="640" y="296"/>
                    <a:pt x="704" y="148"/>
                    <a:pt x="768" y="0"/>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43" name="Text Box 39">
            <a:extLst>
              <a:ext uri="{FF2B5EF4-FFF2-40B4-BE49-F238E27FC236}">
                <a16:creationId xmlns:a16="http://schemas.microsoft.com/office/drawing/2014/main" id="{FD1A5463-7DB7-46EA-B388-6FC328C0D701}"/>
              </a:ext>
            </a:extLst>
          </p:cNvPr>
          <p:cNvSpPr txBox="1">
            <a:spLocks noChangeArrowheads="1"/>
          </p:cNvSpPr>
          <p:nvPr/>
        </p:nvSpPr>
        <p:spPr bwMode="auto">
          <a:xfrm>
            <a:off x="9611722" y="1521440"/>
            <a:ext cx="20970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60000"/>
              </a:lnSpc>
              <a:spcBef>
                <a:spcPct val="50000"/>
              </a:spcBef>
            </a:pPr>
            <a:r>
              <a:rPr lang="en-US" altLang="en-US" sz="2000" b="1" i="1">
                <a:latin typeface="Times New Roman" panose="02020603050405020304" pitchFamily="18" charset="0"/>
              </a:rPr>
              <a:t>min_support = 3</a:t>
            </a:r>
            <a:endParaRPr lang="en-US" altLang="en-US" b="1" u="sng">
              <a:latin typeface="Times New Roman" panose="02020603050405020304" pitchFamily="18" charset="0"/>
            </a:endParaRPr>
          </a:p>
        </p:txBody>
      </p:sp>
    </p:spTree>
    <p:extLst>
      <p:ext uri="{BB962C8B-B14F-4D97-AF65-F5344CB8AC3E}">
        <p14:creationId xmlns:p14="http://schemas.microsoft.com/office/powerpoint/2010/main" val="7714567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4B493-B43B-4F79-BAF4-6C9EA51E6868}"/>
              </a:ext>
            </a:extLst>
          </p:cNvPr>
          <p:cNvSpPr>
            <a:spLocks noGrp="1"/>
          </p:cNvSpPr>
          <p:nvPr>
            <p:ph type="title"/>
          </p:nvPr>
        </p:nvSpPr>
        <p:spPr/>
        <p:txBody>
          <a:bodyPr/>
          <a:lstStyle/>
          <a:p>
            <a:r>
              <a:rPr lang="en-US" altLang="en-US" sz="3600" dirty="0"/>
              <a:t>Find Patterns Having P From P-conditional Database</a:t>
            </a:r>
            <a:endParaRPr lang="en-IN" dirty="0"/>
          </a:p>
        </p:txBody>
      </p:sp>
      <p:sp>
        <p:nvSpPr>
          <p:cNvPr id="3" name="Content Placeholder 2">
            <a:extLst>
              <a:ext uri="{FF2B5EF4-FFF2-40B4-BE49-F238E27FC236}">
                <a16:creationId xmlns:a16="http://schemas.microsoft.com/office/drawing/2014/main" id="{F86AEC22-EC96-427C-A1F8-7B6A6312BEC1}"/>
              </a:ext>
            </a:extLst>
          </p:cNvPr>
          <p:cNvSpPr>
            <a:spLocks noGrp="1"/>
          </p:cNvSpPr>
          <p:nvPr>
            <p:ph idx="1"/>
          </p:nvPr>
        </p:nvSpPr>
        <p:spPr>
          <a:xfrm>
            <a:off x="3869268" y="864108"/>
            <a:ext cx="7315200" cy="2000155"/>
          </a:xfrm>
        </p:spPr>
        <p:txBody>
          <a:bodyPr/>
          <a:lstStyle/>
          <a:p>
            <a:pPr eaLnBrk="1" hangingPunct="1">
              <a:lnSpc>
                <a:spcPct val="80000"/>
              </a:lnSpc>
            </a:pPr>
            <a:r>
              <a:rPr lang="en-US" altLang="en-US" sz="2000" dirty="0"/>
              <a:t>Starting at the frequent item header table in the FP-tree</a:t>
            </a:r>
          </a:p>
          <a:p>
            <a:pPr eaLnBrk="1" hangingPunct="1">
              <a:lnSpc>
                <a:spcPct val="80000"/>
              </a:lnSpc>
            </a:pPr>
            <a:r>
              <a:rPr lang="en-US" altLang="en-US" sz="2000" dirty="0"/>
              <a:t>Traverse the FP-tree by following the link of each frequent item </a:t>
            </a:r>
            <a:r>
              <a:rPr lang="en-US" altLang="en-US" sz="2000" i="1" dirty="0"/>
              <a:t>p</a:t>
            </a:r>
          </a:p>
          <a:p>
            <a:pPr eaLnBrk="1" hangingPunct="1">
              <a:lnSpc>
                <a:spcPct val="80000"/>
              </a:lnSpc>
            </a:pPr>
            <a:r>
              <a:rPr lang="en-US" altLang="en-US" sz="2000" dirty="0"/>
              <a:t>Accumulate all of </a:t>
            </a:r>
            <a:r>
              <a:rPr lang="en-US" altLang="en-US" sz="2000" i="1" dirty="0">
                <a:solidFill>
                  <a:schemeClr val="hlink"/>
                </a:solidFill>
              </a:rPr>
              <a:t>transformed prefix paths</a:t>
            </a:r>
            <a:r>
              <a:rPr lang="en-US" altLang="en-US" sz="2000" dirty="0"/>
              <a:t> of item </a:t>
            </a:r>
            <a:r>
              <a:rPr lang="en-US" altLang="en-US" sz="2000" i="1" dirty="0"/>
              <a:t>p </a:t>
            </a:r>
            <a:r>
              <a:rPr lang="en-US" altLang="en-US" sz="2000" dirty="0"/>
              <a:t>to form </a:t>
            </a:r>
            <a:r>
              <a:rPr lang="en-US" altLang="en-US" sz="2000" i="1" dirty="0"/>
              <a:t>p’</a:t>
            </a:r>
            <a:r>
              <a:rPr lang="en-US" altLang="en-US" sz="2000" dirty="0"/>
              <a:t>s conditional pattern base</a:t>
            </a:r>
          </a:p>
          <a:p>
            <a:pPr marL="0" indent="0">
              <a:buNone/>
            </a:pPr>
            <a:endParaRPr lang="en-IN" dirty="0"/>
          </a:p>
        </p:txBody>
      </p:sp>
      <p:grpSp>
        <p:nvGrpSpPr>
          <p:cNvPr id="4" name="Group 5">
            <a:extLst>
              <a:ext uri="{FF2B5EF4-FFF2-40B4-BE49-F238E27FC236}">
                <a16:creationId xmlns:a16="http://schemas.microsoft.com/office/drawing/2014/main" id="{17A2216D-B350-4711-90DA-15CE2852D158}"/>
              </a:ext>
            </a:extLst>
          </p:cNvPr>
          <p:cNvGrpSpPr>
            <a:grpSpLocks/>
          </p:cNvGrpSpPr>
          <p:nvPr/>
        </p:nvGrpSpPr>
        <p:grpSpPr bwMode="auto">
          <a:xfrm>
            <a:off x="3869268" y="2630750"/>
            <a:ext cx="4637088" cy="3525838"/>
            <a:chOff x="2496" y="1772"/>
            <a:chExt cx="2921" cy="2226"/>
          </a:xfrm>
        </p:grpSpPr>
        <p:sp>
          <p:nvSpPr>
            <p:cNvPr id="5" name="Text Box 6">
              <a:extLst>
                <a:ext uri="{FF2B5EF4-FFF2-40B4-BE49-F238E27FC236}">
                  <a16:creationId xmlns:a16="http://schemas.microsoft.com/office/drawing/2014/main" id="{4777AEAC-1903-4DA7-A434-84582120590F}"/>
                </a:ext>
              </a:extLst>
            </p:cNvPr>
            <p:cNvSpPr txBox="1">
              <a:spLocks noChangeArrowheads="1"/>
            </p:cNvSpPr>
            <p:nvPr/>
          </p:nvSpPr>
          <p:spPr bwMode="auto">
            <a:xfrm>
              <a:off x="4796" y="1772"/>
              <a:ext cx="278" cy="259"/>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sp>
          <p:nvSpPr>
            <p:cNvPr id="6" name="Text Box 7">
              <a:extLst>
                <a:ext uri="{FF2B5EF4-FFF2-40B4-BE49-F238E27FC236}">
                  <a16:creationId xmlns:a16="http://schemas.microsoft.com/office/drawing/2014/main" id="{01073F82-7654-4BBA-83F8-034C196E9154}"/>
                </a:ext>
              </a:extLst>
            </p:cNvPr>
            <p:cNvSpPr txBox="1">
              <a:spLocks noChangeArrowheads="1"/>
            </p:cNvSpPr>
            <p:nvPr/>
          </p:nvSpPr>
          <p:spPr bwMode="auto">
            <a:xfrm>
              <a:off x="4508" y="2205"/>
              <a:ext cx="301" cy="259"/>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f:4</a:t>
              </a:r>
            </a:p>
          </p:txBody>
        </p:sp>
        <p:sp>
          <p:nvSpPr>
            <p:cNvPr id="7" name="Text Box 8">
              <a:extLst>
                <a:ext uri="{FF2B5EF4-FFF2-40B4-BE49-F238E27FC236}">
                  <a16:creationId xmlns:a16="http://schemas.microsoft.com/office/drawing/2014/main" id="{88C9BE5B-7DF8-4F34-93E6-FC98152280A4}"/>
                </a:ext>
              </a:extLst>
            </p:cNvPr>
            <p:cNvSpPr txBox="1">
              <a:spLocks noChangeArrowheads="1"/>
            </p:cNvSpPr>
            <p:nvPr/>
          </p:nvSpPr>
          <p:spPr bwMode="auto">
            <a:xfrm>
              <a:off x="5084" y="2205"/>
              <a:ext cx="328" cy="259"/>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c:1</a:t>
              </a:r>
            </a:p>
          </p:txBody>
        </p:sp>
        <p:sp>
          <p:nvSpPr>
            <p:cNvPr id="8" name="Text Box 9">
              <a:extLst>
                <a:ext uri="{FF2B5EF4-FFF2-40B4-BE49-F238E27FC236}">
                  <a16:creationId xmlns:a16="http://schemas.microsoft.com/office/drawing/2014/main" id="{EB12A214-353B-4B01-B76E-7676B56F112B}"/>
                </a:ext>
              </a:extLst>
            </p:cNvPr>
            <p:cNvSpPr txBox="1">
              <a:spLocks noChangeArrowheads="1"/>
            </p:cNvSpPr>
            <p:nvPr/>
          </p:nvSpPr>
          <p:spPr bwMode="auto">
            <a:xfrm>
              <a:off x="5080" y="2588"/>
              <a:ext cx="337" cy="258"/>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9" name="Text Box 10">
              <a:extLst>
                <a:ext uri="{FF2B5EF4-FFF2-40B4-BE49-F238E27FC236}">
                  <a16:creationId xmlns:a16="http://schemas.microsoft.com/office/drawing/2014/main" id="{A4E1F9EB-9686-4DDA-807E-4AF8DCDCD13F}"/>
                </a:ext>
              </a:extLst>
            </p:cNvPr>
            <p:cNvSpPr txBox="1">
              <a:spLocks noChangeArrowheads="1"/>
            </p:cNvSpPr>
            <p:nvPr/>
          </p:nvSpPr>
          <p:spPr bwMode="auto">
            <a:xfrm>
              <a:off x="5080" y="2971"/>
              <a:ext cx="337" cy="258"/>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p:1</a:t>
              </a:r>
            </a:p>
          </p:txBody>
        </p:sp>
        <p:cxnSp>
          <p:nvCxnSpPr>
            <p:cNvPr id="10" name="AutoShape 11">
              <a:extLst>
                <a:ext uri="{FF2B5EF4-FFF2-40B4-BE49-F238E27FC236}">
                  <a16:creationId xmlns:a16="http://schemas.microsoft.com/office/drawing/2014/main" id="{912B40D2-F0A5-414C-B53E-84AF4DFD2B47}"/>
                </a:ext>
              </a:extLst>
            </p:cNvPr>
            <p:cNvCxnSpPr>
              <a:cxnSpLocks noChangeShapeType="1"/>
              <a:stCxn id="7" idx="2"/>
              <a:endCxn id="8" idx="0"/>
            </p:cNvCxnSpPr>
            <p:nvPr/>
          </p:nvCxnSpPr>
          <p:spPr bwMode="auto">
            <a:xfrm>
              <a:off x="5248" y="2458"/>
              <a:ext cx="1"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AutoShape 12">
              <a:extLst>
                <a:ext uri="{FF2B5EF4-FFF2-40B4-BE49-F238E27FC236}">
                  <a16:creationId xmlns:a16="http://schemas.microsoft.com/office/drawing/2014/main" id="{AB70FF8A-744F-4B5E-91F3-75FCA060231B}"/>
                </a:ext>
              </a:extLst>
            </p:cNvPr>
            <p:cNvCxnSpPr>
              <a:cxnSpLocks noChangeShapeType="1"/>
              <a:stCxn id="8" idx="2"/>
              <a:endCxn id="9" idx="0"/>
            </p:cNvCxnSpPr>
            <p:nvPr/>
          </p:nvCxnSpPr>
          <p:spPr bwMode="auto">
            <a:xfrm>
              <a:off x="5249" y="2842"/>
              <a:ext cx="0"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3">
              <a:extLst>
                <a:ext uri="{FF2B5EF4-FFF2-40B4-BE49-F238E27FC236}">
                  <a16:creationId xmlns:a16="http://schemas.microsoft.com/office/drawing/2014/main" id="{4B6BA2E8-AE95-41C0-BE88-5A1B4F5B13C4}"/>
                </a:ext>
              </a:extLst>
            </p:cNvPr>
            <p:cNvCxnSpPr>
              <a:cxnSpLocks noChangeShapeType="1"/>
              <a:stCxn id="5" idx="2"/>
              <a:endCxn id="7" idx="0"/>
            </p:cNvCxnSpPr>
            <p:nvPr/>
          </p:nvCxnSpPr>
          <p:spPr bwMode="auto">
            <a:xfrm>
              <a:off x="4935" y="2026"/>
              <a:ext cx="313" cy="182"/>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14">
              <a:extLst>
                <a:ext uri="{FF2B5EF4-FFF2-40B4-BE49-F238E27FC236}">
                  <a16:creationId xmlns:a16="http://schemas.microsoft.com/office/drawing/2014/main" id="{020A800F-9F0F-4902-AF20-41631CBBC303}"/>
                </a:ext>
              </a:extLst>
            </p:cNvPr>
            <p:cNvCxnSpPr>
              <a:cxnSpLocks noChangeShapeType="1"/>
              <a:stCxn id="5" idx="2"/>
              <a:endCxn id="6" idx="0"/>
            </p:cNvCxnSpPr>
            <p:nvPr/>
          </p:nvCxnSpPr>
          <p:spPr bwMode="auto">
            <a:xfrm flipH="1">
              <a:off x="4659" y="2026"/>
              <a:ext cx="276" cy="182"/>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 Box 15">
              <a:extLst>
                <a:ext uri="{FF2B5EF4-FFF2-40B4-BE49-F238E27FC236}">
                  <a16:creationId xmlns:a16="http://schemas.microsoft.com/office/drawing/2014/main" id="{47470DF3-CFFD-4493-950C-8EB232F3B9F6}"/>
                </a:ext>
              </a:extLst>
            </p:cNvPr>
            <p:cNvSpPr txBox="1">
              <a:spLocks noChangeArrowheads="1"/>
            </p:cNvSpPr>
            <p:nvPr/>
          </p:nvSpPr>
          <p:spPr bwMode="auto">
            <a:xfrm>
              <a:off x="4700" y="2588"/>
              <a:ext cx="337" cy="258"/>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15" name="Text Box 16">
              <a:extLst>
                <a:ext uri="{FF2B5EF4-FFF2-40B4-BE49-F238E27FC236}">
                  <a16:creationId xmlns:a16="http://schemas.microsoft.com/office/drawing/2014/main" id="{0F0614D8-42E3-4348-9211-B49E9BC0449D}"/>
                </a:ext>
              </a:extLst>
            </p:cNvPr>
            <p:cNvSpPr txBox="1">
              <a:spLocks noChangeArrowheads="1"/>
            </p:cNvSpPr>
            <p:nvPr/>
          </p:nvSpPr>
          <p:spPr bwMode="auto">
            <a:xfrm>
              <a:off x="4321" y="2588"/>
              <a:ext cx="328" cy="258"/>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c:3</a:t>
              </a:r>
            </a:p>
          </p:txBody>
        </p:sp>
        <p:cxnSp>
          <p:nvCxnSpPr>
            <p:cNvPr id="16" name="AutoShape 17">
              <a:extLst>
                <a:ext uri="{FF2B5EF4-FFF2-40B4-BE49-F238E27FC236}">
                  <a16:creationId xmlns:a16="http://schemas.microsoft.com/office/drawing/2014/main" id="{7A7A352B-8CFF-43EF-94D3-2B75D312DE7F}"/>
                </a:ext>
              </a:extLst>
            </p:cNvPr>
            <p:cNvCxnSpPr>
              <a:cxnSpLocks noChangeShapeType="1"/>
              <a:stCxn id="6" idx="2"/>
              <a:endCxn id="15" idx="0"/>
            </p:cNvCxnSpPr>
            <p:nvPr/>
          </p:nvCxnSpPr>
          <p:spPr bwMode="auto">
            <a:xfrm flipH="1">
              <a:off x="4485" y="2458"/>
              <a:ext cx="174"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18">
              <a:extLst>
                <a:ext uri="{FF2B5EF4-FFF2-40B4-BE49-F238E27FC236}">
                  <a16:creationId xmlns:a16="http://schemas.microsoft.com/office/drawing/2014/main" id="{258756CB-F3F1-45D6-8B95-69E82282D390}"/>
                </a:ext>
              </a:extLst>
            </p:cNvPr>
            <p:cNvCxnSpPr>
              <a:cxnSpLocks noChangeShapeType="1"/>
              <a:stCxn id="6" idx="2"/>
              <a:endCxn id="14" idx="0"/>
            </p:cNvCxnSpPr>
            <p:nvPr/>
          </p:nvCxnSpPr>
          <p:spPr bwMode="auto">
            <a:xfrm>
              <a:off x="4659" y="2458"/>
              <a:ext cx="210"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 Box 19">
              <a:extLst>
                <a:ext uri="{FF2B5EF4-FFF2-40B4-BE49-F238E27FC236}">
                  <a16:creationId xmlns:a16="http://schemas.microsoft.com/office/drawing/2014/main" id="{59A90C67-4374-440D-9954-FAA7730FB863}"/>
                </a:ext>
              </a:extLst>
            </p:cNvPr>
            <p:cNvSpPr txBox="1">
              <a:spLocks noChangeArrowheads="1"/>
            </p:cNvSpPr>
            <p:nvPr/>
          </p:nvSpPr>
          <p:spPr bwMode="auto">
            <a:xfrm>
              <a:off x="4316" y="2971"/>
              <a:ext cx="337" cy="258"/>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a:3</a:t>
              </a:r>
            </a:p>
          </p:txBody>
        </p:sp>
        <p:sp>
          <p:nvSpPr>
            <p:cNvPr id="19" name="Text Box 20">
              <a:extLst>
                <a:ext uri="{FF2B5EF4-FFF2-40B4-BE49-F238E27FC236}">
                  <a16:creationId xmlns:a16="http://schemas.microsoft.com/office/drawing/2014/main" id="{F7D3AE47-1281-4668-A7B2-7DDEC0F0C8A6}"/>
                </a:ext>
              </a:extLst>
            </p:cNvPr>
            <p:cNvSpPr txBox="1">
              <a:spLocks noChangeArrowheads="1"/>
            </p:cNvSpPr>
            <p:nvPr/>
          </p:nvSpPr>
          <p:spPr bwMode="auto">
            <a:xfrm>
              <a:off x="4556" y="3356"/>
              <a:ext cx="337" cy="258"/>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20" name="Text Box 21">
              <a:extLst>
                <a:ext uri="{FF2B5EF4-FFF2-40B4-BE49-F238E27FC236}">
                  <a16:creationId xmlns:a16="http://schemas.microsoft.com/office/drawing/2014/main" id="{EF9322AE-C56F-447D-854A-C8ED4A8CCE15}"/>
                </a:ext>
              </a:extLst>
            </p:cNvPr>
            <p:cNvSpPr txBox="1">
              <a:spLocks noChangeArrowheads="1"/>
            </p:cNvSpPr>
            <p:nvPr/>
          </p:nvSpPr>
          <p:spPr bwMode="auto">
            <a:xfrm>
              <a:off x="4130" y="3356"/>
              <a:ext cx="373" cy="258"/>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m:2</a:t>
              </a:r>
            </a:p>
          </p:txBody>
        </p:sp>
        <p:sp>
          <p:nvSpPr>
            <p:cNvPr id="21" name="Text Box 22">
              <a:extLst>
                <a:ext uri="{FF2B5EF4-FFF2-40B4-BE49-F238E27FC236}">
                  <a16:creationId xmlns:a16="http://schemas.microsoft.com/office/drawing/2014/main" id="{08F0ACE0-6CFC-47F0-864C-62543C3D8119}"/>
                </a:ext>
              </a:extLst>
            </p:cNvPr>
            <p:cNvSpPr txBox="1">
              <a:spLocks noChangeArrowheads="1"/>
            </p:cNvSpPr>
            <p:nvPr/>
          </p:nvSpPr>
          <p:spPr bwMode="auto">
            <a:xfrm>
              <a:off x="4148" y="3739"/>
              <a:ext cx="337" cy="259"/>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p:2</a:t>
              </a:r>
            </a:p>
          </p:txBody>
        </p:sp>
        <p:cxnSp>
          <p:nvCxnSpPr>
            <p:cNvPr id="22" name="AutoShape 23">
              <a:extLst>
                <a:ext uri="{FF2B5EF4-FFF2-40B4-BE49-F238E27FC236}">
                  <a16:creationId xmlns:a16="http://schemas.microsoft.com/office/drawing/2014/main" id="{317EF94E-2E9F-4B4E-9974-7E809BA9CC6F}"/>
                </a:ext>
              </a:extLst>
            </p:cNvPr>
            <p:cNvCxnSpPr>
              <a:cxnSpLocks noChangeShapeType="1"/>
              <a:stCxn id="15" idx="2"/>
              <a:endCxn id="18" idx="0"/>
            </p:cNvCxnSpPr>
            <p:nvPr/>
          </p:nvCxnSpPr>
          <p:spPr bwMode="auto">
            <a:xfrm>
              <a:off x="4485" y="2842"/>
              <a:ext cx="0"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4">
              <a:extLst>
                <a:ext uri="{FF2B5EF4-FFF2-40B4-BE49-F238E27FC236}">
                  <a16:creationId xmlns:a16="http://schemas.microsoft.com/office/drawing/2014/main" id="{9E0F9E29-F451-4C8A-AD23-06CEA0D56C68}"/>
                </a:ext>
              </a:extLst>
            </p:cNvPr>
            <p:cNvCxnSpPr>
              <a:cxnSpLocks noChangeShapeType="1"/>
              <a:stCxn id="18" idx="2"/>
              <a:endCxn id="20" idx="0"/>
            </p:cNvCxnSpPr>
            <p:nvPr/>
          </p:nvCxnSpPr>
          <p:spPr bwMode="auto">
            <a:xfrm flipH="1">
              <a:off x="4317" y="3226"/>
              <a:ext cx="168"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AutoShape 25">
              <a:extLst>
                <a:ext uri="{FF2B5EF4-FFF2-40B4-BE49-F238E27FC236}">
                  <a16:creationId xmlns:a16="http://schemas.microsoft.com/office/drawing/2014/main" id="{8D6F90C7-12A3-4362-A915-3D4EFBD34435}"/>
                </a:ext>
              </a:extLst>
            </p:cNvPr>
            <p:cNvCxnSpPr>
              <a:cxnSpLocks noChangeShapeType="1"/>
              <a:stCxn id="18" idx="2"/>
              <a:endCxn id="19" idx="0"/>
            </p:cNvCxnSpPr>
            <p:nvPr/>
          </p:nvCxnSpPr>
          <p:spPr bwMode="auto">
            <a:xfrm>
              <a:off x="4485" y="3226"/>
              <a:ext cx="240"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AutoShape 26">
              <a:extLst>
                <a:ext uri="{FF2B5EF4-FFF2-40B4-BE49-F238E27FC236}">
                  <a16:creationId xmlns:a16="http://schemas.microsoft.com/office/drawing/2014/main" id="{B5E906DB-665E-4615-B58D-9FC10B6332E3}"/>
                </a:ext>
              </a:extLst>
            </p:cNvPr>
            <p:cNvCxnSpPr>
              <a:cxnSpLocks noChangeShapeType="1"/>
              <a:stCxn id="20" idx="2"/>
              <a:endCxn id="21" idx="0"/>
            </p:cNvCxnSpPr>
            <p:nvPr/>
          </p:nvCxnSpPr>
          <p:spPr bwMode="auto">
            <a:xfrm>
              <a:off x="4317" y="3610"/>
              <a:ext cx="0"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 Box 27">
              <a:extLst>
                <a:ext uri="{FF2B5EF4-FFF2-40B4-BE49-F238E27FC236}">
                  <a16:creationId xmlns:a16="http://schemas.microsoft.com/office/drawing/2014/main" id="{FF0A405F-A0AF-403C-8AE4-5444701A4E56}"/>
                </a:ext>
              </a:extLst>
            </p:cNvPr>
            <p:cNvSpPr txBox="1">
              <a:spLocks noChangeArrowheads="1"/>
            </p:cNvSpPr>
            <p:nvPr/>
          </p:nvSpPr>
          <p:spPr bwMode="auto">
            <a:xfrm>
              <a:off x="4538" y="3739"/>
              <a:ext cx="373" cy="259"/>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m:1</a:t>
              </a:r>
            </a:p>
          </p:txBody>
        </p:sp>
        <p:cxnSp>
          <p:nvCxnSpPr>
            <p:cNvPr id="27" name="AutoShape 28">
              <a:extLst>
                <a:ext uri="{FF2B5EF4-FFF2-40B4-BE49-F238E27FC236}">
                  <a16:creationId xmlns:a16="http://schemas.microsoft.com/office/drawing/2014/main" id="{3C6D6C18-9B2D-41D2-93DE-553E3DAB6E48}"/>
                </a:ext>
              </a:extLst>
            </p:cNvPr>
            <p:cNvCxnSpPr>
              <a:cxnSpLocks noChangeShapeType="1"/>
              <a:stCxn id="19" idx="2"/>
              <a:endCxn id="26" idx="0"/>
            </p:cNvCxnSpPr>
            <p:nvPr/>
          </p:nvCxnSpPr>
          <p:spPr bwMode="auto">
            <a:xfrm>
              <a:off x="4725" y="3610"/>
              <a:ext cx="0" cy="134"/>
            </a:xfrm>
            <a:prstGeom prst="straightConnector1">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Text Box 29">
              <a:extLst>
                <a:ext uri="{FF2B5EF4-FFF2-40B4-BE49-F238E27FC236}">
                  <a16:creationId xmlns:a16="http://schemas.microsoft.com/office/drawing/2014/main" id="{FE2768EE-2395-4BBF-B650-A4076BD8C202}"/>
                </a:ext>
              </a:extLst>
            </p:cNvPr>
            <p:cNvSpPr txBox="1">
              <a:spLocks noChangeArrowheads="1"/>
            </p:cNvSpPr>
            <p:nvPr/>
          </p:nvSpPr>
          <p:spPr bwMode="auto">
            <a:xfrm>
              <a:off x="2496" y="1935"/>
              <a:ext cx="1602" cy="1627"/>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90000"/>
                </a:lnSpc>
              </a:pPr>
              <a:r>
                <a:rPr lang="en-US" altLang="en-US" sz="2000" b="1" dirty="0">
                  <a:latin typeface="Times New Roman" panose="02020603050405020304" pitchFamily="18" charset="0"/>
                </a:rPr>
                <a:t>Header Table</a:t>
              </a:r>
            </a:p>
            <a:p>
              <a:pPr>
                <a:lnSpc>
                  <a:spcPct val="90000"/>
                </a:lnSpc>
              </a:pPr>
              <a:endParaRPr lang="en-US" altLang="en-US" sz="2000" b="1" dirty="0">
                <a:latin typeface="Times New Roman" panose="02020603050405020304" pitchFamily="18" charset="0"/>
              </a:endParaRPr>
            </a:p>
            <a:p>
              <a:pPr>
                <a:lnSpc>
                  <a:spcPct val="90000"/>
                </a:lnSpc>
              </a:pPr>
              <a:r>
                <a:rPr lang="en-US" altLang="en-US" sz="2000" b="1" i="1" u="sng" dirty="0">
                  <a:latin typeface="Times New Roman" panose="02020603050405020304" pitchFamily="18" charset="0"/>
                </a:rPr>
                <a:t>Item  frequency  head </a:t>
              </a:r>
            </a:p>
            <a:p>
              <a:pPr>
                <a:lnSpc>
                  <a:spcPct val="90000"/>
                </a:lnSpc>
              </a:pPr>
              <a:r>
                <a:rPr lang="en-US" altLang="en-US" sz="2000" i="1" dirty="0">
                  <a:latin typeface="Times New Roman" panose="02020603050405020304" pitchFamily="18" charset="0"/>
                </a:rPr>
                <a:t> f	4</a:t>
              </a:r>
            </a:p>
            <a:p>
              <a:pPr>
                <a:lnSpc>
                  <a:spcPct val="90000"/>
                </a:lnSpc>
              </a:pPr>
              <a:r>
                <a:rPr lang="en-US" altLang="en-US" sz="2000" i="1" dirty="0">
                  <a:latin typeface="Times New Roman" panose="02020603050405020304" pitchFamily="18" charset="0"/>
                </a:rPr>
                <a:t>c	4</a:t>
              </a:r>
            </a:p>
            <a:p>
              <a:pPr>
                <a:lnSpc>
                  <a:spcPct val="90000"/>
                </a:lnSpc>
              </a:pPr>
              <a:r>
                <a:rPr lang="en-US" altLang="en-US" sz="2000" i="1" dirty="0">
                  <a:latin typeface="Times New Roman" panose="02020603050405020304" pitchFamily="18" charset="0"/>
                </a:rPr>
                <a:t>a	3</a:t>
              </a:r>
            </a:p>
            <a:p>
              <a:pPr>
                <a:lnSpc>
                  <a:spcPct val="90000"/>
                </a:lnSpc>
              </a:pPr>
              <a:r>
                <a:rPr lang="en-US" altLang="en-US" sz="2000" i="1" dirty="0">
                  <a:latin typeface="Times New Roman" panose="02020603050405020304" pitchFamily="18" charset="0"/>
                </a:rPr>
                <a:t>b	3</a:t>
              </a:r>
            </a:p>
            <a:p>
              <a:pPr>
                <a:lnSpc>
                  <a:spcPct val="90000"/>
                </a:lnSpc>
              </a:pPr>
              <a:r>
                <a:rPr lang="en-US" altLang="en-US" sz="2000" i="1" dirty="0">
                  <a:latin typeface="Times New Roman" panose="02020603050405020304" pitchFamily="18" charset="0"/>
                </a:rPr>
                <a:t>m	3</a:t>
              </a:r>
            </a:p>
            <a:p>
              <a:pPr>
                <a:lnSpc>
                  <a:spcPct val="90000"/>
                </a:lnSpc>
              </a:pPr>
              <a:r>
                <a:rPr lang="en-US" altLang="en-US" sz="2000" i="1" dirty="0">
                  <a:latin typeface="Times New Roman" panose="02020603050405020304" pitchFamily="18" charset="0"/>
                </a:rPr>
                <a:t>p	3</a:t>
              </a:r>
              <a:endParaRPr lang="en-US" altLang="en-US" sz="2000" dirty="0">
                <a:latin typeface="Times New Roman" panose="02020603050405020304" pitchFamily="18" charset="0"/>
              </a:endParaRPr>
            </a:p>
          </p:txBody>
        </p:sp>
        <p:sp>
          <p:nvSpPr>
            <p:cNvPr id="29" name="Freeform 30">
              <a:extLst>
                <a:ext uri="{FF2B5EF4-FFF2-40B4-BE49-F238E27FC236}">
                  <a16:creationId xmlns:a16="http://schemas.microsoft.com/office/drawing/2014/main" id="{71EF8764-2DD4-487A-8120-232724B6330D}"/>
                </a:ext>
              </a:extLst>
            </p:cNvPr>
            <p:cNvSpPr>
              <a:spLocks/>
            </p:cNvSpPr>
            <p:nvPr/>
          </p:nvSpPr>
          <p:spPr bwMode="auto">
            <a:xfrm>
              <a:off x="3879" y="2341"/>
              <a:ext cx="672" cy="240"/>
            </a:xfrm>
            <a:custGeom>
              <a:avLst/>
              <a:gdLst>
                <a:gd name="T0" fmla="*/ 0 w 672"/>
                <a:gd name="T1" fmla="*/ 240 h 240"/>
                <a:gd name="T2" fmla="*/ 288 w 672"/>
                <a:gd name="T3" fmla="*/ 192 h 240"/>
                <a:gd name="T4" fmla="*/ 432 w 672"/>
                <a:gd name="T5" fmla="*/ 48 h 240"/>
                <a:gd name="T6" fmla="*/ 672 w 672"/>
                <a:gd name="T7" fmla="*/ 0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40">
                  <a:moveTo>
                    <a:pt x="0" y="240"/>
                  </a:moveTo>
                  <a:cubicBezTo>
                    <a:pt x="108" y="232"/>
                    <a:pt x="216" y="224"/>
                    <a:pt x="288" y="192"/>
                  </a:cubicBezTo>
                  <a:cubicBezTo>
                    <a:pt x="360" y="160"/>
                    <a:pt x="368" y="80"/>
                    <a:pt x="432" y="48"/>
                  </a:cubicBezTo>
                  <a:cubicBezTo>
                    <a:pt x="496" y="16"/>
                    <a:pt x="584" y="8"/>
                    <a:pt x="672" y="0"/>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 name="Freeform 31">
              <a:extLst>
                <a:ext uri="{FF2B5EF4-FFF2-40B4-BE49-F238E27FC236}">
                  <a16:creationId xmlns:a16="http://schemas.microsoft.com/office/drawing/2014/main" id="{B89281AB-BF22-44BA-91C4-078BD9BE2996}"/>
                </a:ext>
              </a:extLst>
            </p:cNvPr>
            <p:cNvSpPr>
              <a:spLocks/>
            </p:cNvSpPr>
            <p:nvPr/>
          </p:nvSpPr>
          <p:spPr bwMode="auto">
            <a:xfrm>
              <a:off x="3879" y="2725"/>
              <a:ext cx="432" cy="1"/>
            </a:xfrm>
            <a:custGeom>
              <a:avLst/>
              <a:gdLst>
                <a:gd name="T0" fmla="*/ 0 w 432"/>
                <a:gd name="T1" fmla="*/ 0 h 1"/>
                <a:gd name="T2" fmla="*/ 432 w 432"/>
                <a:gd name="T3" fmla="*/ 0 h 1"/>
                <a:gd name="T4" fmla="*/ 0 60000 65536"/>
                <a:gd name="T5" fmla="*/ 0 60000 65536"/>
              </a:gdLst>
              <a:ahLst/>
              <a:cxnLst>
                <a:cxn ang="T4">
                  <a:pos x="T0" y="T1"/>
                </a:cxn>
                <a:cxn ang="T5">
                  <a:pos x="T2" y="T3"/>
                </a:cxn>
              </a:cxnLst>
              <a:rect l="0" t="0" r="r" b="b"/>
              <a:pathLst>
                <a:path w="432" h="1">
                  <a:moveTo>
                    <a:pt x="0" y="0"/>
                  </a:moveTo>
                  <a:cubicBezTo>
                    <a:pt x="0" y="0"/>
                    <a:pt x="216" y="0"/>
                    <a:pt x="432" y="0"/>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1" name="Freeform 32">
              <a:extLst>
                <a:ext uri="{FF2B5EF4-FFF2-40B4-BE49-F238E27FC236}">
                  <a16:creationId xmlns:a16="http://schemas.microsoft.com/office/drawing/2014/main" id="{5EC6D23E-13BB-4313-AF97-ED1462778398}"/>
                </a:ext>
              </a:extLst>
            </p:cNvPr>
            <p:cNvSpPr>
              <a:spLocks/>
            </p:cNvSpPr>
            <p:nvPr/>
          </p:nvSpPr>
          <p:spPr bwMode="auto">
            <a:xfrm>
              <a:off x="4599" y="2341"/>
              <a:ext cx="480" cy="384"/>
            </a:xfrm>
            <a:custGeom>
              <a:avLst/>
              <a:gdLst>
                <a:gd name="T0" fmla="*/ 0 w 480"/>
                <a:gd name="T1" fmla="*/ 384 h 384"/>
                <a:gd name="T2" fmla="*/ 48 w 480"/>
                <a:gd name="T3" fmla="*/ 336 h 384"/>
                <a:gd name="T4" fmla="*/ 240 w 480"/>
                <a:gd name="T5" fmla="*/ 96 h 384"/>
                <a:gd name="T6" fmla="*/ 480 w 480"/>
                <a:gd name="T7" fmla="*/ 0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384">
                  <a:moveTo>
                    <a:pt x="0" y="384"/>
                  </a:moveTo>
                  <a:cubicBezTo>
                    <a:pt x="4" y="384"/>
                    <a:pt x="8" y="384"/>
                    <a:pt x="48" y="336"/>
                  </a:cubicBezTo>
                  <a:cubicBezTo>
                    <a:pt x="88" y="288"/>
                    <a:pt x="168" y="152"/>
                    <a:pt x="240" y="96"/>
                  </a:cubicBezTo>
                  <a:cubicBezTo>
                    <a:pt x="312" y="40"/>
                    <a:pt x="396" y="20"/>
                    <a:pt x="480" y="0"/>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2" name="Freeform 33">
              <a:extLst>
                <a:ext uri="{FF2B5EF4-FFF2-40B4-BE49-F238E27FC236}">
                  <a16:creationId xmlns:a16="http://schemas.microsoft.com/office/drawing/2014/main" id="{C5A078CB-10A0-49F6-AA7D-764952B4A818}"/>
                </a:ext>
              </a:extLst>
            </p:cNvPr>
            <p:cNvSpPr>
              <a:spLocks/>
            </p:cNvSpPr>
            <p:nvPr/>
          </p:nvSpPr>
          <p:spPr bwMode="auto">
            <a:xfrm>
              <a:off x="3879" y="2928"/>
              <a:ext cx="432" cy="192"/>
            </a:xfrm>
            <a:custGeom>
              <a:avLst/>
              <a:gdLst>
                <a:gd name="T0" fmla="*/ 0 w 432"/>
                <a:gd name="T1" fmla="*/ 0 h 192"/>
                <a:gd name="T2" fmla="*/ 144 w 432"/>
                <a:gd name="T3" fmla="*/ 48 h 192"/>
                <a:gd name="T4" fmla="*/ 288 w 432"/>
                <a:gd name="T5" fmla="*/ 144 h 192"/>
                <a:gd name="T6" fmla="*/ 432 w 432"/>
                <a:gd name="T7" fmla="*/ 192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 name="Freeform 34">
              <a:extLst>
                <a:ext uri="{FF2B5EF4-FFF2-40B4-BE49-F238E27FC236}">
                  <a16:creationId xmlns:a16="http://schemas.microsoft.com/office/drawing/2014/main" id="{A5351718-6A91-43FF-A2B2-69E066677D71}"/>
                </a:ext>
              </a:extLst>
            </p:cNvPr>
            <p:cNvSpPr>
              <a:spLocks/>
            </p:cNvSpPr>
            <p:nvPr/>
          </p:nvSpPr>
          <p:spPr bwMode="auto">
            <a:xfrm>
              <a:off x="3888" y="3072"/>
              <a:ext cx="720" cy="384"/>
            </a:xfrm>
            <a:custGeom>
              <a:avLst/>
              <a:gdLst>
                <a:gd name="T0" fmla="*/ 0 w 720"/>
                <a:gd name="T1" fmla="*/ 0 h 384"/>
                <a:gd name="T2" fmla="*/ 240 w 720"/>
                <a:gd name="T3" fmla="*/ 48 h 384"/>
                <a:gd name="T4" fmla="*/ 528 w 720"/>
                <a:gd name="T5" fmla="*/ 288 h 384"/>
                <a:gd name="T6" fmla="*/ 720 w 720"/>
                <a:gd name="T7" fmla="*/ 384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0" h="384">
                  <a:moveTo>
                    <a:pt x="0" y="0"/>
                  </a:moveTo>
                  <a:cubicBezTo>
                    <a:pt x="76" y="0"/>
                    <a:pt x="152" y="0"/>
                    <a:pt x="240" y="48"/>
                  </a:cubicBezTo>
                  <a:cubicBezTo>
                    <a:pt x="328" y="96"/>
                    <a:pt x="448" y="232"/>
                    <a:pt x="528" y="288"/>
                  </a:cubicBezTo>
                  <a:cubicBezTo>
                    <a:pt x="608" y="344"/>
                    <a:pt x="664" y="364"/>
                    <a:pt x="720" y="384"/>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 name="Freeform 35">
              <a:extLst>
                <a:ext uri="{FF2B5EF4-FFF2-40B4-BE49-F238E27FC236}">
                  <a16:creationId xmlns:a16="http://schemas.microsoft.com/office/drawing/2014/main" id="{B947CF42-6398-4D20-A508-E21EB95C72C8}"/>
                </a:ext>
              </a:extLst>
            </p:cNvPr>
            <p:cNvSpPr>
              <a:spLocks/>
            </p:cNvSpPr>
            <p:nvPr/>
          </p:nvSpPr>
          <p:spPr bwMode="auto">
            <a:xfrm>
              <a:off x="4848" y="2832"/>
              <a:ext cx="56" cy="672"/>
            </a:xfrm>
            <a:custGeom>
              <a:avLst/>
              <a:gdLst>
                <a:gd name="T0" fmla="*/ 0 w 56"/>
                <a:gd name="T1" fmla="*/ 672 h 672"/>
                <a:gd name="T2" fmla="*/ 48 w 56"/>
                <a:gd name="T3" fmla="*/ 432 h 672"/>
                <a:gd name="T4" fmla="*/ 48 w 56"/>
                <a:gd name="T5" fmla="*/ 0 h 672"/>
                <a:gd name="T6" fmla="*/ 0 60000 65536"/>
                <a:gd name="T7" fmla="*/ 0 60000 65536"/>
                <a:gd name="T8" fmla="*/ 0 60000 65536"/>
              </a:gdLst>
              <a:ahLst/>
              <a:cxnLst>
                <a:cxn ang="T6">
                  <a:pos x="T0" y="T1"/>
                </a:cxn>
                <a:cxn ang="T7">
                  <a:pos x="T2" y="T3"/>
                </a:cxn>
                <a:cxn ang="T8">
                  <a:pos x="T4" y="T5"/>
                </a:cxn>
              </a:cxnLst>
              <a:rect l="0" t="0" r="r" b="b"/>
              <a:pathLst>
                <a:path w="56" h="672">
                  <a:moveTo>
                    <a:pt x="0" y="672"/>
                  </a:moveTo>
                  <a:cubicBezTo>
                    <a:pt x="20" y="608"/>
                    <a:pt x="40" y="544"/>
                    <a:pt x="48" y="432"/>
                  </a:cubicBezTo>
                  <a:cubicBezTo>
                    <a:pt x="56" y="320"/>
                    <a:pt x="52" y="160"/>
                    <a:pt x="48" y="0"/>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5" name="Line 36">
              <a:extLst>
                <a:ext uri="{FF2B5EF4-FFF2-40B4-BE49-F238E27FC236}">
                  <a16:creationId xmlns:a16="http://schemas.microsoft.com/office/drawing/2014/main" id="{9D71092C-2658-454D-94D6-3DE900A32374}"/>
                </a:ext>
              </a:extLst>
            </p:cNvPr>
            <p:cNvSpPr>
              <a:spLocks noChangeShapeType="1"/>
            </p:cNvSpPr>
            <p:nvPr/>
          </p:nvSpPr>
          <p:spPr bwMode="auto">
            <a:xfrm>
              <a:off x="4983" y="2725"/>
              <a:ext cx="96" cy="0"/>
            </a:xfrm>
            <a:prstGeom prst="line">
              <a:avLst/>
            </a:prstGeom>
            <a:noFill/>
            <a:ln w="12700">
              <a:solidFill>
                <a:schemeClr val="tx2"/>
              </a:solidFill>
              <a:prstDash val="lgDash"/>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 name="Freeform 37">
              <a:extLst>
                <a:ext uri="{FF2B5EF4-FFF2-40B4-BE49-F238E27FC236}">
                  <a16:creationId xmlns:a16="http://schemas.microsoft.com/office/drawing/2014/main" id="{F1C5DCAC-4B09-4D96-B53D-DE3353CFCF40}"/>
                </a:ext>
              </a:extLst>
            </p:cNvPr>
            <p:cNvSpPr>
              <a:spLocks/>
            </p:cNvSpPr>
            <p:nvPr/>
          </p:nvSpPr>
          <p:spPr bwMode="auto">
            <a:xfrm>
              <a:off x="3888" y="3264"/>
              <a:ext cx="288" cy="240"/>
            </a:xfrm>
            <a:custGeom>
              <a:avLst/>
              <a:gdLst>
                <a:gd name="T0" fmla="*/ 0 w 288"/>
                <a:gd name="T1" fmla="*/ 0 h 240"/>
                <a:gd name="T2" fmla="*/ 144 w 288"/>
                <a:gd name="T3" fmla="*/ 48 h 240"/>
                <a:gd name="T4" fmla="*/ 192 w 288"/>
                <a:gd name="T5" fmla="*/ 192 h 240"/>
                <a:gd name="T6" fmla="*/ 288 w 288"/>
                <a:gd name="T7" fmla="*/ 240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8" h="240">
                  <a:moveTo>
                    <a:pt x="0" y="0"/>
                  </a:moveTo>
                  <a:cubicBezTo>
                    <a:pt x="56" y="8"/>
                    <a:pt x="112" y="16"/>
                    <a:pt x="144" y="48"/>
                  </a:cubicBezTo>
                  <a:cubicBezTo>
                    <a:pt x="176" y="80"/>
                    <a:pt x="168" y="160"/>
                    <a:pt x="192" y="192"/>
                  </a:cubicBezTo>
                  <a:cubicBezTo>
                    <a:pt x="216" y="224"/>
                    <a:pt x="252" y="232"/>
                    <a:pt x="288" y="240"/>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7" name="Freeform 38">
              <a:extLst>
                <a:ext uri="{FF2B5EF4-FFF2-40B4-BE49-F238E27FC236}">
                  <a16:creationId xmlns:a16="http://schemas.microsoft.com/office/drawing/2014/main" id="{BEED6D21-CBC6-47BC-81D6-B064D3D9917B}"/>
                </a:ext>
              </a:extLst>
            </p:cNvPr>
            <p:cNvSpPr>
              <a:spLocks/>
            </p:cNvSpPr>
            <p:nvPr/>
          </p:nvSpPr>
          <p:spPr bwMode="auto">
            <a:xfrm>
              <a:off x="4464" y="3504"/>
              <a:ext cx="96" cy="384"/>
            </a:xfrm>
            <a:custGeom>
              <a:avLst/>
              <a:gdLst>
                <a:gd name="T0" fmla="*/ 0 w 96"/>
                <a:gd name="T1" fmla="*/ 0 h 384"/>
                <a:gd name="T2" fmla="*/ 48 w 96"/>
                <a:gd name="T3" fmla="*/ 96 h 384"/>
                <a:gd name="T4" fmla="*/ 48 w 96"/>
                <a:gd name="T5" fmla="*/ 288 h 384"/>
                <a:gd name="T6" fmla="*/ 96 w 96"/>
                <a:gd name="T7" fmla="*/ 384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384">
                  <a:moveTo>
                    <a:pt x="0" y="0"/>
                  </a:moveTo>
                  <a:cubicBezTo>
                    <a:pt x="20" y="24"/>
                    <a:pt x="40" y="48"/>
                    <a:pt x="48" y="96"/>
                  </a:cubicBezTo>
                  <a:cubicBezTo>
                    <a:pt x="56" y="144"/>
                    <a:pt x="40" y="240"/>
                    <a:pt x="48" y="288"/>
                  </a:cubicBezTo>
                  <a:cubicBezTo>
                    <a:pt x="56" y="336"/>
                    <a:pt x="76" y="360"/>
                    <a:pt x="96" y="384"/>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8" name="Freeform 39">
              <a:extLst>
                <a:ext uri="{FF2B5EF4-FFF2-40B4-BE49-F238E27FC236}">
                  <a16:creationId xmlns:a16="http://schemas.microsoft.com/office/drawing/2014/main" id="{053F128B-1562-4095-B2DA-F277EA59BBAD}"/>
                </a:ext>
              </a:extLst>
            </p:cNvPr>
            <p:cNvSpPr>
              <a:spLocks/>
            </p:cNvSpPr>
            <p:nvPr/>
          </p:nvSpPr>
          <p:spPr bwMode="auto">
            <a:xfrm>
              <a:off x="3888" y="3456"/>
              <a:ext cx="288" cy="432"/>
            </a:xfrm>
            <a:custGeom>
              <a:avLst/>
              <a:gdLst>
                <a:gd name="T0" fmla="*/ 0 w 288"/>
                <a:gd name="T1" fmla="*/ 0 h 432"/>
                <a:gd name="T2" fmla="*/ 96 w 288"/>
                <a:gd name="T3" fmla="*/ 144 h 432"/>
                <a:gd name="T4" fmla="*/ 144 w 288"/>
                <a:gd name="T5" fmla="*/ 336 h 432"/>
                <a:gd name="T6" fmla="*/ 288 w 288"/>
                <a:gd name="T7" fmla="*/ 432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8" h="432">
                  <a:moveTo>
                    <a:pt x="0" y="0"/>
                  </a:moveTo>
                  <a:cubicBezTo>
                    <a:pt x="36" y="44"/>
                    <a:pt x="72" y="88"/>
                    <a:pt x="96" y="144"/>
                  </a:cubicBezTo>
                  <a:cubicBezTo>
                    <a:pt x="120" y="200"/>
                    <a:pt x="112" y="288"/>
                    <a:pt x="144" y="336"/>
                  </a:cubicBezTo>
                  <a:cubicBezTo>
                    <a:pt x="176" y="384"/>
                    <a:pt x="232" y="408"/>
                    <a:pt x="288" y="432"/>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9" name="Freeform 40">
              <a:extLst>
                <a:ext uri="{FF2B5EF4-FFF2-40B4-BE49-F238E27FC236}">
                  <a16:creationId xmlns:a16="http://schemas.microsoft.com/office/drawing/2014/main" id="{78CA7C59-9803-41C6-8712-9628CE7AABAB}"/>
                </a:ext>
              </a:extLst>
            </p:cNvPr>
            <p:cNvSpPr>
              <a:spLocks/>
            </p:cNvSpPr>
            <p:nvPr/>
          </p:nvSpPr>
          <p:spPr bwMode="auto">
            <a:xfrm>
              <a:off x="4464" y="3216"/>
              <a:ext cx="768" cy="672"/>
            </a:xfrm>
            <a:custGeom>
              <a:avLst/>
              <a:gdLst>
                <a:gd name="T0" fmla="*/ 0 w 768"/>
                <a:gd name="T1" fmla="*/ 672 h 672"/>
                <a:gd name="T2" fmla="*/ 96 w 768"/>
                <a:gd name="T3" fmla="*/ 528 h 672"/>
                <a:gd name="T4" fmla="*/ 528 w 768"/>
                <a:gd name="T5" fmla="*/ 384 h 672"/>
                <a:gd name="T6" fmla="*/ 768 w 768"/>
                <a:gd name="T7" fmla="*/ 0 h 6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8" h="672">
                  <a:moveTo>
                    <a:pt x="0" y="672"/>
                  </a:moveTo>
                  <a:cubicBezTo>
                    <a:pt x="4" y="624"/>
                    <a:pt x="8" y="576"/>
                    <a:pt x="96" y="528"/>
                  </a:cubicBezTo>
                  <a:cubicBezTo>
                    <a:pt x="184" y="480"/>
                    <a:pt x="416" y="472"/>
                    <a:pt x="528" y="384"/>
                  </a:cubicBezTo>
                  <a:cubicBezTo>
                    <a:pt x="640" y="296"/>
                    <a:pt x="704" y="148"/>
                    <a:pt x="768" y="0"/>
                  </a:cubicBezTo>
                </a:path>
              </a:pathLst>
            </a:custGeom>
            <a:noFill/>
            <a:ln w="12700" cap="flat" cmpd="sng">
              <a:solidFill>
                <a:schemeClr val="tx2"/>
              </a:solidFill>
              <a:prstDash val="lgDash"/>
              <a:round/>
              <a:headEnd type="none" w="sm" len="sm"/>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40" name="Rectangle 4">
            <a:extLst>
              <a:ext uri="{FF2B5EF4-FFF2-40B4-BE49-F238E27FC236}">
                <a16:creationId xmlns:a16="http://schemas.microsoft.com/office/drawing/2014/main" id="{C957F25E-F8F0-4F5A-A62A-F23CBAB75D95}"/>
              </a:ext>
            </a:extLst>
          </p:cNvPr>
          <p:cNvSpPr>
            <a:spLocks noChangeArrowheads="1"/>
          </p:cNvSpPr>
          <p:nvPr/>
        </p:nvSpPr>
        <p:spPr bwMode="auto">
          <a:xfrm>
            <a:off x="8868506" y="3140824"/>
            <a:ext cx="3327400" cy="277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sz="2000" b="1" i="1" dirty="0">
                <a:latin typeface="Times New Roman" panose="02020603050405020304" pitchFamily="18" charset="0"/>
              </a:rPr>
              <a:t>Conditional </a:t>
            </a:r>
            <a:r>
              <a:rPr lang="en-US" altLang="en-US" sz="2000" b="1" dirty="0">
                <a:latin typeface="Times New Roman" panose="02020603050405020304" pitchFamily="18" charset="0"/>
              </a:rPr>
              <a:t>pattern bases</a:t>
            </a:r>
          </a:p>
          <a:p>
            <a:pPr>
              <a:lnSpc>
                <a:spcPct val="80000"/>
              </a:lnSpc>
              <a:spcBef>
                <a:spcPct val="50000"/>
              </a:spcBef>
            </a:pPr>
            <a:r>
              <a:rPr lang="en-US" altLang="en-US" sz="2000" b="1" i="1" u="sng" dirty="0">
                <a:latin typeface="Times New Roman" panose="02020603050405020304" pitchFamily="18" charset="0"/>
              </a:rPr>
              <a:t>item	cond. pattern base</a:t>
            </a:r>
          </a:p>
          <a:p>
            <a:pPr>
              <a:lnSpc>
                <a:spcPct val="80000"/>
              </a:lnSpc>
              <a:spcBef>
                <a:spcPct val="50000"/>
              </a:spcBef>
            </a:pPr>
            <a:r>
              <a:rPr lang="en-US" altLang="en-US" sz="2000" b="1" i="1" dirty="0">
                <a:latin typeface="Times New Roman" panose="02020603050405020304" pitchFamily="18" charset="0"/>
              </a:rPr>
              <a:t>c	f:3</a:t>
            </a:r>
          </a:p>
          <a:p>
            <a:pPr>
              <a:lnSpc>
                <a:spcPct val="80000"/>
              </a:lnSpc>
              <a:spcBef>
                <a:spcPct val="50000"/>
              </a:spcBef>
            </a:pPr>
            <a:r>
              <a:rPr lang="en-US" altLang="en-US" sz="2000" b="1" i="1" dirty="0">
                <a:latin typeface="Times New Roman" panose="02020603050405020304" pitchFamily="18" charset="0"/>
              </a:rPr>
              <a:t>a	fc:3</a:t>
            </a:r>
          </a:p>
          <a:p>
            <a:pPr>
              <a:lnSpc>
                <a:spcPct val="80000"/>
              </a:lnSpc>
              <a:spcBef>
                <a:spcPct val="50000"/>
              </a:spcBef>
            </a:pPr>
            <a:r>
              <a:rPr lang="en-US" altLang="en-US" sz="2000" b="1" i="1" dirty="0">
                <a:latin typeface="Times New Roman" panose="02020603050405020304" pitchFamily="18" charset="0"/>
              </a:rPr>
              <a:t>b	fca:1, f:1, c:1</a:t>
            </a:r>
          </a:p>
          <a:p>
            <a:pPr>
              <a:lnSpc>
                <a:spcPct val="80000"/>
              </a:lnSpc>
              <a:spcBef>
                <a:spcPct val="50000"/>
              </a:spcBef>
            </a:pPr>
            <a:r>
              <a:rPr lang="en-US" altLang="en-US" sz="2000" b="1" i="1" dirty="0">
                <a:latin typeface="Times New Roman" panose="02020603050405020304" pitchFamily="18" charset="0"/>
              </a:rPr>
              <a:t>m	fca:2, fcab:1</a:t>
            </a:r>
          </a:p>
          <a:p>
            <a:pPr>
              <a:lnSpc>
                <a:spcPct val="80000"/>
              </a:lnSpc>
              <a:spcBef>
                <a:spcPct val="50000"/>
              </a:spcBef>
            </a:pPr>
            <a:r>
              <a:rPr lang="en-US" altLang="en-US" sz="2000" b="1" i="1" dirty="0">
                <a:latin typeface="Times New Roman" panose="02020603050405020304" pitchFamily="18" charset="0"/>
              </a:rPr>
              <a:t>p	fcam:2, cb:1</a:t>
            </a:r>
          </a:p>
        </p:txBody>
      </p:sp>
    </p:spTree>
    <p:extLst>
      <p:ext uri="{BB962C8B-B14F-4D97-AF65-F5344CB8AC3E}">
        <p14:creationId xmlns:p14="http://schemas.microsoft.com/office/powerpoint/2010/main" val="18042223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D606-B201-488E-A0D6-F9D119DC2A32}"/>
              </a:ext>
            </a:extLst>
          </p:cNvPr>
          <p:cNvSpPr>
            <a:spLocks noGrp="1"/>
          </p:cNvSpPr>
          <p:nvPr>
            <p:ph type="title"/>
          </p:nvPr>
        </p:nvSpPr>
        <p:spPr/>
        <p:txBody>
          <a:bodyPr/>
          <a:lstStyle/>
          <a:p>
            <a:r>
              <a:rPr lang="en-US" altLang="en-US" sz="3600" dirty="0"/>
              <a:t>From Conditional Pattern-bases to Conditional FP-trees</a:t>
            </a:r>
            <a:r>
              <a:rPr lang="en-US" altLang="en-US" dirty="0"/>
              <a:t> </a:t>
            </a:r>
            <a:endParaRPr lang="en-IN" dirty="0"/>
          </a:p>
        </p:txBody>
      </p:sp>
      <p:sp>
        <p:nvSpPr>
          <p:cNvPr id="3" name="Content Placeholder 2">
            <a:extLst>
              <a:ext uri="{FF2B5EF4-FFF2-40B4-BE49-F238E27FC236}">
                <a16:creationId xmlns:a16="http://schemas.microsoft.com/office/drawing/2014/main" id="{4C952099-8724-4667-A6B9-7054F0462C12}"/>
              </a:ext>
            </a:extLst>
          </p:cNvPr>
          <p:cNvSpPr>
            <a:spLocks noGrp="1"/>
          </p:cNvSpPr>
          <p:nvPr>
            <p:ph idx="1"/>
          </p:nvPr>
        </p:nvSpPr>
        <p:spPr>
          <a:xfrm>
            <a:off x="3869268" y="1038687"/>
            <a:ext cx="7315200" cy="2006354"/>
          </a:xfrm>
        </p:spPr>
        <p:txBody>
          <a:bodyPr/>
          <a:lstStyle/>
          <a:p>
            <a:pPr eaLnBrk="1" hangingPunct="1"/>
            <a:r>
              <a:rPr lang="en-US" altLang="en-US" sz="2400" dirty="0"/>
              <a:t>For each pattern-base</a:t>
            </a:r>
          </a:p>
          <a:p>
            <a:pPr lvl="1" eaLnBrk="1" hangingPunct="1"/>
            <a:r>
              <a:rPr lang="en-US" altLang="en-US" sz="2400" dirty="0"/>
              <a:t>Accumulate the count for each item in the base</a:t>
            </a:r>
          </a:p>
          <a:p>
            <a:pPr lvl="1" eaLnBrk="1" hangingPunct="1"/>
            <a:r>
              <a:rPr lang="en-US" altLang="en-US" sz="2400" dirty="0"/>
              <a:t>Construct the FP-tree for the frequent items of the pattern base</a:t>
            </a:r>
          </a:p>
        </p:txBody>
      </p:sp>
      <p:sp>
        <p:nvSpPr>
          <p:cNvPr id="4" name="Text Box 41">
            <a:extLst>
              <a:ext uri="{FF2B5EF4-FFF2-40B4-BE49-F238E27FC236}">
                <a16:creationId xmlns:a16="http://schemas.microsoft.com/office/drawing/2014/main" id="{D3155F84-A421-4D06-8B31-E4B48B5EC1BD}"/>
              </a:ext>
            </a:extLst>
          </p:cNvPr>
          <p:cNvSpPr txBox="1">
            <a:spLocks noChangeArrowheads="1"/>
          </p:cNvSpPr>
          <p:nvPr/>
        </p:nvSpPr>
        <p:spPr bwMode="auto">
          <a:xfrm>
            <a:off x="3552825" y="3045041"/>
            <a:ext cx="2543175" cy="2301875"/>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90000"/>
              </a:lnSpc>
            </a:pPr>
            <a:r>
              <a:rPr lang="en-US" altLang="en-US" sz="2000" b="1" dirty="0">
                <a:latin typeface="Times New Roman" panose="02020603050405020304" pitchFamily="18" charset="0"/>
              </a:rPr>
              <a:t>Header Table</a:t>
            </a:r>
          </a:p>
          <a:p>
            <a:pPr>
              <a:lnSpc>
                <a:spcPct val="90000"/>
              </a:lnSpc>
            </a:pPr>
            <a:r>
              <a:rPr lang="en-US" altLang="en-US" sz="2000" b="1" i="1" u="sng" dirty="0">
                <a:latin typeface="Times New Roman" panose="02020603050405020304" pitchFamily="18" charset="0"/>
              </a:rPr>
              <a:t>Item  frequency  head </a:t>
            </a:r>
          </a:p>
          <a:p>
            <a:pPr>
              <a:lnSpc>
                <a:spcPct val="90000"/>
              </a:lnSpc>
            </a:pPr>
            <a:r>
              <a:rPr lang="en-US" altLang="en-US" sz="2000" i="1" dirty="0">
                <a:latin typeface="Times New Roman" panose="02020603050405020304" pitchFamily="18" charset="0"/>
              </a:rPr>
              <a:t> f	4</a:t>
            </a:r>
          </a:p>
          <a:p>
            <a:pPr>
              <a:lnSpc>
                <a:spcPct val="90000"/>
              </a:lnSpc>
            </a:pPr>
            <a:r>
              <a:rPr lang="en-US" altLang="en-US" sz="2000" i="1" dirty="0">
                <a:latin typeface="Times New Roman" panose="02020603050405020304" pitchFamily="18" charset="0"/>
              </a:rPr>
              <a:t>c	4</a:t>
            </a:r>
          </a:p>
          <a:p>
            <a:pPr>
              <a:lnSpc>
                <a:spcPct val="90000"/>
              </a:lnSpc>
            </a:pPr>
            <a:r>
              <a:rPr lang="en-US" altLang="en-US" sz="2000" i="1" dirty="0">
                <a:latin typeface="Times New Roman" panose="02020603050405020304" pitchFamily="18" charset="0"/>
              </a:rPr>
              <a:t>a	3</a:t>
            </a:r>
          </a:p>
          <a:p>
            <a:pPr>
              <a:lnSpc>
                <a:spcPct val="90000"/>
              </a:lnSpc>
            </a:pPr>
            <a:r>
              <a:rPr lang="en-US" altLang="en-US" sz="2000" i="1" dirty="0">
                <a:latin typeface="Times New Roman" panose="02020603050405020304" pitchFamily="18" charset="0"/>
              </a:rPr>
              <a:t>b	3</a:t>
            </a:r>
          </a:p>
          <a:p>
            <a:pPr>
              <a:lnSpc>
                <a:spcPct val="90000"/>
              </a:lnSpc>
            </a:pPr>
            <a:r>
              <a:rPr lang="en-US" altLang="en-US" sz="2000" i="1" dirty="0">
                <a:latin typeface="Times New Roman" panose="02020603050405020304" pitchFamily="18" charset="0"/>
              </a:rPr>
              <a:t>m	3</a:t>
            </a:r>
          </a:p>
          <a:p>
            <a:pPr>
              <a:lnSpc>
                <a:spcPct val="90000"/>
              </a:lnSpc>
            </a:pPr>
            <a:r>
              <a:rPr lang="en-US" altLang="en-US" sz="2000" i="1" dirty="0">
                <a:latin typeface="Times New Roman" panose="02020603050405020304" pitchFamily="18" charset="0"/>
              </a:rPr>
              <a:t>p	3</a:t>
            </a:r>
            <a:endParaRPr lang="en-US" altLang="en-US" sz="2000" dirty="0">
              <a:latin typeface="Times New Roman" panose="02020603050405020304" pitchFamily="18" charset="0"/>
            </a:endParaRPr>
          </a:p>
        </p:txBody>
      </p:sp>
      <p:pic>
        <p:nvPicPr>
          <p:cNvPr id="5" name="Picture 4">
            <a:extLst>
              <a:ext uri="{FF2B5EF4-FFF2-40B4-BE49-F238E27FC236}">
                <a16:creationId xmlns:a16="http://schemas.microsoft.com/office/drawing/2014/main" id="{0AD1DC08-CD35-452A-A71B-DBE453601BA0}"/>
              </a:ext>
            </a:extLst>
          </p:cNvPr>
          <p:cNvPicPr>
            <a:picLocks noChangeAspect="1"/>
          </p:cNvPicPr>
          <p:nvPr/>
        </p:nvPicPr>
        <p:blipFill>
          <a:blip r:embed="rId2"/>
          <a:stretch>
            <a:fillRect/>
          </a:stretch>
        </p:blipFill>
        <p:spPr>
          <a:xfrm>
            <a:off x="5843291" y="2687087"/>
            <a:ext cx="2511770" cy="3017782"/>
          </a:xfrm>
          <a:prstGeom prst="rect">
            <a:avLst/>
          </a:prstGeom>
        </p:spPr>
      </p:pic>
      <p:sp>
        <p:nvSpPr>
          <p:cNvPr id="6" name="Rectangle 4">
            <a:extLst>
              <a:ext uri="{FF2B5EF4-FFF2-40B4-BE49-F238E27FC236}">
                <a16:creationId xmlns:a16="http://schemas.microsoft.com/office/drawing/2014/main" id="{13E7AC63-F5D2-41A6-9BE8-E04C175700F2}"/>
              </a:ext>
            </a:extLst>
          </p:cNvPr>
          <p:cNvSpPr>
            <a:spLocks noChangeArrowheads="1"/>
          </p:cNvSpPr>
          <p:nvPr/>
        </p:nvSpPr>
        <p:spPr bwMode="auto">
          <a:xfrm>
            <a:off x="8887371" y="2724366"/>
            <a:ext cx="3276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b="1" i="1">
                <a:latin typeface="Times New Roman" panose="02020603050405020304" pitchFamily="18" charset="0"/>
              </a:rPr>
              <a:t>m-conditional </a:t>
            </a:r>
            <a:r>
              <a:rPr lang="en-US" altLang="en-US" sz="1800" b="1">
                <a:latin typeface="Times New Roman" panose="02020603050405020304" pitchFamily="18" charset="0"/>
              </a:rPr>
              <a:t>pattern base:</a:t>
            </a:r>
          </a:p>
          <a:p>
            <a:pPr lvl="1"/>
            <a:r>
              <a:rPr lang="en-US" altLang="en-US" sz="1800" b="1" i="1">
                <a:latin typeface="Times New Roman" panose="02020603050405020304" pitchFamily="18" charset="0"/>
              </a:rPr>
              <a:t>fca:2, fcab:1</a:t>
            </a:r>
          </a:p>
        </p:txBody>
      </p:sp>
      <p:sp>
        <p:nvSpPr>
          <p:cNvPr id="7" name="Rectangle 15">
            <a:extLst>
              <a:ext uri="{FF2B5EF4-FFF2-40B4-BE49-F238E27FC236}">
                <a16:creationId xmlns:a16="http://schemas.microsoft.com/office/drawing/2014/main" id="{AAEE9BFB-3434-4AE4-A31E-4FF96B3A5B7B}"/>
              </a:ext>
            </a:extLst>
          </p:cNvPr>
          <p:cNvSpPr>
            <a:spLocks noChangeArrowheads="1"/>
          </p:cNvSpPr>
          <p:nvPr/>
        </p:nvSpPr>
        <p:spPr bwMode="auto">
          <a:xfrm>
            <a:off x="10165672" y="3653161"/>
            <a:ext cx="2209800" cy="179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70000"/>
              </a:lnSpc>
              <a:spcBef>
                <a:spcPct val="50000"/>
              </a:spcBef>
            </a:pPr>
            <a:r>
              <a:rPr lang="en-US" altLang="en-US" sz="1800" b="1" dirty="0">
                <a:latin typeface="Times New Roman" panose="02020603050405020304" pitchFamily="18" charset="0"/>
              </a:rPr>
              <a:t>All frequent patterns relate to</a:t>
            </a:r>
            <a:r>
              <a:rPr lang="en-US" altLang="en-US" sz="1800" b="1" i="1" dirty="0">
                <a:latin typeface="Times New Roman" panose="02020603050405020304" pitchFamily="18" charset="0"/>
              </a:rPr>
              <a:t> m</a:t>
            </a:r>
          </a:p>
          <a:p>
            <a:pPr>
              <a:lnSpc>
                <a:spcPct val="70000"/>
              </a:lnSpc>
              <a:spcBef>
                <a:spcPct val="50000"/>
              </a:spcBef>
            </a:pPr>
            <a:r>
              <a:rPr lang="en-US" altLang="en-US" sz="1800" b="1" i="1" dirty="0">
                <a:latin typeface="Times New Roman" panose="02020603050405020304" pitchFamily="18" charset="0"/>
              </a:rPr>
              <a:t>m, </a:t>
            </a:r>
          </a:p>
          <a:p>
            <a:pPr>
              <a:lnSpc>
                <a:spcPct val="70000"/>
              </a:lnSpc>
              <a:spcBef>
                <a:spcPct val="50000"/>
              </a:spcBef>
            </a:pPr>
            <a:r>
              <a:rPr lang="en-US" altLang="en-US" sz="1800" b="1" i="1" dirty="0" err="1">
                <a:latin typeface="Times New Roman" panose="02020603050405020304" pitchFamily="18" charset="0"/>
              </a:rPr>
              <a:t>fm</a:t>
            </a:r>
            <a:r>
              <a:rPr lang="en-US" altLang="en-US" sz="1800" b="1" i="1" dirty="0">
                <a:latin typeface="Times New Roman" panose="02020603050405020304" pitchFamily="18" charset="0"/>
              </a:rPr>
              <a:t>, cm, am, </a:t>
            </a:r>
          </a:p>
          <a:p>
            <a:pPr>
              <a:lnSpc>
                <a:spcPct val="70000"/>
              </a:lnSpc>
              <a:spcBef>
                <a:spcPct val="50000"/>
              </a:spcBef>
            </a:pPr>
            <a:r>
              <a:rPr lang="en-US" altLang="en-US" sz="1800" b="1" i="1" dirty="0" err="1">
                <a:latin typeface="Times New Roman" panose="02020603050405020304" pitchFamily="18" charset="0"/>
              </a:rPr>
              <a:t>fcm</a:t>
            </a:r>
            <a:r>
              <a:rPr lang="en-US" altLang="en-US" sz="1800" b="1" i="1" dirty="0">
                <a:latin typeface="Times New Roman" panose="02020603050405020304" pitchFamily="18" charset="0"/>
              </a:rPr>
              <a:t>, fam, cam, </a:t>
            </a:r>
          </a:p>
          <a:p>
            <a:pPr>
              <a:lnSpc>
                <a:spcPct val="70000"/>
              </a:lnSpc>
              <a:spcBef>
                <a:spcPct val="50000"/>
              </a:spcBef>
            </a:pPr>
            <a:r>
              <a:rPr lang="en-US" altLang="en-US" sz="1800" b="1" i="1" dirty="0" err="1">
                <a:latin typeface="Times New Roman" panose="02020603050405020304" pitchFamily="18" charset="0"/>
              </a:rPr>
              <a:t>fcam</a:t>
            </a:r>
            <a:endParaRPr lang="en-US" altLang="en-US" sz="1800" b="1" i="1" dirty="0">
              <a:latin typeface="Times New Roman" panose="02020603050405020304" pitchFamily="18" charset="0"/>
            </a:endParaRPr>
          </a:p>
        </p:txBody>
      </p:sp>
      <p:grpSp>
        <p:nvGrpSpPr>
          <p:cNvPr id="8" name="Group 5">
            <a:extLst>
              <a:ext uri="{FF2B5EF4-FFF2-40B4-BE49-F238E27FC236}">
                <a16:creationId xmlns:a16="http://schemas.microsoft.com/office/drawing/2014/main" id="{5E827B14-8DA6-475F-8BC3-6AA5A7395C4D}"/>
              </a:ext>
            </a:extLst>
          </p:cNvPr>
          <p:cNvGrpSpPr>
            <a:grpSpLocks/>
          </p:cNvGrpSpPr>
          <p:nvPr/>
        </p:nvGrpSpPr>
        <p:grpSpPr bwMode="auto">
          <a:xfrm>
            <a:off x="8226971" y="3531391"/>
            <a:ext cx="2298700" cy="2324100"/>
            <a:chOff x="3312" y="2736"/>
            <a:chExt cx="1448" cy="1464"/>
          </a:xfrm>
        </p:grpSpPr>
        <p:grpSp>
          <p:nvGrpSpPr>
            <p:cNvPr id="9" name="Group 6">
              <a:extLst>
                <a:ext uri="{FF2B5EF4-FFF2-40B4-BE49-F238E27FC236}">
                  <a16:creationId xmlns:a16="http://schemas.microsoft.com/office/drawing/2014/main" id="{2424E0E7-3A10-416A-B025-E37CC444DA69}"/>
                </a:ext>
              </a:extLst>
            </p:cNvPr>
            <p:cNvGrpSpPr>
              <a:grpSpLocks/>
            </p:cNvGrpSpPr>
            <p:nvPr/>
          </p:nvGrpSpPr>
          <p:grpSpPr bwMode="auto">
            <a:xfrm>
              <a:off x="3792" y="2736"/>
              <a:ext cx="329" cy="1297"/>
              <a:chOff x="2282" y="2456"/>
              <a:chExt cx="329" cy="1297"/>
            </a:xfrm>
          </p:grpSpPr>
          <p:sp>
            <p:nvSpPr>
              <p:cNvPr id="11" name="Text Box 7">
                <a:extLst>
                  <a:ext uri="{FF2B5EF4-FFF2-40B4-BE49-F238E27FC236}">
                    <a16:creationId xmlns:a16="http://schemas.microsoft.com/office/drawing/2014/main" id="{9BA24C7E-372F-4448-A722-F6553B3373DE}"/>
                  </a:ext>
                </a:extLst>
              </p:cNvPr>
              <p:cNvSpPr txBox="1">
                <a:spLocks noChangeArrowheads="1"/>
              </p:cNvSpPr>
              <p:nvPr/>
            </p:nvSpPr>
            <p:spPr bwMode="auto">
              <a:xfrm>
                <a:off x="2312" y="2456"/>
                <a:ext cx="27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Times New Roman" panose="02020603050405020304" pitchFamily="18" charset="0"/>
                  </a:rPr>
                  <a:t>{}</a:t>
                </a:r>
              </a:p>
            </p:txBody>
          </p:sp>
          <p:sp>
            <p:nvSpPr>
              <p:cNvPr id="12" name="Text Box 8">
                <a:extLst>
                  <a:ext uri="{FF2B5EF4-FFF2-40B4-BE49-F238E27FC236}">
                    <a16:creationId xmlns:a16="http://schemas.microsoft.com/office/drawing/2014/main" id="{AD1B08D5-DDE3-4315-951D-90E91B582134}"/>
                  </a:ext>
                </a:extLst>
              </p:cNvPr>
              <p:cNvSpPr txBox="1">
                <a:spLocks noChangeArrowheads="1"/>
              </p:cNvSpPr>
              <p:nvPr/>
            </p:nvSpPr>
            <p:spPr bwMode="auto">
              <a:xfrm>
                <a:off x="2300" y="2840"/>
                <a:ext cx="29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f:3</a:t>
                </a:r>
              </a:p>
            </p:txBody>
          </p:sp>
          <p:sp>
            <p:nvSpPr>
              <p:cNvPr id="13" name="Text Box 9">
                <a:extLst>
                  <a:ext uri="{FF2B5EF4-FFF2-40B4-BE49-F238E27FC236}">
                    <a16:creationId xmlns:a16="http://schemas.microsoft.com/office/drawing/2014/main" id="{19A5D02B-1AC6-4FA8-AA08-44457CEC29FC}"/>
                  </a:ext>
                </a:extLst>
              </p:cNvPr>
              <p:cNvSpPr txBox="1">
                <a:spLocks noChangeArrowheads="1"/>
              </p:cNvSpPr>
              <p:nvPr/>
            </p:nvSpPr>
            <p:spPr bwMode="auto">
              <a:xfrm>
                <a:off x="2287" y="3167"/>
                <a:ext cx="3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c:3</a:t>
                </a:r>
              </a:p>
            </p:txBody>
          </p:sp>
          <p:sp>
            <p:nvSpPr>
              <p:cNvPr id="14" name="Text Box 10">
                <a:extLst>
                  <a:ext uri="{FF2B5EF4-FFF2-40B4-BE49-F238E27FC236}">
                    <a16:creationId xmlns:a16="http://schemas.microsoft.com/office/drawing/2014/main" id="{4651BBC3-4611-4DD5-A659-CF7FB12433AB}"/>
                  </a:ext>
                </a:extLst>
              </p:cNvPr>
              <p:cNvSpPr txBox="1">
                <a:spLocks noChangeArrowheads="1"/>
              </p:cNvSpPr>
              <p:nvPr/>
            </p:nvSpPr>
            <p:spPr bwMode="auto">
              <a:xfrm>
                <a:off x="2282" y="3503"/>
                <a:ext cx="3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a:3</a:t>
                </a:r>
              </a:p>
            </p:txBody>
          </p:sp>
          <p:cxnSp>
            <p:nvCxnSpPr>
              <p:cNvPr id="15" name="AutoShape 11">
                <a:extLst>
                  <a:ext uri="{FF2B5EF4-FFF2-40B4-BE49-F238E27FC236}">
                    <a16:creationId xmlns:a16="http://schemas.microsoft.com/office/drawing/2014/main" id="{C6DF0546-CFFA-4401-BBA2-05167B26091E}"/>
                  </a:ext>
                </a:extLst>
              </p:cNvPr>
              <p:cNvCxnSpPr>
                <a:cxnSpLocks noChangeShapeType="1"/>
                <a:stCxn id="11" idx="2"/>
                <a:endCxn id="12" idx="0"/>
              </p:cNvCxnSpPr>
              <p:nvPr/>
            </p:nvCxnSpPr>
            <p:spPr bwMode="auto">
              <a:xfrm>
                <a:off x="2447" y="2706"/>
                <a:ext cx="0" cy="134"/>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2">
                <a:extLst>
                  <a:ext uri="{FF2B5EF4-FFF2-40B4-BE49-F238E27FC236}">
                    <a16:creationId xmlns:a16="http://schemas.microsoft.com/office/drawing/2014/main" id="{96839B1C-304F-4454-8550-B7ED9744CC88}"/>
                  </a:ext>
                </a:extLst>
              </p:cNvPr>
              <p:cNvCxnSpPr>
                <a:cxnSpLocks noChangeShapeType="1"/>
                <a:stCxn id="12" idx="2"/>
                <a:endCxn id="13" idx="0"/>
              </p:cNvCxnSpPr>
              <p:nvPr/>
            </p:nvCxnSpPr>
            <p:spPr bwMode="auto">
              <a:xfrm>
                <a:off x="2447" y="3090"/>
                <a:ext cx="0" cy="77"/>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13">
                <a:extLst>
                  <a:ext uri="{FF2B5EF4-FFF2-40B4-BE49-F238E27FC236}">
                    <a16:creationId xmlns:a16="http://schemas.microsoft.com/office/drawing/2014/main" id="{77CEAEA9-D867-4945-8C3D-B5781DF11C1E}"/>
                  </a:ext>
                </a:extLst>
              </p:cNvPr>
              <p:cNvCxnSpPr>
                <a:cxnSpLocks noChangeShapeType="1"/>
                <a:stCxn id="13" idx="2"/>
                <a:endCxn id="14" idx="0"/>
              </p:cNvCxnSpPr>
              <p:nvPr/>
            </p:nvCxnSpPr>
            <p:spPr bwMode="auto">
              <a:xfrm>
                <a:off x="2447" y="3417"/>
                <a:ext cx="0" cy="86"/>
              </a:xfrm>
              <a:prstGeom prst="straightConnector1">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 name="Text Box 14">
              <a:extLst>
                <a:ext uri="{FF2B5EF4-FFF2-40B4-BE49-F238E27FC236}">
                  <a16:creationId xmlns:a16="http://schemas.microsoft.com/office/drawing/2014/main" id="{6BF19710-9A09-42BE-BE0A-1E98A9A26020}"/>
                </a:ext>
              </a:extLst>
            </p:cNvPr>
            <p:cNvSpPr txBox="1">
              <a:spLocks noChangeArrowheads="1"/>
            </p:cNvSpPr>
            <p:nvPr/>
          </p:nvSpPr>
          <p:spPr bwMode="auto">
            <a:xfrm>
              <a:off x="3312" y="3969"/>
              <a:ext cx="14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b="1" i="1">
                  <a:latin typeface="Times New Roman" panose="02020603050405020304" pitchFamily="18" charset="0"/>
                </a:rPr>
                <a:t>m-conditional </a:t>
              </a:r>
              <a:r>
                <a:rPr lang="en-US" altLang="en-US" sz="1800" b="1">
                  <a:latin typeface="Times New Roman" panose="02020603050405020304" pitchFamily="18" charset="0"/>
                </a:rPr>
                <a:t>FP-tree</a:t>
              </a:r>
              <a:endParaRPr lang="en-US" altLang="en-US" sz="1800" b="1" i="1">
                <a:latin typeface="Times New Roman" panose="02020603050405020304" pitchFamily="18" charset="0"/>
              </a:endParaRPr>
            </a:p>
          </p:txBody>
        </p:sp>
      </p:grpSp>
    </p:spTree>
    <p:extLst>
      <p:ext uri="{BB962C8B-B14F-4D97-AF65-F5344CB8AC3E}">
        <p14:creationId xmlns:p14="http://schemas.microsoft.com/office/powerpoint/2010/main" val="4112675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D99EC-D180-4539-B1FF-5E188ED6542D}"/>
              </a:ext>
            </a:extLst>
          </p:cNvPr>
          <p:cNvSpPr>
            <a:spLocks noGrp="1"/>
          </p:cNvSpPr>
          <p:nvPr>
            <p:ph type="title"/>
          </p:nvPr>
        </p:nvSpPr>
        <p:spPr/>
        <p:txBody>
          <a:bodyPr/>
          <a:lstStyle/>
          <a:p>
            <a:r>
              <a:rPr lang="en-US" dirty="0"/>
              <a:t>Attribute Relevance</a:t>
            </a:r>
            <a:endParaRPr lang="en-IN" dirty="0"/>
          </a:p>
        </p:txBody>
      </p:sp>
      <p:sp>
        <p:nvSpPr>
          <p:cNvPr id="3" name="Content Placeholder 2">
            <a:extLst>
              <a:ext uri="{FF2B5EF4-FFF2-40B4-BE49-F238E27FC236}">
                <a16:creationId xmlns:a16="http://schemas.microsoft.com/office/drawing/2014/main" id="{13A42AF6-5C37-4AC8-A93F-CD65ACDADDCF}"/>
              </a:ext>
            </a:extLst>
          </p:cNvPr>
          <p:cNvSpPr>
            <a:spLocks noGrp="1"/>
          </p:cNvSpPr>
          <p:nvPr>
            <p:ph idx="1"/>
          </p:nvPr>
        </p:nvSpPr>
        <p:spPr/>
        <p:txBody>
          <a:bodyPr/>
          <a:lstStyle/>
          <a:p>
            <a:r>
              <a:rPr lang="en-US" dirty="0"/>
              <a:t>Analytical characterization is used to help and identifying the weakly relevant, or irrelevant attributes. We can exclude these unwanted irrelevant attributes when we preparing our data for the mining.</a:t>
            </a:r>
            <a:endParaRPr lang="en-IN" dirty="0"/>
          </a:p>
        </p:txBody>
      </p:sp>
    </p:spTree>
    <p:extLst>
      <p:ext uri="{BB962C8B-B14F-4D97-AF65-F5344CB8AC3E}">
        <p14:creationId xmlns:p14="http://schemas.microsoft.com/office/powerpoint/2010/main" val="10206403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803FE-E476-4CD0-AB81-8C39F6992C83}"/>
              </a:ext>
            </a:extLst>
          </p:cNvPr>
          <p:cNvSpPr>
            <a:spLocks noGrp="1"/>
          </p:cNvSpPr>
          <p:nvPr>
            <p:ph type="title"/>
          </p:nvPr>
        </p:nvSpPr>
        <p:spPr/>
        <p:txBody>
          <a:bodyPr/>
          <a:lstStyle/>
          <a:p>
            <a:r>
              <a:rPr lang="en-US" dirty="0"/>
              <a:t>Attribute Relation measure</a:t>
            </a:r>
            <a:endParaRPr lang="en-IN" dirty="0"/>
          </a:p>
        </p:txBody>
      </p:sp>
      <p:sp>
        <p:nvSpPr>
          <p:cNvPr id="3" name="Content Placeholder 2">
            <a:extLst>
              <a:ext uri="{FF2B5EF4-FFF2-40B4-BE49-F238E27FC236}">
                <a16:creationId xmlns:a16="http://schemas.microsoft.com/office/drawing/2014/main" id="{A4317010-55B4-4347-9585-5B5DBDC3B350}"/>
              </a:ext>
            </a:extLst>
          </p:cNvPr>
          <p:cNvSpPr>
            <a:spLocks noGrp="1"/>
          </p:cNvSpPr>
          <p:nvPr>
            <p:ph idx="1"/>
          </p:nvPr>
        </p:nvSpPr>
        <p:spPr/>
        <p:txBody>
          <a:bodyPr/>
          <a:lstStyle/>
          <a:p>
            <a:r>
              <a:rPr lang="en-US" dirty="0"/>
              <a:t>Gini index</a:t>
            </a:r>
          </a:p>
          <a:p>
            <a:r>
              <a:rPr lang="en-US" dirty="0"/>
              <a:t>χ2 contingency table statistics </a:t>
            </a:r>
          </a:p>
          <a:p>
            <a:r>
              <a:rPr lang="en-US" dirty="0"/>
              <a:t>Gain ratio (C4.5) </a:t>
            </a:r>
          </a:p>
          <a:p>
            <a:r>
              <a:rPr lang="en-US" dirty="0"/>
              <a:t>Uncertainty coefficient</a:t>
            </a:r>
          </a:p>
          <a:p>
            <a:r>
              <a:rPr lang="en-US" dirty="0"/>
              <a:t>information gain (ID3)</a:t>
            </a:r>
            <a:endParaRPr lang="en-IN" dirty="0"/>
          </a:p>
        </p:txBody>
      </p:sp>
    </p:spTree>
    <p:extLst>
      <p:ext uri="{BB962C8B-B14F-4D97-AF65-F5344CB8AC3E}">
        <p14:creationId xmlns:p14="http://schemas.microsoft.com/office/powerpoint/2010/main" val="14678418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DCC25-DC46-48FA-833A-172CC83C6269}"/>
              </a:ext>
            </a:extLst>
          </p:cNvPr>
          <p:cNvSpPr>
            <a:spLocks noGrp="1"/>
          </p:cNvSpPr>
          <p:nvPr>
            <p:ph type="title"/>
          </p:nvPr>
        </p:nvSpPr>
        <p:spPr/>
        <p:txBody>
          <a:bodyPr/>
          <a:lstStyle/>
          <a:p>
            <a:r>
              <a:rPr lang="en-US" dirty="0"/>
              <a:t>Entropy</a:t>
            </a:r>
            <a:endParaRPr lang="en-IN" dirty="0"/>
          </a:p>
        </p:txBody>
      </p:sp>
      <p:sp>
        <p:nvSpPr>
          <p:cNvPr id="3" name="Content Placeholder 2">
            <a:extLst>
              <a:ext uri="{FF2B5EF4-FFF2-40B4-BE49-F238E27FC236}">
                <a16:creationId xmlns:a16="http://schemas.microsoft.com/office/drawing/2014/main" id="{FEE4CF77-C4DD-48E9-B05B-99EE19F6954B}"/>
              </a:ext>
            </a:extLst>
          </p:cNvPr>
          <p:cNvSpPr>
            <a:spLocks noGrp="1"/>
          </p:cNvSpPr>
          <p:nvPr>
            <p:ph idx="1"/>
          </p:nvPr>
        </p:nvSpPr>
        <p:spPr>
          <a:xfrm>
            <a:off x="3620693" y="797659"/>
            <a:ext cx="7315200" cy="2433813"/>
          </a:xfrm>
        </p:spPr>
        <p:txBody>
          <a:bodyPr/>
          <a:lstStyle/>
          <a:p>
            <a:r>
              <a:rPr lang="en-US" dirty="0"/>
              <a:t>Entropy is a measure of disorder or uncertainty and the goal of machine learning models and Data Scientists in general is to reduce uncertainty.</a:t>
            </a:r>
          </a:p>
          <a:p>
            <a:endParaRPr lang="en-IN" dirty="0"/>
          </a:p>
        </p:txBody>
      </p:sp>
      <p:pic>
        <p:nvPicPr>
          <p:cNvPr id="7" name="Picture 6">
            <a:extLst>
              <a:ext uri="{FF2B5EF4-FFF2-40B4-BE49-F238E27FC236}">
                <a16:creationId xmlns:a16="http://schemas.microsoft.com/office/drawing/2014/main" id="{AA797732-FAC0-4DB4-A1FD-1A2541F6612D}"/>
              </a:ext>
            </a:extLst>
          </p:cNvPr>
          <p:cNvPicPr>
            <a:picLocks noChangeAspect="1"/>
          </p:cNvPicPr>
          <p:nvPr/>
        </p:nvPicPr>
        <p:blipFill>
          <a:blip r:embed="rId2"/>
          <a:stretch>
            <a:fillRect/>
          </a:stretch>
        </p:blipFill>
        <p:spPr>
          <a:xfrm>
            <a:off x="4110361" y="3124332"/>
            <a:ext cx="6161103" cy="2600688"/>
          </a:xfrm>
          <a:prstGeom prst="rect">
            <a:avLst/>
          </a:prstGeom>
        </p:spPr>
      </p:pic>
    </p:spTree>
    <p:extLst>
      <p:ext uri="{BB962C8B-B14F-4D97-AF65-F5344CB8AC3E}">
        <p14:creationId xmlns:p14="http://schemas.microsoft.com/office/powerpoint/2010/main" val="40257320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2B4A-161C-4D48-9E70-264A2A748E69}"/>
              </a:ext>
            </a:extLst>
          </p:cNvPr>
          <p:cNvSpPr>
            <a:spLocks noGrp="1"/>
          </p:cNvSpPr>
          <p:nvPr>
            <p:ph type="title"/>
          </p:nvPr>
        </p:nvSpPr>
        <p:spPr/>
        <p:txBody>
          <a:bodyPr/>
          <a:lstStyle/>
          <a:p>
            <a:r>
              <a:rPr lang="en-US" dirty="0"/>
              <a:t>Information gain</a:t>
            </a:r>
            <a:endParaRPr lang="en-IN" dirty="0"/>
          </a:p>
        </p:txBody>
      </p:sp>
      <p:sp>
        <p:nvSpPr>
          <p:cNvPr id="3" name="Content Placeholder 2">
            <a:extLst>
              <a:ext uri="{FF2B5EF4-FFF2-40B4-BE49-F238E27FC236}">
                <a16:creationId xmlns:a16="http://schemas.microsoft.com/office/drawing/2014/main" id="{93E635BB-F376-41BC-9E51-0DD17498CAB9}"/>
              </a:ext>
            </a:extLst>
          </p:cNvPr>
          <p:cNvSpPr>
            <a:spLocks noGrp="1"/>
          </p:cNvSpPr>
          <p:nvPr>
            <p:ph idx="1"/>
          </p:nvPr>
        </p:nvSpPr>
        <p:spPr/>
        <p:txBody>
          <a:bodyPr/>
          <a:lstStyle/>
          <a:p>
            <a:r>
              <a:rPr lang="en-US" dirty="0"/>
              <a:t>The feature with the largest information gain should be used as the root node to start building the decision tree.</a:t>
            </a:r>
          </a:p>
          <a:p>
            <a:r>
              <a:rPr lang="en-US" dirty="0"/>
              <a:t>o find the best feature which serves as a root node in terms of information gain, we first use each descriptive feature and split the dataset along the values of these descriptive features and then calculate the entropy of the dataset. </a:t>
            </a:r>
          </a:p>
          <a:p>
            <a:r>
              <a:rPr lang="en-US" dirty="0"/>
              <a:t>This gives us the remaining entropy once we have split the dataset along the feature values. </a:t>
            </a:r>
          </a:p>
          <a:p>
            <a:r>
              <a:rPr lang="en-US" dirty="0"/>
              <a:t>Then, we subtract this value from the originally calculated entropy of the dataset to see how much this feature splitting reduces the original entropy which gives the information gain of a feature</a:t>
            </a:r>
            <a:endParaRPr lang="en-IN" dirty="0"/>
          </a:p>
        </p:txBody>
      </p:sp>
    </p:spTree>
    <p:extLst>
      <p:ext uri="{BB962C8B-B14F-4D97-AF65-F5344CB8AC3E}">
        <p14:creationId xmlns:p14="http://schemas.microsoft.com/office/powerpoint/2010/main" val="6791736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7468-A115-4E38-B179-0306F7E517C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7C1CDF6-BB3D-4B25-A311-205EB36B93E7}"/>
              </a:ext>
            </a:extLst>
          </p:cNvPr>
          <p:cNvPicPr>
            <a:picLocks noGrp="1" noChangeAspect="1"/>
          </p:cNvPicPr>
          <p:nvPr>
            <p:ph idx="1"/>
          </p:nvPr>
        </p:nvPicPr>
        <p:blipFill>
          <a:blip r:embed="rId2"/>
          <a:stretch>
            <a:fillRect/>
          </a:stretch>
        </p:blipFill>
        <p:spPr>
          <a:xfrm>
            <a:off x="4811696" y="2215948"/>
            <a:ext cx="5548543" cy="2231763"/>
          </a:xfrm>
        </p:spPr>
      </p:pic>
    </p:spTree>
    <p:extLst>
      <p:ext uri="{BB962C8B-B14F-4D97-AF65-F5344CB8AC3E}">
        <p14:creationId xmlns:p14="http://schemas.microsoft.com/office/powerpoint/2010/main" val="478873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3B5FB-1A8F-4286-9F13-2D62216F4D7C}"/>
              </a:ext>
            </a:extLst>
          </p:cNvPr>
          <p:cNvSpPr>
            <a:spLocks noGrp="1"/>
          </p:cNvSpPr>
          <p:nvPr>
            <p:ph type="title"/>
          </p:nvPr>
        </p:nvSpPr>
        <p:spPr/>
        <p:txBody>
          <a:bodyPr/>
          <a:lstStyle/>
          <a:p>
            <a:r>
              <a:rPr lang="en-US" dirty="0"/>
              <a:t>Gini Index</a:t>
            </a:r>
            <a:endParaRPr lang="en-IN" dirty="0"/>
          </a:p>
        </p:txBody>
      </p:sp>
      <p:sp>
        <p:nvSpPr>
          <p:cNvPr id="3" name="Content Placeholder 2">
            <a:extLst>
              <a:ext uri="{FF2B5EF4-FFF2-40B4-BE49-F238E27FC236}">
                <a16:creationId xmlns:a16="http://schemas.microsoft.com/office/drawing/2014/main" id="{E890AABE-8743-4C54-B91B-F0BC69326059}"/>
              </a:ext>
            </a:extLst>
          </p:cNvPr>
          <p:cNvSpPr>
            <a:spLocks noGrp="1"/>
          </p:cNvSpPr>
          <p:nvPr>
            <p:ph idx="1"/>
          </p:nvPr>
        </p:nvSpPr>
        <p:spPr/>
        <p:txBody>
          <a:bodyPr/>
          <a:lstStyle/>
          <a:p>
            <a:r>
              <a:rPr lang="en-US" dirty="0"/>
              <a:t>It is calculated by subtracting the sum of squared probabilities of each class from one.</a:t>
            </a:r>
          </a:p>
          <a:p>
            <a:r>
              <a:rPr lang="en-US" dirty="0"/>
              <a:t>It favors larger partitions and easy to implement whereas information gain favors smaller partitions with distinct values.</a:t>
            </a:r>
          </a:p>
          <a:p>
            <a:r>
              <a:rPr lang="en-US" dirty="0"/>
              <a:t>A feature with a lower Gini index is chosen for a split.</a:t>
            </a:r>
            <a:endParaRPr lang="en-IN" dirty="0"/>
          </a:p>
        </p:txBody>
      </p:sp>
    </p:spTree>
    <p:extLst>
      <p:ext uri="{BB962C8B-B14F-4D97-AF65-F5344CB8AC3E}">
        <p14:creationId xmlns:p14="http://schemas.microsoft.com/office/powerpoint/2010/main" val="42930263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28BF9-43FC-4F17-A6D6-00E02C12864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1CB27D0-B682-4F4E-BE6C-FD2EA9030843}"/>
              </a:ext>
            </a:extLst>
          </p:cNvPr>
          <p:cNvPicPr>
            <a:picLocks noGrp="1" noChangeAspect="1"/>
          </p:cNvPicPr>
          <p:nvPr>
            <p:ph idx="1"/>
          </p:nvPr>
        </p:nvPicPr>
        <p:blipFill>
          <a:blip r:embed="rId2"/>
          <a:stretch>
            <a:fillRect/>
          </a:stretch>
        </p:blipFill>
        <p:spPr>
          <a:xfrm>
            <a:off x="4527612" y="2924175"/>
            <a:ext cx="5433134" cy="1000125"/>
          </a:xfrm>
        </p:spPr>
      </p:pic>
    </p:spTree>
    <p:extLst>
      <p:ext uri="{BB962C8B-B14F-4D97-AF65-F5344CB8AC3E}">
        <p14:creationId xmlns:p14="http://schemas.microsoft.com/office/powerpoint/2010/main" val="32189203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23055-28EA-4D75-9682-7F0CA506249E}"/>
              </a:ext>
            </a:extLst>
          </p:cNvPr>
          <p:cNvSpPr>
            <a:spLocks noGrp="1"/>
          </p:cNvSpPr>
          <p:nvPr>
            <p:ph type="title"/>
          </p:nvPr>
        </p:nvSpPr>
        <p:spPr/>
        <p:txBody>
          <a:bodyPr/>
          <a:lstStyle/>
          <a:p>
            <a:r>
              <a:rPr lang="en-US" dirty="0"/>
              <a:t>Example</a:t>
            </a:r>
            <a:endParaRPr lang="en-IN" dirty="0"/>
          </a:p>
        </p:txBody>
      </p:sp>
      <p:pic>
        <p:nvPicPr>
          <p:cNvPr id="5" name="Content Placeholder 4">
            <a:extLst>
              <a:ext uri="{FF2B5EF4-FFF2-40B4-BE49-F238E27FC236}">
                <a16:creationId xmlns:a16="http://schemas.microsoft.com/office/drawing/2014/main" id="{F1D7C28A-5F08-476A-A948-4289D87A92E9}"/>
              </a:ext>
            </a:extLst>
          </p:cNvPr>
          <p:cNvPicPr>
            <a:picLocks noGrp="1" noChangeAspect="1"/>
          </p:cNvPicPr>
          <p:nvPr>
            <p:ph idx="1"/>
          </p:nvPr>
        </p:nvPicPr>
        <p:blipFill>
          <a:blip r:embed="rId2"/>
          <a:stretch>
            <a:fillRect/>
          </a:stretch>
        </p:blipFill>
        <p:spPr>
          <a:xfrm>
            <a:off x="3868738" y="907374"/>
            <a:ext cx="7315200" cy="5033726"/>
          </a:xfrm>
        </p:spPr>
      </p:pic>
    </p:spTree>
    <p:extLst>
      <p:ext uri="{BB962C8B-B14F-4D97-AF65-F5344CB8AC3E}">
        <p14:creationId xmlns:p14="http://schemas.microsoft.com/office/powerpoint/2010/main" val="4221483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FF934-1253-40C3-A333-0ADA7F32704D}"/>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1AA6D9E1-A5B1-4194-A516-3A19D0BB2F1F}"/>
              </a:ext>
            </a:extLst>
          </p:cNvPr>
          <p:cNvPicPr>
            <a:picLocks noGrp="1" noChangeAspect="1"/>
          </p:cNvPicPr>
          <p:nvPr>
            <p:ph idx="1"/>
          </p:nvPr>
        </p:nvPicPr>
        <p:blipFill>
          <a:blip r:embed="rId2"/>
          <a:stretch>
            <a:fillRect/>
          </a:stretch>
        </p:blipFill>
        <p:spPr>
          <a:xfrm>
            <a:off x="3868738" y="1580807"/>
            <a:ext cx="7315200" cy="3686860"/>
          </a:xfrm>
        </p:spPr>
      </p:pic>
    </p:spTree>
    <p:extLst>
      <p:ext uri="{BB962C8B-B14F-4D97-AF65-F5344CB8AC3E}">
        <p14:creationId xmlns:p14="http://schemas.microsoft.com/office/powerpoint/2010/main" val="14015455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2F83F-BEC0-45C3-907B-93C49E41F06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42DA1FE-04D4-41D5-AAC6-6798C80D06F8}"/>
              </a:ext>
            </a:extLst>
          </p:cNvPr>
          <p:cNvPicPr>
            <a:picLocks noGrp="1" noChangeAspect="1"/>
          </p:cNvPicPr>
          <p:nvPr>
            <p:ph idx="1"/>
          </p:nvPr>
        </p:nvPicPr>
        <p:blipFill>
          <a:blip r:embed="rId2"/>
          <a:stretch>
            <a:fillRect/>
          </a:stretch>
        </p:blipFill>
        <p:spPr>
          <a:xfrm>
            <a:off x="3919806" y="863600"/>
            <a:ext cx="7213063" cy="5121275"/>
          </a:xfrm>
        </p:spPr>
      </p:pic>
    </p:spTree>
    <p:extLst>
      <p:ext uri="{BB962C8B-B14F-4D97-AF65-F5344CB8AC3E}">
        <p14:creationId xmlns:p14="http://schemas.microsoft.com/office/powerpoint/2010/main" val="37505137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DAAD9-641C-4314-84A9-EF15A6D417A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4FD94C3-1A35-464F-AD84-749E4789E752}"/>
              </a:ext>
            </a:extLst>
          </p:cNvPr>
          <p:cNvPicPr>
            <a:picLocks noGrp="1" noChangeAspect="1"/>
          </p:cNvPicPr>
          <p:nvPr>
            <p:ph idx="1"/>
          </p:nvPr>
        </p:nvPicPr>
        <p:blipFill>
          <a:blip r:embed="rId2"/>
          <a:stretch>
            <a:fillRect/>
          </a:stretch>
        </p:blipFill>
        <p:spPr>
          <a:xfrm>
            <a:off x="3868738" y="1978326"/>
            <a:ext cx="7315200" cy="2901347"/>
          </a:xfrm>
        </p:spPr>
      </p:pic>
    </p:spTree>
    <p:extLst>
      <p:ext uri="{BB962C8B-B14F-4D97-AF65-F5344CB8AC3E}">
        <p14:creationId xmlns:p14="http://schemas.microsoft.com/office/powerpoint/2010/main" val="17245149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3F4B-D2A0-4373-B13F-5839541DBD33}"/>
              </a:ext>
            </a:extLst>
          </p:cNvPr>
          <p:cNvSpPr>
            <a:spLocks noGrp="1"/>
          </p:cNvSpPr>
          <p:nvPr>
            <p:ph type="title"/>
          </p:nvPr>
        </p:nvSpPr>
        <p:spPr/>
        <p:txBody>
          <a:bodyPr/>
          <a:lstStyle/>
          <a:p>
            <a:pPr algn="ctr"/>
            <a:r>
              <a:rPr lang="en-US" dirty="0"/>
              <a:t>OLAP</a:t>
            </a:r>
            <a:endParaRPr lang="en-IN" dirty="0"/>
          </a:p>
        </p:txBody>
      </p:sp>
      <p:sp>
        <p:nvSpPr>
          <p:cNvPr id="3" name="Content Placeholder 2">
            <a:extLst>
              <a:ext uri="{FF2B5EF4-FFF2-40B4-BE49-F238E27FC236}">
                <a16:creationId xmlns:a16="http://schemas.microsoft.com/office/drawing/2014/main" id="{542CD9C9-BE62-4140-9EC1-37659F425D70}"/>
              </a:ext>
            </a:extLst>
          </p:cNvPr>
          <p:cNvSpPr>
            <a:spLocks noGrp="1"/>
          </p:cNvSpPr>
          <p:nvPr>
            <p:ph idx="1"/>
          </p:nvPr>
        </p:nvSpPr>
        <p:spPr/>
        <p:txBody>
          <a:bodyPr/>
          <a:lstStyle/>
          <a:p>
            <a:r>
              <a:rPr lang="en-US" dirty="0"/>
              <a:t>Online Analytical Processing (OLAP) is a category of software that allows users to analyze information from multiple database systems at the same time. </a:t>
            </a:r>
          </a:p>
          <a:p>
            <a:r>
              <a:rPr lang="en-US" dirty="0"/>
              <a:t>It is a technology that enables analysts to extract and view business data from different points of view.</a:t>
            </a:r>
          </a:p>
          <a:p>
            <a:r>
              <a:rPr lang="en-US" dirty="0"/>
              <a:t>Analysts frequently need to group, aggregate and join data. These OLAP operations in data mining are resource intensive.</a:t>
            </a:r>
          </a:p>
          <a:p>
            <a:r>
              <a:rPr lang="en-US" dirty="0"/>
              <a:t>With OLAP data can be pre-calculated and pre-aggregated, making analysis faster.</a:t>
            </a:r>
          </a:p>
          <a:p>
            <a:r>
              <a:rPr lang="en-US" dirty="0"/>
              <a:t>OLAP databases are divided into one or more cubes. The cubes are designed in such a way that creating and viewing reports become easy. OLAP stands for Online Analytical Processing.</a:t>
            </a:r>
            <a:endParaRPr lang="en-IN" dirty="0"/>
          </a:p>
        </p:txBody>
      </p:sp>
    </p:spTree>
    <p:extLst>
      <p:ext uri="{BB962C8B-B14F-4D97-AF65-F5344CB8AC3E}">
        <p14:creationId xmlns:p14="http://schemas.microsoft.com/office/powerpoint/2010/main" val="9218206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3F4B-D2A0-4373-B13F-5839541DBD33}"/>
              </a:ext>
            </a:extLst>
          </p:cNvPr>
          <p:cNvSpPr>
            <a:spLocks noGrp="1"/>
          </p:cNvSpPr>
          <p:nvPr>
            <p:ph type="title"/>
          </p:nvPr>
        </p:nvSpPr>
        <p:spPr/>
        <p:txBody>
          <a:bodyPr/>
          <a:lstStyle/>
          <a:p>
            <a:pPr algn="ctr"/>
            <a:r>
              <a:rPr lang="en-US" dirty="0"/>
              <a:t>OLAP</a:t>
            </a:r>
            <a:endParaRPr lang="en-IN" dirty="0"/>
          </a:p>
        </p:txBody>
      </p:sp>
      <p:pic>
        <p:nvPicPr>
          <p:cNvPr id="5" name="Content Placeholder 4">
            <a:extLst>
              <a:ext uri="{FF2B5EF4-FFF2-40B4-BE49-F238E27FC236}">
                <a16:creationId xmlns:a16="http://schemas.microsoft.com/office/drawing/2014/main" id="{C0FBDB09-E175-448C-B36C-ECD1727F689C}"/>
              </a:ext>
            </a:extLst>
          </p:cNvPr>
          <p:cNvPicPr>
            <a:picLocks noGrp="1" noChangeAspect="1"/>
          </p:cNvPicPr>
          <p:nvPr>
            <p:ph idx="1"/>
          </p:nvPr>
        </p:nvPicPr>
        <p:blipFill>
          <a:blip r:embed="rId2"/>
          <a:stretch>
            <a:fillRect/>
          </a:stretch>
        </p:blipFill>
        <p:spPr>
          <a:xfrm>
            <a:off x="4847209" y="1123837"/>
            <a:ext cx="5450888" cy="4256031"/>
          </a:xfrm>
        </p:spPr>
      </p:pic>
    </p:spTree>
    <p:extLst>
      <p:ext uri="{BB962C8B-B14F-4D97-AF65-F5344CB8AC3E}">
        <p14:creationId xmlns:p14="http://schemas.microsoft.com/office/powerpoint/2010/main" val="27994038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3D0C1-A4D9-4748-8BBB-9F9A5A656CEE}"/>
              </a:ext>
            </a:extLst>
          </p:cNvPr>
          <p:cNvSpPr>
            <a:spLocks noGrp="1"/>
          </p:cNvSpPr>
          <p:nvPr>
            <p:ph type="title"/>
          </p:nvPr>
        </p:nvSpPr>
        <p:spPr/>
        <p:txBody>
          <a:bodyPr/>
          <a:lstStyle/>
          <a:p>
            <a:r>
              <a:rPr lang="en-US" dirty="0"/>
              <a:t>Basic analytical operations of OLAP</a:t>
            </a:r>
            <a:endParaRPr lang="en-IN" dirty="0"/>
          </a:p>
        </p:txBody>
      </p:sp>
      <p:sp>
        <p:nvSpPr>
          <p:cNvPr id="3" name="Content Placeholder 2">
            <a:extLst>
              <a:ext uri="{FF2B5EF4-FFF2-40B4-BE49-F238E27FC236}">
                <a16:creationId xmlns:a16="http://schemas.microsoft.com/office/drawing/2014/main" id="{49C37F69-5966-4E76-81A8-51F31487A9F1}"/>
              </a:ext>
            </a:extLst>
          </p:cNvPr>
          <p:cNvSpPr>
            <a:spLocks noGrp="1"/>
          </p:cNvSpPr>
          <p:nvPr>
            <p:ph idx="1"/>
          </p:nvPr>
        </p:nvSpPr>
        <p:spPr/>
        <p:txBody>
          <a:bodyPr/>
          <a:lstStyle/>
          <a:p>
            <a:r>
              <a:rPr lang="en-US" dirty="0"/>
              <a:t>Roll-up:</a:t>
            </a:r>
          </a:p>
          <a:p>
            <a:pPr lvl="1"/>
            <a:r>
              <a:rPr lang="en-US" dirty="0"/>
              <a:t>Roll-up is also known as “consolidation” or “aggregation.” The Roll-up operation can be performed in 2 ways</a:t>
            </a:r>
          </a:p>
          <a:p>
            <a:pPr lvl="1"/>
            <a:r>
              <a:rPr lang="en-US" dirty="0"/>
              <a:t>Reducing dimensions</a:t>
            </a:r>
          </a:p>
          <a:p>
            <a:pPr lvl="1"/>
            <a:r>
              <a:rPr lang="en-US" dirty="0"/>
              <a:t>Climbing up concept hierarchy. Concept hierarchy is a system of grouping things based on their order or level.</a:t>
            </a:r>
            <a:endParaRPr lang="en-IN" dirty="0"/>
          </a:p>
        </p:txBody>
      </p:sp>
    </p:spTree>
    <p:extLst>
      <p:ext uri="{BB962C8B-B14F-4D97-AF65-F5344CB8AC3E}">
        <p14:creationId xmlns:p14="http://schemas.microsoft.com/office/powerpoint/2010/main" val="26394722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3D0C1-A4D9-4748-8BBB-9F9A5A656CEE}"/>
              </a:ext>
            </a:extLst>
          </p:cNvPr>
          <p:cNvSpPr>
            <a:spLocks noGrp="1"/>
          </p:cNvSpPr>
          <p:nvPr>
            <p:ph type="title"/>
          </p:nvPr>
        </p:nvSpPr>
        <p:spPr/>
        <p:txBody>
          <a:bodyPr/>
          <a:lstStyle/>
          <a:p>
            <a:r>
              <a:rPr lang="en-US" dirty="0"/>
              <a:t>Roll-Up</a:t>
            </a:r>
            <a:endParaRPr lang="en-IN" dirty="0"/>
          </a:p>
        </p:txBody>
      </p:sp>
      <p:pic>
        <p:nvPicPr>
          <p:cNvPr id="5" name="Content Placeholder 4">
            <a:extLst>
              <a:ext uri="{FF2B5EF4-FFF2-40B4-BE49-F238E27FC236}">
                <a16:creationId xmlns:a16="http://schemas.microsoft.com/office/drawing/2014/main" id="{DB051FF2-DC58-496B-B884-9B3E0378CBDB}"/>
              </a:ext>
            </a:extLst>
          </p:cNvPr>
          <p:cNvPicPr>
            <a:picLocks noGrp="1" noChangeAspect="1"/>
          </p:cNvPicPr>
          <p:nvPr>
            <p:ph idx="1"/>
          </p:nvPr>
        </p:nvPicPr>
        <p:blipFill>
          <a:blip r:embed="rId2"/>
          <a:stretch>
            <a:fillRect/>
          </a:stretch>
        </p:blipFill>
        <p:spPr>
          <a:xfrm>
            <a:off x="4021584" y="1223962"/>
            <a:ext cx="6711519" cy="4400550"/>
          </a:xfrm>
        </p:spPr>
      </p:pic>
    </p:spTree>
    <p:extLst>
      <p:ext uri="{BB962C8B-B14F-4D97-AF65-F5344CB8AC3E}">
        <p14:creationId xmlns:p14="http://schemas.microsoft.com/office/powerpoint/2010/main" val="21957853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786D6-FD4D-4BF3-804F-568CE8D58933}"/>
              </a:ext>
            </a:extLst>
          </p:cNvPr>
          <p:cNvSpPr>
            <a:spLocks noGrp="1"/>
          </p:cNvSpPr>
          <p:nvPr>
            <p:ph type="title"/>
          </p:nvPr>
        </p:nvSpPr>
        <p:spPr/>
        <p:txBody>
          <a:bodyPr/>
          <a:lstStyle/>
          <a:p>
            <a:r>
              <a:rPr lang="en-US" dirty="0"/>
              <a:t>Roll-Up</a:t>
            </a:r>
            <a:endParaRPr lang="en-IN" dirty="0"/>
          </a:p>
        </p:txBody>
      </p:sp>
      <p:sp>
        <p:nvSpPr>
          <p:cNvPr id="3" name="Content Placeholder 2">
            <a:extLst>
              <a:ext uri="{FF2B5EF4-FFF2-40B4-BE49-F238E27FC236}">
                <a16:creationId xmlns:a16="http://schemas.microsoft.com/office/drawing/2014/main" id="{6250E8A1-A856-4856-B6A8-A8220D21AAC1}"/>
              </a:ext>
            </a:extLst>
          </p:cNvPr>
          <p:cNvSpPr>
            <a:spLocks noGrp="1"/>
          </p:cNvSpPr>
          <p:nvPr>
            <p:ph idx="1"/>
          </p:nvPr>
        </p:nvSpPr>
        <p:spPr/>
        <p:txBody>
          <a:bodyPr/>
          <a:lstStyle/>
          <a:p>
            <a:r>
              <a:rPr lang="en-US" dirty="0"/>
              <a:t>In this example, cities New jersey and Lost Angles and rolled up into country USA</a:t>
            </a:r>
          </a:p>
          <a:p>
            <a:r>
              <a:rPr lang="en-US" dirty="0"/>
              <a:t>The sales figure of New Jersey and Los Angeles are 440 and 1560 respectively. They become 2000 after roll-up</a:t>
            </a:r>
          </a:p>
          <a:p>
            <a:r>
              <a:rPr lang="en-US" dirty="0"/>
              <a:t>In this aggregation process, data is location hierarchy moves up from city to the country.</a:t>
            </a:r>
          </a:p>
          <a:p>
            <a:r>
              <a:rPr lang="en-US" dirty="0"/>
              <a:t>In the roll-up process at least one or more dimensions need to be removed. In this example, Cities dimension is removed.</a:t>
            </a:r>
            <a:endParaRPr lang="en-IN" dirty="0"/>
          </a:p>
        </p:txBody>
      </p:sp>
    </p:spTree>
    <p:extLst>
      <p:ext uri="{BB962C8B-B14F-4D97-AF65-F5344CB8AC3E}">
        <p14:creationId xmlns:p14="http://schemas.microsoft.com/office/powerpoint/2010/main" val="29229465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883D3-F55D-4928-8568-2EC6BCDC624A}"/>
              </a:ext>
            </a:extLst>
          </p:cNvPr>
          <p:cNvSpPr>
            <a:spLocks noGrp="1"/>
          </p:cNvSpPr>
          <p:nvPr>
            <p:ph type="title"/>
          </p:nvPr>
        </p:nvSpPr>
        <p:spPr/>
        <p:txBody>
          <a:bodyPr/>
          <a:lstStyle/>
          <a:p>
            <a:r>
              <a:rPr lang="en-IN" dirty="0"/>
              <a:t>Drill-down</a:t>
            </a:r>
          </a:p>
        </p:txBody>
      </p:sp>
      <p:sp>
        <p:nvSpPr>
          <p:cNvPr id="3" name="Content Placeholder 2">
            <a:extLst>
              <a:ext uri="{FF2B5EF4-FFF2-40B4-BE49-F238E27FC236}">
                <a16:creationId xmlns:a16="http://schemas.microsoft.com/office/drawing/2014/main" id="{2DA6E4C4-01D5-4E18-969A-742BCCA71D47}"/>
              </a:ext>
            </a:extLst>
          </p:cNvPr>
          <p:cNvSpPr>
            <a:spLocks noGrp="1"/>
          </p:cNvSpPr>
          <p:nvPr>
            <p:ph idx="1"/>
          </p:nvPr>
        </p:nvSpPr>
        <p:spPr/>
        <p:txBody>
          <a:bodyPr/>
          <a:lstStyle/>
          <a:p>
            <a:r>
              <a:rPr lang="en-US" dirty="0"/>
              <a:t>In drill-down data is fragmented into smaller parts. It is the opposite of the rollup process. It can be done via</a:t>
            </a:r>
          </a:p>
          <a:p>
            <a:pPr lvl="1"/>
            <a:r>
              <a:rPr lang="en-US" dirty="0"/>
              <a:t>Moving down the concept hierarchy</a:t>
            </a:r>
          </a:p>
          <a:p>
            <a:pPr lvl="1"/>
            <a:r>
              <a:rPr lang="en-US" dirty="0"/>
              <a:t>Increasing a dimension</a:t>
            </a:r>
          </a:p>
          <a:p>
            <a:pPr marL="502920" lvl="1" indent="0">
              <a:buNone/>
            </a:pPr>
            <a:endParaRPr lang="en-IN" dirty="0"/>
          </a:p>
        </p:txBody>
      </p:sp>
    </p:spTree>
    <p:extLst>
      <p:ext uri="{BB962C8B-B14F-4D97-AF65-F5344CB8AC3E}">
        <p14:creationId xmlns:p14="http://schemas.microsoft.com/office/powerpoint/2010/main" val="9815080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706E7-876D-43BB-A8CF-7F31E054AF4D}"/>
              </a:ext>
            </a:extLst>
          </p:cNvPr>
          <p:cNvSpPr>
            <a:spLocks noGrp="1"/>
          </p:cNvSpPr>
          <p:nvPr>
            <p:ph type="title"/>
          </p:nvPr>
        </p:nvSpPr>
        <p:spPr/>
        <p:txBody>
          <a:bodyPr/>
          <a:lstStyle/>
          <a:p>
            <a:r>
              <a:rPr lang="en-US" dirty="0"/>
              <a:t>Example</a:t>
            </a:r>
            <a:endParaRPr lang="en-IN" dirty="0"/>
          </a:p>
        </p:txBody>
      </p:sp>
      <p:pic>
        <p:nvPicPr>
          <p:cNvPr id="5" name="Content Placeholder 4">
            <a:extLst>
              <a:ext uri="{FF2B5EF4-FFF2-40B4-BE49-F238E27FC236}">
                <a16:creationId xmlns:a16="http://schemas.microsoft.com/office/drawing/2014/main" id="{5B1A1D85-04AF-4110-B060-5E1DE133CA1E}"/>
              </a:ext>
            </a:extLst>
          </p:cNvPr>
          <p:cNvPicPr>
            <a:picLocks noGrp="1" noChangeAspect="1"/>
          </p:cNvPicPr>
          <p:nvPr>
            <p:ph idx="1"/>
          </p:nvPr>
        </p:nvPicPr>
        <p:blipFill>
          <a:blip r:embed="rId2"/>
          <a:stretch>
            <a:fillRect/>
          </a:stretch>
        </p:blipFill>
        <p:spPr>
          <a:xfrm>
            <a:off x="4230382" y="863600"/>
            <a:ext cx="6591911" cy="5121275"/>
          </a:xfrm>
        </p:spPr>
      </p:pic>
    </p:spTree>
    <p:extLst>
      <p:ext uri="{BB962C8B-B14F-4D97-AF65-F5344CB8AC3E}">
        <p14:creationId xmlns:p14="http://schemas.microsoft.com/office/powerpoint/2010/main" val="26728371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8EDA5-5902-4251-B294-ACEE6F16056E}"/>
              </a:ext>
            </a:extLst>
          </p:cNvPr>
          <p:cNvSpPr>
            <a:spLocks noGrp="1"/>
          </p:cNvSpPr>
          <p:nvPr>
            <p:ph type="title"/>
          </p:nvPr>
        </p:nvSpPr>
        <p:spPr/>
        <p:txBody>
          <a:bodyPr/>
          <a:lstStyle/>
          <a:p>
            <a:pPr algn="ctr"/>
            <a:r>
              <a:rPr lang="en-US" dirty="0"/>
              <a:t>Slice</a:t>
            </a:r>
            <a:endParaRPr lang="en-IN" dirty="0"/>
          </a:p>
        </p:txBody>
      </p:sp>
      <p:sp>
        <p:nvSpPr>
          <p:cNvPr id="3" name="Content Placeholder 2">
            <a:extLst>
              <a:ext uri="{FF2B5EF4-FFF2-40B4-BE49-F238E27FC236}">
                <a16:creationId xmlns:a16="http://schemas.microsoft.com/office/drawing/2014/main" id="{D2FE3395-4959-44D0-921B-22423B554699}"/>
              </a:ext>
            </a:extLst>
          </p:cNvPr>
          <p:cNvSpPr>
            <a:spLocks noGrp="1"/>
          </p:cNvSpPr>
          <p:nvPr>
            <p:ph idx="1"/>
          </p:nvPr>
        </p:nvSpPr>
        <p:spPr>
          <a:xfrm>
            <a:off x="4520119" y="722066"/>
            <a:ext cx="7315200" cy="5120640"/>
          </a:xfrm>
        </p:spPr>
        <p:txBody>
          <a:bodyPr/>
          <a:lstStyle/>
          <a:p>
            <a:r>
              <a:rPr lang="en-US" dirty="0"/>
              <a:t>Slice</a:t>
            </a:r>
          </a:p>
          <a:p>
            <a:r>
              <a:rPr lang="en-US" dirty="0"/>
              <a:t>Here, one dimension is selected, and a new sub-cube is created.</a:t>
            </a:r>
          </a:p>
          <a:p>
            <a:r>
              <a:rPr lang="en-US" dirty="0"/>
              <a:t>Following diagram explain how slice operation performed:</a:t>
            </a:r>
          </a:p>
          <a:p>
            <a:endParaRPr lang="en-IN" dirty="0"/>
          </a:p>
        </p:txBody>
      </p:sp>
      <p:pic>
        <p:nvPicPr>
          <p:cNvPr id="5" name="Picture 4">
            <a:extLst>
              <a:ext uri="{FF2B5EF4-FFF2-40B4-BE49-F238E27FC236}">
                <a16:creationId xmlns:a16="http://schemas.microsoft.com/office/drawing/2014/main" id="{EA0F8103-BD11-443F-9F81-7C81BF355389}"/>
              </a:ext>
            </a:extLst>
          </p:cNvPr>
          <p:cNvPicPr>
            <a:picLocks noChangeAspect="1"/>
          </p:cNvPicPr>
          <p:nvPr/>
        </p:nvPicPr>
        <p:blipFill>
          <a:blip r:embed="rId2"/>
          <a:stretch>
            <a:fillRect/>
          </a:stretch>
        </p:blipFill>
        <p:spPr>
          <a:xfrm>
            <a:off x="109491" y="577371"/>
            <a:ext cx="4267200" cy="5934075"/>
          </a:xfrm>
          <a:prstGeom prst="rect">
            <a:avLst/>
          </a:prstGeom>
        </p:spPr>
      </p:pic>
    </p:spTree>
    <p:extLst>
      <p:ext uri="{BB962C8B-B14F-4D97-AF65-F5344CB8AC3E}">
        <p14:creationId xmlns:p14="http://schemas.microsoft.com/office/powerpoint/2010/main" val="40110026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00DC9-0CA7-4106-AB0F-EF989C7189D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3BCC4F68-B55D-47A4-A63B-754E3CE4CE3F}"/>
              </a:ext>
            </a:extLst>
          </p:cNvPr>
          <p:cNvSpPr>
            <a:spLocks noGrp="1"/>
          </p:cNvSpPr>
          <p:nvPr>
            <p:ph idx="1"/>
          </p:nvPr>
        </p:nvSpPr>
        <p:spPr>
          <a:xfrm>
            <a:off x="4739194" y="754603"/>
            <a:ext cx="7315200" cy="5120640"/>
          </a:xfrm>
        </p:spPr>
        <p:txBody>
          <a:bodyPr/>
          <a:lstStyle/>
          <a:p>
            <a:r>
              <a:rPr lang="en-US" dirty="0"/>
              <a:t>Pivot</a:t>
            </a:r>
          </a:p>
          <a:p>
            <a:r>
              <a:rPr lang="en-US" dirty="0"/>
              <a:t>In Pivot, you rotate the data axes to provide a substitute presentation of data.</a:t>
            </a:r>
          </a:p>
          <a:p>
            <a:r>
              <a:rPr lang="en-US" dirty="0"/>
              <a:t>In the following example, the pivot is based on item types.</a:t>
            </a:r>
            <a:endParaRPr lang="en-IN" dirty="0"/>
          </a:p>
        </p:txBody>
      </p:sp>
      <p:pic>
        <p:nvPicPr>
          <p:cNvPr id="5" name="Picture 4">
            <a:extLst>
              <a:ext uri="{FF2B5EF4-FFF2-40B4-BE49-F238E27FC236}">
                <a16:creationId xmlns:a16="http://schemas.microsoft.com/office/drawing/2014/main" id="{C560370D-171E-4952-AF64-A5027AB99876}"/>
              </a:ext>
            </a:extLst>
          </p:cNvPr>
          <p:cNvPicPr>
            <a:picLocks noChangeAspect="1"/>
          </p:cNvPicPr>
          <p:nvPr/>
        </p:nvPicPr>
        <p:blipFill>
          <a:blip r:embed="rId2"/>
          <a:stretch>
            <a:fillRect/>
          </a:stretch>
        </p:blipFill>
        <p:spPr>
          <a:xfrm>
            <a:off x="141996" y="754603"/>
            <a:ext cx="4486275" cy="5344356"/>
          </a:xfrm>
          <a:prstGeom prst="rect">
            <a:avLst/>
          </a:prstGeom>
        </p:spPr>
      </p:pic>
    </p:spTree>
    <p:extLst>
      <p:ext uri="{BB962C8B-B14F-4D97-AF65-F5344CB8AC3E}">
        <p14:creationId xmlns:p14="http://schemas.microsoft.com/office/powerpoint/2010/main" val="14920462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74E46-DB26-422D-B349-428E5A160787}"/>
              </a:ext>
            </a:extLst>
          </p:cNvPr>
          <p:cNvSpPr>
            <a:spLocks noGrp="1"/>
          </p:cNvSpPr>
          <p:nvPr>
            <p:ph type="title"/>
          </p:nvPr>
        </p:nvSpPr>
        <p:spPr/>
        <p:txBody>
          <a:bodyPr/>
          <a:lstStyle/>
          <a:p>
            <a:r>
              <a:rPr lang="en-US" dirty="0"/>
              <a:t>OLTP</a:t>
            </a:r>
            <a:endParaRPr lang="en-IN" dirty="0"/>
          </a:p>
        </p:txBody>
      </p:sp>
      <p:sp>
        <p:nvSpPr>
          <p:cNvPr id="3" name="Content Placeholder 2">
            <a:extLst>
              <a:ext uri="{FF2B5EF4-FFF2-40B4-BE49-F238E27FC236}">
                <a16:creationId xmlns:a16="http://schemas.microsoft.com/office/drawing/2014/main" id="{1A3A3080-1433-45F4-A6D5-68307FF809CB}"/>
              </a:ext>
            </a:extLst>
          </p:cNvPr>
          <p:cNvSpPr>
            <a:spLocks noGrp="1"/>
          </p:cNvSpPr>
          <p:nvPr>
            <p:ph idx="1"/>
          </p:nvPr>
        </p:nvSpPr>
        <p:spPr/>
        <p:txBody>
          <a:bodyPr/>
          <a:lstStyle/>
          <a:p>
            <a:r>
              <a:rPr lang="en-US" dirty="0"/>
              <a:t>OLTP is an operational system that supports transaction-oriented applications in a 3-tier architecture. </a:t>
            </a:r>
          </a:p>
          <a:p>
            <a:r>
              <a:rPr lang="en-US" dirty="0"/>
              <a:t>It administers the day to day transaction of an organization. OLTP is basically focused on query processing, maintaining data integrity in multi-access environments as well as effectiveness that is measured by the total number of transactions per second. The full form of OLTP is Online Transaction Processing.</a:t>
            </a:r>
            <a:endParaRPr lang="en-IN" dirty="0"/>
          </a:p>
        </p:txBody>
      </p:sp>
    </p:spTree>
    <p:extLst>
      <p:ext uri="{BB962C8B-B14F-4D97-AF65-F5344CB8AC3E}">
        <p14:creationId xmlns:p14="http://schemas.microsoft.com/office/powerpoint/2010/main" val="22312862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16C0-40FC-4347-BD4E-C049C4E25B7F}"/>
              </a:ext>
            </a:extLst>
          </p:cNvPr>
          <p:cNvSpPr>
            <a:spLocks noGrp="1"/>
          </p:cNvSpPr>
          <p:nvPr>
            <p:ph type="title"/>
          </p:nvPr>
        </p:nvSpPr>
        <p:spPr/>
        <p:txBody>
          <a:bodyPr/>
          <a:lstStyle/>
          <a:p>
            <a:r>
              <a:rPr lang="en-IN" dirty="0"/>
              <a:t>Characteristics of OLTP</a:t>
            </a:r>
          </a:p>
        </p:txBody>
      </p:sp>
      <p:sp>
        <p:nvSpPr>
          <p:cNvPr id="3" name="Content Placeholder 2">
            <a:extLst>
              <a:ext uri="{FF2B5EF4-FFF2-40B4-BE49-F238E27FC236}">
                <a16:creationId xmlns:a16="http://schemas.microsoft.com/office/drawing/2014/main" id="{9D7A2A33-ED75-4E25-A80F-E22EAD3FC19F}"/>
              </a:ext>
            </a:extLst>
          </p:cNvPr>
          <p:cNvSpPr>
            <a:spLocks noGrp="1"/>
          </p:cNvSpPr>
          <p:nvPr>
            <p:ph idx="1"/>
          </p:nvPr>
        </p:nvSpPr>
        <p:spPr/>
        <p:txBody>
          <a:bodyPr/>
          <a:lstStyle/>
          <a:p>
            <a:r>
              <a:rPr lang="en-US" dirty="0"/>
              <a:t>OLTP uses transactions that include small amounts of data.</a:t>
            </a:r>
          </a:p>
          <a:p>
            <a:r>
              <a:rPr lang="en-US" dirty="0"/>
              <a:t>Indexed data in the database can be accessed easily.</a:t>
            </a:r>
          </a:p>
          <a:p>
            <a:r>
              <a:rPr lang="en-US" dirty="0"/>
              <a:t>OLTP has a large number of users.</a:t>
            </a:r>
          </a:p>
          <a:p>
            <a:r>
              <a:rPr lang="en-US" dirty="0"/>
              <a:t>It has fast response times</a:t>
            </a:r>
          </a:p>
          <a:p>
            <a:r>
              <a:rPr lang="en-US" dirty="0"/>
              <a:t>Databases are directly accessible to end-users</a:t>
            </a:r>
          </a:p>
          <a:p>
            <a:r>
              <a:rPr lang="en-US" dirty="0"/>
              <a:t>OLTP uses a fully normalized schema for database consistency.</a:t>
            </a:r>
          </a:p>
          <a:p>
            <a:r>
              <a:rPr lang="en-US" dirty="0"/>
              <a:t>The response time of OLTP system is short.</a:t>
            </a:r>
          </a:p>
          <a:p>
            <a:r>
              <a:rPr lang="en-US" dirty="0"/>
              <a:t>It strictly performs only the predefined operations on a small number of records.</a:t>
            </a:r>
          </a:p>
          <a:p>
            <a:r>
              <a:rPr lang="en-US" dirty="0"/>
              <a:t>OLTP stores the records of the last few days or a week.</a:t>
            </a:r>
          </a:p>
          <a:p>
            <a:r>
              <a:rPr lang="en-US" dirty="0"/>
              <a:t>It supports complex data models and tables.</a:t>
            </a:r>
            <a:endParaRPr lang="en-IN" dirty="0"/>
          </a:p>
        </p:txBody>
      </p:sp>
    </p:spTree>
    <p:extLst>
      <p:ext uri="{BB962C8B-B14F-4D97-AF65-F5344CB8AC3E}">
        <p14:creationId xmlns:p14="http://schemas.microsoft.com/office/powerpoint/2010/main" val="26014344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16C0-40FC-4347-BD4E-C049C4E25B7F}"/>
              </a:ext>
            </a:extLst>
          </p:cNvPr>
          <p:cNvSpPr>
            <a:spLocks noGrp="1"/>
          </p:cNvSpPr>
          <p:nvPr>
            <p:ph type="title"/>
          </p:nvPr>
        </p:nvSpPr>
        <p:spPr/>
        <p:txBody>
          <a:bodyPr/>
          <a:lstStyle/>
          <a:p>
            <a:r>
              <a:rPr lang="en-US" dirty="0"/>
              <a:t>Type of queries that an OLTP system can Process:</a:t>
            </a:r>
            <a:endParaRPr lang="en-IN" dirty="0"/>
          </a:p>
        </p:txBody>
      </p:sp>
      <p:sp>
        <p:nvSpPr>
          <p:cNvPr id="3" name="Content Placeholder 2">
            <a:extLst>
              <a:ext uri="{FF2B5EF4-FFF2-40B4-BE49-F238E27FC236}">
                <a16:creationId xmlns:a16="http://schemas.microsoft.com/office/drawing/2014/main" id="{9D7A2A33-ED75-4E25-A80F-E22EAD3FC19F}"/>
              </a:ext>
            </a:extLst>
          </p:cNvPr>
          <p:cNvSpPr>
            <a:spLocks noGrp="1"/>
          </p:cNvSpPr>
          <p:nvPr>
            <p:ph idx="1"/>
          </p:nvPr>
        </p:nvSpPr>
        <p:spPr/>
        <p:txBody>
          <a:bodyPr/>
          <a:lstStyle/>
          <a:p>
            <a:r>
              <a:rPr lang="en-US" dirty="0"/>
              <a:t>OLTP system is an online database changing system. Therefore, it supports database query such as insert, update, and delete information from the database.</a:t>
            </a:r>
          </a:p>
        </p:txBody>
      </p:sp>
    </p:spTree>
    <p:extLst>
      <p:ext uri="{BB962C8B-B14F-4D97-AF65-F5344CB8AC3E}">
        <p14:creationId xmlns:p14="http://schemas.microsoft.com/office/powerpoint/2010/main" val="15410743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C29F1-85F3-4ED1-95B6-D593B1FD8475}"/>
              </a:ext>
            </a:extLst>
          </p:cNvPr>
          <p:cNvSpPr>
            <a:spLocks noGrp="1"/>
          </p:cNvSpPr>
          <p:nvPr>
            <p:ph type="title"/>
          </p:nvPr>
        </p:nvSpPr>
        <p:spPr/>
        <p:txBody>
          <a:bodyPr/>
          <a:lstStyle/>
          <a:p>
            <a:r>
              <a:rPr lang="en-US" dirty="0"/>
              <a:t>Advanced Association rule</a:t>
            </a:r>
            <a:endParaRPr lang="en-IN" dirty="0"/>
          </a:p>
        </p:txBody>
      </p:sp>
      <p:sp>
        <p:nvSpPr>
          <p:cNvPr id="3" name="Content Placeholder 2">
            <a:extLst>
              <a:ext uri="{FF2B5EF4-FFF2-40B4-BE49-F238E27FC236}">
                <a16:creationId xmlns:a16="http://schemas.microsoft.com/office/drawing/2014/main" id="{7226EA22-E703-43DB-93A5-B5223BB42CEC}"/>
              </a:ext>
            </a:extLst>
          </p:cNvPr>
          <p:cNvSpPr>
            <a:spLocks noGrp="1"/>
          </p:cNvSpPr>
          <p:nvPr>
            <p:ph idx="1"/>
          </p:nvPr>
        </p:nvSpPr>
        <p:spPr/>
        <p:txBody>
          <a:bodyPr/>
          <a:lstStyle/>
          <a:p>
            <a:r>
              <a:rPr lang="en-US" dirty="0"/>
              <a:t>1. Associative classification</a:t>
            </a:r>
          </a:p>
          <a:p>
            <a:r>
              <a:rPr lang="en-US" dirty="0"/>
              <a:t>2. Multilevel Association rule</a:t>
            </a:r>
            <a:endParaRPr lang="en-IN" dirty="0"/>
          </a:p>
        </p:txBody>
      </p:sp>
    </p:spTree>
    <p:extLst>
      <p:ext uri="{BB962C8B-B14F-4D97-AF65-F5344CB8AC3E}">
        <p14:creationId xmlns:p14="http://schemas.microsoft.com/office/powerpoint/2010/main" val="15025604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0F3F4-2844-4600-AC8B-2221DFF49FFA}"/>
              </a:ext>
            </a:extLst>
          </p:cNvPr>
          <p:cNvSpPr>
            <a:spLocks noGrp="1"/>
          </p:cNvSpPr>
          <p:nvPr>
            <p:ph type="title"/>
          </p:nvPr>
        </p:nvSpPr>
        <p:spPr/>
        <p:txBody>
          <a:bodyPr/>
          <a:lstStyle/>
          <a:p>
            <a:r>
              <a:rPr lang="en-US" dirty="0"/>
              <a:t>Pattern evaluation measures</a:t>
            </a:r>
            <a:endParaRPr lang="en-IN" dirty="0"/>
          </a:p>
        </p:txBody>
      </p:sp>
      <p:sp>
        <p:nvSpPr>
          <p:cNvPr id="3" name="Content Placeholder 2">
            <a:extLst>
              <a:ext uri="{FF2B5EF4-FFF2-40B4-BE49-F238E27FC236}">
                <a16:creationId xmlns:a16="http://schemas.microsoft.com/office/drawing/2014/main" id="{5F4938EA-A706-4F84-ABC9-3A9B8647AB42}"/>
              </a:ext>
            </a:extLst>
          </p:cNvPr>
          <p:cNvSpPr>
            <a:spLocks noGrp="1"/>
          </p:cNvSpPr>
          <p:nvPr>
            <p:ph idx="1"/>
          </p:nvPr>
        </p:nvSpPr>
        <p:spPr/>
        <p:txBody>
          <a:bodyPr/>
          <a:lstStyle/>
          <a:p>
            <a:r>
              <a:rPr lang="en-US" dirty="0"/>
              <a:t>Lift</a:t>
            </a:r>
          </a:p>
          <a:p>
            <a:r>
              <a:rPr lang="en-US"/>
              <a:t>Leverage</a:t>
            </a:r>
            <a:endParaRPr lang="en-US" dirty="0"/>
          </a:p>
          <a:p>
            <a:r>
              <a:rPr lang="en-US" dirty="0" err="1"/>
              <a:t>All_confidence</a:t>
            </a:r>
            <a:endParaRPr lang="en-US" dirty="0"/>
          </a:p>
          <a:p>
            <a:r>
              <a:rPr lang="en-US" dirty="0" err="1"/>
              <a:t>Max_confidence</a:t>
            </a:r>
            <a:endParaRPr lang="en-US" dirty="0"/>
          </a:p>
          <a:p>
            <a:r>
              <a:rPr lang="en-US" dirty="0" err="1"/>
              <a:t>Kulczynski</a:t>
            </a:r>
            <a:endParaRPr lang="en-US" dirty="0"/>
          </a:p>
          <a:p>
            <a:r>
              <a:rPr lang="en-US" dirty="0"/>
              <a:t>Cosine</a:t>
            </a:r>
          </a:p>
          <a:p>
            <a:r>
              <a:rPr lang="en-US" dirty="0"/>
              <a:t>Imbalance ratio</a:t>
            </a:r>
            <a:endParaRPr lang="en-IN" dirty="0"/>
          </a:p>
        </p:txBody>
      </p:sp>
    </p:spTree>
    <p:extLst>
      <p:ext uri="{BB962C8B-B14F-4D97-AF65-F5344CB8AC3E}">
        <p14:creationId xmlns:p14="http://schemas.microsoft.com/office/powerpoint/2010/main" val="197768687"/>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Frame</Template>
  <TotalTime>2981</TotalTime>
  <Words>2929</Words>
  <Application>Microsoft Office PowerPoint</Application>
  <PresentationFormat>Widescreen</PresentationFormat>
  <Paragraphs>402</Paragraphs>
  <Slides>60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60</vt:i4>
      </vt:variant>
    </vt:vector>
  </HeadingPairs>
  <TitlesOfParts>
    <vt:vector size="70" baseType="lpstr">
      <vt:lpstr>Arial</vt:lpstr>
      <vt:lpstr>Calibri</vt:lpstr>
      <vt:lpstr>CastleT</vt:lpstr>
      <vt:lpstr>Corbel</vt:lpstr>
      <vt:lpstr>Symbol</vt:lpstr>
      <vt:lpstr>Tahoma</vt:lpstr>
      <vt:lpstr>Times New Roman</vt:lpstr>
      <vt:lpstr>Wingdings</vt:lpstr>
      <vt:lpstr>Wingdings 2</vt:lpstr>
      <vt:lpstr>Frame</vt:lpstr>
      <vt:lpstr>Concept Description, Mining Frequent Patterns, Associations and Correlations</vt:lpstr>
      <vt:lpstr>OUTLINES</vt:lpstr>
      <vt:lpstr>Concept Description</vt:lpstr>
      <vt:lpstr>Descriptive Analysis</vt:lpstr>
      <vt:lpstr>Concepts/Class  </vt:lpstr>
      <vt:lpstr> Frequent pattern Mining </vt:lpstr>
      <vt:lpstr> Basic Concepts: Frequent pattern Mining </vt:lpstr>
      <vt:lpstr>Basic Concepts: Frequent pattern Mining</vt:lpstr>
      <vt:lpstr>Basic Concept: Association Rule</vt:lpstr>
      <vt:lpstr>Definition: Frequent Itemset</vt:lpstr>
      <vt:lpstr>Definition: Association Rule</vt:lpstr>
      <vt:lpstr>Scalable Methods for Mining Frequent Patterns</vt:lpstr>
      <vt:lpstr>Apriori: A Candidate Generation-and-Test Approach</vt:lpstr>
      <vt:lpstr>The Apriori Algorithm—An Example </vt:lpstr>
      <vt:lpstr>PowerPoint Presentation</vt:lpstr>
      <vt:lpstr>The Apriori Algorithm</vt:lpstr>
      <vt:lpstr>Important Details of Apriori</vt:lpstr>
      <vt:lpstr>How to Count Supports of Candidates?</vt:lpstr>
      <vt:lpstr>Challenges of Frequent Pattern Mining</vt:lpstr>
      <vt:lpstr>Techiques to improve efficiency of Apriori Algorithm</vt:lpstr>
      <vt:lpstr>Hash Based Technique</vt:lpstr>
      <vt:lpstr>Hash Based Technique Example</vt:lpstr>
      <vt:lpstr>Hash Based Technique Example</vt:lpstr>
      <vt:lpstr>Transaction Reduction</vt:lpstr>
      <vt:lpstr>Transaction Reduction Example</vt:lpstr>
      <vt:lpstr>Transaction Reduction Example</vt:lpstr>
      <vt:lpstr>Partitioning Technique</vt:lpstr>
      <vt:lpstr>Partitioning Technique Example</vt:lpstr>
      <vt:lpstr>Partitioning Technique Example</vt:lpstr>
      <vt:lpstr>Mining Frequent Patterns With FP-trees</vt:lpstr>
      <vt:lpstr>Sampling</vt:lpstr>
      <vt:lpstr>Benefits of the FP-tree Structure</vt:lpstr>
      <vt:lpstr>Construct FP-tree from a Transaction Database</vt:lpstr>
      <vt:lpstr>Find Patterns Having P From P-conditional Database</vt:lpstr>
      <vt:lpstr>From Conditional Pattern-bases to Conditional FP-trees </vt:lpstr>
      <vt:lpstr>Attribute Relevance</vt:lpstr>
      <vt:lpstr>Attribute Relation measure</vt:lpstr>
      <vt:lpstr>Entropy</vt:lpstr>
      <vt:lpstr>Information gain</vt:lpstr>
      <vt:lpstr>PowerPoint Presentation</vt:lpstr>
      <vt:lpstr>Gini Index</vt:lpstr>
      <vt:lpstr>PowerPoint Presentation</vt:lpstr>
      <vt:lpstr>Example</vt:lpstr>
      <vt:lpstr>PowerPoint Presentation</vt:lpstr>
      <vt:lpstr>PowerPoint Presentation</vt:lpstr>
      <vt:lpstr>PowerPoint Presentation</vt:lpstr>
      <vt:lpstr>OLAP</vt:lpstr>
      <vt:lpstr>OLAP</vt:lpstr>
      <vt:lpstr>Basic analytical operations of OLAP</vt:lpstr>
      <vt:lpstr>Roll-Up</vt:lpstr>
      <vt:lpstr>Roll-Up</vt:lpstr>
      <vt:lpstr>Drill-down</vt:lpstr>
      <vt:lpstr>Example</vt:lpstr>
      <vt:lpstr>Slice</vt:lpstr>
      <vt:lpstr>PowerPoint Presentation</vt:lpstr>
      <vt:lpstr>OLTP</vt:lpstr>
      <vt:lpstr>Characteristics of OLTP</vt:lpstr>
      <vt:lpstr>Type of queries that an OLTP system can Process:</vt:lpstr>
      <vt:lpstr>Advanced Association rule</vt:lpstr>
      <vt:lpstr>Pattern evaluation measures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 Description, Mining Frequent Patterns, Associations and Correlations</dc:title>
  <dc:creator>aastha masrani</dc:creator>
  <cp:lastModifiedBy>aastha masrani</cp:lastModifiedBy>
  <cp:revision>59</cp:revision>
  <dcterms:created xsi:type="dcterms:W3CDTF">2022-01-20T17:41:45Z</dcterms:created>
  <dcterms:modified xsi:type="dcterms:W3CDTF">2022-02-10T07:03:20Z</dcterms:modified>
</cp:coreProperties>
</file>