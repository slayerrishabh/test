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9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15C8-757D-49CC-BD18-D3809E357C46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09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24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22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61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24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16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89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18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45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670F742-5224-494C-A9C6-8A542B669B51}" type="datetimeFigureOut">
              <a:rPr lang="en-IN" smtClean="0"/>
              <a:t>22-11-2021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EAFC624-1651-4A2B-876C-7C51824E4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27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F279-5C1F-4658-AA02-67C055E44B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Introduction to Data Mining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AB510-9D1C-4E01-89B9-2C6AAB6DD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CHP-1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3087EF-74DC-44FB-A820-0B499040D7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3252" y="1144587"/>
            <a:ext cx="2390775" cy="735013"/>
          </a:xfrm>
          <a:prstGeom prst="rect">
            <a:avLst/>
          </a:prstGeom>
          <a:noFill/>
          <a:ln>
            <a:noFill/>
          </a:ln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11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94B281-B45D-49EA-948B-685CC8E44057}"/>
              </a:ext>
            </a:extLst>
          </p:cNvPr>
          <p:cNvSpPr txBox="1"/>
          <p:nvPr/>
        </p:nvSpPr>
        <p:spPr>
          <a:xfrm>
            <a:off x="9488592" y="2365801"/>
            <a:ext cx="23907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Department of Computer Engineering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Unit no: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Unit title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: Introduction to Data Mining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Subject name and code: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Data Mining</a:t>
            </a:r>
          </a:p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(3160714)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D9DC94-9E2A-4F3D-9530-A03B64662B73}"/>
              </a:ext>
            </a:extLst>
          </p:cNvPr>
          <p:cNvSpPr/>
          <p:nvPr/>
        </p:nvSpPr>
        <p:spPr>
          <a:xfrm>
            <a:off x="9488592" y="5513358"/>
            <a:ext cx="24400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 err="1">
                <a:latin typeface="CastleT" panose="020E0602050706020204" pitchFamily="34" charset="0"/>
              </a:rPr>
              <a:t>Prof.</a:t>
            </a:r>
            <a:r>
              <a:rPr lang="en-IN" sz="2000" dirty="0">
                <a:latin typeface="CastleT" panose="020E0602050706020204" pitchFamily="34" charset="0"/>
              </a:rPr>
              <a:t> </a:t>
            </a:r>
            <a:r>
              <a:rPr lang="en-IN" sz="2000" dirty="0" err="1">
                <a:latin typeface="CastleT" panose="020E0602050706020204" pitchFamily="34" charset="0"/>
              </a:rPr>
              <a:t>Aastha</a:t>
            </a:r>
            <a:r>
              <a:rPr lang="en-IN" sz="2000" dirty="0">
                <a:latin typeface="CastleT" panose="020E0602050706020204" pitchFamily="34" charset="0"/>
              </a:rPr>
              <a:t> </a:t>
            </a:r>
            <a:r>
              <a:rPr lang="en-IN" sz="2000" dirty="0" err="1">
                <a:latin typeface="CastleT" panose="020E0602050706020204" pitchFamily="34" charset="0"/>
              </a:rPr>
              <a:t>Masrani</a:t>
            </a:r>
            <a:endParaRPr lang="en-IN" sz="2000" dirty="0">
              <a:latin typeface="CastleT" panose="020E0602050706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56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9E19-D103-4ADC-88F6-2261D6BD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63426-C35E-4E13-97F1-59D68BC2C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spc="-90" dirty="0">
                <a:latin typeface="Calibri" panose="020F0502020204030204" pitchFamily="34" charset="0"/>
                <a:cs typeface="Calibri" panose="020F0502020204030204" pitchFamily="34" charset="0"/>
              </a:rPr>
              <a:t>Defi</a:t>
            </a:r>
            <a:r>
              <a:rPr lang="en-IN" sz="2000" spc="-105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IN" sz="2000" spc="-114" dirty="0">
                <a:latin typeface="Calibri" panose="020F0502020204030204" pitchFamily="34" charset="0"/>
                <a:cs typeface="Calibri" panose="020F0502020204030204" pitchFamily="34" charset="0"/>
              </a:rPr>
              <a:t>iti</a:t>
            </a:r>
            <a:r>
              <a:rPr lang="en-IN" sz="2000" spc="-185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IN" sz="2000" spc="-275" dirty="0">
                <a:latin typeface="Calibri" panose="020F0502020204030204" pitchFamily="34" charset="0"/>
                <a:cs typeface="Calibri" panose="020F0502020204030204" pitchFamily="34" charset="0"/>
              </a:rPr>
              <a:t>n,</a:t>
            </a:r>
            <a:r>
              <a:rPr lang="en-IN" sz="2000" spc="-3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8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IN" sz="2000" spc="-5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IN" sz="2000" spc="-160" dirty="0">
                <a:latin typeface="Calibri" panose="020F0502020204030204" pitchFamily="34" charset="0"/>
                <a:cs typeface="Calibri" panose="020F0502020204030204" pitchFamily="34" charset="0"/>
              </a:rPr>
              <a:t>tivation</a:t>
            </a:r>
            <a:r>
              <a:rPr lang="en-IN" sz="20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229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IN" sz="2000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spc="-31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sz="2000" spc="-165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sz="2000" spc="-16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sz="2000" spc="-170" dirty="0">
                <a:latin typeface="Calibri" panose="020F0502020204030204" pitchFamily="34" charset="0"/>
                <a:cs typeface="Calibri" panose="020F0502020204030204" pitchFamily="34" charset="0"/>
              </a:rPr>
              <a:t>lication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Classification of DM Systems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Integration of Data mining systems with Database or Data Warehouse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Issues in Data Mining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Knowledge Discovery Process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160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E6B0-834A-45F9-A66E-387DC477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data mining?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B3494-8623-4413-AE0C-FBC2D92BC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797814"/>
            <a:ext cx="7315200" cy="5253228"/>
          </a:xfrm>
        </p:spPr>
        <p:txBody>
          <a:bodyPr>
            <a:normAutofit fontScale="92500" lnSpcReduction="10000"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79646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79646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Really, really huge amounts of raw data!!</a:t>
            </a:r>
            <a:endParaRPr kumimoji="0" lang="el-GR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 the digital age, TB of data is generated by the second</a:t>
            </a:r>
          </a:p>
          <a:p>
            <a:pPr marL="731520" marR="0" lvl="2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79646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Mobile devices, digital photographs, web documents.</a:t>
            </a:r>
          </a:p>
          <a:p>
            <a:pPr marL="731520" marR="0" lvl="2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79646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Facebook updates, Tweets, Blogs, User-generated content</a:t>
            </a:r>
          </a:p>
          <a:p>
            <a:pPr marL="731520" marR="0" lvl="2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79646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Transactions, sensor data, surveillance data</a:t>
            </a:r>
          </a:p>
          <a:p>
            <a:pPr marL="731520" marR="0" lvl="2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79646"/>
              </a:buClr>
              <a:buSzPct val="90000"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Queries, clicks, browsing</a:t>
            </a:r>
          </a:p>
          <a:p>
            <a:pPr marL="457200" marR="0" lvl="1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Cheap storage has made possible to maintain this data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79646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Need to analyze the raw data to </a:t>
            </a: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extract knowledge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394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3477-2525-4664-AE21-8CCC874CC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is a Computer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17D8B-2153-4AAB-A2A2-D3A9FD2B9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Large amounts of </a:t>
            </a:r>
            <a:r>
              <a:rPr lang="en-US" sz="2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can be more </a:t>
            </a:r>
            <a:r>
              <a:rPr lang="en-US" sz="2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powerful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than complex </a:t>
            </a:r>
            <a:r>
              <a:rPr lang="en-US" sz="22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and models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Google has solved many Natural Language Processing problems, simply by looking at the data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Example: misspellings, synonyms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is power!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Today, the collected data is one of the biggest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assets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of an online company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Query logs of Google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friendship and updates of Facebook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Tweets and follows of Twitter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Amazon transactions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We need a way to harness the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collective intelligence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00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DDBE-17F4-4169-9F83-087940E5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AD2EC-5C6E-434F-957F-D69A006A4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934" y="864108"/>
            <a:ext cx="6218534" cy="51206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What is Data?</a:t>
            </a:r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Collection of data </a:t>
            </a:r>
            <a:r>
              <a:rPr lang="en-US" sz="2000" dirty="0">
                <a:solidFill>
                  <a:srgbClr val="0070C0"/>
                </a:solidFill>
              </a:rPr>
              <a:t>objects</a:t>
            </a:r>
            <a:r>
              <a:rPr lang="en-US" sz="2000" dirty="0"/>
              <a:t> and their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attributes</a:t>
            </a:r>
          </a:p>
          <a:p>
            <a:pPr lvl="4"/>
            <a:endParaRPr lang="en-US" sz="1600" dirty="0"/>
          </a:p>
          <a:p>
            <a:r>
              <a:rPr lang="en-US" sz="2000" dirty="0"/>
              <a:t>An attribute is a property or characteristic of an object</a:t>
            </a:r>
          </a:p>
          <a:p>
            <a:pPr lvl="1"/>
            <a:r>
              <a:rPr lang="en-US" sz="1800" dirty="0"/>
              <a:t>Examples: eye color of a person, temperature, etc.</a:t>
            </a:r>
          </a:p>
          <a:p>
            <a:pPr lvl="1"/>
            <a:r>
              <a:rPr lang="en-US" sz="1800" dirty="0"/>
              <a:t>Attribute is also known as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variable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field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characteristic</a:t>
            </a:r>
            <a:r>
              <a:rPr lang="en-US" sz="1800" dirty="0"/>
              <a:t>, or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feature</a:t>
            </a:r>
          </a:p>
          <a:p>
            <a:r>
              <a:rPr lang="en-US" sz="2000" dirty="0"/>
              <a:t>A collection of attributes describe an object</a:t>
            </a:r>
          </a:p>
          <a:p>
            <a:pPr lvl="1"/>
            <a:r>
              <a:rPr lang="en-US" sz="1800" dirty="0"/>
              <a:t>Object is also known as </a:t>
            </a:r>
            <a:r>
              <a:rPr lang="en-US" sz="1800" dirty="0">
                <a:solidFill>
                  <a:srgbClr val="0070C0"/>
                </a:solidFill>
              </a:rPr>
              <a:t>record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0070C0"/>
                </a:solidFill>
              </a:rPr>
              <a:t>point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0070C0"/>
                </a:solidFill>
              </a:rPr>
              <a:t>case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0070C0"/>
                </a:solidFill>
              </a:rPr>
              <a:t>sample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0070C0"/>
                </a:solidFill>
              </a:rPr>
              <a:t>entity</a:t>
            </a:r>
            <a:r>
              <a:rPr lang="en-US" sz="1800" dirty="0"/>
              <a:t>, or </a:t>
            </a:r>
            <a:r>
              <a:rPr lang="en-US" sz="1800" dirty="0">
                <a:solidFill>
                  <a:srgbClr val="0070C0"/>
                </a:solidFill>
              </a:rPr>
              <a:t>instance</a:t>
            </a:r>
          </a:p>
          <a:p>
            <a:endParaRPr lang="en-IN" dirty="0"/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714CFDB0-8801-470B-ABEC-260636469D2E}"/>
              </a:ext>
            </a:extLst>
          </p:cNvPr>
          <p:cNvGrpSpPr>
            <a:grpSpLocks/>
          </p:cNvGrpSpPr>
          <p:nvPr/>
        </p:nvGrpSpPr>
        <p:grpSpPr bwMode="auto">
          <a:xfrm>
            <a:off x="21697" y="726440"/>
            <a:ext cx="3513138" cy="4191000"/>
            <a:chOff x="3403" y="1104"/>
            <a:chExt cx="2213" cy="2640"/>
          </a:xfrm>
        </p:grpSpPr>
        <p:graphicFrame>
          <p:nvGraphicFramePr>
            <p:cNvPr id="5" name="Object 10">
              <a:extLst>
                <a:ext uri="{FF2B5EF4-FFF2-40B4-BE49-F238E27FC236}">
                  <a16:creationId xmlns:a16="http://schemas.microsoft.com/office/drawing/2014/main" id="{6427C49F-9D9B-4C68-AB6C-1F6B2B3070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Document" r:id="rId3" imgW="5405040" imgH="5778360" progId="Word.Document.8">
                    <p:embed/>
                  </p:oleObj>
                </mc:Choice>
                <mc:Fallback>
                  <p:oleObj name="Document" r:id="rId3" imgW="5405040" imgH="5778360" progId="Word.Document.8">
                    <p:embed/>
                    <p:pic>
                      <p:nvPicPr>
                        <p:cNvPr id="64922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AutoShape 12">
              <a:extLst>
                <a:ext uri="{FF2B5EF4-FFF2-40B4-BE49-F238E27FC236}">
                  <a16:creationId xmlns:a16="http://schemas.microsoft.com/office/drawing/2014/main" id="{0863625F-2B96-4A22-942C-087CDDE2E49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673B461-F773-4852-8CC8-A96A775CA359}"/>
              </a:ext>
            </a:extLst>
          </p:cNvPr>
          <p:cNvSpPr txBox="1"/>
          <p:nvPr/>
        </p:nvSpPr>
        <p:spPr>
          <a:xfrm>
            <a:off x="-5080" y="4931231"/>
            <a:ext cx="3947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Size: </a:t>
            </a:r>
            <a:r>
              <a:rPr lang="en-US" dirty="0"/>
              <a:t>Number of objects</a:t>
            </a:r>
          </a:p>
          <a:p>
            <a:r>
              <a:rPr lang="en-US" dirty="0">
                <a:solidFill>
                  <a:srgbClr val="FF0000"/>
                </a:solidFill>
              </a:rPr>
              <a:t>Dimensionality</a:t>
            </a:r>
            <a:r>
              <a:rPr lang="en-US" dirty="0"/>
              <a:t>: Number of attributes</a:t>
            </a:r>
          </a:p>
          <a:p>
            <a:r>
              <a:rPr lang="en-US" dirty="0">
                <a:solidFill>
                  <a:srgbClr val="FF0000"/>
                </a:solidFill>
              </a:rPr>
              <a:t>Sparsity</a:t>
            </a:r>
            <a:r>
              <a:rPr lang="en-US" dirty="0"/>
              <a:t>: Number of populated </a:t>
            </a:r>
          </a:p>
          <a:p>
            <a:r>
              <a:rPr lang="en-US" dirty="0"/>
              <a:t>	object-attribute pairs</a:t>
            </a:r>
          </a:p>
        </p:txBody>
      </p:sp>
      <p:sp>
        <p:nvSpPr>
          <p:cNvPr id="9" name="AutoShape 15">
            <a:extLst>
              <a:ext uri="{FF2B5EF4-FFF2-40B4-BE49-F238E27FC236}">
                <a16:creationId xmlns:a16="http://schemas.microsoft.com/office/drawing/2014/main" id="{B75E3628-DB02-4B9C-A34F-46456991A63E}"/>
              </a:ext>
            </a:extLst>
          </p:cNvPr>
          <p:cNvSpPr>
            <a:spLocks/>
          </p:cNvSpPr>
          <p:nvPr/>
        </p:nvSpPr>
        <p:spPr bwMode="auto">
          <a:xfrm rot="10800000">
            <a:off x="3411834" y="1161415"/>
            <a:ext cx="381000" cy="3124200"/>
          </a:xfrm>
          <a:prstGeom prst="leftBrace">
            <a:avLst>
              <a:gd name="adj1" fmla="val 68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C8447D47-1326-4044-AFF0-6E19C23FA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366" y="275591"/>
            <a:ext cx="1447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Attributes</a:t>
            </a:r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4E6A461A-96B1-4F25-857C-A4DC2DC02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884" y="2525077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Objects</a:t>
            </a:r>
          </a:p>
        </p:txBody>
      </p:sp>
    </p:spTree>
    <p:extLst>
      <p:ext uri="{BB962C8B-B14F-4D97-AF65-F5344CB8AC3E}">
        <p14:creationId xmlns:p14="http://schemas.microsoft.com/office/powerpoint/2010/main" val="3865936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014A-777F-465B-A04F-CCF50B12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spc="225" dirty="0">
                <a:latin typeface="Trebuchet MS"/>
                <a:cs typeface="Trebuchet MS"/>
              </a:rPr>
              <a:t>What</a:t>
            </a:r>
            <a:r>
              <a:rPr lang="en-IN" sz="3600" b="1" spc="-120" dirty="0">
                <a:latin typeface="Trebuchet MS"/>
                <a:cs typeface="Trebuchet MS"/>
              </a:rPr>
              <a:t> </a:t>
            </a:r>
            <a:r>
              <a:rPr lang="en-IN" sz="3600" b="1" spc="80" dirty="0">
                <a:latin typeface="Trebuchet MS"/>
                <a:cs typeface="Trebuchet MS"/>
              </a:rPr>
              <a:t>Is</a:t>
            </a:r>
            <a:r>
              <a:rPr lang="en-IN" sz="3600" b="1" spc="-105" dirty="0">
                <a:latin typeface="Trebuchet MS"/>
                <a:cs typeface="Trebuchet MS"/>
              </a:rPr>
              <a:t> </a:t>
            </a:r>
            <a:r>
              <a:rPr lang="en-IN" sz="3600" b="1" spc="130" dirty="0">
                <a:latin typeface="Trebuchet MS"/>
                <a:cs typeface="Trebuchet MS"/>
              </a:rPr>
              <a:t>Data</a:t>
            </a:r>
            <a:r>
              <a:rPr lang="en-IN" sz="3600" b="1" spc="-105" dirty="0">
                <a:latin typeface="Trebuchet MS"/>
                <a:cs typeface="Trebuchet MS"/>
              </a:rPr>
              <a:t> </a:t>
            </a:r>
            <a:r>
              <a:rPr lang="en-IN" sz="3600" b="1" spc="20" dirty="0">
                <a:latin typeface="Trebuchet MS"/>
                <a:cs typeface="Trebuchet MS"/>
              </a:rPr>
              <a:t>Mining?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BB7F-0C23-4EC0-8EDE-000BE7FC0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5910" indent="-283845" algn="just">
              <a:lnSpc>
                <a:spcPct val="100000"/>
              </a:lnSpc>
              <a:spcBef>
                <a:spcPts val="545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6545" algn="l"/>
              </a:tabLst>
            </a:pPr>
            <a:r>
              <a:rPr lang="en-US" sz="2400" spc="-75" dirty="0">
                <a:latin typeface="Trebuchet MS"/>
                <a:cs typeface="Trebuchet MS"/>
              </a:rPr>
              <a:t>Data</a:t>
            </a:r>
            <a:r>
              <a:rPr lang="en-US" sz="2400" spc="-65" dirty="0">
                <a:latin typeface="Trebuchet MS"/>
                <a:cs typeface="Trebuchet MS"/>
              </a:rPr>
              <a:t> </a:t>
            </a:r>
            <a:r>
              <a:rPr lang="en-US" sz="2400" spc="-145" dirty="0">
                <a:latin typeface="Trebuchet MS"/>
                <a:cs typeface="Trebuchet MS"/>
              </a:rPr>
              <a:t>mining</a:t>
            </a:r>
            <a:r>
              <a:rPr lang="en-US" sz="2400" spc="-60" dirty="0">
                <a:latin typeface="Trebuchet MS"/>
                <a:cs typeface="Trebuchet MS"/>
              </a:rPr>
              <a:t> </a:t>
            </a:r>
            <a:r>
              <a:rPr lang="en-US" sz="2400" spc="-65" dirty="0">
                <a:latin typeface="Trebuchet MS"/>
                <a:cs typeface="Trebuchet MS"/>
              </a:rPr>
              <a:t>(kn</a:t>
            </a:r>
            <a:r>
              <a:rPr lang="en-US" sz="2400" spc="-100" dirty="0">
                <a:latin typeface="Trebuchet MS"/>
                <a:cs typeface="Trebuchet MS"/>
              </a:rPr>
              <a:t>o</a:t>
            </a:r>
            <a:r>
              <a:rPr lang="en-US" sz="2400" spc="-140" dirty="0">
                <a:latin typeface="Trebuchet MS"/>
                <a:cs typeface="Trebuchet MS"/>
              </a:rPr>
              <a:t>wl</a:t>
            </a:r>
            <a:r>
              <a:rPr lang="en-US" sz="2400" spc="-135" dirty="0">
                <a:latin typeface="Trebuchet MS"/>
                <a:cs typeface="Trebuchet MS"/>
              </a:rPr>
              <a:t>e</a:t>
            </a:r>
            <a:r>
              <a:rPr lang="en-US" sz="2400" spc="-150" dirty="0">
                <a:latin typeface="Trebuchet MS"/>
                <a:cs typeface="Trebuchet MS"/>
              </a:rPr>
              <a:t>dge</a:t>
            </a:r>
            <a:r>
              <a:rPr lang="en-US" sz="2400" spc="-55" dirty="0">
                <a:latin typeface="Trebuchet MS"/>
                <a:cs typeface="Trebuchet MS"/>
              </a:rPr>
              <a:t> </a:t>
            </a:r>
            <a:r>
              <a:rPr lang="en-US" sz="2400" spc="-80" dirty="0">
                <a:latin typeface="Trebuchet MS"/>
                <a:cs typeface="Trebuchet MS"/>
              </a:rPr>
              <a:t>disc</a:t>
            </a:r>
            <a:r>
              <a:rPr lang="en-US" sz="2400" spc="-125" dirty="0">
                <a:latin typeface="Trebuchet MS"/>
                <a:cs typeface="Trebuchet MS"/>
              </a:rPr>
              <a:t>o</a:t>
            </a:r>
            <a:r>
              <a:rPr lang="en-US" sz="2400" spc="-170" dirty="0">
                <a:latin typeface="Trebuchet MS"/>
                <a:cs typeface="Trebuchet MS"/>
              </a:rPr>
              <a:t>v</a:t>
            </a:r>
            <a:r>
              <a:rPr lang="en-US" sz="2400" spc="-85" dirty="0">
                <a:latin typeface="Trebuchet MS"/>
                <a:cs typeface="Trebuchet MS"/>
              </a:rPr>
              <a:t>e</a:t>
            </a:r>
            <a:r>
              <a:rPr lang="en-US" sz="2400" spc="10" dirty="0">
                <a:latin typeface="Trebuchet MS"/>
                <a:cs typeface="Trebuchet MS"/>
              </a:rPr>
              <a:t>r</a:t>
            </a:r>
            <a:r>
              <a:rPr lang="en-US" sz="2400" spc="-135" dirty="0">
                <a:latin typeface="Trebuchet MS"/>
                <a:cs typeface="Trebuchet MS"/>
              </a:rPr>
              <a:t>y</a:t>
            </a:r>
            <a:r>
              <a:rPr lang="en-US" sz="2400" spc="-70" dirty="0">
                <a:latin typeface="Trebuchet MS"/>
                <a:cs typeface="Trebuchet MS"/>
              </a:rPr>
              <a:t> </a:t>
            </a:r>
            <a:r>
              <a:rPr lang="en-US" sz="2400" spc="-100" dirty="0">
                <a:latin typeface="Trebuchet MS"/>
                <a:cs typeface="Trebuchet MS"/>
              </a:rPr>
              <a:t>i</a:t>
            </a:r>
            <a:r>
              <a:rPr lang="en-US" sz="2400" spc="-180" dirty="0">
                <a:latin typeface="Trebuchet MS"/>
                <a:cs typeface="Trebuchet MS"/>
              </a:rPr>
              <a:t>n</a:t>
            </a:r>
            <a:r>
              <a:rPr lang="en-US" sz="2400" spc="-60" dirty="0">
                <a:latin typeface="Trebuchet MS"/>
                <a:cs typeface="Trebuchet MS"/>
              </a:rPr>
              <a:t> </a:t>
            </a:r>
            <a:r>
              <a:rPr lang="en-US" sz="2400" spc="-185" dirty="0">
                <a:latin typeface="Trebuchet MS"/>
                <a:cs typeface="Trebuchet MS"/>
              </a:rPr>
              <a:t>datab</a:t>
            </a:r>
            <a:r>
              <a:rPr lang="en-US" sz="2400" spc="-200" dirty="0">
                <a:latin typeface="Trebuchet MS"/>
                <a:cs typeface="Trebuchet MS"/>
              </a:rPr>
              <a:t>a</a:t>
            </a:r>
            <a:r>
              <a:rPr lang="en-US" sz="2400" spc="-95" dirty="0">
                <a:latin typeface="Trebuchet MS"/>
                <a:cs typeface="Trebuchet MS"/>
              </a:rPr>
              <a:t>ses</a:t>
            </a:r>
            <a:r>
              <a:rPr lang="en-US" sz="2400" spc="-75" dirty="0">
                <a:latin typeface="Trebuchet MS"/>
                <a:cs typeface="Trebuchet MS"/>
              </a:rPr>
              <a:t>)</a:t>
            </a:r>
            <a:r>
              <a:rPr lang="en-US" sz="2400" spc="-355" dirty="0">
                <a:latin typeface="Trebuchet MS"/>
                <a:cs typeface="Trebuchet MS"/>
              </a:rPr>
              <a:t>:</a:t>
            </a:r>
            <a:endParaRPr lang="en-US" sz="2400" dirty="0">
              <a:latin typeface="Trebuchet MS"/>
              <a:cs typeface="Trebuchet MS"/>
            </a:endParaRPr>
          </a:p>
          <a:p>
            <a:pPr marL="570230" marR="5080" lvl="1" indent="-238125" algn="just">
              <a:lnSpc>
                <a:spcPct val="108000"/>
              </a:lnSpc>
              <a:spcBef>
                <a:spcPts val="18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lang="en-US" sz="2000" spc="-80" dirty="0">
                <a:latin typeface="Trebuchet MS"/>
                <a:cs typeface="Trebuchet MS"/>
              </a:rPr>
              <a:t>Extraction</a:t>
            </a:r>
            <a:r>
              <a:rPr lang="en-US" sz="2000" spc="-105" dirty="0">
                <a:latin typeface="Trebuchet MS"/>
                <a:cs typeface="Trebuchet MS"/>
              </a:rPr>
              <a:t> of</a:t>
            </a:r>
            <a:r>
              <a:rPr lang="en-US" sz="2000" spc="-60" dirty="0">
                <a:latin typeface="Trebuchet MS"/>
                <a:cs typeface="Trebuchet MS"/>
              </a:rPr>
              <a:t> </a:t>
            </a:r>
            <a:r>
              <a:rPr lang="en-US" sz="2000" spc="-105" dirty="0">
                <a:latin typeface="Trebuchet MS"/>
                <a:cs typeface="Trebuchet MS"/>
              </a:rPr>
              <a:t>interesting</a:t>
            </a:r>
            <a:r>
              <a:rPr lang="en-US" sz="2000" spc="-114" dirty="0">
                <a:latin typeface="Trebuchet MS"/>
                <a:cs typeface="Trebuchet MS"/>
              </a:rPr>
              <a:t> </a:t>
            </a:r>
            <a:r>
              <a:rPr lang="en-US" sz="1600" spc="-110" dirty="0">
                <a:latin typeface="Trebuchet MS"/>
                <a:cs typeface="Trebuchet MS"/>
              </a:rPr>
              <a:t>(</a:t>
            </a:r>
            <a:r>
              <a:rPr lang="en-US" sz="2000" u="sng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non-trivial,</a:t>
            </a:r>
            <a:r>
              <a:rPr lang="en-US" sz="2000" spc="-300" dirty="0">
                <a:latin typeface="Trebuchet MS"/>
                <a:cs typeface="Trebuchet MS"/>
              </a:rPr>
              <a:t> </a:t>
            </a:r>
            <a:r>
              <a:rPr lang="en-US" sz="2000" u="sng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implicit</a:t>
            </a:r>
            <a:r>
              <a:rPr lang="en-US" sz="2000" spc="-145" dirty="0">
                <a:latin typeface="Trebuchet MS"/>
                <a:cs typeface="Trebuchet MS"/>
              </a:rPr>
              <a:t>,</a:t>
            </a:r>
            <a:r>
              <a:rPr lang="en-US" sz="2000" spc="-300" dirty="0">
                <a:latin typeface="Trebuchet MS"/>
                <a:cs typeface="Trebuchet MS"/>
              </a:rPr>
              <a:t> </a:t>
            </a:r>
            <a:r>
              <a:rPr lang="en-US" sz="2000" u="sng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previously</a:t>
            </a:r>
            <a:r>
              <a:rPr lang="en-US" sz="2000" u="sng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lang="en-US" sz="2000" u="sng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unknown </a:t>
            </a:r>
            <a:r>
              <a:rPr lang="en-US" sz="2000" spc="-590" dirty="0">
                <a:latin typeface="Trebuchet MS"/>
                <a:cs typeface="Trebuchet MS"/>
              </a:rPr>
              <a:t> </a:t>
            </a:r>
            <a:r>
              <a:rPr lang="en-US" sz="2000" spc="-125" dirty="0">
                <a:latin typeface="Trebuchet MS"/>
                <a:cs typeface="Trebuchet MS"/>
              </a:rPr>
              <a:t>and </a:t>
            </a:r>
            <a:r>
              <a:rPr lang="en-US" sz="20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potentially useful)</a:t>
            </a:r>
            <a:r>
              <a:rPr lang="en-US" sz="2000" spc="-120" dirty="0">
                <a:latin typeface="Trebuchet MS"/>
                <a:cs typeface="Trebuchet MS"/>
              </a:rPr>
              <a:t> </a:t>
            </a:r>
            <a:r>
              <a:rPr lang="en-US" sz="2000" spc="-100" dirty="0">
                <a:latin typeface="Trebuchet MS"/>
                <a:cs typeface="Trebuchet MS"/>
              </a:rPr>
              <a:t>information </a:t>
            </a:r>
            <a:r>
              <a:rPr lang="en-US" sz="2000" spc="20" dirty="0">
                <a:latin typeface="Trebuchet MS"/>
                <a:cs typeface="Trebuchet MS"/>
              </a:rPr>
              <a:t>or </a:t>
            </a:r>
            <a:r>
              <a:rPr lang="en-US" sz="2000" spc="-100" dirty="0">
                <a:latin typeface="Trebuchet MS"/>
                <a:cs typeface="Trebuchet MS"/>
              </a:rPr>
              <a:t>patterns </a:t>
            </a:r>
            <a:r>
              <a:rPr lang="en-US" sz="2000" spc="-90" dirty="0">
                <a:latin typeface="Trebuchet MS"/>
                <a:cs typeface="Trebuchet MS"/>
              </a:rPr>
              <a:t>from </a:t>
            </a:r>
            <a:r>
              <a:rPr lang="en-US" sz="2000" spc="-155" dirty="0">
                <a:latin typeface="Trebuchet MS"/>
                <a:cs typeface="Trebuchet MS"/>
              </a:rPr>
              <a:t>data </a:t>
            </a:r>
            <a:r>
              <a:rPr lang="en-US" sz="2000" spc="-114" dirty="0">
                <a:latin typeface="Trebuchet MS"/>
                <a:cs typeface="Trebuchet MS"/>
              </a:rPr>
              <a:t>in </a:t>
            </a:r>
            <a:r>
              <a:rPr lang="en-US" sz="2000" u="sng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large </a:t>
            </a:r>
            <a:r>
              <a:rPr lang="en-US" sz="2000" spc="-125" dirty="0">
                <a:latin typeface="Trebuchet MS"/>
                <a:cs typeface="Trebuchet MS"/>
              </a:rPr>
              <a:t> </a:t>
            </a:r>
            <a:r>
              <a:rPr lang="en-US" sz="20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databases</a:t>
            </a:r>
            <a:endParaRPr lang="en-US" sz="2000" dirty="0">
              <a:latin typeface="Trebuchet MS"/>
              <a:cs typeface="Trebuchet M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94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6F2B-888D-4661-AF33-A1A53E21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spc="130" dirty="0">
                <a:latin typeface="Trebuchet MS"/>
                <a:cs typeface="Trebuchet MS"/>
              </a:rPr>
              <a:t>Types Data</a:t>
            </a:r>
            <a:r>
              <a:rPr lang="en-IN" sz="3600" b="1" spc="-114" dirty="0">
                <a:latin typeface="Trebuchet MS"/>
                <a:cs typeface="Trebuchet MS"/>
              </a:rPr>
              <a:t> </a:t>
            </a:r>
            <a:r>
              <a:rPr lang="en-IN" b="1" spc="60" dirty="0">
                <a:latin typeface="Trebuchet MS"/>
                <a:cs typeface="Trebuchet MS"/>
              </a:rPr>
              <a:t>to be Mined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1B3F1F-7621-41D3-8012-54020E613B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818488"/>
            <a:ext cx="7377852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Flat Files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</a:t>
            </a:r>
            <a:r>
              <a:rPr lang="en-US" altLang="en-US" sz="1600" i="1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 File in text form or binary data files</a:t>
            </a:r>
            <a:endParaRPr kumimoji="0" lang="en-US" altLang="en-US" sz="1600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Relational Databases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>
                <a:solidFill>
                  <a:srgbClr val="273239"/>
                </a:solidFill>
                <a:latin typeface="urw-din"/>
              </a:rPr>
              <a:t>T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he collection of data organized in tables with rows and columns.</a:t>
            </a:r>
            <a:endParaRPr kumimoji="0" lang="en-US" altLang="en-US" sz="1600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1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DataWarehouse</a:t>
            </a:r>
            <a:endParaRPr lang="en-US" altLang="en-US" sz="1600" b="1" i="1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 collection of data integrated from multiple sources that will queries and decisio</a:t>
            </a:r>
            <a:r>
              <a:rPr lang="en-US" sz="1600" i="1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 making</a:t>
            </a:r>
            <a:endParaRPr kumimoji="0" lang="en-US" altLang="en-US" sz="1600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Transactional Databases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collection of data organized by time stamps, date, </a:t>
            </a:r>
            <a:r>
              <a:rPr lang="en-US" sz="1600" b="0" i="0" dirty="0" err="1">
                <a:solidFill>
                  <a:srgbClr val="273239"/>
                </a:solidFill>
                <a:effectLst/>
                <a:latin typeface="urw-din"/>
              </a:rPr>
              <a:t>etc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 to represent transaction </a:t>
            </a:r>
            <a:endParaRPr kumimoji="0" lang="en-US" altLang="en-US" sz="1600" b="1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Multimedia Databases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600" b="0" i="0" dirty="0">
                <a:solidFill>
                  <a:srgbClr val="273239"/>
                </a:solidFill>
                <a:effectLst/>
                <a:latin typeface="urw-din"/>
              </a:rPr>
              <a:t>databases consists audio, video, images and text media</a:t>
            </a:r>
            <a:endParaRPr kumimoji="0" lang="en-US" altLang="en-US" sz="1600" b="1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Spatial Database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in form of </a:t>
            </a:r>
            <a:r>
              <a:rPr lang="en-IN" sz="1600" b="0" dirty="0">
                <a:solidFill>
                  <a:srgbClr val="273239"/>
                </a:solidFill>
                <a:effectLst/>
                <a:latin typeface="urw-din"/>
              </a:rPr>
              <a:t>coordinates, topology, lines, polygons, etc</a:t>
            </a:r>
            <a:r>
              <a:rPr lang="en-IN" sz="1600" b="0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  <a:endParaRPr kumimoji="0" lang="en-US" altLang="en-US" sz="1600" b="1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Time Series Databases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Time series databases contains stock exchange data and user logged activities.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World Wide Web(WWW)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collection of documents and resources like audio, video, text, </a:t>
            </a:r>
            <a:r>
              <a:rPr lang="en-US" sz="1600" b="0" i="0" dirty="0" err="1">
                <a:solidFill>
                  <a:srgbClr val="273239"/>
                </a:solidFill>
                <a:effectLst/>
                <a:latin typeface="urw-din"/>
              </a:rPr>
              <a:t>etc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urw-din"/>
              </a:rPr>
              <a:t> which are identified by Uniform Resource Locators (URLs) through web browsers, linked by HTML pages, and accessible via the Internet network.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03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5649-9CB3-405D-8204-77C9CCCF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spc="130" dirty="0">
                <a:latin typeface="Trebuchet MS"/>
                <a:cs typeface="Trebuchet MS"/>
              </a:rPr>
              <a:t>Data</a:t>
            </a:r>
            <a:r>
              <a:rPr lang="en-IN" sz="3600" b="1" spc="-114" dirty="0">
                <a:latin typeface="Trebuchet MS"/>
                <a:cs typeface="Trebuchet MS"/>
              </a:rPr>
              <a:t> </a:t>
            </a:r>
            <a:r>
              <a:rPr lang="en-IN" sz="3600" b="1" spc="60" dirty="0">
                <a:latin typeface="Trebuchet MS"/>
                <a:cs typeface="Trebuchet MS"/>
              </a:rPr>
              <a:t>Mining</a:t>
            </a:r>
            <a:r>
              <a:rPr lang="en-IN" sz="3600" b="1" spc="-110" dirty="0">
                <a:latin typeface="Trebuchet MS"/>
                <a:cs typeface="Trebuchet MS"/>
              </a:rPr>
              <a:t> </a:t>
            </a:r>
            <a:r>
              <a:rPr lang="en-IN" sz="3600" b="1" spc="65" dirty="0">
                <a:latin typeface="Trebuchet MS"/>
                <a:cs typeface="Trebuchet MS"/>
              </a:rPr>
              <a:t>Systems</a:t>
            </a:r>
            <a:r>
              <a:rPr lang="en-IN" sz="3600" b="1" spc="-105" dirty="0">
                <a:latin typeface="Trebuchet MS"/>
                <a:cs typeface="Trebuchet MS"/>
              </a:rPr>
              <a:t> </a:t>
            </a:r>
            <a:r>
              <a:rPr lang="en-IN" sz="3600" b="1" spc="-40" dirty="0">
                <a:latin typeface="Trebuchet MS"/>
                <a:cs typeface="Trebuchet MS"/>
              </a:rPr>
              <a:t>classification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CF388-2869-49D6-A0EB-BF367F5F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08" y="772160"/>
            <a:ext cx="7315200" cy="5471160"/>
          </a:xfrm>
        </p:spPr>
        <p:txBody>
          <a:bodyPr>
            <a:normAutofit lnSpcReduction="10000"/>
          </a:bodyPr>
          <a:lstStyle/>
          <a:p>
            <a:pPr marL="295910" indent="-283845">
              <a:lnSpc>
                <a:spcPct val="100000"/>
              </a:lnSpc>
              <a:spcBef>
                <a:spcPts val="455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  <a:tab pos="296545" algn="l"/>
              </a:tabLst>
            </a:pPr>
            <a:endParaRPr lang="en-IN" sz="2000" b="1" spc="3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455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lang="en-IN" sz="2000" b="1" spc="30" dirty="0">
                <a:latin typeface="Trebuchet MS"/>
                <a:cs typeface="Trebuchet MS"/>
              </a:rPr>
              <a:t>Databases</a:t>
            </a:r>
            <a:r>
              <a:rPr lang="en-IN" sz="2000" b="1" spc="-125" dirty="0">
                <a:latin typeface="Trebuchet MS"/>
                <a:cs typeface="Trebuchet MS"/>
              </a:rPr>
              <a:t> </a:t>
            </a:r>
            <a:r>
              <a:rPr lang="en-IN" sz="2000" b="1" spc="35" dirty="0">
                <a:latin typeface="Trebuchet MS"/>
                <a:cs typeface="Trebuchet MS"/>
              </a:rPr>
              <a:t>to</a:t>
            </a:r>
            <a:r>
              <a:rPr lang="en-IN" sz="2000" b="1" spc="-80" dirty="0">
                <a:latin typeface="Trebuchet MS"/>
                <a:cs typeface="Trebuchet MS"/>
              </a:rPr>
              <a:t> </a:t>
            </a:r>
            <a:r>
              <a:rPr lang="en-IN" sz="2000" b="1" spc="-20" dirty="0">
                <a:latin typeface="Trebuchet MS"/>
                <a:cs typeface="Trebuchet MS"/>
              </a:rPr>
              <a:t>be</a:t>
            </a:r>
            <a:r>
              <a:rPr lang="en-IN" sz="2000" b="1" spc="-75" dirty="0">
                <a:latin typeface="Trebuchet MS"/>
                <a:cs typeface="Trebuchet MS"/>
              </a:rPr>
              <a:t> </a:t>
            </a:r>
            <a:r>
              <a:rPr lang="en-IN" sz="2000" b="1" spc="15" dirty="0">
                <a:latin typeface="Trebuchet MS"/>
                <a:cs typeface="Trebuchet MS"/>
              </a:rPr>
              <a:t>mined</a:t>
            </a:r>
            <a:endParaRPr lang="en-IN" sz="2000" dirty="0">
              <a:latin typeface="Trebuchet MS"/>
              <a:cs typeface="Trebuchet MS"/>
            </a:endParaRPr>
          </a:p>
          <a:p>
            <a:pPr marL="570230" marR="444500" lvl="1" indent="-238125">
              <a:lnSpc>
                <a:spcPts val="2160"/>
              </a:lnSpc>
              <a:spcBef>
                <a:spcPts val="63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IN" sz="2000" spc="-130" dirty="0">
                <a:latin typeface="Trebuchet MS"/>
                <a:cs typeface="Trebuchet MS"/>
              </a:rPr>
              <a:t>Relational, </a:t>
            </a:r>
            <a:r>
              <a:rPr lang="en-IN" sz="2000" spc="-125" dirty="0">
                <a:latin typeface="Trebuchet MS"/>
                <a:cs typeface="Trebuchet MS"/>
              </a:rPr>
              <a:t>transactional, </a:t>
            </a:r>
            <a:r>
              <a:rPr lang="en-IN" sz="2000" spc="-114" dirty="0">
                <a:latin typeface="Trebuchet MS"/>
                <a:cs typeface="Trebuchet MS"/>
              </a:rPr>
              <a:t>object-oriented, </a:t>
            </a:r>
            <a:r>
              <a:rPr lang="en-IN" sz="2000" spc="-130" dirty="0">
                <a:latin typeface="Trebuchet MS"/>
                <a:cs typeface="Trebuchet MS"/>
              </a:rPr>
              <a:t>object-relational, </a:t>
            </a:r>
            <a:r>
              <a:rPr lang="en-IN" sz="2000" spc="-160" dirty="0">
                <a:latin typeface="Trebuchet MS"/>
                <a:cs typeface="Trebuchet MS"/>
              </a:rPr>
              <a:t>active, </a:t>
            </a:r>
            <a:r>
              <a:rPr lang="en-IN" sz="2000" spc="-155" dirty="0">
                <a:latin typeface="Trebuchet MS"/>
                <a:cs typeface="Trebuchet MS"/>
              </a:rPr>
              <a:t> spatial,</a:t>
            </a:r>
            <a:r>
              <a:rPr lang="en-IN" sz="2000" spc="-300" dirty="0">
                <a:latin typeface="Trebuchet MS"/>
                <a:cs typeface="Trebuchet MS"/>
              </a:rPr>
              <a:t> </a:t>
            </a:r>
            <a:r>
              <a:rPr lang="en-IN" sz="2000" spc="-114" dirty="0">
                <a:latin typeface="Trebuchet MS"/>
                <a:cs typeface="Trebuchet MS"/>
              </a:rPr>
              <a:t>time-series,</a:t>
            </a:r>
            <a:r>
              <a:rPr lang="en-IN" sz="2000" spc="-270" dirty="0">
                <a:latin typeface="Trebuchet MS"/>
                <a:cs typeface="Trebuchet MS"/>
              </a:rPr>
              <a:t> </a:t>
            </a:r>
            <a:r>
              <a:rPr lang="en-IN" sz="2000" spc="-135" dirty="0">
                <a:latin typeface="Trebuchet MS"/>
                <a:cs typeface="Trebuchet MS"/>
              </a:rPr>
              <a:t>text,</a:t>
            </a:r>
            <a:r>
              <a:rPr lang="en-IN" sz="2000" spc="-280" dirty="0">
                <a:latin typeface="Trebuchet MS"/>
                <a:cs typeface="Trebuchet MS"/>
              </a:rPr>
              <a:t> </a:t>
            </a:r>
            <a:r>
              <a:rPr lang="en-IN" sz="2000" spc="-140" dirty="0">
                <a:latin typeface="Trebuchet MS"/>
                <a:cs typeface="Trebuchet MS"/>
              </a:rPr>
              <a:t>multi-media,</a:t>
            </a:r>
            <a:r>
              <a:rPr lang="en-IN" sz="2000" spc="-305" dirty="0">
                <a:latin typeface="Trebuchet MS"/>
                <a:cs typeface="Trebuchet MS"/>
              </a:rPr>
              <a:t> </a:t>
            </a:r>
            <a:r>
              <a:rPr lang="en-IN" sz="2000" spc="-100" dirty="0">
                <a:latin typeface="Trebuchet MS"/>
                <a:cs typeface="Trebuchet MS"/>
              </a:rPr>
              <a:t>heterogeneous,</a:t>
            </a:r>
            <a:r>
              <a:rPr lang="en-IN" sz="2000" spc="-290" dirty="0">
                <a:latin typeface="Trebuchet MS"/>
                <a:cs typeface="Trebuchet MS"/>
              </a:rPr>
              <a:t> </a:t>
            </a:r>
            <a:r>
              <a:rPr lang="en-IN" sz="2000" spc="-60" dirty="0" err="1">
                <a:latin typeface="Trebuchet MS"/>
                <a:cs typeface="Trebuchet MS"/>
              </a:rPr>
              <a:t>legacy,WWW</a:t>
            </a:r>
            <a:r>
              <a:rPr lang="en-IN" sz="2000" spc="-60" dirty="0">
                <a:latin typeface="Trebuchet MS"/>
                <a:cs typeface="Trebuchet MS"/>
              </a:rPr>
              <a:t>, </a:t>
            </a:r>
            <a:r>
              <a:rPr lang="en-IN" sz="2000" spc="-585" dirty="0">
                <a:latin typeface="Trebuchet MS"/>
                <a:cs typeface="Trebuchet MS"/>
              </a:rPr>
              <a:t> </a:t>
            </a:r>
            <a:r>
              <a:rPr lang="en-IN" sz="2000" spc="-160" dirty="0">
                <a:latin typeface="Trebuchet MS"/>
                <a:cs typeface="Trebuchet MS"/>
              </a:rPr>
              <a:t>etc.</a:t>
            </a:r>
            <a:endParaRPr lang="en-IN" sz="20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33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lang="en-IN" sz="2000" b="1" spc="5" dirty="0">
                <a:latin typeface="Trebuchet MS"/>
                <a:cs typeface="Trebuchet MS"/>
              </a:rPr>
              <a:t>Knowledge</a:t>
            </a:r>
            <a:r>
              <a:rPr lang="en-IN" sz="2000" b="1" spc="-100" dirty="0">
                <a:latin typeface="Trebuchet MS"/>
                <a:cs typeface="Trebuchet MS"/>
              </a:rPr>
              <a:t> </a:t>
            </a:r>
            <a:r>
              <a:rPr lang="en-IN" sz="2000" b="1" spc="35" dirty="0">
                <a:latin typeface="Trebuchet MS"/>
                <a:cs typeface="Trebuchet MS"/>
              </a:rPr>
              <a:t>to</a:t>
            </a:r>
            <a:r>
              <a:rPr lang="en-IN" sz="2000" b="1" spc="-80" dirty="0">
                <a:latin typeface="Trebuchet MS"/>
                <a:cs typeface="Trebuchet MS"/>
              </a:rPr>
              <a:t> </a:t>
            </a:r>
            <a:r>
              <a:rPr lang="en-IN" sz="2000" b="1" spc="-20" dirty="0">
                <a:latin typeface="Trebuchet MS"/>
                <a:cs typeface="Trebuchet MS"/>
              </a:rPr>
              <a:t>be</a:t>
            </a:r>
            <a:r>
              <a:rPr lang="en-IN" sz="2000" b="1" spc="-70" dirty="0">
                <a:latin typeface="Trebuchet MS"/>
                <a:cs typeface="Trebuchet MS"/>
              </a:rPr>
              <a:t> </a:t>
            </a:r>
            <a:r>
              <a:rPr lang="en-IN" sz="2000" b="1" spc="15" dirty="0">
                <a:latin typeface="Trebuchet MS"/>
                <a:cs typeface="Trebuchet MS"/>
              </a:rPr>
              <a:t>mined</a:t>
            </a:r>
            <a:endParaRPr lang="en-IN" sz="2000" dirty="0">
              <a:latin typeface="Trebuchet MS"/>
              <a:cs typeface="Trebuchet MS"/>
            </a:endParaRPr>
          </a:p>
          <a:p>
            <a:pPr marL="570230" marR="357505" lvl="1" indent="-238125">
              <a:lnSpc>
                <a:spcPts val="2160"/>
              </a:lnSpc>
              <a:spcBef>
                <a:spcPts val="63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IN" sz="2000" spc="-100" dirty="0">
                <a:latin typeface="Trebuchet MS"/>
                <a:cs typeface="Trebuchet MS"/>
              </a:rPr>
              <a:t>Characterization,</a:t>
            </a:r>
            <a:r>
              <a:rPr lang="en-IN" sz="2000" spc="-290" dirty="0">
                <a:latin typeface="Trebuchet MS"/>
                <a:cs typeface="Trebuchet MS"/>
              </a:rPr>
              <a:t> </a:t>
            </a:r>
            <a:r>
              <a:rPr lang="en-IN" sz="2000" spc="-110" dirty="0">
                <a:latin typeface="Trebuchet MS"/>
                <a:cs typeface="Trebuchet MS"/>
              </a:rPr>
              <a:t>discrimination,</a:t>
            </a:r>
            <a:r>
              <a:rPr lang="en-IN" sz="2000" spc="-290" dirty="0">
                <a:latin typeface="Trebuchet MS"/>
                <a:cs typeface="Trebuchet MS"/>
              </a:rPr>
              <a:t> </a:t>
            </a:r>
            <a:r>
              <a:rPr lang="en-IN" sz="2000" spc="-114" dirty="0">
                <a:latin typeface="Trebuchet MS"/>
                <a:cs typeface="Trebuchet MS"/>
              </a:rPr>
              <a:t>association,</a:t>
            </a:r>
            <a:r>
              <a:rPr lang="en-IN" sz="2000" spc="-275" dirty="0">
                <a:latin typeface="Trebuchet MS"/>
                <a:cs typeface="Trebuchet MS"/>
              </a:rPr>
              <a:t> </a:t>
            </a:r>
            <a:r>
              <a:rPr lang="en-IN" sz="2000" spc="-135" dirty="0">
                <a:latin typeface="Trebuchet MS"/>
                <a:cs typeface="Trebuchet MS"/>
              </a:rPr>
              <a:t>classification,</a:t>
            </a:r>
            <a:r>
              <a:rPr lang="en-IN" sz="2000" spc="-280" dirty="0">
                <a:latin typeface="Trebuchet MS"/>
                <a:cs typeface="Trebuchet MS"/>
              </a:rPr>
              <a:t> </a:t>
            </a:r>
            <a:r>
              <a:rPr lang="en-IN" sz="2000" spc="-120" dirty="0">
                <a:latin typeface="Trebuchet MS"/>
                <a:cs typeface="Trebuchet MS"/>
              </a:rPr>
              <a:t>clustering, </a:t>
            </a:r>
            <a:r>
              <a:rPr lang="en-IN" sz="2000" spc="-590" dirty="0">
                <a:latin typeface="Trebuchet MS"/>
                <a:cs typeface="Trebuchet MS"/>
              </a:rPr>
              <a:t> </a:t>
            </a:r>
            <a:r>
              <a:rPr lang="en-IN" sz="2000" spc="-130" dirty="0">
                <a:latin typeface="Trebuchet MS"/>
                <a:cs typeface="Trebuchet MS"/>
              </a:rPr>
              <a:t>trend,</a:t>
            </a:r>
            <a:r>
              <a:rPr lang="en-IN" sz="2000" spc="-290" dirty="0">
                <a:latin typeface="Trebuchet MS"/>
                <a:cs typeface="Trebuchet MS"/>
              </a:rPr>
              <a:t> </a:t>
            </a:r>
            <a:r>
              <a:rPr lang="en-IN" sz="2000" spc="-114" dirty="0">
                <a:latin typeface="Trebuchet MS"/>
                <a:cs typeface="Trebuchet MS"/>
              </a:rPr>
              <a:t>deviation</a:t>
            </a:r>
            <a:r>
              <a:rPr lang="en-IN" sz="2000" spc="-75" dirty="0">
                <a:latin typeface="Trebuchet MS"/>
                <a:cs typeface="Trebuchet MS"/>
              </a:rPr>
              <a:t> </a:t>
            </a:r>
            <a:r>
              <a:rPr lang="en-IN" sz="2000" spc="-130" dirty="0">
                <a:latin typeface="Trebuchet MS"/>
                <a:cs typeface="Trebuchet MS"/>
              </a:rPr>
              <a:t>and</a:t>
            </a:r>
            <a:r>
              <a:rPr lang="en-IN" sz="2000" spc="-65" dirty="0">
                <a:latin typeface="Trebuchet MS"/>
                <a:cs typeface="Trebuchet MS"/>
              </a:rPr>
              <a:t> </a:t>
            </a:r>
            <a:r>
              <a:rPr lang="en-IN" sz="2000" spc="-85" dirty="0">
                <a:latin typeface="Trebuchet MS"/>
                <a:cs typeface="Trebuchet MS"/>
              </a:rPr>
              <a:t>outlier</a:t>
            </a:r>
            <a:r>
              <a:rPr lang="en-IN" sz="2000" spc="-90" dirty="0">
                <a:latin typeface="Trebuchet MS"/>
                <a:cs typeface="Trebuchet MS"/>
              </a:rPr>
              <a:t> </a:t>
            </a:r>
            <a:r>
              <a:rPr lang="en-IN" sz="2000" spc="-145" dirty="0">
                <a:latin typeface="Trebuchet MS"/>
                <a:cs typeface="Trebuchet MS"/>
              </a:rPr>
              <a:t>analysis,</a:t>
            </a:r>
            <a:r>
              <a:rPr lang="en-IN" sz="2000" spc="-270" dirty="0">
                <a:latin typeface="Trebuchet MS"/>
                <a:cs typeface="Trebuchet MS"/>
              </a:rPr>
              <a:t> </a:t>
            </a:r>
            <a:r>
              <a:rPr lang="en-IN" sz="2000" spc="-160" dirty="0">
                <a:latin typeface="Trebuchet MS"/>
                <a:cs typeface="Trebuchet MS"/>
              </a:rPr>
              <a:t>etc.</a:t>
            </a:r>
            <a:endParaRPr lang="en-IN" sz="2000" dirty="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33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IN" sz="2000" spc="-130" dirty="0">
                <a:latin typeface="Trebuchet MS"/>
                <a:cs typeface="Trebuchet MS"/>
              </a:rPr>
              <a:t>Multiple/integrated</a:t>
            </a:r>
            <a:r>
              <a:rPr lang="en-IN" sz="2000" spc="-85" dirty="0">
                <a:latin typeface="Trebuchet MS"/>
                <a:cs typeface="Trebuchet MS"/>
              </a:rPr>
              <a:t> </a:t>
            </a:r>
            <a:r>
              <a:rPr lang="en-IN" sz="2000" spc="-100" dirty="0">
                <a:latin typeface="Trebuchet MS"/>
                <a:cs typeface="Trebuchet MS"/>
              </a:rPr>
              <a:t>functions</a:t>
            </a:r>
            <a:r>
              <a:rPr lang="en-IN" sz="2000" spc="-95" dirty="0">
                <a:latin typeface="Trebuchet MS"/>
                <a:cs typeface="Trebuchet MS"/>
              </a:rPr>
              <a:t> </a:t>
            </a:r>
            <a:r>
              <a:rPr lang="en-IN" sz="2000" spc="-130" dirty="0">
                <a:latin typeface="Trebuchet MS"/>
                <a:cs typeface="Trebuchet MS"/>
              </a:rPr>
              <a:t>and</a:t>
            </a:r>
            <a:r>
              <a:rPr lang="en-IN" sz="2000" spc="-60" dirty="0">
                <a:latin typeface="Trebuchet MS"/>
                <a:cs typeface="Trebuchet MS"/>
              </a:rPr>
              <a:t> </a:t>
            </a:r>
            <a:r>
              <a:rPr lang="en-IN" sz="2000" spc="-120" dirty="0">
                <a:latin typeface="Trebuchet MS"/>
                <a:cs typeface="Trebuchet MS"/>
              </a:rPr>
              <a:t>mining</a:t>
            </a:r>
            <a:r>
              <a:rPr lang="en-IN" sz="2000" spc="-75" dirty="0">
                <a:latin typeface="Trebuchet MS"/>
                <a:cs typeface="Trebuchet MS"/>
              </a:rPr>
              <a:t> </a:t>
            </a:r>
            <a:r>
              <a:rPr lang="en-IN" sz="2000" spc="-165" dirty="0">
                <a:latin typeface="Trebuchet MS"/>
                <a:cs typeface="Trebuchet MS"/>
              </a:rPr>
              <a:t>at</a:t>
            </a:r>
            <a:r>
              <a:rPr lang="en-IN" sz="2000" spc="-55" dirty="0">
                <a:latin typeface="Trebuchet MS"/>
                <a:cs typeface="Trebuchet MS"/>
              </a:rPr>
              <a:t> </a:t>
            </a:r>
            <a:r>
              <a:rPr lang="en-IN" sz="2000" spc="-130" dirty="0">
                <a:latin typeface="Trebuchet MS"/>
                <a:cs typeface="Trebuchet MS"/>
              </a:rPr>
              <a:t>multiple</a:t>
            </a:r>
            <a:r>
              <a:rPr lang="en-IN" sz="2000" spc="-85" dirty="0">
                <a:latin typeface="Trebuchet MS"/>
                <a:cs typeface="Trebuchet MS"/>
              </a:rPr>
              <a:t> </a:t>
            </a:r>
            <a:r>
              <a:rPr lang="en-IN" sz="2000" spc="-135" dirty="0">
                <a:latin typeface="Trebuchet MS"/>
                <a:cs typeface="Trebuchet MS"/>
              </a:rPr>
              <a:t>levels</a:t>
            </a:r>
            <a:endParaRPr lang="en-IN" sz="20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36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lang="en-IN" sz="2000" b="1" spc="-114" dirty="0">
                <a:latin typeface="Trebuchet MS"/>
                <a:cs typeface="Trebuchet MS"/>
              </a:rPr>
              <a:t>T</a:t>
            </a:r>
            <a:r>
              <a:rPr lang="en-IN" sz="2000" b="1" spc="-35" dirty="0">
                <a:latin typeface="Trebuchet MS"/>
                <a:cs typeface="Trebuchet MS"/>
              </a:rPr>
              <a:t>echn</a:t>
            </a:r>
            <a:r>
              <a:rPr lang="en-IN" sz="2000" b="1" spc="-30" dirty="0">
                <a:latin typeface="Trebuchet MS"/>
                <a:cs typeface="Trebuchet MS"/>
              </a:rPr>
              <a:t>i</a:t>
            </a:r>
            <a:r>
              <a:rPr lang="en-IN" sz="2000" b="1" spc="-10" dirty="0">
                <a:latin typeface="Trebuchet MS"/>
                <a:cs typeface="Trebuchet MS"/>
              </a:rPr>
              <a:t>q</a:t>
            </a:r>
            <a:r>
              <a:rPr lang="en-IN" sz="2000" b="1" spc="-20" dirty="0">
                <a:latin typeface="Trebuchet MS"/>
                <a:cs typeface="Trebuchet MS"/>
              </a:rPr>
              <a:t>u</a:t>
            </a:r>
            <a:r>
              <a:rPr lang="en-IN" sz="2000" b="1" spc="-25" dirty="0">
                <a:latin typeface="Trebuchet MS"/>
                <a:cs typeface="Trebuchet MS"/>
              </a:rPr>
              <a:t>es</a:t>
            </a:r>
            <a:r>
              <a:rPr lang="en-IN" sz="2000" b="1" spc="-105" dirty="0">
                <a:latin typeface="Trebuchet MS"/>
                <a:cs typeface="Trebuchet MS"/>
              </a:rPr>
              <a:t> </a:t>
            </a:r>
            <a:r>
              <a:rPr lang="en-IN" sz="2000" b="1" spc="-30" dirty="0">
                <a:latin typeface="Trebuchet MS"/>
                <a:cs typeface="Trebuchet MS"/>
              </a:rPr>
              <a:t>util</a:t>
            </a:r>
            <a:r>
              <a:rPr lang="en-IN" sz="2000" b="1" spc="-25" dirty="0">
                <a:latin typeface="Trebuchet MS"/>
                <a:cs typeface="Trebuchet MS"/>
              </a:rPr>
              <a:t>i</a:t>
            </a:r>
            <a:r>
              <a:rPr lang="en-IN" sz="2000" b="1" spc="-90" dirty="0">
                <a:latin typeface="Trebuchet MS"/>
                <a:cs typeface="Trebuchet MS"/>
              </a:rPr>
              <a:t>z</a:t>
            </a:r>
            <a:r>
              <a:rPr lang="en-IN" sz="2000" b="1" spc="-20" dirty="0">
                <a:latin typeface="Trebuchet MS"/>
                <a:cs typeface="Trebuchet MS"/>
              </a:rPr>
              <a:t>ed</a:t>
            </a:r>
            <a:endParaRPr lang="en-IN" sz="2000" dirty="0">
              <a:latin typeface="Trebuchet MS"/>
              <a:cs typeface="Trebuchet MS"/>
            </a:endParaRPr>
          </a:p>
          <a:p>
            <a:pPr marL="570230" lvl="1" indent="-238760">
              <a:lnSpc>
                <a:spcPts val="2280"/>
              </a:lnSpc>
              <a:spcBef>
                <a:spcPts val="36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IN" sz="2000" spc="-100" dirty="0">
                <a:latin typeface="Trebuchet MS"/>
                <a:cs typeface="Trebuchet MS"/>
              </a:rPr>
              <a:t>Database-oriented,</a:t>
            </a:r>
            <a:r>
              <a:rPr lang="en-IN" sz="2000" spc="-295" dirty="0">
                <a:latin typeface="Trebuchet MS"/>
                <a:cs typeface="Trebuchet MS"/>
              </a:rPr>
              <a:t> </a:t>
            </a:r>
            <a:r>
              <a:rPr lang="en-IN" sz="2000" spc="-155" dirty="0">
                <a:latin typeface="Trebuchet MS"/>
                <a:cs typeface="Trebuchet MS"/>
              </a:rPr>
              <a:t>data</a:t>
            </a:r>
            <a:r>
              <a:rPr lang="en-IN" sz="2000" spc="-60" dirty="0">
                <a:latin typeface="Trebuchet MS"/>
                <a:cs typeface="Trebuchet MS"/>
              </a:rPr>
              <a:t> </a:t>
            </a:r>
            <a:r>
              <a:rPr lang="en-IN" sz="2000" spc="-85" dirty="0">
                <a:latin typeface="Trebuchet MS"/>
                <a:cs typeface="Trebuchet MS"/>
              </a:rPr>
              <a:t>warehouse</a:t>
            </a:r>
            <a:r>
              <a:rPr lang="en-IN" sz="2000" spc="-65" dirty="0">
                <a:latin typeface="Trebuchet MS"/>
                <a:cs typeface="Trebuchet MS"/>
              </a:rPr>
              <a:t> </a:t>
            </a:r>
            <a:r>
              <a:rPr lang="en-IN" sz="2000" spc="-25" dirty="0">
                <a:latin typeface="Trebuchet MS"/>
                <a:cs typeface="Trebuchet MS"/>
              </a:rPr>
              <a:t>(OLAP),</a:t>
            </a:r>
            <a:r>
              <a:rPr lang="en-IN" sz="2000" spc="-240" dirty="0">
                <a:latin typeface="Trebuchet MS"/>
                <a:cs typeface="Trebuchet MS"/>
              </a:rPr>
              <a:t> </a:t>
            </a:r>
            <a:r>
              <a:rPr lang="en-IN" sz="2000" spc="-125" dirty="0">
                <a:latin typeface="Trebuchet MS"/>
                <a:cs typeface="Trebuchet MS"/>
              </a:rPr>
              <a:t>machine</a:t>
            </a:r>
            <a:r>
              <a:rPr lang="en-IN" sz="2000" spc="-75" dirty="0">
                <a:latin typeface="Trebuchet MS"/>
                <a:cs typeface="Trebuchet MS"/>
              </a:rPr>
              <a:t> </a:t>
            </a:r>
            <a:r>
              <a:rPr lang="en-IN" sz="2000" spc="-140" dirty="0">
                <a:latin typeface="Trebuchet MS"/>
                <a:cs typeface="Trebuchet MS"/>
              </a:rPr>
              <a:t>learning,</a:t>
            </a:r>
            <a:r>
              <a:rPr lang="en-IN" sz="2000" spc="-295" dirty="0">
                <a:latin typeface="Trebuchet MS"/>
                <a:cs typeface="Trebuchet MS"/>
              </a:rPr>
              <a:t> </a:t>
            </a:r>
            <a:r>
              <a:rPr lang="en-IN" sz="2000" spc="-125" dirty="0">
                <a:latin typeface="Trebuchet MS"/>
                <a:cs typeface="Trebuchet MS"/>
              </a:rPr>
              <a:t>statistics,</a:t>
            </a:r>
            <a:endParaRPr lang="en-IN" sz="2000" dirty="0">
              <a:latin typeface="Trebuchet MS"/>
              <a:cs typeface="Trebuchet MS"/>
            </a:endParaRPr>
          </a:p>
          <a:p>
            <a:pPr marL="570230">
              <a:lnSpc>
                <a:spcPts val="2280"/>
              </a:lnSpc>
            </a:pPr>
            <a:r>
              <a:rPr lang="en-IN" sz="2000" spc="-130" dirty="0">
                <a:latin typeface="Trebuchet MS"/>
                <a:cs typeface="Trebuchet MS"/>
              </a:rPr>
              <a:t>visualization,</a:t>
            </a:r>
            <a:r>
              <a:rPr lang="en-IN" sz="2000" spc="-300" dirty="0">
                <a:latin typeface="Trebuchet MS"/>
                <a:cs typeface="Trebuchet MS"/>
              </a:rPr>
              <a:t> </a:t>
            </a:r>
            <a:r>
              <a:rPr lang="en-IN" sz="2000" spc="-110" dirty="0">
                <a:latin typeface="Trebuchet MS"/>
                <a:cs typeface="Trebuchet MS"/>
              </a:rPr>
              <a:t>neural</a:t>
            </a:r>
            <a:r>
              <a:rPr lang="en-IN" sz="2000" spc="-70" dirty="0">
                <a:latin typeface="Trebuchet MS"/>
                <a:cs typeface="Trebuchet MS"/>
              </a:rPr>
              <a:t> </a:t>
            </a:r>
            <a:r>
              <a:rPr lang="en-IN" sz="2000" spc="-95" dirty="0">
                <a:latin typeface="Trebuchet MS"/>
                <a:cs typeface="Trebuchet MS"/>
              </a:rPr>
              <a:t>network,</a:t>
            </a:r>
            <a:r>
              <a:rPr lang="en-IN" sz="2000" spc="-285" dirty="0">
                <a:latin typeface="Trebuchet MS"/>
                <a:cs typeface="Trebuchet MS"/>
              </a:rPr>
              <a:t> </a:t>
            </a:r>
            <a:r>
              <a:rPr lang="en-IN" sz="2000" spc="-160" dirty="0">
                <a:latin typeface="Trebuchet MS"/>
                <a:cs typeface="Trebuchet MS"/>
              </a:rPr>
              <a:t>etc.</a:t>
            </a:r>
            <a:endParaRPr lang="en-IN" sz="20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36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lang="en-IN" sz="2000" b="1" spc="10" dirty="0">
                <a:latin typeface="Trebuchet MS"/>
                <a:cs typeface="Trebuchet MS"/>
              </a:rPr>
              <a:t>Applications</a:t>
            </a:r>
            <a:r>
              <a:rPr lang="en-IN" sz="2000" b="1" spc="-130" dirty="0">
                <a:latin typeface="Trebuchet MS"/>
                <a:cs typeface="Trebuchet MS"/>
              </a:rPr>
              <a:t> </a:t>
            </a:r>
            <a:r>
              <a:rPr lang="en-IN" sz="2000" b="1" spc="-5" dirty="0">
                <a:latin typeface="Trebuchet MS"/>
                <a:cs typeface="Trebuchet MS"/>
              </a:rPr>
              <a:t>adapted</a:t>
            </a:r>
            <a:endParaRPr lang="en-IN" sz="2000" dirty="0">
              <a:latin typeface="Trebuchet MS"/>
              <a:cs typeface="Trebuchet MS"/>
            </a:endParaRPr>
          </a:p>
          <a:p>
            <a:pPr marL="570230" marR="316865" lvl="1" indent="-238125">
              <a:lnSpc>
                <a:spcPts val="1939"/>
              </a:lnSpc>
              <a:spcBef>
                <a:spcPts val="64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IN" sz="1800" spc="-130" dirty="0">
                <a:latin typeface="Trebuchet MS"/>
                <a:cs typeface="Trebuchet MS"/>
              </a:rPr>
              <a:t>Retail,</a:t>
            </a:r>
            <a:r>
              <a:rPr lang="en-IN" sz="1800" spc="-220" dirty="0">
                <a:latin typeface="Trebuchet MS"/>
                <a:cs typeface="Trebuchet MS"/>
              </a:rPr>
              <a:t> </a:t>
            </a:r>
            <a:r>
              <a:rPr lang="en-IN" sz="1800" spc="-110" dirty="0">
                <a:latin typeface="Trebuchet MS"/>
                <a:cs typeface="Trebuchet MS"/>
              </a:rPr>
              <a:t>telecommunication,</a:t>
            </a:r>
            <a:r>
              <a:rPr lang="en-IN" sz="1800" spc="-245" dirty="0">
                <a:latin typeface="Trebuchet MS"/>
                <a:cs typeface="Trebuchet MS"/>
              </a:rPr>
              <a:t> </a:t>
            </a:r>
            <a:r>
              <a:rPr lang="en-IN" sz="1800" spc="-130" dirty="0">
                <a:latin typeface="Trebuchet MS"/>
                <a:cs typeface="Trebuchet MS"/>
              </a:rPr>
              <a:t>banking,</a:t>
            </a:r>
            <a:r>
              <a:rPr lang="en-IN" sz="1800" spc="-215" dirty="0">
                <a:latin typeface="Trebuchet MS"/>
                <a:cs typeface="Trebuchet MS"/>
              </a:rPr>
              <a:t> </a:t>
            </a:r>
            <a:r>
              <a:rPr lang="en-IN" sz="1800" spc="-114" dirty="0">
                <a:latin typeface="Trebuchet MS"/>
                <a:cs typeface="Trebuchet MS"/>
              </a:rPr>
              <a:t>fraud</a:t>
            </a:r>
            <a:r>
              <a:rPr lang="en-IN" sz="1800" spc="-40" dirty="0">
                <a:latin typeface="Trebuchet MS"/>
                <a:cs typeface="Trebuchet MS"/>
              </a:rPr>
              <a:t> </a:t>
            </a:r>
            <a:r>
              <a:rPr lang="en-IN" sz="1800" spc="-130" dirty="0">
                <a:latin typeface="Trebuchet MS"/>
                <a:cs typeface="Trebuchet MS"/>
              </a:rPr>
              <a:t>analysis,</a:t>
            </a:r>
            <a:r>
              <a:rPr lang="en-IN" sz="1800" spc="-225" dirty="0">
                <a:latin typeface="Trebuchet MS"/>
                <a:cs typeface="Trebuchet MS"/>
              </a:rPr>
              <a:t> </a:t>
            </a:r>
            <a:r>
              <a:rPr lang="en-IN" sz="1800" spc="210" dirty="0">
                <a:latin typeface="Trebuchet MS"/>
                <a:cs typeface="Trebuchet MS"/>
              </a:rPr>
              <a:t>DNA</a:t>
            </a:r>
            <a:r>
              <a:rPr lang="en-IN" sz="1800" spc="-45" dirty="0">
                <a:latin typeface="Trebuchet MS"/>
                <a:cs typeface="Trebuchet MS"/>
              </a:rPr>
              <a:t> </a:t>
            </a:r>
            <a:r>
              <a:rPr lang="en-IN" sz="1800" spc="-135" dirty="0">
                <a:latin typeface="Trebuchet MS"/>
                <a:cs typeface="Trebuchet MS"/>
              </a:rPr>
              <a:t>mining,</a:t>
            </a:r>
            <a:r>
              <a:rPr lang="en-IN" sz="1800" spc="-210" dirty="0">
                <a:latin typeface="Trebuchet MS"/>
                <a:cs typeface="Trebuchet MS"/>
              </a:rPr>
              <a:t> </a:t>
            </a:r>
            <a:r>
              <a:rPr lang="en-IN" sz="1800" spc="-55" dirty="0">
                <a:latin typeface="Trebuchet MS"/>
                <a:cs typeface="Trebuchet MS"/>
              </a:rPr>
              <a:t>stock</a:t>
            </a:r>
            <a:r>
              <a:rPr lang="en-IN" sz="1800" spc="-40" dirty="0">
                <a:latin typeface="Trebuchet MS"/>
                <a:cs typeface="Trebuchet MS"/>
              </a:rPr>
              <a:t> </a:t>
            </a:r>
            <a:r>
              <a:rPr lang="en-IN" sz="1800" spc="-100" dirty="0">
                <a:latin typeface="Trebuchet MS"/>
                <a:cs typeface="Trebuchet MS"/>
              </a:rPr>
              <a:t>market </a:t>
            </a:r>
            <a:r>
              <a:rPr lang="en-IN" sz="1800" spc="-525" dirty="0">
                <a:latin typeface="Trebuchet MS"/>
                <a:cs typeface="Trebuchet MS"/>
              </a:rPr>
              <a:t> </a:t>
            </a:r>
            <a:r>
              <a:rPr lang="en-IN" sz="1800" spc="-95" dirty="0" err="1">
                <a:latin typeface="Trebuchet MS"/>
                <a:cs typeface="Trebuchet MS"/>
              </a:rPr>
              <a:t>analysis,Web</a:t>
            </a:r>
            <a:r>
              <a:rPr lang="en-IN" sz="1800" spc="-50" dirty="0">
                <a:latin typeface="Trebuchet MS"/>
                <a:cs typeface="Trebuchet MS"/>
              </a:rPr>
              <a:t> </a:t>
            </a:r>
            <a:r>
              <a:rPr lang="en-IN" sz="1800" spc="-90" dirty="0" err="1">
                <a:latin typeface="Trebuchet MS"/>
                <a:cs typeface="Trebuchet MS"/>
              </a:rPr>
              <a:t>mining,Weblog</a:t>
            </a:r>
            <a:r>
              <a:rPr lang="en-IN" sz="1800" spc="-50" dirty="0">
                <a:latin typeface="Trebuchet MS"/>
                <a:cs typeface="Trebuchet MS"/>
              </a:rPr>
              <a:t> </a:t>
            </a:r>
            <a:r>
              <a:rPr lang="en-IN" sz="1800" spc="-130" dirty="0">
                <a:latin typeface="Trebuchet MS"/>
                <a:cs typeface="Trebuchet MS"/>
              </a:rPr>
              <a:t>analysis,</a:t>
            </a:r>
            <a:r>
              <a:rPr lang="en-IN" sz="1800" spc="-250" dirty="0">
                <a:latin typeface="Trebuchet MS"/>
                <a:cs typeface="Trebuchet MS"/>
              </a:rPr>
              <a:t> </a:t>
            </a:r>
            <a:r>
              <a:rPr lang="en-IN" sz="1800" spc="-145" dirty="0">
                <a:latin typeface="Trebuchet MS"/>
                <a:cs typeface="Trebuchet MS"/>
              </a:rPr>
              <a:t>etc.</a:t>
            </a:r>
            <a:endParaRPr lang="en-IN" sz="1800" dirty="0">
              <a:latin typeface="Trebuchet MS"/>
              <a:cs typeface="Trebuchet M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041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BE8BB-1D69-43FD-9F3B-C062EDCEE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95910" indent="-283845">
              <a:lnSpc>
                <a:spcPct val="100000"/>
              </a:lnSpc>
              <a:spcBef>
                <a:spcPts val="545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endParaRPr lang="en-US" sz="2400" spc="-6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545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lang="en-US" sz="2400" spc="-60" dirty="0">
                <a:latin typeface="Trebuchet MS"/>
                <a:cs typeface="Trebuchet MS"/>
              </a:rPr>
              <a:t>P</a:t>
            </a:r>
            <a:r>
              <a:rPr lang="en-US" sz="2400" spc="-90" dirty="0">
                <a:latin typeface="Trebuchet MS"/>
                <a:cs typeface="Trebuchet MS"/>
              </a:rPr>
              <a:t>r</a:t>
            </a:r>
            <a:r>
              <a:rPr lang="en-US" sz="2400" spc="-140" dirty="0">
                <a:latin typeface="Trebuchet MS"/>
                <a:cs typeface="Trebuchet MS"/>
              </a:rPr>
              <a:t>edi</a:t>
            </a:r>
            <a:r>
              <a:rPr lang="en-US" sz="2400" spc="-145" dirty="0">
                <a:latin typeface="Trebuchet MS"/>
                <a:cs typeface="Trebuchet MS"/>
              </a:rPr>
              <a:t>c</a:t>
            </a:r>
            <a:r>
              <a:rPr lang="en-US" sz="2400" spc="-160" dirty="0">
                <a:latin typeface="Trebuchet MS"/>
                <a:cs typeface="Trebuchet MS"/>
              </a:rPr>
              <a:t>ti</a:t>
            </a:r>
            <a:r>
              <a:rPr lang="en-US" sz="2400" spc="-40" dirty="0">
                <a:latin typeface="Trebuchet MS"/>
                <a:cs typeface="Trebuchet MS"/>
              </a:rPr>
              <a:t>on</a:t>
            </a:r>
            <a:r>
              <a:rPr lang="en-US" sz="2400" spc="-395" dirty="0">
                <a:latin typeface="Trebuchet MS"/>
                <a:cs typeface="Trebuchet MS"/>
              </a:rPr>
              <a:t> </a:t>
            </a:r>
            <a:r>
              <a:rPr lang="en-US" sz="2400" spc="-245" dirty="0">
                <a:latin typeface="Trebuchet MS"/>
                <a:cs typeface="Trebuchet MS"/>
              </a:rPr>
              <a:t>T</a:t>
            </a:r>
            <a:r>
              <a:rPr lang="en-US" sz="2400" spc="-100" dirty="0">
                <a:latin typeface="Trebuchet MS"/>
                <a:cs typeface="Trebuchet MS"/>
              </a:rPr>
              <a:t>asks</a:t>
            </a:r>
            <a:endParaRPr lang="en-US" sz="2400" dirty="0">
              <a:latin typeface="Trebuchet MS"/>
              <a:cs typeface="Trebuchet MS"/>
            </a:endParaRPr>
          </a:p>
          <a:p>
            <a:pPr marL="570230" lvl="1" indent="-238125">
              <a:lnSpc>
                <a:spcPts val="2280"/>
              </a:lnSpc>
              <a:spcBef>
                <a:spcPts val="37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2000" spc="50" dirty="0">
                <a:latin typeface="Trebuchet MS"/>
                <a:cs typeface="Trebuchet MS"/>
              </a:rPr>
              <a:t>U</a:t>
            </a:r>
            <a:r>
              <a:rPr lang="en-US" sz="2000" spc="20" dirty="0">
                <a:latin typeface="Trebuchet MS"/>
                <a:cs typeface="Trebuchet MS"/>
              </a:rPr>
              <a:t>s</a:t>
            </a:r>
            <a:r>
              <a:rPr lang="en-US" sz="2000" spc="-135" dirty="0">
                <a:latin typeface="Trebuchet MS"/>
                <a:cs typeface="Trebuchet MS"/>
              </a:rPr>
              <a:t>e</a:t>
            </a:r>
            <a:r>
              <a:rPr lang="en-US" sz="2000" spc="-65" dirty="0">
                <a:latin typeface="Trebuchet MS"/>
                <a:cs typeface="Trebuchet MS"/>
              </a:rPr>
              <a:t> some</a:t>
            </a:r>
            <a:r>
              <a:rPr lang="en-US" sz="2000" spc="-55" dirty="0">
                <a:latin typeface="Trebuchet MS"/>
                <a:cs typeface="Trebuchet MS"/>
              </a:rPr>
              <a:t> </a:t>
            </a:r>
            <a:r>
              <a:rPr lang="en-US" sz="2000" spc="-105" dirty="0">
                <a:latin typeface="Trebuchet MS"/>
                <a:cs typeface="Trebuchet MS"/>
              </a:rPr>
              <a:t>va</a:t>
            </a:r>
            <a:r>
              <a:rPr lang="en-US" sz="2000" spc="-90" dirty="0">
                <a:latin typeface="Trebuchet MS"/>
                <a:cs typeface="Trebuchet MS"/>
              </a:rPr>
              <a:t>r</a:t>
            </a:r>
            <a:r>
              <a:rPr lang="en-US" sz="2000" spc="-135" dirty="0">
                <a:latin typeface="Trebuchet MS"/>
                <a:cs typeface="Trebuchet MS"/>
              </a:rPr>
              <a:t>ia</a:t>
            </a:r>
            <a:r>
              <a:rPr lang="en-US" sz="2000" spc="-175" dirty="0">
                <a:latin typeface="Trebuchet MS"/>
                <a:cs typeface="Trebuchet MS"/>
              </a:rPr>
              <a:t>b</a:t>
            </a:r>
            <a:r>
              <a:rPr lang="en-US" sz="2000" spc="-114" dirty="0">
                <a:latin typeface="Trebuchet MS"/>
                <a:cs typeface="Trebuchet MS"/>
              </a:rPr>
              <a:t>le</a:t>
            </a:r>
            <a:r>
              <a:rPr lang="en-US" sz="2000" spc="-105" dirty="0">
                <a:latin typeface="Trebuchet MS"/>
                <a:cs typeface="Trebuchet MS"/>
              </a:rPr>
              <a:t>s</a:t>
            </a:r>
            <a:r>
              <a:rPr lang="en-US" sz="2000" spc="-75" dirty="0">
                <a:latin typeface="Trebuchet MS"/>
                <a:cs typeface="Trebuchet MS"/>
              </a:rPr>
              <a:t> </a:t>
            </a:r>
            <a:r>
              <a:rPr lang="en-US" sz="2000" spc="-50" dirty="0">
                <a:latin typeface="Trebuchet MS"/>
                <a:cs typeface="Trebuchet MS"/>
              </a:rPr>
              <a:t>to</a:t>
            </a:r>
            <a:r>
              <a:rPr lang="en-US" sz="2000" spc="-60" dirty="0">
                <a:latin typeface="Trebuchet MS"/>
                <a:cs typeface="Trebuchet MS"/>
              </a:rPr>
              <a:t> p</a:t>
            </a:r>
            <a:r>
              <a:rPr lang="en-US" sz="2000" spc="-75" dirty="0">
                <a:latin typeface="Trebuchet MS"/>
                <a:cs typeface="Trebuchet MS"/>
              </a:rPr>
              <a:t>r</a:t>
            </a:r>
            <a:r>
              <a:rPr lang="en-US" sz="2000" spc="-120" dirty="0">
                <a:latin typeface="Trebuchet MS"/>
                <a:cs typeface="Trebuchet MS"/>
              </a:rPr>
              <a:t>edict</a:t>
            </a:r>
            <a:r>
              <a:rPr lang="en-US" sz="2000" spc="-85" dirty="0">
                <a:latin typeface="Trebuchet MS"/>
                <a:cs typeface="Trebuchet MS"/>
              </a:rPr>
              <a:t> </a:t>
            </a:r>
            <a:r>
              <a:rPr lang="en-US" sz="2000" spc="-95" dirty="0">
                <a:latin typeface="Trebuchet MS"/>
                <a:cs typeface="Trebuchet MS"/>
              </a:rPr>
              <a:t>u</a:t>
            </a:r>
            <a:r>
              <a:rPr lang="en-US" sz="2000" spc="-85" dirty="0">
                <a:latin typeface="Trebuchet MS"/>
                <a:cs typeface="Trebuchet MS"/>
              </a:rPr>
              <a:t>n</a:t>
            </a:r>
            <a:r>
              <a:rPr lang="en-US" sz="2000" spc="-70" dirty="0">
                <a:latin typeface="Trebuchet MS"/>
                <a:cs typeface="Trebuchet MS"/>
              </a:rPr>
              <a:t>kn</a:t>
            </a:r>
            <a:r>
              <a:rPr lang="en-US" sz="2000" dirty="0">
                <a:latin typeface="Trebuchet MS"/>
                <a:cs typeface="Trebuchet MS"/>
              </a:rPr>
              <a:t>o</a:t>
            </a:r>
            <a:r>
              <a:rPr lang="en-US" sz="2000" spc="-85" dirty="0">
                <a:latin typeface="Trebuchet MS"/>
                <a:cs typeface="Trebuchet MS"/>
              </a:rPr>
              <a:t>w</a:t>
            </a:r>
            <a:r>
              <a:rPr lang="en-US" sz="2000" spc="-60" dirty="0">
                <a:latin typeface="Trebuchet MS"/>
                <a:cs typeface="Trebuchet MS"/>
              </a:rPr>
              <a:t>n</a:t>
            </a:r>
            <a:r>
              <a:rPr lang="en-US" sz="2000" spc="-85" dirty="0">
                <a:latin typeface="Trebuchet MS"/>
                <a:cs typeface="Trebuchet MS"/>
              </a:rPr>
              <a:t> </a:t>
            </a:r>
            <a:r>
              <a:rPr lang="en-US" sz="2000" spc="20" dirty="0">
                <a:latin typeface="Trebuchet MS"/>
                <a:cs typeface="Trebuchet MS"/>
              </a:rPr>
              <a:t>or</a:t>
            </a:r>
            <a:r>
              <a:rPr lang="en-US" sz="2000" spc="-55" dirty="0">
                <a:latin typeface="Trebuchet MS"/>
                <a:cs typeface="Trebuchet MS"/>
              </a:rPr>
              <a:t> </a:t>
            </a:r>
            <a:r>
              <a:rPr lang="en-US" sz="2000" spc="-135" dirty="0">
                <a:latin typeface="Trebuchet MS"/>
                <a:cs typeface="Trebuchet MS"/>
              </a:rPr>
              <a:t>f</a:t>
            </a:r>
            <a:r>
              <a:rPr lang="en-US" sz="2000" spc="-195" dirty="0">
                <a:latin typeface="Trebuchet MS"/>
                <a:cs typeface="Trebuchet MS"/>
              </a:rPr>
              <a:t>u</a:t>
            </a:r>
            <a:r>
              <a:rPr lang="en-US" sz="2000" spc="-95" dirty="0">
                <a:latin typeface="Trebuchet MS"/>
                <a:cs typeface="Trebuchet MS"/>
              </a:rPr>
              <a:t>t</a:t>
            </a:r>
            <a:r>
              <a:rPr lang="en-US" sz="2000" spc="-125" dirty="0">
                <a:latin typeface="Trebuchet MS"/>
                <a:cs typeface="Trebuchet MS"/>
              </a:rPr>
              <a:t>u</a:t>
            </a:r>
            <a:r>
              <a:rPr lang="en-US" sz="2000" spc="-25" dirty="0">
                <a:latin typeface="Trebuchet MS"/>
                <a:cs typeface="Trebuchet MS"/>
              </a:rPr>
              <a:t>r</a:t>
            </a:r>
            <a:r>
              <a:rPr lang="en-US" sz="2000" spc="-135" dirty="0">
                <a:latin typeface="Trebuchet MS"/>
                <a:cs typeface="Trebuchet MS"/>
              </a:rPr>
              <a:t>e</a:t>
            </a:r>
            <a:r>
              <a:rPr lang="en-US" sz="2000" spc="-100" dirty="0">
                <a:latin typeface="Trebuchet MS"/>
                <a:cs typeface="Trebuchet MS"/>
              </a:rPr>
              <a:t> </a:t>
            </a:r>
            <a:r>
              <a:rPr lang="en-US" sz="2000" spc="-120" dirty="0">
                <a:latin typeface="Trebuchet MS"/>
                <a:cs typeface="Trebuchet MS"/>
              </a:rPr>
              <a:t>values</a:t>
            </a:r>
            <a:r>
              <a:rPr lang="en-US" sz="2000" spc="-50" dirty="0">
                <a:latin typeface="Trebuchet MS"/>
                <a:cs typeface="Trebuchet MS"/>
              </a:rPr>
              <a:t> </a:t>
            </a:r>
            <a:r>
              <a:rPr lang="en-US" sz="2000" spc="-105" dirty="0">
                <a:latin typeface="Trebuchet MS"/>
                <a:cs typeface="Trebuchet MS"/>
              </a:rPr>
              <a:t>of</a:t>
            </a:r>
            <a:endParaRPr lang="en-US" sz="2000" dirty="0">
              <a:latin typeface="Trebuchet MS"/>
              <a:cs typeface="Trebuchet MS"/>
            </a:endParaRPr>
          </a:p>
          <a:p>
            <a:pPr marL="570230">
              <a:lnSpc>
                <a:spcPts val="2280"/>
              </a:lnSpc>
            </a:pPr>
            <a:r>
              <a:rPr lang="en-US" sz="2000" spc="-60" dirty="0">
                <a:latin typeface="Trebuchet MS"/>
                <a:cs typeface="Trebuchet MS"/>
              </a:rPr>
              <a:t>other</a:t>
            </a:r>
            <a:r>
              <a:rPr lang="en-US" sz="2000" spc="-85" dirty="0">
                <a:latin typeface="Trebuchet MS"/>
                <a:cs typeface="Trebuchet MS"/>
              </a:rPr>
              <a:t> </a:t>
            </a:r>
            <a:r>
              <a:rPr lang="en-US" sz="2000" spc="-145" dirty="0">
                <a:latin typeface="Trebuchet MS"/>
                <a:cs typeface="Trebuchet MS"/>
              </a:rPr>
              <a:t>v</a:t>
            </a:r>
            <a:r>
              <a:rPr lang="en-US" sz="2000" spc="-165" dirty="0">
                <a:latin typeface="Trebuchet MS"/>
                <a:cs typeface="Trebuchet MS"/>
              </a:rPr>
              <a:t>a</a:t>
            </a:r>
            <a:r>
              <a:rPr lang="en-US" sz="2000" spc="-114" dirty="0">
                <a:latin typeface="Trebuchet MS"/>
                <a:cs typeface="Trebuchet MS"/>
              </a:rPr>
              <a:t>riabl</a:t>
            </a:r>
            <a:r>
              <a:rPr lang="en-US" sz="2000" spc="-85" dirty="0">
                <a:latin typeface="Trebuchet MS"/>
                <a:cs typeface="Trebuchet MS"/>
              </a:rPr>
              <a:t>es</a:t>
            </a:r>
            <a:endParaRPr lang="en-US" sz="20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295"/>
              </a:spcBef>
              <a:buClr>
                <a:srgbClr val="3891A7"/>
              </a:buClr>
              <a:buSzPct val="79166"/>
              <a:buFont typeface="Segoe UI Symbol"/>
              <a:buChar char="⚫"/>
              <a:tabLst>
                <a:tab pos="295910" algn="l"/>
                <a:tab pos="296545" algn="l"/>
              </a:tabLst>
            </a:pPr>
            <a:r>
              <a:rPr lang="en-US" sz="2400" spc="-5" dirty="0">
                <a:latin typeface="Trebuchet MS"/>
                <a:cs typeface="Trebuchet MS"/>
              </a:rPr>
              <a:t>Desc</a:t>
            </a:r>
            <a:r>
              <a:rPr lang="en-US" sz="2400" spc="-120" dirty="0">
                <a:latin typeface="Trebuchet MS"/>
                <a:cs typeface="Trebuchet MS"/>
              </a:rPr>
              <a:t>ripti</a:t>
            </a:r>
            <a:r>
              <a:rPr lang="en-US" sz="2400" spc="-40" dirty="0">
                <a:latin typeface="Trebuchet MS"/>
                <a:cs typeface="Trebuchet MS"/>
              </a:rPr>
              <a:t>on</a:t>
            </a:r>
            <a:r>
              <a:rPr lang="en-US" sz="2400" spc="-395" dirty="0">
                <a:latin typeface="Trebuchet MS"/>
                <a:cs typeface="Trebuchet MS"/>
              </a:rPr>
              <a:t> </a:t>
            </a:r>
            <a:r>
              <a:rPr lang="en-US" sz="2400" spc="-245" dirty="0">
                <a:latin typeface="Trebuchet MS"/>
                <a:cs typeface="Trebuchet MS"/>
              </a:rPr>
              <a:t>T</a:t>
            </a:r>
            <a:r>
              <a:rPr lang="en-US" sz="2400" spc="-100" dirty="0">
                <a:latin typeface="Trebuchet MS"/>
                <a:cs typeface="Trebuchet MS"/>
              </a:rPr>
              <a:t>asks</a:t>
            </a:r>
            <a:endParaRPr lang="en-US" sz="2400" dirty="0">
              <a:latin typeface="Trebuchet MS"/>
              <a:cs typeface="Trebuchet MS"/>
            </a:endParaRPr>
          </a:p>
          <a:p>
            <a:pPr marL="570230" lvl="1" indent="-238125">
              <a:lnSpc>
                <a:spcPct val="100000"/>
              </a:lnSpc>
              <a:spcBef>
                <a:spcPts val="37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2000" spc="-110" dirty="0">
                <a:latin typeface="Trebuchet MS"/>
                <a:cs typeface="Trebuchet MS"/>
              </a:rPr>
              <a:t>Find</a:t>
            </a:r>
            <a:r>
              <a:rPr lang="en-US" sz="2000" spc="-80" dirty="0">
                <a:latin typeface="Trebuchet MS"/>
                <a:cs typeface="Trebuchet MS"/>
              </a:rPr>
              <a:t> </a:t>
            </a:r>
            <a:r>
              <a:rPr lang="en-US" sz="2000" spc="-114" dirty="0">
                <a:latin typeface="Trebuchet MS"/>
                <a:cs typeface="Trebuchet MS"/>
              </a:rPr>
              <a:t>human-interpretable</a:t>
            </a:r>
            <a:r>
              <a:rPr lang="en-US" sz="2000" spc="-90" dirty="0">
                <a:latin typeface="Trebuchet MS"/>
                <a:cs typeface="Trebuchet MS"/>
              </a:rPr>
              <a:t> </a:t>
            </a:r>
            <a:r>
              <a:rPr lang="en-US" sz="2000" spc="-100" dirty="0">
                <a:latin typeface="Trebuchet MS"/>
                <a:cs typeface="Trebuchet MS"/>
              </a:rPr>
              <a:t>patterns</a:t>
            </a:r>
            <a:r>
              <a:rPr lang="en-US" sz="2000" spc="-90" dirty="0">
                <a:latin typeface="Trebuchet MS"/>
                <a:cs typeface="Trebuchet MS"/>
              </a:rPr>
              <a:t> </a:t>
            </a:r>
            <a:r>
              <a:rPr lang="en-US" sz="2000" spc="-135" dirty="0">
                <a:latin typeface="Trebuchet MS"/>
                <a:cs typeface="Trebuchet MS"/>
              </a:rPr>
              <a:t>that</a:t>
            </a:r>
            <a:r>
              <a:rPr lang="en-US" sz="2000" spc="-80" dirty="0">
                <a:latin typeface="Trebuchet MS"/>
                <a:cs typeface="Trebuchet MS"/>
              </a:rPr>
              <a:t> </a:t>
            </a:r>
            <a:r>
              <a:rPr lang="en-US" sz="2000" spc="-95" dirty="0">
                <a:latin typeface="Trebuchet MS"/>
                <a:cs typeface="Trebuchet MS"/>
              </a:rPr>
              <a:t>describe</a:t>
            </a:r>
            <a:r>
              <a:rPr lang="en-US" sz="2000" spc="-45" dirty="0">
                <a:latin typeface="Trebuchet MS"/>
                <a:cs typeface="Trebuchet MS"/>
              </a:rPr>
              <a:t> </a:t>
            </a:r>
            <a:r>
              <a:rPr lang="en-US" sz="2000" spc="-120" dirty="0">
                <a:latin typeface="Trebuchet MS"/>
                <a:cs typeface="Trebuchet MS"/>
              </a:rPr>
              <a:t>the</a:t>
            </a:r>
            <a:r>
              <a:rPr lang="en-US" sz="2000" spc="-60" dirty="0">
                <a:latin typeface="Trebuchet MS"/>
                <a:cs typeface="Trebuchet MS"/>
              </a:rPr>
              <a:t> </a:t>
            </a:r>
            <a:r>
              <a:rPr lang="en-US" sz="2000" spc="-185" dirty="0">
                <a:latin typeface="Trebuchet MS"/>
                <a:cs typeface="Trebuchet MS"/>
              </a:rPr>
              <a:t>data.</a:t>
            </a:r>
            <a:endParaRPr lang="en-US" sz="20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3891A7"/>
              </a:buClr>
              <a:buFont typeface="Verdana"/>
              <a:buChar char="◦"/>
            </a:pPr>
            <a:endParaRPr lang="en-US"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en-US" sz="2400" spc="45" dirty="0">
                <a:latin typeface="Trebuchet MS"/>
                <a:cs typeface="Trebuchet MS"/>
              </a:rPr>
              <a:t>Co</a:t>
            </a:r>
            <a:r>
              <a:rPr lang="en-US" sz="2400" spc="55" dirty="0">
                <a:latin typeface="Trebuchet MS"/>
                <a:cs typeface="Trebuchet MS"/>
              </a:rPr>
              <a:t>m</a:t>
            </a:r>
            <a:r>
              <a:rPr lang="en-US" sz="2400" spc="-65" dirty="0">
                <a:latin typeface="Trebuchet MS"/>
                <a:cs typeface="Trebuchet MS"/>
              </a:rPr>
              <a:t>m</a:t>
            </a:r>
            <a:r>
              <a:rPr lang="en-US" sz="2400" spc="-55" dirty="0">
                <a:latin typeface="Trebuchet MS"/>
                <a:cs typeface="Trebuchet MS"/>
              </a:rPr>
              <a:t>o</a:t>
            </a:r>
            <a:r>
              <a:rPr lang="en-US" sz="2400" spc="-114" dirty="0">
                <a:latin typeface="Trebuchet MS"/>
                <a:cs typeface="Trebuchet MS"/>
              </a:rPr>
              <a:t>n</a:t>
            </a:r>
            <a:r>
              <a:rPr lang="en-US" sz="2400" spc="-65" dirty="0">
                <a:latin typeface="Trebuchet MS"/>
                <a:cs typeface="Trebuchet MS"/>
              </a:rPr>
              <a:t> </a:t>
            </a:r>
            <a:r>
              <a:rPr lang="en-US" sz="2400" spc="-185" dirty="0">
                <a:latin typeface="Trebuchet MS"/>
                <a:cs typeface="Trebuchet MS"/>
              </a:rPr>
              <a:t>data</a:t>
            </a:r>
            <a:r>
              <a:rPr lang="en-US" sz="2400" spc="-65" dirty="0">
                <a:latin typeface="Trebuchet MS"/>
                <a:cs typeface="Trebuchet MS"/>
              </a:rPr>
              <a:t> </a:t>
            </a:r>
            <a:r>
              <a:rPr lang="en-US" sz="2400" spc="-145" dirty="0">
                <a:latin typeface="Trebuchet MS"/>
                <a:cs typeface="Trebuchet MS"/>
              </a:rPr>
              <a:t>mining</a:t>
            </a:r>
            <a:r>
              <a:rPr lang="en-US" sz="2400" spc="-70" dirty="0">
                <a:latin typeface="Trebuchet MS"/>
                <a:cs typeface="Trebuchet MS"/>
              </a:rPr>
              <a:t> </a:t>
            </a:r>
            <a:r>
              <a:rPr lang="en-US" sz="2400" spc="-110" dirty="0">
                <a:latin typeface="Trebuchet MS"/>
                <a:cs typeface="Trebuchet MS"/>
              </a:rPr>
              <a:t>tasks</a:t>
            </a:r>
            <a:endParaRPr lang="en-US" sz="2400" dirty="0">
              <a:latin typeface="Trebuchet MS"/>
              <a:cs typeface="Trebuchet MS"/>
            </a:endParaRPr>
          </a:p>
          <a:p>
            <a:pPr marL="570230" lvl="1" indent="-238125">
              <a:lnSpc>
                <a:spcPct val="100000"/>
              </a:lnSpc>
              <a:spcBef>
                <a:spcPts val="37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1700" spc="-45" dirty="0">
                <a:latin typeface="Calibri" panose="020F0502020204030204" pitchFamily="34" charset="0"/>
                <a:cs typeface="Calibri" panose="020F0502020204030204" pitchFamily="34" charset="0"/>
              </a:rPr>
              <a:t>Clas</a:t>
            </a:r>
            <a:r>
              <a:rPr lang="en-US" sz="1700" spc="-5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1700" spc="-17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204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700" spc="-155" dirty="0">
                <a:latin typeface="Calibri" panose="020F0502020204030204" pitchFamily="34" charset="0"/>
                <a:cs typeface="Calibri" panose="020F0502020204030204" pitchFamily="34" charset="0"/>
              </a:rPr>
              <a:t>icat</a:t>
            </a:r>
            <a:r>
              <a:rPr lang="en-US" sz="1700" spc="-95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3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1700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45" dirty="0">
                <a:latin typeface="Calibri" panose="020F0502020204030204" pitchFamily="34" charset="0"/>
                <a:cs typeface="Calibri" panose="020F0502020204030204" pitchFamily="34" charset="0"/>
              </a:rPr>
              <a:t>[P</a:t>
            </a:r>
            <a:r>
              <a:rPr lang="en-US" sz="1700" spc="-75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700" spc="-95" dirty="0">
                <a:latin typeface="Calibri" panose="020F0502020204030204" pitchFamily="34" charset="0"/>
                <a:cs typeface="Calibri" panose="020F0502020204030204" pitchFamily="34" charset="0"/>
              </a:rPr>
              <a:t>ed</a:t>
            </a:r>
            <a:r>
              <a:rPr lang="en-US" sz="1700" spc="-110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US" sz="1700" spc="-114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700" spc="-8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170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700" spc="-85" dirty="0">
                <a:latin typeface="Calibri" panose="020F0502020204030204" pitchFamily="34" charset="0"/>
                <a:cs typeface="Calibri" panose="020F0502020204030204" pitchFamily="34" charset="0"/>
              </a:rPr>
              <a:t>e]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36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1700" spc="-10" dirty="0">
                <a:latin typeface="Calibri" panose="020F0502020204030204" pitchFamily="34" charset="0"/>
                <a:cs typeface="Calibri" panose="020F0502020204030204" pitchFamily="34" charset="0"/>
              </a:rPr>
              <a:t>Cl</a:t>
            </a:r>
            <a:r>
              <a:rPr lang="en-US" sz="1700" spc="-5" dirty="0">
                <a:latin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en-US" sz="1700" spc="-80" dirty="0">
                <a:latin typeface="Calibri" panose="020F0502020204030204" pitchFamily="34" charset="0"/>
                <a:cs typeface="Calibri" panose="020F0502020204030204" pitchFamily="34" charset="0"/>
              </a:rPr>
              <a:t>steri</a:t>
            </a:r>
            <a:r>
              <a:rPr lang="en-US" sz="1700" spc="-105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700" spc="-15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1700" spc="-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35" dirty="0">
                <a:latin typeface="Calibri" panose="020F0502020204030204" pitchFamily="34" charset="0"/>
                <a:cs typeface="Calibri" panose="020F0502020204030204" pitchFamily="34" charset="0"/>
              </a:rPr>
              <a:t>[Descrip</a:t>
            </a:r>
            <a:r>
              <a:rPr lang="en-US" sz="1700" spc="-125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700" spc="-95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125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700" spc="-85" dirty="0">
                <a:latin typeface="Calibri" panose="020F0502020204030204" pitchFamily="34" charset="0"/>
                <a:cs typeface="Calibri" panose="020F0502020204030204" pitchFamily="34" charset="0"/>
              </a:rPr>
              <a:t>e]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36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1700" spc="-65" dirty="0">
                <a:latin typeface="Calibri" panose="020F0502020204030204" pitchFamily="34" charset="0"/>
                <a:cs typeface="Calibri" panose="020F0502020204030204" pitchFamily="34" charset="0"/>
              </a:rPr>
              <a:t>Association</a:t>
            </a:r>
            <a:r>
              <a:rPr lang="en-US" sz="1700" spc="-85" dirty="0">
                <a:latin typeface="Calibri" panose="020F0502020204030204" pitchFamily="34" charset="0"/>
                <a:cs typeface="Calibri" panose="020F0502020204030204" pitchFamily="34" charset="0"/>
              </a:rPr>
              <a:t> Rule</a:t>
            </a:r>
            <a:r>
              <a:rPr lang="en-US" sz="1700" spc="-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40" dirty="0">
                <a:latin typeface="Calibri" panose="020F0502020204030204" pitchFamily="34" charset="0"/>
                <a:cs typeface="Calibri" panose="020F0502020204030204" pitchFamily="34" charset="0"/>
              </a:rPr>
              <a:t>Discovery</a:t>
            </a:r>
            <a:r>
              <a:rPr lang="en-US" sz="17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60" dirty="0">
                <a:latin typeface="Calibri" panose="020F0502020204030204" pitchFamily="34" charset="0"/>
                <a:cs typeface="Calibri" panose="020F0502020204030204" pitchFamily="34" charset="0"/>
              </a:rPr>
              <a:t>[Descriptive]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365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1700" spc="-125" dirty="0">
                <a:latin typeface="Calibri" panose="020F0502020204030204" pitchFamily="34" charset="0"/>
                <a:cs typeface="Calibri" panose="020F0502020204030204" pitchFamily="34" charset="0"/>
              </a:rPr>
              <a:t>Sequential</a:t>
            </a:r>
            <a:r>
              <a:rPr lang="en-US" sz="1700" spc="-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110" dirty="0">
                <a:latin typeface="Calibri" panose="020F0502020204030204" pitchFamily="34" charset="0"/>
                <a:cs typeface="Calibri" panose="020F0502020204030204" pitchFamily="34" charset="0"/>
              </a:rPr>
              <a:t>Pattern</a:t>
            </a:r>
            <a:r>
              <a:rPr lang="en-US" sz="1700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40" dirty="0">
                <a:latin typeface="Calibri" panose="020F0502020204030204" pitchFamily="34" charset="0"/>
                <a:cs typeface="Calibri" panose="020F0502020204030204" pitchFamily="34" charset="0"/>
              </a:rPr>
              <a:t>Discovery</a:t>
            </a:r>
            <a:r>
              <a:rPr lang="en-US" sz="1700" spc="-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60" dirty="0">
                <a:latin typeface="Calibri" panose="020F0502020204030204" pitchFamily="34" charset="0"/>
                <a:cs typeface="Calibri" panose="020F0502020204030204" pitchFamily="34" charset="0"/>
              </a:rPr>
              <a:t>[Descriptive]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36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1700" spc="-60" dirty="0">
                <a:latin typeface="Calibri" panose="020F0502020204030204" pitchFamily="34" charset="0"/>
                <a:cs typeface="Calibri" panose="020F0502020204030204" pitchFamily="34" charset="0"/>
              </a:rPr>
              <a:t>Reg</a:t>
            </a:r>
            <a:r>
              <a:rPr lang="en-US" sz="1700" spc="-9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700" spc="-75" dirty="0">
                <a:latin typeface="Calibri" panose="020F0502020204030204" pitchFamily="34" charset="0"/>
                <a:cs typeface="Calibri" panose="020F0502020204030204" pitchFamily="34" charset="0"/>
              </a:rPr>
              <a:t>ess</a:t>
            </a:r>
            <a:r>
              <a:rPr lang="en-US" sz="1700" spc="-65" dirty="0">
                <a:latin typeface="Calibri" panose="020F0502020204030204" pitchFamily="34" charset="0"/>
                <a:cs typeface="Calibri" panose="020F0502020204030204" pitchFamily="34" charset="0"/>
              </a:rPr>
              <a:t>io</a:t>
            </a:r>
            <a:r>
              <a:rPr lang="en-US" sz="1700" spc="-8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700" spc="-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45" dirty="0">
                <a:latin typeface="Calibri" panose="020F0502020204030204" pitchFamily="34" charset="0"/>
                <a:cs typeface="Calibri" panose="020F0502020204030204" pitchFamily="34" charset="0"/>
              </a:rPr>
              <a:t>[P</a:t>
            </a:r>
            <a:r>
              <a:rPr lang="en-US" sz="1700" spc="-75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700" spc="-95" dirty="0">
                <a:latin typeface="Calibri" panose="020F0502020204030204" pitchFamily="34" charset="0"/>
                <a:cs typeface="Calibri" panose="020F0502020204030204" pitchFamily="34" charset="0"/>
              </a:rPr>
              <a:t>ed</a:t>
            </a:r>
            <a:r>
              <a:rPr lang="en-US" sz="1700" spc="-110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US" sz="1700" spc="-114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700" spc="-8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170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700" spc="-85" dirty="0">
                <a:latin typeface="Calibri" panose="020F0502020204030204" pitchFamily="34" charset="0"/>
                <a:cs typeface="Calibri" panose="020F0502020204030204" pitchFamily="34" charset="0"/>
              </a:rPr>
              <a:t>e]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0230" lvl="1" indent="-238125">
              <a:lnSpc>
                <a:spcPct val="100000"/>
              </a:lnSpc>
              <a:spcBef>
                <a:spcPts val="36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1700" spc="75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1700" spc="25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700" spc="-150" dirty="0">
                <a:latin typeface="Calibri" panose="020F0502020204030204" pitchFamily="34" charset="0"/>
                <a:cs typeface="Calibri" panose="020F0502020204030204" pitchFamily="34" charset="0"/>
              </a:rPr>
              <a:t>viat</a:t>
            </a:r>
            <a:r>
              <a:rPr lang="en-US" sz="1700" spc="-95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3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1700" spc="-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75" dirty="0">
                <a:latin typeface="Calibri" panose="020F0502020204030204" pitchFamily="34" charset="0"/>
                <a:cs typeface="Calibri" panose="020F0502020204030204" pitchFamily="34" charset="0"/>
              </a:rPr>
              <a:t>Detect</a:t>
            </a:r>
            <a:r>
              <a:rPr lang="en-US" sz="1700" spc="-4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30" dirty="0">
                <a:latin typeface="Calibri" panose="020F0502020204030204" pitchFamily="34" charset="0"/>
                <a:cs typeface="Calibri" panose="020F0502020204030204" pitchFamily="34" charset="0"/>
              </a:rPr>
              <a:t>on/Forecasting</a:t>
            </a:r>
            <a:r>
              <a:rPr lang="en-US" sz="17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spc="-45" dirty="0">
                <a:latin typeface="Calibri" panose="020F0502020204030204" pitchFamily="34" charset="0"/>
                <a:cs typeface="Calibri" panose="020F0502020204030204" pitchFamily="34" charset="0"/>
              </a:rPr>
              <a:t>[P</a:t>
            </a:r>
            <a:r>
              <a:rPr lang="en-US" sz="1700" spc="-75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700" spc="-95" dirty="0">
                <a:latin typeface="Calibri" panose="020F0502020204030204" pitchFamily="34" charset="0"/>
                <a:cs typeface="Calibri" panose="020F0502020204030204" pitchFamily="34" charset="0"/>
              </a:rPr>
              <a:t>ed</a:t>
            </a:r>
            <a:r>
              <a:rPr lang="en-US" sz="1700" spc="-110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US" sz="1700" spc="-114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700" spc="-8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700" spc="-170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700" spc="-85" dirty="0">
                <a:latin typeface="Calibri" panose="020F0502020204030204" pitchFamily="34" charset="0"/>
                <a:cs typeface="Calibri" panose="020F0502020204030204" pitchFamily="34" charset="0"/>
              </a:rPr>
              <a:t>e]</a:t>
            </a:r>
          </a:p>
          <a:p>
            <a:pPr marL="570230" lvl="1" indent="-238125">
              <a:lnSpc>
                <a:spcPct val="100000"/>
              </a:lnSpc>
              <a:spcBef>
                <a:spcPts val="360"/>
              </a:spcBef>
              <a:buClr>
                <a:srgbClr val="3891A7"/>
              </a:buClr>
              <a:buFont typeface="Verdana"/>
              <a:buChar char="◦"/>
              <a:tabLst>
                <a:tab pos="570230" algn="l"/>
                <a:tab pos="570865" algn="l"/>
              </a:tabLst>
            </a:pPr>
            <a:r>
              <a:rPr lang="en-US" sz="1700" spc="-85" dirty="0">
                <a:latin typeface="Calibri" panose="020F0502020204030204" pitchFamily="34" charset="0"/>
                <a:cs typeface="Calibri" panose="020F0502020204030204" pitchFamily="34" charset="0"/>
              </a:rPr>
              <a:t>Outlier Analysis</a:t>
            </a:r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object 15">
            <a:extLst>
              <a:ext uri="{FF2B5EF4-FFF2-40B4-BE49-F238E27FC236}">
                <a16:creationId xmlns:a16="http://schemas.microsoft.com/office/drawing/2014/main" id="{94863D28-B71A-47CF-AC76-432ECAB0C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413" y="1123950"/>
            <a:ext cx="2947987" cy="4600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135" dirty="0">
                <a:latin typeface="Trebuchet MS"/>
                <a:cs typeface="Trebuchet MS"/>
              </a:rPr>
              <a:t>Data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3200" b="1" spc="260" dirty="0">
                <a:latin typeface="Trebuchet MS"/>
                <a:cs typeface="Trebuchet MS"/>
              </a:rPr>
              <a:t>M</a:t>
            </a:r>
            <a:r>
              <a:rPr sz="3200" b="1" spc="90" dirty="0">
                <a:latin typeface="Trebuchet MS"/>
                <a:cs typeface="Trebuchet MS"/>
              </a:rPr>
              <a:t>i</a:t>
            </a:r>
            <a:r>
              <a:rPr sz="3200" b="1" spc="-5" dirty="0">
                <a:latin typeface="Trebuchet MS"/>
                <a:cs typeface="Trebuchet MS"/>
              </a:rPr>
              <a:t>nin</a:t>
            </a:r>
            <a:r>
              <a:rPr sz="3200" b="1" dirty="0">
                <a:latin typeface="Trebuchet MS"/>
                <a:cs typeface="Trebuchet MS"/>
              </a:rPr>
              <a:t>g</a:t>
            </a:r>
            <a:r>
              <a:rPr sz="3200" b="1" spc="-570" dirty="0">
                <a:latin typeface="Trebuchet MS"/>
                <a:cs typeface="Trebuchet MS"/>
              </a:rPr>
              <a:t> </a:t>
            </a:r>
            <a:r>
              <a:rPr sz="3200" b="1" spc="-105" dirty="0">
                <a:latin typeface="Trebuchet MS"/>
                <a:cs typeface="Trebuchet MS"/>
              </a:rPr>
              <a:t>T</a:t>
            </a:r>
            <a:r>
              <a:rPr sz="3200" b="1" spc="-5" dirty="0">
                <a:latin typeface="Trebuchet MS"/>
                <a:cs typeface="Trebuchet MS"/>
              </a:rPr>
              <a:t>asks</a:t>
            </a:r>
            <a:endParaRPr sz="32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1308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D826-3B17-481C-8FE2-B22D2FF0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spc="-105" dirty="0">
                <a:latin typeface="Trebuchet MS"/>
                <a:cs typeface="Trebuchet MS"/>
              </a:rPr>
              <a:t>T</a:t>
            </a:r>
            <a:r>
              <a:rPr lang="en-IN" sz="3600" b="1" spc="-5" dirty="0">
                <a:latin typeface="Trebuchet MS"/>
                <a:cs typeface="Trebuchet MS"/>
              </a:rPr>
              <a:t>asks Primitives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CE6B-EA80-4661-A1C1-3886A8317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Relevant Data</a:t>
            </a:r>
          </a:p>
          <a:p>
            <a:r>
              <a:rPr lang="en-US" dirty="0"/>
              <a:t>Kinds of Knowledge to be Mined</a:t>
            </a:r>
          </a:p>
          <a:p>
            <a:r>
              <a:rPr lang="en-US" dirty="0"/>
              <a:t>Background Knowledge</a:t>
            </a:r>
          </a:p>
          <a:p>
            <a:r>
              <a:rPr lang="en-US" dirty="0"/>
              <a:t>Interestingness Measure</a:t>
            </a:r>
          </a:p>
          <a:p>
            <a:r>
              <a:rPr lang="en-US" dirty="0"/>
              <a:t>Presentation and Visualization of Discovered Pattern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5581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0889-322E-456B-A129-46711C9C6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Integration of Data mining systems with Database or Data Warehouse</a:t>
            </a:r>
            <a:b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D81E1-18FC-40E0-9008-C6878A675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Schemes of Data Mining of System</a:t>
            </a:r>
          </a:p>
          <a:p>
            <a:pPr lvl="1"/>
            <a:r>
              <a:rPr lang="en-US" dirty="0"/>
              <a:t>No Coupling </a:t>
            </a:r>
          </a:p>
          <a:p>
            <a:pPr lvl="1"/>
            <a:r>
              <a:rPr lang="en-US" dirty="0"/>
              <a:t>Loose Coupling</a:t>
            </a:r>
          </a:p>
          <a:p>
            <a:pPr lvl="1"/>
            <a:r>
              <a:rPr lang="en-US" dirty="0"/>
              <a:t>Semi tight Coupling </a:t>
            </a:r>
          </a:p>
          <a:p>
            <a:pPr lvl="1"/>
            <a:r>
              <a:rPr lang="en-US" dirty="0"/>
              <a:t>Tight Coupling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3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9FC6-B8D7-471B-9A59-38C709E9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FCA5EF-7164-4636-ABE8-69865747A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963" y="1033761"/>
            <a:ext cx="5956917" cy="4780952"/>
          </a:xfrm>
        </p:spPr>
      </p:pic>
    </p:spTree>
    <p:extLst>
      <p:ext uri="{BB962C8B-B14F-4D97-AF65-F5344CB8AC3E}">
        <p14:creationId xmlns:p14="http://schemas.microsoft.com/office/powerpoint/2010/main" val="4115403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5E6B-248B-4BD0-92DA-7DD13F8F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Knowlegde</a:t>
            </a:r>
            <a:r>
              <a:rPr lang="en-US" dirty="0"/>
              <a:t> Discovery in Databases (KDD)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808755-FB24-423F-953C-5120A1455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0" y="1300480"/>
            <a:ext cx="7325360" cy="4424540"/>
          </a:xfrm>
        </p:spPr>
      </p:pic>
    </p:spTree>
    <p:extLst>
      <p:ext uri="{BB962C8B-B14F-4D97-AF65-F5344CB8AC3E}">
        <p14:creationId xmlns:p14="http://schemas.microsoft.com/office/powerpoint/2010/main" val="357682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E495-B299-43FA-8745-E4E36673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in Data Mining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6642CA-822D-447F-98C1-759BC34D2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240" y="1123837"/>
            <a:ext cx="7670800" cy="4718163"/>
          </a:xfrm>
        </p:spPr>
      </p:pic>
    </p:spTree>
    <p:extLst>
      <p:ext uri="{BB962C8B-B14F-4D97-AF65-F5344CB8AC3E}">
        <p14:creationId xmlns:p14="http://schemas.microsoft.com/office/powerpoint/2010/main" val="2822710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D73F45-8CEE-4FCE-AEC9-6B263A75FCE2}"/>
              </a:ext>
            </a:extLst>
          </p:cNvPr>
          <p:cNvSpPr txBox="1"/>
          <p:nvPr/>
        </p:nvSpPr>
        <p:spPr>
          <a:xfrm>
            <a:off x="4079240" y="2600960"/>
            <a:ext cx="403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IN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110922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928</TotalTime>
  <Words>745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CastleT</vt:lpstr>
      <vt:lpstr>Corbel</vt:lpstr>
      <vt:lpstr>Segoe UI Symbol</vt:lpstr>
      <vt:lpstr>Trebuchet MS</vt:lpstr>
      <vt:lpstr>urw-din</vt:lpstr>
      <vt:lpstr>Verdana</vt:lpstr>
      <vt:lpstr>Wingdings</vt:lpstr>
      <vt:lpstr>Wingdings 2</vt:lpstr>
      <vt:lpstr>Frame</vt:lpstr>
      <vt:lpstr>Document</vt:lpstr>
      <vt:lpstr>Introduction to Data Mining</vt:lpstr>
      <vt:lpstr>Outlines</vt:lpstr>
      <vt:lpstr>Why do we need data mining?</vt:lpstr>
      <vt:lpstr>Data is a Computer</vt:lpstr>
      <vt:lpstr>        </vt:lpstr>
      <vt:lpstr>What Is Data Mining?</vt:lpstr>
      <vt:lpstr>Types Data to be Mined</vt:lpstr>
      <vt:lpstr>Data Mining Systems classification</vt:lpstr>
      <vt:lpstr>Data Mining Tasks</vt:lpstr>
      <vt:lpstr>Tasks Primitives</vt:lpstr>
      <vt:lpstr>Integration of Data mining systems with Database or Data Warehouse </vt:lpstr>
      <vt:lpstr>Data Mining Architecture</vt:lpstr>
      <vt:lpstr>Knowlegde Discovery in Databases (KDD)</vt:lpstr>
      <vt:lpstr>Issues in Data Mining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Mining</dc:title>
  <dc:creator>aastha masrani</dc:creator>
  <cp:lastModifiedBy>aastha masrani</cp:lastModifiedBy>
  <cp:revision>7</cp:revision>
  <dcterms:created xsi:type="dcterms:W3CDTF">2021-11-15T07:00:12Z</dcterms:created>
  <dcterms:modified xsi:type="dcterms:W3CDTF">2021-11-22T19:15:13Z</dcterms:modified>
</cp:coreProperties>
</file>