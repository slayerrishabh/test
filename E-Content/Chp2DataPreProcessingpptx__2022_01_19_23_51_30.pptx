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61" r:id="rId7"/>
    <p:sldId id="262" r:id="rId8"/>
    <p:sldId id="271" r:id="rId9"/>
    <p:sldId id="272" r:id="rId10"/>
    <p:sldId id="273" r:id="rId11"/>
    <p:sldId id="274" r:id="rId12"/>
    <p:sldId id="263" r:id="rId13"/>
    <p:sldId id="264" r:id="rId14"/>
    <p:sldId id="265" r:id="rId15"/>
    <p:sldId id="266" r:id="rId16"/>
    <p:sldId id="275" r:id="rId17"/>
    <p:sldId id="276" r:id="rId18"/>
    <p:sldId id="277" r:id="rId19"/>
    <p:sldId id="278" r:id="rId20"/>
    <p:sldId id="279" r:id="rId21"/>
    <p:sldId id="280" r:id="rId22"/>
    <p:sldId id="269" r:id="rId23"/>
    <p:sldId id="270" r:id="rId24"/>
    <p:sldId id="281" r:id="rId25"/>
    <p:sldId id="282" r:id="rId26"/>
    <p:sldId id="283" r:id="rId27"/>
    <p:sldId id="284" r:id="rId28"/>
    <p:sldId id="286" r:id="rId29"/>
    <p:sldId id="285" r:id="rId30"/>
    <p:sldId id="287" r:id="rId31"/>
    <p:sldId id="288" r:id="rId32"/>
    <p:sldId id="289" r:id="rId33"/>
    <p:sldId id="291" r:id="rId34"/>
    <p:sldId id="292" r:id="rId35"/>
    <p:sldId id="293" r:id="rId36"/>
    <p:sldId id="294" r:id="rId37"/>
    <p:sldId id="295" r:id="rId38"/>
    <p:sldId id="296" r:id="rId39"/>
    <p:sldId id="297" r:id="rId40"/>
    <p:sldId id="298" r:id="rId41"/>
    <p:sldId id="290" r:id="rId42"/>
    <p:sldId id="299" r:id="rId43"/>
    <p:sldId id="300" r:id="rId44"/>
    <p:sldId id="301" r:id="rId45"/>
    <p:sldId id="302" r:id="rId46"/>
    <p:sldId id="303" r:id="rId47"/>
    <p:sldId id="304" r:id="rId48"/>
    <p:sldId id="305" r:id="rId49"/>
    <p:sldId id="306" r:id="rId50"/>
    <p:sldId id="308" r:id="rId51"/>
    <p:sldId id="307" r:id="rId52"/>
    <p:sldId id="309" r:id="rId53"/>
    <p:sldId id="310" r:id="rId54"/>
    <p:sldId id="311" r:id="rId55"/>
    <p:sldId id="313" r:id="rId56"/>
    <p:sldId id="314" r:id="rId57"/>
    <p:sldId id="315" r:id="rId58"/>
    <p:sldId id="316" r:id="rId59"/>
    <p:sldId id="312" r:id="rId60"/>
    <p:sldId id="317" r:id="rId61"/>
    <p:sldId id="318" r:id="rId62"/>
    <p:sldId id="319" r:id="rId63"/>
    <p:sldId id="323" r:id="rId64"/>
    <p:sldId id="322" r:id="rId65"/>
    <p:sldId id="320" r:id="rId66"/>
    <p:sldId id="321" r:id="rId67"/>
    <p:sldId id="324" r:id="rId6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1/19/2022</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1/19/2022</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1/19/2022</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1/19/2022</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1/19/2022</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1/19/2022</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7B3A9-C114-4E4A-ACCD-361BD9400CD7}"/>
              </a:ext>
            </a:extLst>
          </p:cNvPr>
          <p:cNvSpPr>
            <a:spLocks noGrp="1"/>
          </p:cNvSpPr>
          <p:nvPr>
            <p:ph type="ctrTitle"/>
          </p:nvPr>
        </p:nvSpPr>
        <p:spPr/>
        <p:txBody>
          <a:bodyPr/>
          <a:lstStyle/>
          <a:p>
            <a:pPr algn="ctr"/>
            <a:r>
              <a:rPr lang="en-US" dirty="0"/>
              <a:t>Data Pre-Processing</a:t>
            </a:r>
            <a:endParaRPr lang="en-IN" dirty="0"/>
          </a:p>
        </p:txBody>
      </p:sp>
      <p:sp>
        <p:nvSpPr>
          <p:cNvPr id="3" name="Subtitle 2">
            <a:extLst>
              <a:ext uri="{FF2B5EF4-FFF2-40B4-BE49-F238E27FC236}">
                <a16:creationId xmlns:a16="http://schemas.microsoft.com/office/drawing/2014/main" id="{00DDA465-32CD-4A7C-A5A6-F1784538F4C8}"/>
              </a:ext>
            </a:extLst>
          </p:cNvPr>
          <p:cNvSpPr>
            <a:spLocks noGrp="1"/>
          </p:cNvSpPr>
          <p:nvPr>
            <p:ph type="subTitle" idx="1"/>
          </p:nvPr>
        </p:nvSpPr>
        <p:spPr/>
        <p:txBody>
          <a:bodyPr/>
          <a:lstStyle/>
          <a:p>
            <a:pPr algn="ctr"/>
            <a:r>
              <a:rPr lang="en-US" dirty="0"/>
              <a:t>Unit-2</a:t>
            </a:r>
            <a:endParaRPr lang="en-IN" dirty="0"/>
          </a:p>
        </p:txBody>
      </p:sp>
      <p:pic>
        <p:nvPicPr>
          <p:cNvPr id="4" name="Picture 3">
            <a:extLst>
              <a:ext uri="{FF2B5EF4-FFF2-40B4-BE49-F238E27FC236}">
                <a16:creationId xmlns:a16="http://schemas.microsoft.com/office/drawing/2014/main" id="{733C888C-3D4F-4CE7-99AA-BACF723D0500}"/>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103000"/>
                    </a14:imgEffect>
                  </a14:imgLayer>
                </a14:imgProps>
              </a:ext>
              <a:ext uri="{28A0092B-C50C-407E-A947-70E740481C1C}">
                <a14:useLocalDpi xmlns:a14="http://schemas.microsoft.com/office/drawing/2010/main" val="0"/>
              </a:ext>
            </a:extLst>
          </a:blip>
          <a:srcRect/>
          <a:stretch>
            <a:fillRect/>
          </a:stretch>
        </p:blipFill>
        <p:spPr bwMode="auto">
          <a:xfrm>
            <a:off x="9513252" y="1144587"/>
            <a:ext cx="2390775" cy="735013"/>
          </a:xfrm>
          <a:prstGeom prst="rect">
            <a:avLst/>
          </a:prstGeom>
          <a:noFill/>
          <a:ln>
            <a:noFill/>
          </a:ln>
          <a:effectLst>
            <a:glow rad="127000">
              <a:schemeClr val="accent1">
                <a:alpha val="0"/>
              </a:schemeClr>
            </a:glow>
            <a:outerShdw blurRad="50800" dist="50800" dir="5400000" algn="ctr" rotWithShape="0">
              <a:srgbClr val="000000">
                <a:alpha val="11000"/>
              </a:srgbClr>
            </a:outerShdw>
          </a:effectLst>
        </p:spPr>
      </p:pic>
      <p:sp>
        <p:nvSpPr>
          <p:cNvPr id="6" name="TextBox 5">
            <a:extLst>
              <a:ext uri="{FF2B5EF4-FFF2-40B4-BE49-F238E27FC236}">
                <a16:creationId xmlns:a16="http://schemas.microsoft.com/office/drawing/2014/main" id="{332FED06-5796-460A-83D5-CF3472156FB3}"/>
              </a:ext>
            </a:extLst>
          </p:cNvPr>
          <p:cNvSpPr txBox="1"/>
          <p:nvPr/>
        </p:nvSpPr>
        <p:spPr>
          <a:xfrm>
            <a:off x="9610078" y="2265124"/>
            <a:ext cx="2436920" cy="2862322"/>
          </a:xfrm>
          <a:prstGeom prst="rect">
            <a:avLst/>
          </a:prstGeom>
          <a:noFill/>
        </p:spPr>
        <p:txBody>
          <a:bodyPr wrap="square">
            <a:spAutoFit/>
          </a:bodyPr>
          <a:lstStyle/>
          <a:p>
            <a:r>
              <a:rPr lang="en-IN" dirty="0">
                <a:latin typeface="Calibri" panose="020F0502020204030204" pitchFamily="34" charset="0"/>
                <a:cs typeface="Calibri" panose="020F0502020204030204" pitchFamily="34" charset="0"/>
              </a:rPr>
              <a:t>Department of Computer Engineering</a:t>
            </a:r>
          </a:p>
          <a:p>
            <a:endParaRPr lang="en-IN"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Unit no:</a:t>
            </a:r>
            <a:r>
              <a:rPr lang="en-IN" b="1" dirty="0">
                <a:latin typeface="Calibri" panose="020F0502020204030204" pitchFamily="34" charset="0"/>
                <a:cs typeface="Calibri" panose="020F0502020204030204" pitchFamily="34" charset="0"/>
              </a:rPr>
              <a:t> 2</a:t>
            </a:r>
          </a:p>
          <a:p>
            <a:r>
              <a:rPr lang="en-IN" dirty="0">
                <a:latin typeface="Calibri" panose="020F0502020204030204" pitchFamily="34" charset="0"/>
                <a:cs typeface="Calibri" panose="020F0502020204030204" pitchFamily="34" charset="0"/>
              </a:rPr>
              <a:t>Unit title</a:t>
            </a:r>
            <a:r>
              <a:rPr lang="en-IN" b="1" dirty="0">
                <a:latin typeface="Calibri" panose="020F0502020204030204" pitchFamily="34" charset="0"/>
                <a:cs typeface="Calibri" panose="020F0502020204030204" pitchFamily="34" charset="0"/>
              </a:rPr>
              <a:t>: Data Pre-processing</a:t>
            </a:r>
            <a:endParaRPr lang="en-US" b="1"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Subject name and code: </a:t>
            </a:r>
            <a:r>
              <a:rPr lang="en-IN" b="1" dirty="0">
                <a:latin typeface="Calibri" panose="020F0502020204030204" pitchFamily="34" charset="0"/>
                <a:cs typeface="Calibri" panose="020F0502020204030204" pitchFamily="34" charset="0"/>
              </a:rPr>
              <a:t>Data Mining</a:t>
            </a:r>
          </a:p>
          <a:p>
            <a:r>
              <a:rPr lang="en-IN" b="1" dirty="0">
                <a:latin typeface="Calibri" panose="020F0502020204030204" pitchFamily="34" charset="0"/>
                <a:cs typeface="Calibri" panose="020F0502020204030204" pitchFamily="34" charset="0"/>
              </a:rPr>
              <a:t>(3160714)</a:t>
            </a:r>
          </a:p>
        </p:txBody>
      </p:sp>
      <p:sp>
        <p:nvSpPr>
          <p:cNvPr id="7" name="Rectangle 6">
            <a:extLst>
              <a:ext uri="{FF2B5EF4-FFF2-40B4-BE49-F238E27FC236}">
                <a16:creationId xmlns:a16="http://schemas.microsoft.com/office/drawing/2014/main" id="{26C4C179-1E43-4A36-965D-898DE81CC1F1}"/>
              </a:ext>
            </a:extLst>
          </p:cNvPr>
          <p:cNvSpPr/>
          <p:nvPr/>
        </p:nvSpPr>
        <p:spPr>
          <a:xfrm>
            <a:off x="9513252" y="5513358"/>
            <a:ext cx="2440092" cy="400110"/>
          </a:xfrm>
          <a:prstGeom prst="rect">
            <a:avLst/>
          </a:prstGeom>
        </p:spPr>
        <p:txBody>
          <a:bodyPr wrap="none">
            <a:spAutoFit/>
          </a:bodyPr>
          <a:lstStyle/>
          <a:p>
            <a:r>
              <a:rPr lang="en-IN" sz="2000" dirty="0" err="1">
                <a:latin typeface="CastleT" panose="020E0602050706020204" pitchFamily="34" charset="0"/>
              </a:rPr>
              <a:t>Prof.</a:t>
            </a:r>
            <a:r>
              <a:rPr lang="en-IN" sz="2000" dirty="0">
                <a:latin typeface="CastleT" panose="020E0602050706020204" pitchFamily="34" charset="0"/>
              </a:rPr>
              <a:t> </a:t>
            </a:r>
            <a:r>
              <a:rPr lang="en-IN" sz="2000" dirty="0" err="1">
                <a:latin typeface="CastleT" panose="020E0602050706020204" pitchFamily="34" charset="0"/>
              </a:rPr>
              <a:t>Aastha</a:t>
            </a:r>
            <a:r>
              <a:rPr lang="en-IN" sz="2000" dirty="0">
                <a:latin typeface="CastleT" panose="020E0602050706020204" pitchFamily="34" charset="0"/>
              </a:rPr>
              <a:t> </a:t>
            </a:r>
            <a:r>
              <a:rPr lang="en-IN" sz="2000" dirty="0" err="1">
                <a:latin typeface="CastleT" panose="020E0602050706020204" pitchFamily="34" charset="0"/>
              </a:rPr>
              <a:t>Masrani</a:t>
            </a:r>
            <a:endParaRPr lang="en-IN" sz="2000" dirty="0">
              <a:latin typeface="CastleT" panose="020E0602050706020204" pitchFamily="34" charset="0"/>
            </a:endParaRPr>
          </a:p>
        </p:txBody>
      </p:sp>
    </p:spTree>
    <p:extLst>
      <p:ext uri="{BB962C8B-B14F-4D97-AF65-F5344CB8AC3E}">
        <p14:creationId xmlns:p14="http://schemas.microsoft.com/office/powerpoint/2010/main" val="3525360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79A0-3A9B-46D4-BABF-AA53CF801345}"/>
              </a:ext>
            </a:extLst>
          </p:cNvPr>
          <p:cNvSpPr>
            <a:spLocks noGrp="1"/>
          </p:cNvSpPr>
          <p:nvPr>
            <p:ph type="title"/>
          </p:nvPr>
        </p:nvSpPr>
        <p:spPr/>
        <p:txBody>
          <a:bodyPr/>
          <a:lstStyle/>
          <a:p>
            <a:r>
              <a:rPr lang="en-US" dirty="0"/>
              <a:t>Outlines</a:t>
            </a:r>
            <a:endParaRPr lang="en-IN" dirty="0"/>
          </a:p>
        </p:txBody>
      </p:sp>
      <p:sp>
        <p:nvSpPr>
          <p:cNvPr id="3" name="Content Placeholder 2">
            <a:extLst>
              <a:ext uri="{FF2B5EF4-FFF2-40B4-BE49-F238E27FC236}">
                <a16:creationId xmlns:a16="http://schemas.microsoft.com/office/drawing/2014/main" id="{35530AE8-CC1A-4F99-A53C-71EA111C9788}"/>
              </a:ext>
            </a:extLst>
          </p:cNvPr>
          <p:cNvSpPr>
            <a:spLocks noGrp="1"/>
          </p:cNvSpPr>
          <p:nvPr>
            <p:ph idx="1"/>
          </p:nvPr>
        </p:nvSpPr>
        <p:spPr/>
        <p:txBody>
          <a:bodyPr/>
          <a:lstStyle/>
          <a:p>
            <a:r>
              <a:rPr lang="en-US" dirty="0"/>
              <a:t>Data </a:t>
            </a:r>
            <a:r>
              <a:rPr lang="en-US" dirty="0" err="1"/>
              <a:t>Summarizartion</a:t>
            </a:r>
            <a:endParaRPr lang="en-US" dirty="0"/>
          </a:p>
          <a:p>
            <a:r>
              <a:rPr lang="en-US" dirty="0"/>
              <a:t>Data Cleaning</a:t>
            </a:r>
          </a:p>
          <a:p>
            <a:r>
              <a:rPr lang="en-US" dirty="0"/>
              <a:t>Data Integration</a:t>
            </a:r>
            <a:r>
              <a:rPr lang="en-IN" dirty="0"/>
              <a:t> </a:t>
            </a:r>
          </a:p>
          <a:p>
            <a:r>
              <a:rPr lang="en-IN" dirty="0"/>
              <a:t>Data Transformation</a:t>
            </a:r>
          </a:p>
          <a:p>
            <a:r>
              <a:rPr lang="en-IN" dirty="0"/>
              <a:t>Data Reduction</a:t>
            </a:r>
          </a:p>
          <a:p>
            <a:r>
              <a:rPr lang="en-IN" dirty="0"/>
              <a:t>Data Discretization and Concept Hierarchy</a:t>
            </a:r>
          </a:p>
          <a:p>
            <a:r>
              <a:rPr lang="en-IN" dirty="0"/>
              <a:t>Feature Extraction</a:t>
            </a:r>
          </a:p>
          <a:p>
            <a:r>
              <a:rPr lang="en-IN" dirty="0"/>
              <a:t>Feature Transformation</a:t>
            </a:r>
          </a:p>
          <a:p>
            <a:r>
              <a:rPr lang="en-IN" dirty="0"/>
              <a:t>Feature Selection</a:t>
            </a:r>
          </a:p>
          <a:p>
            <a:r>
              <a:rPr lang="en-IN" dirty="0"/>
              <a:t>Introduction to Dimensionality Reduction </a:t>
            </a:r>
          </a:p>
          <a:p>
            <a:r>
              <a:rPr lang="en-IN" dirty="0"/>
              <a:t>CUR decomposition</a:t>
            </a:r>
          </a:p>
        </p:txBody>
      </p:sp>
    </p:spTree>
    <p:extLst>
      <p:ext uri="{BB962C8B-B14F-4D97-AF65-F5344CB8AC3E}">
        <p14:creationId xmlns:p14="http://schemas.microsoft.com/office/powerpoint/2010/main" val="1654070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8C059-EDC0-4C00-A985-AC87E664D181}"/>
              </a:ext>
            </a:extLst>
          </p:cNvPr>
          <p:cNvSpPr>
            <a:spLocks noGrp="1"/>
          </p:cNvSpPr>
          <p:nvPr>
            <p:ph type="title"/>
          </p:nvPr>
        </p:nvSpPr>
        <p:spPr/>
        <p:txBody>
          <a:bodyPr/>
          <a:lstStyle/>
          <a:p>
            <a:r>
              <a:rPr lang="en-US" dirty="0"/>
              <a:t>Need of Data- Pre-processing</a:t>
            </a:r>
            <a:endParaRPr lang="en-IN" dirty="0"/>
          </a:p>
        </p:txBody>
      </p:sp>
      <p:sp>
        <p:nvSpPr>
          <p:cNvPr id="3" name="Content Placeholder 2">
            <a:extLst>
              <a:ext uri="{FF2B5EF4-FFF2-40B4-BE49-F238E27FC236}">
                <a16:creationId xmlns:a16="http://schemas.microsoft.com/office/drawing/2014/main" id="{892A50B2-DECF-4AA6-8271-964F8EDA925B}"/>
              </a:ext>
            </a:extLst>
          </p:cNvPr>
          <p:cNvSpPr>
            <a:spLocks noGrp="1"/>
          </p:cNvSpPr>
          <p:nvPr>
            <p:ph idx="1"/>
          </p:nvPr>
        </p:nvSpPr>
        <p:spPr/>
        <p:txBody>
          <a:bodyPr/>
          <a:lstStyle/>
          <a:p>
            <a:pPr marL="469900" indent="-457200">
              <a:lnSpc>
                <a:spcPct val="100000"/>
              </a:lnSpc>
              <a:spcBef>
                <a:spcPts val="700"/>
              </a:spcBef>
              <a:buClr>
                <a:srgbClr val="CC9900"/>
              </a:buClr>
              <a:buSzPct val="63461"/>
              <a:buFont typeface="Wingdings" panose="05000000000000000000" pitchFamily="2" charset="2"/>
              <a:buChar char="q"/>
              <a:tabLst>
                <a:tab pos="354965" algn="l"/>
                <a:tab pos="355600" algn="l"/>
              </a:tabLst>
            </a:pPr>
            <a:r>
              <a:rPr lang="en-US" sz="2600" spc="-5" dirty="0">
                <a:latin typeface="Arial MT"/>
                <a:cs typeface="Arial MT"/>
              </a:rPr>
              <a:t>Data</a:t>
            </a:r>
            <a:r>
              <a:rPr lang="en-US" sz="2600" spc="-10" dirty="0">
                <a:latin typeface="Arial MT"/>
                <a:cs typeface="Arial MT"/>
              </a:rPr>
              <a:t> </a:t>
            </a:r>
            <a:r>
              <a:rPr lang="en-US" sz="2600" dirty="0">
                <a:latin typeface="Arial MT"/>
                <a:cs typeface="Arial MT"/>
              </a:rPr>
              <a:t>in</a:t>
            </a:r>
            <a:r>
              <a:rPr lang="en-US" sz="2600" spc="-5" dirty="0">
                <a:latin typeface="Arial MT"/>
                <a:cs typeface="Arial MT"/>
              </a:rPr>
              <a:t> the </a:t>
            </a:r>
            <a:r>
              <a:rPr lang="en-US" sz="2600" dirty="0">
                <a:latin typeface="Arial MT"/>
                <a:cs typeface="Arial MT"/>
              </a:rPr>
              <a:t>real</a:t>
            </a:r>
            <a:r>
              <a:rPr lang="en-US" sz="2600" spc="-5" dirty="0">
                <a:latin typeface="Arial MT"/>
                <a:cs typeface="Arial MT"/>
              </a:rPr>
              <a:t> </a:t>
            </a:r>
            <a:r>
              <a:rPr lang="en-US" sz="2600" dirty="0">
                <a:latin typeface="Arial MT"/>
                <a:cs typeface="Arial MT"/>
              </a:rPr>
              <a:t>world</a:t>
            </a:r>
            <a:r>
              <a:rPr lang="en-US" sz="2600" spc="-10" dirty="0">
                <a:latin typeface="Arial MT"/>
                <a:cs typeface="Arial MT"/>
              </a:rPr>
              <a:t> </a:t>
            </a:r>
            <a:r>
              <a:rPr lang="en-US" sz="2600" dirty="0">
                <a:latin typeface="Arial MT"/>
                <a:cs typeface="Arial MT"/>
              </a:rPr>
              <a:t>is</a:t>
            </a:r>
            <a:r>
              <a:rPr lang="en-US" sz="2600" spc="-10" dirty="0">
                <a:latin typeface="Arial MT"/>
                <a:cs typeface="Arial MT"/>
              </a:rPr>
              <a:t> </a:t>
            </a:r>
            <a:r>
              <a:rPr lang="en-US" sz="2600" spc="-5" dirty="0">
                <a:latin typeface="Arial MT"/>
                <a:cs typeface="Arial MT"/>
              </a:rPr>
              <a:t>“dirty”</a:t>
            </a:r>
            <a:endParaRPr lang="en-US" sz="2600" dirty="0">
              <a:latin typeface="Arial MT"/>
              <a:cs typeface="Arial MT"/>
            </a:endParaRPr>
          </a:p>
          <a:p>
            <a:pPr marL="812800" marR="5080" lvl="1" indent="-342900">
              <a:lnSpc>
                <a:spcPts val="2570"/>
              </a:lnSpc>
              <a:spcBef>
                <a:spcPts val="650"/>
              </a:spcBef>
              <a:buClr>
                <a:srgbClr val="3B812F"/>
              </a:buClr>
              <a:buSzPct val="59090"/>
              <a:buFont typeface="Wingdings" panose="05000000000000000000" pitchFamily="2" charset="2"/>
              <a:buChar char="q"/>
              <a:tabLst>
                <a:tab pos="755015" algn="l"/>
                <a:tab pos="755650" algn="l"/>
              </a:tabLst>
            </a:pPr>
            <a:r>
              <a:rPr lang="en-US" sz="2200" spc="-5" dirty="0">
                <a:solidFill>
                  <a:srgbClr val="FF0000"/>
                </a:solidFill>
                <a:latin typeface="Arial MT"/>
                <a:cs typeface="Arial MT"/>
              </a:rPr>
              <a:t>incomplete:</a:t>
            </a:r>
            <a:r>
              <a:rPr lang="en-US" sz="2200" dirty="0">
                <a:solidFill>
                  <a:srgbClr val="FF0000"/>
                </a:solidFill>
                <a:latin typeface="Arial MT"/>
                <a:cs typeface="Arial MT"/>
              </a:rPr>
              <a:t> </a:t>
            </a:r>
            <a:r>
              <a:rPr lang="en-US" sz="2200" dirty="0">
                <a:latin typeface="Arial MT"/>
                <a:cs typeface="Arial MT"/>
              </a:rPr>
              <a:t>missing</a:t>
            </a:r>
            <a:r>
              <a:rPr lang="en-US" sz="2200" spc="5" dirty="0">
                <a:latin typeface="Arial MT"/>
                <a:cs typeface="Arial MT"/>
              </a:rPr>
              <a:t> </a:t>
            </a:r>
            <a:r>
              <a:rPr lang="en-US" sz="2200" spc="-5" dirty="0">
                <a:latin typeface="Arial MT"/>
                <a:cs typeface="Arial MT"/>
              </a:rPr>
              <a:t>attribute</a:t>
            </a:r>
            <a:r>
              <a:rPr lang="en-US" sz="2200" spc="5" dirty="0">
                <a:latin typeface="Arial MT"/>
                <a:cs typeface="Arial MT"/>
              </a:rPr>
              <a:t> </a:t>
            </a:r>
            <a:r>
              <a:rPr lang="en-US" sz="2200" dirty="0">
                <a:latin typeface="Arial MT"/>
                <a:cs typeface="Arial MT"/>
              </a:rPr>
              <a:t>values,</a:t>
            </a:r>
            <a:r>
              <a:rPr lang="en-US" sz="2200" spc="5" dirty="0">
                <a:latin typeface="Arial MT"/>
                <a:cs typeface="Arial MT"/>
              </a:rPr>
              <a:t> </a:t>
            </a:r>
            <a:r>
              <a:rPr lang="en-US" sz="2200" dirty="0">
                <a:latin typeface="Arial MT"/>
                <a:cs typeface="Arial MT"/>
              </a:rPr>
              <a:t>lack of </a:t>
            </a:r>
            <a:r>
              <a:rPr lang="en-US" sz="2200" spc="-5" dirty="0">
                <a:latin typeface="Arial MT"/>
                <a:cs typeface="Arial MT"/>
              </a:rPr>
              <a:t>certain</a:t>
            </a:r>
            <a:r>
              <a:rPr lang="en-US" sz="2200" spc="5" dirty="0">
                <a:latin typeface="Arial MT"/>
                <a:cs typeface="Arial MT"/>
              </a:rPr>
              <a:t> </a:t>
            </a:r>
            <a:r>
              <a:rPr lang="en-US" sz="2200" spc="-5" dirty="0">
                <a:latin typeface="Arial MT"/>
                <a:cs typeface="Arial MT"/>
              </a:rPr>
              <a:t>attributes </a:t>
            </a:r>
            <a:r>
              <a:rPr lang="en-US" sz="2200" spc="-595" dirty="0">
                <a:latin typeface="Arial MT"/>
                <a:cs typeface="Arial MT"/>
              </a:rPr>
              <a:t> </a:t>
            </a:r>
            <a:r>
              <a:rPr lang="en-US" sz="2200" dirty="0">
                <a:latin typeface="Arial MT"/>
                <a:cs typeface="Arial MT"/>
              </a:rPr>
              <a:t>of</a:t>
            </a:r>
            <a:r>
              <a:rPr lang="en-US" sz="2200" spc="-5" dirty="0">
                <a:latin typeface="Arial MT"/>
                <a:cs typeface="Arial MT"/>
              </a:rPr>
              <a:t> interest, </a:t>
            </a:r>
            <a:r>
              <a:rPr lang="en-US" sz="2200" dirty="0">
                <a:latin typeface="Arial MT"/>
                <a:cs typeface="Arial MT"/>
              </a:rPr>
              <a:t>or</a:t>
            </a:r>
            <a:r>
              <a:rPr lang="en-US" sz="2200" spc="-5" dirty="0">
                <a:latin typeface="Arial MT"/>
                <a:cs typeface="Arial MT"/>
              </a:rPr>
              <a:t> containing</a:t>
            </a:r>
            <a:r>
              <a:rPr lang="en-US" sz="2200" dirty="0">
                <a:latin typeface="Arial MT"/>
                <a:cs typeface="Arial MT"/>
              </a:rPr>
              <a:t> only </a:t>
            </a:r>
            <a:r>
              <a:rPr lang="en-US" sz="2200" spc="-5" dirty="0">
                <a:latin typeface="Arial MT"/>
                <a:cs typeface="Arial MT"/>
              </a:rPr>
              <a:t>aggregate</a:t>
            </a:r>
            <a:r>
              <a:rPr lang="en-US" sz="2200" dirty="0">
                <a:latin typeface="Arial MT"/>
                <a:cs typeface="Arial MT"/>
              </a:rPr>
              <a:t> </a:t>
            </a:r>
            <a:r>
              <a:rPr lang="en-US" sz="2200" spc="-5" dirty="0">
                <a:latin typeface="Arial MT"/>
                <a:cs typeface="Arial MT"/>
              </a:rPr>
              <a:t>data</a:t>
            </a:r>
            <a:endParaRPr lang="en-US" sz="2200" dirty="0">
              <a:latin typeface="Arial MT"/>
              <a:cs typeface="Arial MT"/>
            </a:endParaRPr>
          </a:p>
          <a:p>
            <a:pPr marL="1270000" lvl="2" indent="-342900">
              <a:lnSpc>
                <a:spcPct val="100000"/>
              </a:lnSpc>
              <a:spcBef>
                <a:spcPts val="470"/>
              </a:spcBef>
              <a:buClr>
                <a:srgbClr val="CC9900"/>
              </a:buClr>
              <a:buSzPct val="65000"/>
              <a:buFont typeface="Wingdings" panose="05000000000000000000" pitchFamily="2" charset="2"/>
              <a:buChar char="q"/>
              <a:tabLst>
                <a:tab pos="1155700" algn="l"/>
              </a:tabLst>
            </a:pPr>
            <a:r>
              <a:rPr lang="en-US" sz="2000" spc="-5" dirty="0">
                <a:latin typeface="Arial MT"/>
                <a:cs typeface="Arial MT"/>
              </a:rPr>
              <a:t>e.g.,</a:t>
            </a:r>
            <a:r>
              <a:rPr lang="en-US" sz="2000" spc="-20" dirty="0">
                <a:latin typeface="Arial MT"/>
                <a:cs typeface="Arial MT"/>
              </a:rPr>
              <a:t> </a:t>
            </a:r>
            <a:r>
              <a:rPr lang="en-US" sz="2000" spc="-5" dirty="0">
                <a:latin typeface="Arial MT"/>
                <a:cs typeface="Arial MT"/>
              </a:rPr>
              <a:t>occupation=</a:t>
            </a:r>
            <a:r>
              <a:rPr lang="en-US" sz="2000" spc="-5" dirty="0">
                <a:latin typeface="MS PGothic"/>
                <a:cs typeface="MS PGothic"/>
              </a:rPr>
              <a:t>“”</a:t>
            </a:r>
            <a:endParaRPr lang="en-US" sz="2000" dirty="0">
              <a:latin typeface="MS PGothic"/>
              <a:cs typeface="MS PGothic"/>
            </a:endParaRPr>
          </a:p>
          <a:p>
            <a:pPr marL="812165" lvl="1" indent="-342900">
              <a:lnSpc>
                <a:spcPct val="100000"/>
              </a:lnSpc>
              <a:spcBef>
                <a:spcPts val="545"/>
              </a:spcBef>
              <a:buClr>
                <a:srgbClr val="3B812F"/>
              </a:buClr>
              <a:buSzPct val="59090"/>
              <a:buFont typeface="Wingdings" panose="05000000000000000000" pitchFamily="2" charset="2"/>
              <a:buChar char="q"/>
              <a:tabLst>
                <a:tab pos="755015" algn="l"/>
                <a:tab pos="755650" algn="l"/>
              </a:tabLst>
            </a:pPr>
            <a:r>
              <a:rPr lang="en-US" sz="2200" spc="-5" dirty="0">
                <a:solidFill>
                  <a:srgbClr val="FF0000"/>
                </a:solidFill>
                <a:latin typeface="Arial MT"/>
                <a:cs typeface="Arial MT"/>
              </a:rPr>
              <a:t>noisy</a:t>
            </a:r>
            <a:r>
              <a:rPr lang="en-US" sz="2200" spc="-5" dirty="0">
                <a:latin typeface="Arial MT"/>
                <a:cs typeface="Arial MT"/>
              </a:rPr>
              <a:t>: containing</a:t>
            </a:r>
            <a:r>
              <a:rPr lang="en-US" sz="2200" dirty="0">
                <a:latin typeface="Arial MT"/>
                <a:cs typeface="Arial MT"/>
              </a:rPr>
              <a:t> errors</a:t>
            </a:r>
            <a:r>
              <a:rPr lang="en-US" sz="2200" spc="-5" dirty="0">
                <a:latin typeface="Arial MT"/>
                <a:cs typeface="Arial MT"/>
              </a:rPr>
              <a:t> </a:t>
            </a:r>
            <a:r>
              <a:rPr lang="en-US" sz="2200" dirty="0">
                <a:latin typeface="Arial MT"/>
                <a:cs typeface="Arial MT"/>
              </a:rPr>
              <a:t>or</a:t>
            </a:r>
            <a:r>
              <a:rPr lang="en-US" sz="2200" spc="-5" dirty="0">
                <a:latin typeface="Arial MT"/>
                <a:cs typeface="Arial MT"/>
              </a:rPr>
              <a:t> outliers</a:t>
            </a:r>
            <a:endParaRPr lang="en-US" sz="2200" dirty="0">
              <a:latin typeface="Arial MT"/>
              <a:cs typeface="Arial MT"/>
            </a:endParaRPr>
          </a:p>
          <a:p>
            <a:pPr marL="1270000" lvl="2" indent="-342900">
              <a:lnSpc>
                <a:spcPct val="100000"/>
              </a:lnSpc>
              <a:spcBef>
                <a:spcPts val="415"/>
              </a:spcBef>
              <a:buClr>
                <a:srgbClr val="CC9900"/>
              </a:buClr>
              <a:buSzPct val="65000"/>
              <a:buFont typeface="Wingdings" panose="05000000000000000000" pitchFamily="2" charset="2"/>
              <a:buChar char="q"/>
              <a:tabLst>
                <a:tab pos="1155700" algn="l"/>
              </a:tabLst>
            </a:pPr>
            <a:r>
              <a:rPr lang="en-US" sz="2000" spc="-5" dirty="0">
                <a:latin typeface="Arial MT"/>
                <a:cs typeface="Arial MT"/>
              </a:rPr>
              <a:t>e.g.,</a:t>
            </a:r>
            <a:r>
              <a:rPr lang="en-US" sz="2000" spc="-25" dirty="0">
                <a:latin typeface="Arial MT"/>
                <a:cs typeface="Arial MT"/>
              </a:rPr>
              <a:t> </a:t>
            </a:r>
            <a:r>
              <a:rPr lang="en-US" sz="2000" spc="-5" dirty="0">
                <a:latin typeface="Arial MT"/>
                <a:cs typeface="Arial MT"/>
              </a:rPr>
              <a:t>Salary=</a:t>
            </a:r>
            <a:r>
              <a:rPr lang="en-US" sz="2000" spc="-5" dirty="0">
                <a:latin typeface="MS PGothic"/>
                <a:cs typeface="MS PGothic"/>
              </a:rPr>
              <a:t>“</a:t>
            </a:r>
            <a:r>
              <a:rPr lang="en-US" sz="2000" spc="-5" dirty="0">
                <a:latin typeface="Arial MT"/>
                <a:cs typeface="Arial MT"/>
              </a:rPr>
              <a:t>-10</a:t>
            </a:r>
            <a:r>
              <a:rPr lang="en-US" sz="2000" spc="-5" dirty="0">
                <a:latin typeface="MS PGothic"/>
                <a:cs typeface="MS PGothic"/>
              </a:rPr>
              <a:t>”</a:t>
            </a:r>
            <a:endParaRPr lang="en-US" sz="2000" dirty="0">
              <a:latin typeface="MS PGothic"/>
              <a:cs typeface="MS PGothic"/>
            </a:endParaRPr>
          </a:p>
          <a:p>
            <a:pPr marL="812165" lvl="1" indent="-342900">
              <a:lnSpc>
                <a:spcPct val="100000"/>
              </a:lnSpc>
              <a:spcBef>
                <a:spcPts val="545"/>
              </a:spcBef>
              <a:buClr>
                <a:srgbClr val="3B812F"/>
              </a:buClr>
              <a:buSzPct val="59090"/>
              <a:buFont typeface="Wingdings" panose="05000000000000000000" pitchFamily="2" charset="2"/>
              <a:buChar char="q"/>
              <a:tabLst>
                <a:tab pos="755015" algn="l"/>
                <a:tab pos="755650" algn="l"/>
              </a:tabLst>
            </a:pPr>
            <a:r>
              <a:rPr lang="en-US" sz="2200" spc="-5" dirty="0">
                <a:solidFill>
                  <a:srgbClr val="FF0000"/>
                </a:solidFill>
                <a:latin typeface="Arial MT"/>
                <a:cs typeface="Arial MT"/>
              </a:rPr>
              <a:t>inconsistent: </a:t>
            </a:r>
            <a:r>
              <a:rPr lang="en-US" sz="2200" spc="-5" dirty="0">
                <a:latin typeface="Arial MT"/>
                <a:cs typeface="Arial MT"/>
              </a:rPr>
              <a:t>containing</a:t>
            </a:r>
            <a:r>
              <a:rPr lang="en-US" sz="2200" dirty="0">
                <a:latin typeface="Arial MT"/>
                <a:cs typeface="Arial MT"/>
              </a:rPr>
              <a:t> discrepancies</a:t>
            </a:r>
            <a:r>
              <a:rPr lang="en-US" sz="2200" spc="-5" dirty="0">
                <a:latin typeface="Arial MT"/>
                <a:cs typeface="Arial MT"/>
              </a:rPr>
              <a:t> </a:t>
            </a:r>
            <a:r>
              <a:rPr lang="en-US" sz="2200" dirty="0">
                <a:latin typeface="Arial MT"/>
                <a:cs typeface="Arial MT"/>
              </a:rPr>
              <a:t>in codes</a:t>
            </a:r>
            <a:r>
              <a:rPr lang="en-US" sz="2200" spc="-5" dirty="0">
                <a:latin typeface="Arial MT"/>
                <a:cs typeface="Arial MT"/>
              </a:rPr>
              <a:t> </a:t>
            </a:r>
            <a:r>
              <a:rPr lang="en-US" sz="2200" dirty="0">
                <a:latin typeface="Arial MT"/>
                <a:cs typeface="Arial MT"/>
              </a:rPr>
              <a:t>or</a:t>
            </a:r>
            <a:r>
              <a:rPr lang="en-US" sz="2200" spc="-5" dirty="0">
                <a:latin typeface="Arial MT"/>
                <a:cs typeface="Arial MT"/>
              </a:rPr>
              <a:t> </a:t>
            </a:r>
            <a:r>
              <a:rPr lang="en-US" sz="2200" dirty="0">
                <a:latin typeface="Arial MT"/>
                <a:cs typeface="Arial MT"/>
              </a:rPr>
              <a:t>names</a:t>
            </a:r>
          </a:p>
          <a:p>
            <a:pPr marL="1270000" lvl="2" indent="-342900">
              <a:lnSpc>
                <a:spcPct val="100000"/>
              </a:lnSpc>
              <a:spcBef>
                <a:spcPts val="515"/>
              </a:spcBef>
              <a:buClr>
                <a:srgbClr val="CC9900"/>
              </a:buClr>
              <a:buSzPct val="65000"/>
              <a:buFont typeface="Wingdings" panose="05000000000000000000" pitchFamily="2" charset="2"/>
              <a:buChar char="q"/>
              <a:tabLst>
                <a:tab pos="1155700" algn="l"/>
              </a:tabLst>
            </a:pPr>
            <a:r>
              <a:rPr lang="en-US" sz="2000" spc="-5" dirty="0">
                <a:latin typeface="Arial MT"/>
                <a:cs typeface="Arial MT"/>
              </a:rPr>
              <a:t>e.g.,</a:t>
            </a:r>
            <a:r>
              <a:rPr lang="en-US" sz="2000" spc="5" dirty="0">
                <a:latin typeface="Arial MT"/>
                <a:cs typeface="Arial MT"/>
              </a:rPr>
              <a:t> </a:t>
            </a:r>
            <a:r>
              <a:rPr lang="en-US" sz="2000" spc="-5" dirty="0">
                <a:latin typeface="Arial MT"/>
                <a:cs typeface="Arial MT"/>
              </a:rPr>
              <a:t>Age=</a:t>
            </a:r>
            <a:r>
              <a:rPr lang="en-US" sz="2000" spc="-5" dirty="0">
                <a:latin typeface="MS PGothic"/>
                <a:cs typeface="MS PGothic"/>
              </a:rPr>
              <a:t>“</a:t>
            </a:r>
            <a:r>
              <a:rPr lang="en-US" sz="2000" spc="-5" dirty="0">
                <a:latin typeface="Arial MT"/>
                <a:cs typeface="Arial MT"/>
              </a:rPr>
              <a:t>42</a:t>
            </a:r>
            <a:r>
              <a:rPr lang="en-US" sz="2000" spc="-5" dirty="0">
                <a:latin typeface="MS PGothic"/>
                <a:cs typeface="MS PGothic"/>
              </a:rPr>
              <a:t>”</a:t>
            </a:r>
            <a:r>
              <a:rPr lang="en-US" sz="2000" spc="-45" dirty="0">
                <a:latin typeface="MS PGothic"/>
                <a:cs typeface="MS PGothic"/>
              </a:rPr>
              <a:t> </a:t>
            </a:r>
            <a:r>
              <a:rPr lang="en-US" sz="2000" spc="-5" dirty="0">
                <a:latin typeface="Arial MT"/>
                <a:cs typeface="Arial MT"/>
              </a:rPr>
              <a:t>Birthday=</a:t>
            </a:r>
            <a:r>
              <a:rPr lang="en-US" sz="2000" spc="-5" dirty="0">
                <a:latin typeface="MS PGothic"/>
                <a:cs typeface="MS PGothic"/>
              </a:rPr>
              <a:t>“</a:t>
            </a:r>
            <a:r>
              <a:rPr lang="en-US" sz="2000" spc="-5" dirty="0">
                <a:latin typeface="Arial MT"/>
                <a:cs typeface="Arial MT"/>
              </a:rPr>
              <a:t>03/07/1997</a:t>
            </a:r>
            <a:r>
              <a:rPr lang="en-US" sz="2000" spc="-5" dirty="0">
                <a:latin typeface="MS PGothic"/>
                <a:cs typeface="MS PGothic"/>
              </a:rPr>
              <a:t>”</a:t>
            </a:r>
            <a:endParaRPr lang="en-US" sz="2000" dirty="0">
              <a:latin typeface="MS PGothic"/>
              <a:cs typeface="MS PGothic"/>
            </a:endParaRPr>
          </a:p>
          <a:p>
            <a:pPr marL="1270000" lvl="2" indent="-342900">
              <a:lnSpc>
                <a:spcPct val="100000"/>
              </a:lnSpc>
              <a:spcBef>
                <a:spcPts val="500"/>
              </a:spcBef>
              <a:buClr>
                <a:srgbClr val="CC9900"/>
              </a:buClr>
              <a:buSzPct val="65000"/>
              <a:buFont typeface="Wingdings" panose="05000000000000000000" pitchFamily="2" charset="2"/>
              <a:buChar char="q"/>
              <a:tabLst>
                <a:tab pos="1155700" algn="l"/>
              </a:tabLst>
            </a:pPr>
            <a:r>
              <a:rPr lang="en-US" sz="2000" spc="-5" dirty="0">
                <a:latin typeface="Arial MT"/>
                <a:cs typeface="Arial MT"/>
              </a:rPr>
              <a:t>e.g., Was rating </a:t>
            </a:r>
            <a:r>
              <a:rPr lang="en-US" sz="2000" spc="-5" dirty="0">
                <a:latin typeface="MS PGothic"/>
                <a:cs typeface="MS PGothic"/>
              </a:rPr>
              <a:t>“</a:t>
            </a:r>
            <a:r>
              <a:rPr lang="en-US" sz="2000" spc="-5" dirty="0">
                <a:latin typeface="Arial MT"/>
                <a:cs typeface="Arial MT"/>
              </a:rPr>
              <a:t>1,2,3</a:t>
            </a:r>
            <a:r>
              <a:rPr lang="en-US" sz="2000" spc="-5" dirty="0">
                <a:latin typeface="MS PGothic"/>
                <a:cs typeface="MS PGothic"/>
              </a:rPr>
              <a:t>”</a:t>
            </a:r>
            <a:r>
              <a:rPr lang="en-US" sz="2000" spc="-5" dirty="0">
                <a:latin typeface="Arial MT"/>
                <a:cs typeface="Arial MT"/>
              </a:rPr>
              <a:t>, </a:t>
            </a:r>
            <a:r>
              <a:rPr lang="en-US" sz="2000" dirty="0">
                <a:latin typeface="Arial MT"/>
                <a:cs typeface="Arial MT"/>
              </a:rPr>
              <a:t>now</a:t>
            </a:r>
            <a:r>
              <a:rPr lang="en-US" sz="2000" spc="5" dirty="0">
                <a:latin typeface="Arial MT"/>
                <a:cs typeface="Arial MT"/>
              </a:rPr>
              <a:t> </a:t>
            </a:r>
            <a:r>
              <a:rPr lang="en-US" sz="2000" spc="-5" dirty="0">
                <a:latin typeface="Arial MT"/>
                <a:cs typeface="Arial MT"/>
              </a:rPr>
              <a:t>rating </a:t>
            </a:r>
            <a:r>
              <a:rPr lang="en-US" sz="2000" dirty="0">
                <a:latin typeface="MS PGothic"/>
                <a:cs typeface="MS PGothic"/>
              </a:rPr>
              <a:t>“</a:t>
            </a:r>
            <a:r>
              <a:rPr lang="en-US" sz="2000" dirty="0">
                <a:latin typeface="Arial MT"/>
                <a:cs typeface="Arial MT"/>
              </a:rPr>
              <a:t>A,</a:t>
            </a:r>
            <a:r>
              <a:rPr lang="en-US" sz="2000" spc="-5" dirty="0">
                <a:latin typeface="Arial MT"/>
                <a:cs typeface="Arial MT"/>
              </a:rPr>
              <a:t> </a:t>
            </a:r>
            <a:r>
              <a:rPr lang="en-US" sz="2000" dirty="0">
                <a:latin typeface="Arial MT"/>
                <a:cs typeface="Arial MT"/>
              </a:rPr>
              <a:t>B,</a:t>
            </a:r>
            <a:r>
              <a:rPr lang="en-US" sz="2000" spc="-5" dirty="0">
                <a:latin typeface="Arial MT"/>
                <a:cs typeface="Arial MT"/>
              </a:rPr>
              <a:t> </a:t>
            </a:r>
            <a:r>
              <a:rPr lang="en-US" sz="2000" dirty="0">
                <a:latin typeface="Arial MT"/>
                <a:cs typeface="Arial MT"/>
              </a:rPr>
              <a:t>C</a:t>
            </a:r>
            <a:r>
              <a:rPr lang="en-US" sz="2000" dirty="0">
                <a:latin typeface="MS PGothic"/>
                <a:cs typeface="MS PGothic"/>
              </a:rPr>
              <a:t>”</a:t>
            </a:r>
          </a:p>
          <a:p>
            <a:pPr marL="1270000" lvl="2" indent="-342900">
              <a:lnSpc>
                <a:spcPct val="100000"/>
              </a:lnSpc>
              <a:spcBef>
                <a:spcPts val="400"/>
              </a:spcBef>
              <a:buClr>
                <a:srgbClr val="CC9900"/>
              </a:buClr>
              <a:buSzPct val="65000"/>
              <a:buFont typeface="Wingdings" panose="05000000000000000000" pitchFamily="2" charset="2"/>
              <a:buChar char="q"/>
              <a:tabLst>
                <a:tab pos="1155700" algn="l"/>
              </a:tabLst>
            </a:pPr>
            <a:r>
              <a:rPr lang="en-US" sz="2000" spc="-5" dirty="0">
                <a:latin typeface="Arial MT"/>
                <a:cs typeface="Arial MT"/>
              </a:rPr>
              <a:t>e.g.,</a:t>
            </a:r>
            <a:r>
              <a:rPr lang="en-US" sz="2000" spc="-10" dirty="0">
                <a:latin typeface="Arial MT"/>
                <a:cs typeface="Arial MT"/>
              </a:rPr>
              <a:t> </a:t>
            </a:r>
            <a:r>
              <a:rPr lang="en-US" sz="2000" dirty="0">
                <a:latin typeface="Arial MT"/>
                <a:cs typeface="Arial MT"/>
              </a:rPr>
              <a:t>discrepancy</a:t>
            </a:r>
            <a:r>
              <a:rPr lang="en-US" sz="2000" spc="-10" dirty="0">
                <a:latin typeface="Arial MT"/>
                <a:cs typeface="Arial MT"/>
              </a:rPr>
              <a:t> </a:t>
            </a:r>
            <a:r>
              <a:rPr lang="en-US" sz="2000" spc="-5" dirty="0">
                <a:latin typeface="Arial MT"/>
                <a:cs typeface="Arial MT"/>
              </a:rPr>
              <a:t>between</a:t>
            </a:r>
            <a:r>
              <a:rPr lang="en-US" sz="2000" dirty="0">
                <a:latin typeface="Arial MT"/>
                <a:cs typeface="Arial MT"/>
              </a:rPr>
              <a:t> </a:t>
            </a:r>
            <a:r>
              <a:rPr lang="en-US" sz="2000" spc="-5" dirty="0">
                <a:latin typeface="Arial MT"/>
                <a:cs typeface="Arial MT"/>
              </a:rPr>
              <a:t>duplicate </a:t>
            </a:r>
            <a:r>
              <a:rPr lang="en-US" sz="2000" dirty="0">
                <a:latin typeface="Arial MT"/>
                <a:cs typeface="Arial MT"/>
              </a:rPr>
              <a:t>records</a:t>
            </a:r>
          </a:p>
        </p:txBody>
      </p:sp>
    </p:spTree>
    <p:extLst>
      <p:ext uri="{BB962C8B-B14F-4D97-AF65-F5344CB8AC3E}">
        <p14:creationId xmlns:p14="http://schemas.microsoft.com/office/powerpoint/2010/main" val="2041549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6A8BE-0B3D-46D1-A89B-ABF41EDDF5C5}"/>
              </a:ext>
            </a:extLst>
          </p:cNvPr>
          <p:cNvSpPr>
            <a:spLocks noGrp="1"/>
          </p:cNvSpPr>
          <p:nvPr>
            <p:ph type="title"/>
          </p:nvPr>
        </p:nvSpPr>
        <p:spPr/>
        <p:txBody>
          <a:bodyPr/>
          <a:lstStyle/>
          <a:p>
            <a:r>
              <a:rPr lang="en-US" dirty="0"/>
              <a:t>Need of Data- Pre-processing</a:t>
            </a:r>
            <a:endParaRPr lang="en-IN" dirty="0"/>
          </a:p>
        </p:txBody>
      </p:sp>
      <p:sp>
        <p:nvSpPr>
          <p:cNvPr id="3" name="Content Placeholder 2">
            <a:extLst>
              <a:ext uri="{FF2B5EF4-FFF2-40B4-BE49-F238E27FC236}">
                <a16:creationId xmlns:a16="http://schemas.microsoft.com/office/drawing/2014/main" id="{95FBA93F-2CE3-49EB-AC0A-6ECDE9967DF2}"/>
              </a:ext>
            </a:extLst>
          </p:cNvPr>
          <p:cNvSpPr>
            <a:spLocks noGrp="1"/>
          </p:cNvSpPr>
          <p:nvPr>
            <p:ph idx="1"/>
          </p:nvPr>
        </p:nvSpPr>
        <p:spPr/>
        <p:txBody>
          <a:bodyPr/>
          <a:lstStyle/>
          <a:p>
            <a:pPr marL="469900" marR="5080" indent="-457200">
              <a:lnSpc>
                <a:spcPct val="109000"/>
              </a:lnSpc>
              <a:spcBef>
                <a:spcPts val="100"/>
              </a:spcBef>
              <a:buClr>
                <a:srgbClr val="CC9900"/>
              </a:buClr>
              <a:buSzPct val="63461"/>
              <a:buFont typeface="Wingdings" panose="05000000000000000000" pitchFamily="2" charset="2"/>
              <a:buChar char="q"/>
              <a:tabLst>
                <a:tab pos="354965" algn="l"/>
                <a:tab pos="355600" algn="l"/>
              </a:tabLst>
            </a:pPr>
            <a:r>
              <a:rPr lang="en-US" sz="2600" dirty="0">
                <a:latin typeface="Arial MT"/>
                <a:cs typeface="Arial MT"/>
              </a:rPr>
              <a:t>No </a:t>
            </a:r>
            <a:r>
              <a:rPr lang="en-US" sz="2600" spc="-5" dirty="0">
                <a:latin typeface="Arial MT"/>
                <a:cs typeface="Arial MT"/>
              </a:rPr>
              <a:t>quality data,</a:t>
            </a:r>
            <a:r>
              <a:rPr lang="en-US" sz="2600" dirty="0">
                <a:latin typeface="Arial MT"/>
                <a:cs typeface="Arial MT"/>
              </a:rPr>
              <a:t> no </a:t>
            </a:r>
            <a:r>
              <a:rPr lang="en-US" sz="2600" spc="-5" dirty="0">
                <a:latin typeface="Arial MT"/>
                <a:cs typeface="Arial MT"/>
              </a:rPr>
              <a:t>quality </a:t>
            </a:r>
            <a:r>
              <a:rPr lang="en-US" sz="2600" dirty="0">
                <a:latin typeface="Arial MT"/>
                <a:cs typeface="Arial MT"/>
              </a:rPr>
              <a:t>mining</a:t>
            </a:r>
            <a:r>
              <a:rPr lang="en-US" sz="2600" spc="5" dirty="0">
                <a:latin typeface="Arial MT"/>
                <a:cs typeface="Arial MT"/>
              </a:rPr>
              <a:t> </a:t>
            </a:r>
            <a:r>
              <a:rPr lang="en-US" sz="2600" spc="-5" dirty="0">
                <a:latin typeface="Arial MT"/>
                <a:cs typeface="Arial MT"/>
              </a:rPr>
              <a:t>results! </a:t>
            </a:r>
            <a:r>
              <a:rPr lang="en-US" sz="2600" dirty="0">
                <a:latin typeface="Arial MT"/>
                <a:cs typeface="Arial MT"/>
              </a:rPr>
              <a:t>(garbage in </a:t>
            </a:r>
            <a:r>
              <a:rPr lang="en-US" sz="2600" spc="-705" dirty="0">
                <a:latin typeface="Arial MT"/>
                <a:cs typeface="Arial MT"/>
              </a:rPr>
              <a:t> </a:t>
            </a:r>
            <a:r>
              <a:rPr lang="en-US" sz="2600" dirty="0">
                <a:latin typeface="Arial MT"/>
                <a:cs typeface="Arial MT"/>
              </a:rPr>
              <a:t>garbage</a:t>
            </a:r>
            <a:r>
              <a:rPr lang="en-US" sz="2600" spc="-5" dirty="0">
                <a:latin typeface="Arial MT"/>
                <a:cs typeface="Arial MT"/>
              </a:rPr>
              <a:t> out!)</a:t>
            </a:r>
            <a:endParaRPr lang="en-US" sz="2600" dirty="0">
              <a:latin typeface="Arial MT"/>
              <a:cs typeface="Arial MT"/>
            </a:endParaRPr>
          </a:p>
          <a:p>
            <a:pPr marL="812800" lvl="1" indent="-342900">
              <a:lnSpc>
                <a:spcPct val="100000"/>
              </a:lnSpc>
              <a:spcBef>
                <a:spcPts val="765"/>
              </a:spcBef>
              <a:buClr>
                <a:srgbClr val="3B812F"/>
              </a:buClr>
              <a:buSzPct val="59090"/>
              <a:buFont typeface="Wingdings" panose="05000000000000000000" pitchFamily="2" charset="2"/>
              <a:buChar char="q"/>
              <a:tabLst>
                <a:tab pos="755015" algn="l"/>
                <a:tab pos="755650" algn="l"/>
              </a:tabLst>
            </a:pPr>
            <a:r>
              <a:rPr lang="en-US" sz="2200" spc="-5" dirty="0">
                <a:solidFill>
                  <a:schemeClr val="tx1"/>
                </a:solidFill>
                <a:latin typeface="Arial MT"/>
                <a:cs typeface="Arial MT"/>
              </a:rPr>
              <a:t>Quality</a:t>
            </a:r>
            <a:r>
              <a:rPr lang="en-US" sz="2200" spc="-10" dirty="0">
                <a:solidFill>
                  <a:schemeClr val="tx1"/>
                </a:solidFill>
                <a:latin typeface="Arial MT"/>
                <a:cs typeface="Arial MT"/>
              </a:rPr>
              <a:t> </a:t>
            </a:r>
            <a:r>
              <a:rPr lang="en-US" sz="2200" dirty="0">
                <a:solidFill>
                  <a:schemeClr val="tx1"/>
                </a:solidFill>
                <a:latin typeface="Arial MT"/>
                <a:cs typeface="Arial MT"/>
              </a:rPr>
              <a:t>decisions</a:t>
            </a:r>
            <a:r>
              <a:rPr lang="en-US" sz="2200" spc="-10" dirty="0">
                <a:solidFill>
                  <a:schemeClr val="tx1"/>
                </a:solidFill>
                <a:latin typeface="Arial MT"/>
                <a:cs typeface="Arial MT"/>
              </a:rPr>
              <a:t> </a:t>
            </a:r>
            <a:r>
              <a:rPr lang="en-US" sz="2200" dirty="0">
                <a:solidFill>
                  <a:schemeClr val="tx1"/>
                </a:solidFill>
                <a:latin typeface="Arial MT"/>
                <a:cs typeface="Arial MT"/>
              </a:rPr>
              <a:t>must</a:t>
            </a:r>
            <a:r>
              <a:rPr lang="en-US" sz="2200" spc="-10" dirty="0">
                <a:solidFill>
                  <a:schemeClr val="tx1"/>
                </a:solidFill>
                <a:latin typeface="Arial MT"/>
                <a:cs typeface="Arial MT"/>
              </a:rPr>
              <a:t> </a:t>
            </a:r>
            <a:r>
              <a:rPr lang="en-US" sz="2200" dirty="0">
                <a:solidFill>
                  <a:schemeClr val="tx1"/>
                </a:solidFill>
                <a:latin typeface="Arial MT"/>
                <a:cs typeface="Arial MT"/>
              </a:rPr>
              <a:t>be based</a:t>
            </a:r>
            <a:r>
              <a:rPr lang="en-US" sz="2200" spc="-5" dirty="0">
                <a:solidFill>
                  <a:schemeClr val="tx1"/>
                </a:solidFill>
                <a:latin typeface="Arial MT"/>
                <a:cs typeface="Arial MT"/>
              </a:rPr>
              <a:t> </a:t>
            </a:r>
            <a:r>
              <a:rPr lang="en-US" sz="2200" dirty="0">
                <a:solidFill>
                  <a:schemeClr val="tx1"/>
                </a:solidFill>
                <a:latin typeface="Arial MT"/>
                <a:cs typeface="Arial MT"/>
              </a:rPr>
              <a:t>on</a:t>
            </a:r>
            <a:r>
              <a:rPr lang="en-US" sz="2200" spc="-5" dirty="0">
                <a:solidFill>
                  <a:schemeClr val="tx1"/>
                </a:solidFill>
                <a:latin typeface="Arial MT"/>
                <a:cs typeface="Arial MT"/>
              </a:rPr>
              <a:t> quality</a:t>
            </a:r>
            <a:r>
              <a:rPr lang="en-US" sz="2200" spc="-10" dirty="0">
                <a:solidFill>
                  <a:schemeClr val="tx1"/>
                </a:solidFill>
                <a:latin typeface="Arial MT"/>
                <a:cs typeface="Arial MT"/>
              </a:rPr>
              <a:t> </a:t>
            </a:r>
            <a:r>
              <a:rPr lang="en-US" sz="2200" spc="-5" dirty="0">
                <a:solidFill>
                  <a:schemeClr val="tx1"/>
                </a:solidFill>
                <a:latin typeface="Arial MT"/>
                <a:cs typeface="Arial MT"/>
              </a:rPr>
              <a:t>data</a:t>
            </a:r>
            <a:endParaRPr lang="en-US" sz="2200" dirty="0">
              <a:solidFill>
                <a:schemeClr val="tx1"/>
              </a:solidFill>
              <a:latin typeface="Arial MT"/>
              <a:cs typeface="Arial MT"/>
            </a:endParaRPr>
          </a:p>
          <a:p>
            <a:pPr marL="1270000" marR="351790" lvl="2" indent="-342900">
              <a:lnSpc>
                <a:spcPct val="113300"/>
              </a:lnSpc>
              <a:spcBef>
                <a:spcPts val="375"/>
              </a:spcBef>
              <a:buClr>
                <a:srgbClr val="CC9900"/>
              </a:buClr>
              <a:buSzPct val="65000"/>
              <a:buFont typeface="Wingdings" panose="05000000000000000000" pitchFamily="2" charset="2"/>
              <a:buChar char="q"/>
              <a:tabLst>
                <a:tab pos="1155700" algn="l"/>
              </a:tabLst>
            </a:pPr>
            <a:r>
              <a:rPr lang="en-US" sz="2000" spc="-5" dirty="0">
                <a:solidFill>
                  <a:schemeClr val="tx1"/>
                </a:solidFill>
                <a:latin typeface="Arial MT"/>
                <a:cs typeface="Arial MT"/>
              </a:rPr>
              <a:t>e.g., duplicate </a:t>
            </a:r>
            <a:r>
              <a:rPr lang="en-US" sz="2000" dirty="0">
                <a:solidFill>
                  <a:schemeClr val="tx1"/>
                </a:solidFill>
                <a:latin typeface="Arial MT"/>
                <a:cs typeface="Arial MT"/>
              </a:rPr>
              <a:t>or missing </a:t>
            </a:r>
            <a:r>
              <a:rPr lang="en-US" sz="2000" spc="-5" dirty="0">
                <a:solidFill>
                  <a:schemeClr val="tx1"/>
                </a:solidFill>
                <a:latin typeface="Arial MT"/>
                <a:cs typeface="Arial MT"/>
              </a:rPr>
              <a:t>data </a:t>
            </a:r>
            <a:r>
              <a:rPr lang="en-US" sz="2000" dirty="0">
                <a:solidFill>
                  <a:schemeClr val="tx1"/>
                </a:solidFill>
                <a:latin typeface="Arial MT"/>
                <a:cs typeface="Arial MT"/>
              </a:rPr>
              <a:t>may cause incorrect or even </a:t>
            </a:r>
            <a:r>
              <a:rPr lang="en-US" sz="2000" spc="-545" dirty="0">
                <a:solidFill>
                  <a:schemeClr val="tx1"/>
                </a:solidFill>
                <a:latin typeface="Arial MT"/>
                <a:cs typeface="Arial MT"/>
              </a:rPr>
              <a:t> </a:t>
            </a:r>
            <a:r>
              <a:rPr lang="en-US" sz="2000" dirty="0">
                <a:solidFill>
                  <a:schemeClr val="tx1"/>
                </a:solidFill>
                <a:latin typeface="Arial MT"/>
                <a:cs typeface="Arial MT"/>
              </a:rPr>
              <a:t>misleading</a:t>
            </a:r>
            <a:r>
              <a:rPr lang="en-US" sz="2000" spc="-5" dirty="0">
                <a:solidFill>
                  <a:schemeClr val="tx1"/>
                </a:solidFill>
                <a:latin typeface="Arial MT"/>
                <a:cs typeface="Arial MT"/>
              </a:rPr>
              <a:t> statistics.</a:t>
            </a:r>
            <a:endParaRPr lang="en-US" sz="2000" dirty="0">
              <a:solidFill>
                <a:schemeClr val="tx1"/>
              </a:solidFill>
              <a:latin typeface="Arial MT"/>
              <a:cs typeface="Arial MT"/>
            </a:endParaRPr>
          </a:p>
          <a:p>
            <a:pPr marL="469900" marR="354330" indent="-457200">
              <a:lnSpc>
                <a:spcPct val="110200"/>
              </a:lnSpc>
              <a:spcBef>
                <a:spcPts val="565"/>
              </a:spcBef>
              <a:buClr>
                <a:srgbClr val="CC9900"/>
              </a:buClr>
              <a:buSzPct val="63461"/>
              <a:buFont typeface="Wingdings" panose="05000000000000000000" pitchFamily="2" charset="2"/>
              <a:buChar char="q"/>
              <a:tabLst>
                <a:tab pos="354965" algn="l"/>
                <a:tab pos="355600" algn="l"/>
              </a:tabLst>
            </a:pPr>
            <a:r>
              <a:rPr lang="en-US" sz="2600" spc="-5" dirty="0">
                <a:solidFill>
                  <a:schemeClr val="tx1"/>
                </a:solidFill>
                <a:latin typeface="Arial MT"/>
                <a:cs typeface="Arial MT"/>
              </a:rPr>
              <a:t>Data</a:t>
            </a:r>
            <a:r>
              <a:rPr lang="en-US" sz="2600" dirty="0">
                <a:solidFill>
                  <a:schemeClr val="tx1"/>
                </a:solidFill>
                <a:latin typeface="Arial MT"/>
                <a:cs typeface="Arial MT"/>
              </a:rPr>
              <a:t> </a:t>
            </a:r>
            <a:r>
              <a:rPr lang="en-US" sz="2600" spc="-5" dirty="0">
                <a:solidFill>
                  <a:schemeClr val="tx1"/>
                </a:solidFill>
                <a:latin typeface="Arial MT"/>
                <a:cs typeface="Arial MT"/>
              </a:rPr>
              <a:t>preparation, </a:t>
            </a:r>
            <a:r>
              <a:rPr lang="en-US" sz="2600" dirty="0">
                <a:solidFill>
                  <a:schemeClr val="tx1"/>
                </a:solidFill>
                <a:latin typeface="Arial MT"/>
                <a:cs typeface="Arial MT"/>
              </a:rPr>
              <a:t>cleaning, and </a:t>
            </a:r>
            <a:r>
              <a:rPr lang="en-US" sz="2600" spc="-5" dirty="0">
                <a:solidFill>
                  <a:schemeClr val="tx1"/>
                </a:solidFill>
                <a:latin typeface="Arial MT"/>
                <a:cs typeface="Arial MT"/>
              </a:rPr>
              <a:t>transformation </a:t>
            </a:r>
            <a:r>
              <a:rPr lang="en-US" sz="2600" dirty="0">
                <a:solidFill>
                  <a:schemeClr val="tx1"/>
                </a:solidFill>
                <a:latin typeface="Arial MT"/>
                <a:cs typeface="Arial MT"/>
              </a:rPr>
              <a:t> comprises </a:t>
            </a:r>
            <a:r>
              <a:rPr lang="en-US" sz="2600" spc="-5" dirty="0">
                <a:solidFill>
                  <a:schemeClr val="tx1"/>
                </a:solidFill>
                <a:latin typeface="Arial MT"/>
                <a:cs typeface="Arial MT"/>
              </a:rPr>
              <a:t>the majority </a:t>
            </a:r>
            <a:r>
              <a:rPr lang="en-US" sz="2600" dirty="0">
                <a:solidFill>
                  <a:schemeClr val="tx1"/>
                </a:solidFill>
                <a:latin typeface="Arial MT"/>
                <a:cs typeface="Arial MT"/>
              </a:rPr>
              <a:t>of </a:t>
            </a:r>
            <a:r>
              <a:rPr lang="en-US" sz="2600" spc="-5" dirty="0">
                <a:solidFill>
                  <a:schemeClr val="tx1"/>
                </a:solidFill>
                <a:latin typeface="Arial MT"/>
                <a:cs typeface="Arial MT"/>
              </a:rPr>
              <a:t>the </a:t>
            </a:r>
            <a:r>
              <a:rPr lang="en-US" sz="2600" dirty="0">
                <a:solidFill>
                  <a:schemeClr val="tx1"/>
                </a:solidFill>
                <a:latin typeface="Arial MT"/>
                <a:cs typeface="Arial MT"/>
              </a:rPr>
              <a:t>work in a </a:t>
            </a:r>
            <a:r>
              <a:rPr lang="en-US" sz="2600" spc="-5" dirty="0">
                <a:solidFill>
                  <a:schemeClr val="tx1"/>
                </a:solidFill>
                <a:latin typeface="Arial MT"/>
                <a:cs typeface="Arial MT"/>
              </a:rPr>
              <a:t>data </a:t>
            </a:r>
            <a:r>
              <a:rPr lang="en-US" sz="2600" dirty="0">
                <a:solidFill>
                  <a:schemeClr val="tx1"/>
                </a:solidFill>
                <a:latin typeface="Arial MT"/>
                <a:cs typeface="Arial MT"/>
              </a:rPr>
              <a:t>mining </a:t>
            </a:r>
            <a:r>
              <a:rPr lang="en-US" sz="2600" spc="-710" dirty="0">
                <a:solidFill>
                  <a:schemeClr val="tx1"/>
                </a:solidFill>
                <a:latin typeface="Arial MT"/>
                <a:cs typeface="Arial MT"/>
              </a:rPr>
              <a:t> </a:t>
            </a:r>
            <a:r>
              <a:rPr lang="en-US" sz="2600" spc="-5" dirty="0">
                <a:solidFill>
                  <a:schemeClr val="tx1"/>
                </a:solidFill>
                <a:latin typeface="Arial MT"/>
                <a:cs typeface="Arial MT"/>
              </a:rPr>
              <a:t>application </a:t>
            </a:r>
            <a:r>
              <a:rPr lang="en-US" sz="2600" dirty="0">
                <a:solidFill>
                  <a:schemeClr val="tx1"/>
                </a:solidFill>
                <a:latin typeface="Arial MT"/>
                <a:cs typeface="Arial MT"/>
              </a:rPr>
              <a:t>(could be</a:t>
            </a:r>
            <a:r>
              <a:rPr lang="en-US" sz="2600" spc="-5" dirty="0">
                <a:solidFill>
                  <a:schemeClr val="tx1"/>
                </a:solidFill>
                <a:latin typeface="Arial MT"/>
                <a:cs typeface="Arial MT"/>
              </a:rPr>
              <a:t> </a:t>
            </a:r>
            <a:r>
              <a:rPr lang="en-US" sz="2600" dirty="0">
                <a:solidFill>
                  <a:schemeClr val="tx1"/>
                </a:solidFill>
                <a:latin typeface="Arial MT"/>
                <a:cs typeface="Arial MT"/>
              </a:rPr>
              <a:t>as</a:t>
            </a:r>
            <a:r>
              <a:rPr lang="en-US" sz="2600" spc="-5" dirty="0">
                <a:solidFill>
                  <a:schemeClr val="tx1"/>
                </a:solidFill>
                <a:latin typeface="Arial MT"/>
                <a:cs typeface="Arial MT"/>
              </a:rPr>
              <a:t> </a:t>
            </a:r>
            <a:r>
              <a:rPr lang="en-US" sz="2600" dirty="0">
                <a:solidFill>
                  <a:schemeClr val="tx1"/>
                </a:solidFill>
                <a:latin typeface="Arial MT"/>
                <a:cs typeface="Arial MT"/>
              </a:rPr>
              <a:t>high as</a:t>
            </a:r>
            <a:r>
              <a:rPr lang="en-US" sz="2600" spc="-10" dirty="0">
                <a:solidFill>
                  <a:schemeClr val="tx1"/>
                </a:solidFill>
                <a:latin typeface="Arial MT"/>
                <a:cs typeface="Arial MT"/>
              </a:rPr>
              <a:t> </a:t>
            </a:r>
            <a:r>
              <a:rPr lang="en-US" sz="2600" dirty="0">
                <a:solidFill>
                  <a:schemeClr val="tx1"/>
                </a:solidFill>
                <a:latin typeface="Arial MT"/>
                <a:cs typeface="Arial MT"/>
              </a:rPr>
              <a:t>90%).</a:t>
            </a:r>
          </a:p>
        </p:txBody>
      </p:sp>
    </p:spTree>
    <p:extLst>
      <p:ext uri="{BB962C8B-B14F-4D97-AF65-F5344CB8AC3E}">
        <p14:creationId xmlns:p14="http://schemas.microsoft.com/office/powerpoint/2010/main" val="3900992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D1006-BFF4-42C3-918B-C13F22F0BE61}"/>
              </a:ext>
            </a:extLst>
          </p:cNvPr>
          <p:cNvSpPr>
            <a:spLocks noGrp="1"/>
          </p:cNvSpPr>
          <p:nvPr>
            <p:ph type="title"/>
          </p:nvPr>
        </p:nvSpPr>
        <p:spPr/>
        <p:txBody>
          <a:bodyPr/>
          <a:lstStyle/>
          <a:p>
            <a:r>
              <a:rPr lang="en-US" dirty="0"/>
              <a:t>Tasks in Data Pre-processing</a:t>
            </a:r>
            <a:endParaRPr lang="en-IN" dirty="0"/>
          </a:p>
        </p:txBody>
      </p:sp>
      <p:sp>
        <p:nvSpPr>
          <p:cNvPr id="3" name="Content Placeholder 2">
            <a:extLst>
              <a:ext uri="{FF2B5EF4-FFF2-40B4-BE49-F238E27FC236}">
                <a16:creationId xmlns:a16="http://schemas.microsoft.com/office/drawing/2014/main" id="{3D4115C6-4450-4E72-86A3-72F9F72463EF}"/>
              </a:ext>
            </a:extLst>
          </p:cNvPr>
          <p:cNvSpPr>
            <a:spLocks noGrp="1"/>
          </p:cNvSpPr>
          <p:nvPr>
            <p:ph idx="1"/>
          </p:nvPr>
        </p:nvSpPr>
        <p:spPr/>
        <p:txBody>
          <a:bodyPr/>
          <a:lstStyle/>
          <a:p>
            <a:r>
              <a:rPr lang="en-US" dirty="0"/>
              <a:t>Data Cleaning</a:t>
            </a:r>
          </a:p>
          <a:p>
            <a:pPr lvl="1"/>
            <a:r>
              <a:rPr lang="en-US" sz="1800" spc="-5" dirty="0">
                <a:solidFill>
                  <a:schemeClr val="tx1"/>
                </a:solidFill>
                <a:latin typeface="Calibri" panose="020F0502020204030204" pitchFamily="34" charset="0"/>
                <a:cs typeface="Calibri" panose="020F0502020204030204" pitchFamily="34" charset="0"/>
              </a:rPr>
              <a:t>Fill </a:t>
            </a:r>
            <a:r>
              <a:rPr lang="en-US" sz="1800" dirty="0">
                <a:solidFill>
                  <a:schemeClr val="tx1"/>
                </a:solidFill>
                <a:latin typeface="Calibri" panose="020F0502020204030204" pitchFamily="34" charset="0"/>
                <a:cs typeface="Calibri" panose="020F0502020204030204" pitchFamily="34" charset="0"/>
              </a:rPr>
              <a:t>in missing values, </a:t>
            </a:r>
            <a:r>
              <a:rPr lang="en-US" sz="1800" spc="-5" dirty="0">
                <a:solidFill>
                  <a:schemeClr val="tx1"/>
                </a:solidFill>
                <a:latin typeface="Calibri" panose="020F0502020204030204" pitchFamily="34" charset="0"/>
                <a:cs typeface="Calibri" panose="020F0502020204030204" pitchFamily="34" charset="0"/>
              </a:rPr>
              <a:t>smooth </a:t>
            </a:r>
            <a:r>
              <a:rPr lang="en-US" sz="1800" dirty="0">
                <a:solidFill>
                  <a:schemeClr val="tx1"/>
                </a:solidFill>
                <a:latin typeface="Calibri" panose="020F0502020204030204" pitchFamily="34" charset="0"/>
                <a:cs typeface="Calibri" panose="020F0502020204030204" pitchFamily="34" charset="0"/>
              </a:rPr>
              <a:t>noisy </a:t>
            </a:r>
            <a:r>
              <a:rPr lang="en-US" sz="1800" spc="-5" dirty="0">
                <a:solidFill>
                  <a:schemeClr val="tx1"/>
                </a:solidFill>
                <a:latin typeface="Calibri" panose="020F0502020204030204" pitchFamily="34" charset="0"/>
                <a:cs typeface="Calibri" panose="020F0502020204030204" pitchFamily="34" charset="0"/>
              </a:rPr>
              <a:t>data, identify </a:t>
            </a:r>
            <a:r>
              <a:rPr lang="en-US" sz="1800" dirty="0">
                <a:solidFill>
                  <a:schemeClr val="tx1"/>
                </a:solidFill>
                <a:latin typeface="Calibri" panose="020F0502020204030204" pitchFamily="34" charset="0"/>
                <a:cs typeface="Calibri" panose="020F0502020204030204" pitchFamily="34" charset="0"/>
              </a:rPr>
              <a:t>or remove </a:t>
            </a:r>
            <a:r>
              <a:rPr lang="en-US" sz="1800" spc="-545" dirty="0">
                <a:solidFill>
                  <a:schemeClr val="tx1"/>
                </a:solidFill>
                <a:latin typeface="Calibri" panose="020F0502020204030204" pitchFamily="34" charset="0"/>
                <a:cs typeface="Calibri" panose="020F0502020204030204" pitchFamily="34" charset="0"/>
              </a:rPr>
              <a:t> </a:t>
            </a:r>
            <a:r>
              <a:rPr lang="en-US" sz="1800" spc="-5" dirty="0">
                <a:solidFill>
                  <a:schemeClr val="tx1"/>
                </a:solidFill>
                <a:latin typeface="Calibri" panose="020F0502020204030204" pitchFamily="34" charset="0"/>
                <a:cs typeface="Calibri" panose="020F0502020204030204" pitchFamily="34" charset="0"/>
              </a:rPr>
              <a:t>outliers </a:t>
            </a:r>
            <a:r>
              <a:rPr lang="en-US" sz="1800" dirty="0">
                <a:solidFill>
                  <a:schemeClr val="tx1"/>
                </a:solidFill>
                <a:latin typeface="Calibri" panose="020F0502020204030204" pitchFamily="34" charset="0"/>
                <a:cs typeface="Calibri" panose="020F0502020204030204" pitchFamily="34" charset="0"/>
              </a:rPr>
              <a:t>and noisy</a:t>
            </a:r>
            <a:r>
              <a:rPr lang="en-US" sz="1800" spc="-5" dirty="0">
                <a:solidFill>
                  <a:schemeClr val="tx1"/>
                </a:solidFill>
                <a:latin typeface="Calibri" panose="020F0502020204030204" pitchFamily="34" charset="0"/>
                <a:cs typeface="Calibri" panose="020F0502020204030204" pitchFamily="34" charset="0"/>
              </a:rPr>
              <a:t> data,</a:t>
            </a:r>
            <a:r>
              <a:rPr lang="en-US" sz="1800" dirty="0">
                <a:solidFill>
                  <a:schemeClr val="tx1"/>
                </a:solidFill>
                <a:latin typeface="Calibri" panose="020F0502020204030204" pitchFamily="34" charset="0"/>
                <a:cs typeface="Calibri" panose="020F0502020204030204" pitchFamily="34" charset="0"/>
              </a:rPr>
              <a:t> and resolve </a:t>
            </a:r>
            <a:r>
              <a:rPr lang="en-US" sz="1800" spc="-5" dirty="0">
                <a:solidFill>
                  <a:schemeClr val="tx1"/>
                </a:solidFill>
                <a:latin typeface="Calibri" panose="020F0502020204030204" pitchFamily="34" charset="0"/>
                <a:cs typeface="Calibri" panose="020F0502020204030204" pitchFamily="34" charset="0"/>
              </a:rPr>
              <a:t>inconsistencies</a:t>
            </a:r>
            <a:endParaRPr lang="en-US" dirty="0">
              <a:solidFill>
                <a:schemeClr val="tx1"/>
              </a:solidFill>
              <a:latin typeface="Calibri" panose="020F0502020204030204" pitchFamily="34" charset="0"/>
              <a:cs typeface="Calibri" panose="020F0502020204030204" pitchFamily="34" charset="0"/>
            </a:endParaRPr>
          </a:p>
          <a:p>
            <a:r>
              <a:rPr lang="en-US" dirty="0"/>
              <a:t>Data Integration</a:t>
            </a:r>
          </a:p>
          <a:p>
            <a:pPr lvl="1"/>
            <a:r>
              <a:rPr lang="en-US" sz="1800" spc="-5" dirty="0">
                <a:solidFill>
                  <a:schemeClr val="tx1"/>
                </a:solidFill>
                <a:latin typeface="Calibri" panose="020F0502020204030204" pitchFamily="34" charset="0"/>
                <a:cs typeface="Calibri" panose="020F0502020204030204" pitchFamily="34" charset="0"/>
              </a:rPr>
              <a:t>Integration</a:t>
            </a:r>
            <a:r>
              <a:rPr lang="en-US" sz="1800" spc="5" dirty="0">
                <a:solidFill>
                  <a:schemeClr val="tx1"/>
                </a:solidFill>
                <a:latin typeface="Calibri" panose="020F0502020204030204" pitchFamily="34" charset="0"/>
                <a:cs typeface="Calibri" panose="020F0502020204030204" pitchFamily="34" charset="0"/>
              </a:rPr>
              <a:t> </a:t>
            </a:r>
            <a:r>
              <a:rPr lang="en-US" sz="1800" dirty="0">
                <a:solidFill>
                  <a:schemeClr val="tx1"/>
                </a:solidFill>
                <a:latin typeface="Calibri" panose="020F0502020204030204" pitchFamily="34" charset="0"/>
                <a:cs typeface="Calibri" panose="020F0502020204030204" pitchFamily="34" charset="0"/>
              </a:rPr>
              <a:t>of </a:t>
            </a:r>
            <a:r>
              <a:rPr lang="en-US" sz="1800" spc="-5" dirty="0">
                <a:solidFill>
                  <a:schemeClr val="tx1"/>
                </a:solidFill>
                <a:latin typeface="Calibri" panose="020F0502020204030204" pitchFamily="34" charset="0"/>
                <a:cs typeface="Calibri" panose="020F0502020204030204" pitchFamily="34" charset="0"/>
              </a:rPr>
              <a:t>multiple</a:t>
            </a:r>
            <a:r>
              <a:rPr lang="en-US" sz="1800" spc="5" dirty="0">
                <a:solidFill>
                  <a:schemeClr val="tx1"/>
                </a:solidFill>
                <a:latin typeface="Calibri" panose="020F0502020204030204" pitchFamily="34" charset="0"/>
                <a:cs typeface="Calibri" panose="020F0502020204030204" pitchFamily="34" charset="0"/>
              </a:rPr>
              <a:t> </a:t>
            </a:r>
            <a:r>
              <a:rPr lang="en-US" sz="1800" spc="-5" dirty="0">
                <a:solidFill>
                  <a:schemeClr val="tx1"/>
                </a:solidFill>
                <a:latin typeface="Calibri" panose="020F0502020204030204" pitchFamily="34" charset="0"/>
                <a:cs typeface="Calibri" panose="020F0502020204030204" pitchFamily="34" charset="0"/>
              </a:rPr>
              <a:t>databases,</a:t>
            </a:r>
            <a:r>
              <a:rPr lang="en-US" sz="1800" spc="5" dirty="0">
                <a:solidFill>
                  <a:schemeClr val="tx1"/>
                </a:solidFill>
                <a:latin typeface="Calibri" panose="020F0502020204030204" pitchFamily="34" charset="0"/>
                <a:cs typeface="Calibri" panose="020F0502020204030204" pitchFamily="34" charset="0"/>
              </a:rPr>
              <a:t> </a:t>
            </a:r>
            <a:r>
              <a:rPr lang="en-US" sz="1800" dirty="0">
                <a:solidFill>
                  <a:schemeClr val="tx1"/>
                </a:solidFill>
                <a:latin typeface="Calibri" panose="020F0502020204030204" pitchFamily="34" charset="0"/>
                <a:cs typeface="Calibri" panose="020F0502020204030204" pitchFamily="34" charset="0"/>
              </a:rPr>
              <a:t>or </a:t>
            </a:r>
            <a:r>
              <a:rPr lang="en-US" sz="1800" spc="-5" dirty="0">
                <a:solidFill>
                  <a:schemeClr val="tx1"/>
                </a:solidFill>
                <a:latin typeface="Calibri" panose="020F0502020204030204" pitchFamily="34" charset="0"/>
                <a:cs typeface="Calibri" panose="020F0502020204030204" pitchFamily="34" charset="0"/>
              </a:rPr>
              <a:t>files</a:t>
            </a:r>
            <a:endParaRPr lang="en-US" dirty="0">
              <a:solidFill>
                <a:schemeClr val="tx1"/>
              </a:solidFill>
              <a:latin typeface="Calibri" panose="020F0502020204030204" pitchFamily="34" charset="0"/>
              <a:cs typeface="Calibri" panose="020F0502020204030204" pitchFamily="34" charset="0"/>
            </a:endParaRPr>
          </a:p>
          <a:p>
            <a:r>
              <a:rPr lang="en-US" dirty="0"/>
              <a:t>Data Transformation</a:t>
            </a:r>
          </a:p>
          <a:p>
            <a:pPr lvl="1"/>
            <a:r>
              <a:rPr lang="en-IN" sz="1800" spc="-5" dirty="0">
                <a:solidFill>
                  <a:schemeClr val="tx1"/>
                </a:solidFill>
                <a:latin typeface="Calibri" panose="020F0502020204030204" pitchFamily="34" charset="0"/>
                <a:cs typeface="Calibri" panose="020F0502020204030204" pitchFamily="34" charset="0"/>
              </a:rPr>
              <a:t>Normalization</a:t>
            </a:r>
            <a:r>
              <a:rPr lang="en-IN" sz="1800" dirty="0">
                <a:solidFill>
                  <a:schemeClr val="tx1"/>
                </a:solidFill>
                <a:latin typeface="Calibri" panose="020F0502020204030204" pitchFamily="34" charset="0"/>
                <a:cs typeface="Calibri" panose="020F0502020204030204" pitchFamily="34" charset="0"/>
              </a:rPr>
              <a:t> and</a:t>
            </a:r>
            <a:r>
              <a:rPr lang="en-IN" sz="1800" spc="5" dirty="0">
                <a:solidFill>
                  <a:schemeClr val="tx1"/>
                </a:solidFill>
                <a:latin typeface="Calibri" panose="020F0502020204030204" pitchFamily="34" charset="0"/>
                <a:cs typeface="Calibri" panose="020F0502020204030204" pitchFamily="34" charset="0"/>
              </a:rPr>
              <a:t> </a:t>
            </a:r>
            <a:r>
              <a:rPr lang="en-IN" sz="1800" spc="-5" dirty="0">
                <a:solidFill>
                  <a:schemeClr val="tx1"/>
                </a:solidFill>
                <a:latin typeface="Calibri" panose="020F0502020204030204" pitchFamily="34" charset="0"/>
                <a:cs typeface="Calibri" panose="020F0502020204030204" pitchFamily="34" charset="0"/>
              </a:rPr>
              <a:t>aggregation</a:t>
            </a:r>
            <a:endParaRPr lang="en-US" dirty="0">
              <a:solidFill>
                <a:schemeClr val="tx1"/>
              </a:solidFill>
              <a:latin typeface="Calibri" panose="020F0502020204030204" pitchFamily="34" charset="0"/>
              <a:cs typeface="Calibri" panose="020F0502020204030204" pitchFamily="34" charset="0"/>
            </a:endParaRPr>
          </a:p>
          <a:p>
            <a:r>
              <a:rPr lang="en-US" dirty="0"/>
              <a:t>Data Reduction</a:t>
            </a:r>
          </a:p>
          <a:p>
            <a:pPr lvl="1"/>
            <a:r>
              <a:rPr lang="en-US" sz="1800" spc="-5" dirty="0">
                <a:solidFill>
                  <a:schemeClr val="tx1"/>
                </a:solidFill>
                <a:latin typeface="Calibri" panose="020F0502020204030204" pitchFamily="34" charset="0"/>
                <a:cs typeface="Calibri" panose="020F0502020204030204" pitchFamily="34" charset="0"/>
              </a:rPr>
              <a:t>Obtains </a:t>
            </a:r>
            <a:r>
              <a:rPr lang="en-US" sz="1800" dirty="0">
                <a:solidFill>
                  <a:schemeClr val="tx1"/>
                </a:solidFill>
                <a:latin typeface="Calibri" panose="020F0502020204030204" pitchFamily="34" charset="0"/>
                <a:cs typeface="Calibri" panose="020F0502020204030204" pitchFamily="34" charset="0"/>
              </a:rPr>
              <a:t>reduced </a:t>
            </a:r>
            <a:r>
              <a:rPr lang="en-US" sz="1800" spc="-5" dirty="0">
                <a:solidFill>
                  <a:schemeClr val="tx1"/>
                </a:solidFill>
                <a:latin typeface="Calibri" panose="020F0502020204030204" pitchFamily="34" charset="0"/>
                <a:cs typeface="Calibri" panose="020F0502020204030204" pitchFamily="34" charset="0"/>
              </a:rPr>
              <a:t>representation </a:t>
            </a:r>
            <a:r>
              <a:rPr lang="en-US" sz="1800" dirty="0">
                <a:solidFill>
                  <a:schemeClr val="tx1"/>
                </a:solidFill>
                <a:latin typeface="Calibri" panose="020F0502020204030204" pitchFamily="34" charset="0"/>
                <a:cs typeface="Calibri" panose="020F0502020204030204" pitchFamily="34" charset="0"/>
              </a:rPr>
              <a:t>in volume but produces </a:t>
            </a:r>
            <a:r>
              <a:rPr lang="en-US" sz="1800" spc="-5" dirty="0">
                <a:solidFill>
                  <a:schemeClr val="tx1"/>
                </a:solidFill>
                <a:latin typeface="Calibri" panose="020F0502020204030204" pitchFamily="34" charset="0"/>
                <a:cs typeface="Calibri" panose="020F0502020204030204" pitchFamily="34" charset="0"/>
              </a:rPr>
              <a:t>the </a:t>
            </a:r>
            <a:r>
              <a:rPr lang="en-US" sz="1800" spc="-545" dirty="0">
                <a:solidFill>
                  <a:schemeClr val="tx1"/>
                </a:solidFill>
                <a:latin typeface="Calibri" panose="020F0502020204030204" pitchFamily="34" charset="0"/>
                <a:cs typeface="Calibri" panose="020F0502020204030204" pitchFamily="34" charset="0"/>
              </a:rPr>
              <a:t> </a:t>
            </a:r>
            <a:r>
              <a:rPr lang="en-US" sz="1800" dirty="0">
                <a:solidFill>
                  <a:schemeClr val="tx1"/>
                </a:solidFill>
                <a:latin typeface="Calibri" panose="020F0502020204030204" pitchFamily="34" charset="0"/>
                <a:cs typeface="Calibri" panose="020F0502020204030204" pitchFamily="34" charset="0"/>
              </a:rPr>
              <a:t>same</a:t>
            </a:r>
            <a:r>
              <a:rPr lang="en-US" sz="1800" spc="-5" dirty="0">
                <a:solidFill>
                  <a:schemeClr val="tx1"/>
                </a:solidFill>
                <a:latin typeface="Calibri" panose="020F0502020204030204" pitchFamily="34" charset="0"/>
                <a:cs typeface="Calibri" panose="020F0502020204030204" pitchFamily="34" charset="0"/>
              </a:rPr>
              <a:t> </a:t>
            </a:r>
            <a:r>
              <a:rPr lang="en-US" sz="1800" dirty="0">
                <a:solidFill>
                  <a:schemeClr val="tx1"/>
                </a:solidFill>
                <a:latin typeface="Calibri" panose="020F0502020204030204" pitchFamily="34" charset="0"/>
                <a:cs typeface="Calibri" panose="020F0502020204030204" pitchFamily="34" charset="0"/>
              </a:rPr>
              <a:t>or</a:t>
            </a:r>
            <a:r>
              <a:rPr lang="en-US" sz="1800" spc="-5" dirty="0">
                <a:solidFill>
                  <a:schemeClr val="tx1"/>
                </a:solidFill>
                <a:latin typeface="Calibri" panose="020F0502020204030204" pitchFamily="34" charset="0"/>
                <a:cs typeface="Calibri" panose="020F0502020204030204" pitchFamily="34" charset="0"/>
              </a:rPr>
              <a:t> </a:t>
            </a:r>
            <a:r>
              <a:rPr lang="en-US" sz="1800" dirty="0">
                <a:solidFill>
                  <a:schemeClr val="tx1"/>
                </a:solidFill>
                <a:latin typeface="Calibri" panose="020F0502020204030204" pitchFamily="34" charset="0"/>
                <a:cs typeface="Calibri" panose="020F0502020204030204" pitchFamily="34" charset="0"/>
              </a:rPr>
              <a:t>similar</a:t>
            </a:r>
            <a:r>
              <a:rPr lang="en-US" sz="1800" spc="-5" dirty="0">
                <a:solidFill>
                  <a:schemeClr val="tx1"/>
                </a:solidFill>
                <a:latin typeface="Calibri" panose="020F0502020204030204" pitchFamily="34" charset="0"/>
                <a:cs typeface="Calibri" panose="020F0502020204030204" pitchFamily="34" charset="0"/>
              </a:rPr>
              <a:t> analytical</a:t>
            </a:r>
            <a:r>
              <a:rPr lang="en-US" sz="1800" dirty="0">
                <a:solidFill>
                  <a:schemeClr val="tx1"/>
                </a:solidFill>
                <a:latin typeface="Calibri" panose="020F0502020204030204" pitchFamily="34" charset="0"/>
                <a:cs typeface="Calibri" panose="020F0502020204030204" pitchFamily="34" charset="0"/>
              </a:rPr>
              <a:t> </a:t>
            </a:r>
            <a:r>
              <a:rPr lang="en-US" sz="1800" spc="-5" dirty="0">
                <a:solidFill>
                  <a:schemeClr val="tx1"/>
                </a:solidFill>
                <a:latin typeface="Calibri" panose="020F0502020204030204" pitchFamily="34" charset="0"/>
                <a:cs typeface="Calibri" panose="020F0502020204030204" pitchFamily="34" charset="0"/>
              </a:rPr>
              <a:t>results</a:t>
            </a:r>
            <a:endParaRPr lang="en-US" dirty="0">
              <a:solidFill>
                <a:schemeClr val="tx1"/>
              </a:solidFill>
              <a:latin typeface="Calibri" panose="020F0502020204030204" pitchFamily="34" charset="0"/>
              <a:cs typeface="Calibri" panose="020F0502020204030204" pitchFamily="34" charset="0"/>
            </a:endParaRPr>
          </a:p>
          <a:p>
            <a:r>
              <a:rPr lang="en-US" dirty="0"/>
              <a:t>Data Discretization</a:t>
            </a:r>
          </a:p>
          <a:p>
            <a:pPr lvl="1"/>
            <a:r>
              <a:rPr lang="en-US" b="0" i="0" dirty="0">
                <a:solidFill>
                  <a:srgbClr val="292929"/>
                </a:solidFill>
                <a:effectLst/>
                <a:latin typeface="Calibri" panose="020F0502020204030204" pitchFamily="34" charset="0"/>
                <a:cs typeface="Calibri" panose="020F0502020204030204" pitchFamily="34" charset="0"/>
              </a:rPr>
              <a:t>Discretization is the process of converting a continuous attribute into an ordinal attribute.</a:t>
            </a: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3125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72736-11AE-4FC7-BBFD-2C8A78A3486C}"/>
              </a:ext>
            </a:extLst>
          </p:cNvPr>
          <p:cNvSpPr>
            <a:spLocks noGrp="1"/>
          </p:cNvSpPr>
          <p:nvPr>
            <p:ph type="title"/>
          </p:nvPr>
        </p:nvSpPr>
        <p:spPr/>
        <p:txBody>
          <a:bodyPr/>
          <a:lstStyle/>
          <a:p>
            <a:r>
              <a:rPr lang="en-US" sz="3200" dirty="0"/>
              <a:t>Data </a:t>
            </a:r>
            <a:r>
              <a:rPr lang="en-US" sz="3200" dirty="0" err="1"/>
              <a:t>Sumarization</a:t>
            </a:r>
            <a:endParaRPr lang="en-IN" sz="3200" dirty="0"/>
          </a:p>
        </p:txBody>
      </p:sp>
      <p:sp>
        <p:nvSpPr>
          <p:cNvPr id="3" name="Content Placeholder 2">
            <a:extLst>
              <a:ext uri="{FF2B5EF4-FFF2-40B4-BE49-F238E27FC236}">
                <a16:creationId xmlns:a16="http://schemas.microsoft.com/office/drawing/2014/main" id="{8CC3911A-C8A0-4F71-8066-3879883ECC3C}"/>
              </a:ext>
            </a:extLst>
          </p:cNvPr>
          <p:cNvSpPr>
            <a:spLocks noGrp="1"/>
          </p:cNvSpPr>
          <p:nvPr>
            <p:ph idx="1"/>
          </p:nvPr>
        </p:nvSpPr>
        <p:spPr/>
        <p:txBody>
          <a:bodyPr/>
          <a:lstStyle/>
          <a:p>
            <a:r>
              <a:rPr lang="en-US" dirty="0"/>
              <a:t>To find important measure or important insights from the given dataset.</a:t>
            </a:r>
          </a:p>
          <a:p>
            <a:r>
              <a:rPr lang="en-US" dirty="0"/>
              <a:t>Summarization techniques includes finding </a:t>
            </a:r>
            <a:r>
              <a:rPr lang="en-US" dirty="0" err="1"/>
              <a:t>mean,median</a:t>
            </a:r>
            <a:r>
              <a:rPr lang="en-US" dirty="0"/>
              <a:t>, mode and Standard deviation.</a:t>
            </a:r>
            <a:endParaRPr lang="en-IN" dirty="0"/>
          </a:p>
        </p:txBody>
      </p:sp>
    </p:spTree>
    <p:extLst>
      <p:ext uri="{BB962C8B-B14F-4D97-AF65-F5344CB8AC3E}">
        <p14:creationId xmlns:p14="http://schemas.microsoft.com/office/powerpoint/2010/main" val="4081126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50DD2-E3AE-4CEC-A500-09AA5D893946}"/>
              </a:ext>
            </a:extLst>
          </p:cNvPr>
          <p:cNvSpPr>
            <a:spLocks noGrp="1"/>
          </p:cNvSpPr>
          <p:nvPr>
            <p:ph type="title"/>
          </p:nvPr>
        </p:nvSpPr>
        <p:spPr/>
        <p:txBody>
          <a:bodyPr/>
          <a:lstStyle/>
          <a:p>
            <a:r>
              <a:rPr lang="en-US" dirty="0"/>
              <a:t>Mean , Median , Mode and SD</a:t>
            </a:r>
            <a:endParaRPr lang="en-IN" dirty="0"/>
          </a:p>
        </p:txBody>
      </p:sp>
      <p:sp>
        <p:nvSpPr>
          <p:cNvPr id="3" name="Content Placeholder 2">
            <a:extLst>
              <a:ext uri="{FF2B5EF4-FFF2-40B4-BE49-F238E27FC236}">
                <a16:creationId xmlns:a16="http://schemas.microsoft.com/office/drawing/2014/main" id="{7BBCF49F-2FCB-43E2-A646-D88FD9B77BF5}"/>
              </a:ext>
            </a:extLst>
          </p:cNvPr>
          <p:cNvSpPr>
            <a:spLocks noGrp="1"/>
          </p:cNvSpPr>
          <p:nvPr>
            <p:ph idx="1"/>
          </p:nvPr>
        </p:nvSpPr>
        <p:spPr/>
        <p:txBody>
          <a:bodyPr/>
          <a:lstStyle/>
          <a:p>
            <a:pPr algn="l">
              <a:buFont typeface="Arial" panose="020B0604020202020204" pitchFamily="34" charset="0"/>
              <a:buChar char="•"/>
            </a:pPr>
            <a:r>
              <a:rPr lang="en-US" b="0" i="0" dirty="0">
                <a:solidFill>
                  <a:srgbClr val="000000"/>
                </a:solidFill>
                <a:effectLst/>
                <a:latin typeface="Tahoma" panose="020B0604030504040204" pitchFamily="34" charset="0"/>
              </a:rPr>
              <a:t>Average value (mean)</a:t>
            </a:r>
          </a:p>
          <a:p>
            <a:pPr algn="l">
              <a:buFont typeface="Arial" panose="020B0604020202020204" pitchFamily="34" charset="0"/>
              <a:buChar char="•"/>
            </a:pPr>
            <a:r>
              <a:rPr lang="en-US" b="0" i="0" dirty="0">
                <a:solidFill>
                  <a:srgbClr val="000000"/>
                </a:solidFill>
                <a:effectLst/>
                <a:latin typeface="Tahoma" panose="020B0604030504040204" pitchFamily="34" charset="0"/>
              </a:rPr>
              <a:t>Most frequently occurring value (mode)</a:t>
            </a:r>
          </a:p>
          <a:p>
            <a:pPr algn="l">
              <a:buFont typeface="Arial" panose="020B0604020202020204" pitchFamily="34" charset="0"/>
              <a:buChar char="•"/>
            </a:pPr>
            <a:r>
              <a:rPr lang="en-US" b="0" i="0" dirty="0">
                <a:solidFill>
                  <a:srgbClr val="000000"/>
                </a:solidFill>
                <a:effectLst/>
                <a:latin typeface="Tahoma" panose="020B0604030504040204" pitchFamily="34" charset="0"/>
              </a:rPr>
              <a:t>On average, how much each measurement deviates from the mean (standard deviation of the mean)</a:t>
            </a:r>
          </a:p>
          <a:p>
            <a:pPr algn="l">
              <a:buFont typeface="Arial" panose="020B0604020202020204" pitchFamily="34" charset="0"/>
              <a:buChar char="•"/>
            </a:pPr>
            <a:r>
              <a:rPr lang="en-US" b="0" i="0" dirty="0">
                <a:solidFill>
                  <a:srgbClr val="000000"/>
                </a:solidFill>
                <a:effectLst/>
                <a:latin typeface="Tahoma" panose="020B0604030504040204" pitchFamily="34" charset="0"/>
              </a:rPr>
              <a:t>Span of values over which your data set occurs (range), and</a:t>
            </a:r>
          </a:p>
          <a:p>
            <a:pPr algn="l">
              <a:buFont typeface="Arial" panose="020B0604020202020204" pitchFamily="34" charset="0"/>
              <a:buChar char="•"/>
            </a:pPr>
            <a:r>
              <a:rPr lang="en-US" b="0" i="0" dirty="0">
                <a:solidFill>
                  <a:srgbClr val="000000"/>
                </a:solidFill>
                <a:effectLst/>
                <a:latin typeface="Tahoma" panose="020B0604030504040204" pitchFamily="34" charset="0"/>
              </a:rPr>
              <a:t>Midpoint between the lowest and highest value of the set (median)</a:t>
            </a:r>
          </a:p>
          <a:p>
            <a:pPr marL="0" indent="0">
              <a:buNone/>
            </a:pPr>
            <a:endParaRPr lang="en-IN" dirty="0"/>
          </a:p>
        </p:txBody>
      </p:sp>
    </p:spTree>
    <p:extLst>
      <p:ext uri="{BB962C8B-B14F-4D97-AF65-F5344CB8AC3E}">
        <p14:creationId xmlns:p14="http://schemas.microsoft.com/office/powerpoint/2010/main" val="234136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1172E-9EA5-4804-BCE4-8A3AAAC10E9C}"/>
              </a:ext>
            </a:extLst>
          </p:cNvPr>
          <p:cNvSpPr>
            <a:spLocks noGrp="1"/>
          </p:cNvSpPr>
          <p:nvPr>
            <p:ph type="title"/>
          </p:nvPr>
        </p:nvSpPr>
        <p:spPr/>
        <p:txBody>
          <a:bodyPr/>
          <a:lstStyle/>
          <a:p>
            <a:r>
              <a:rPr lang="en-US" dirty="0"/>
              <a:t>Measuring the Dispersion of Data</a:t>
            </a:r>
            <a:endParaRPr lang="en-IN" dirty="0"/>
          </a:p>
        </p:txBody>
      </p:sp>
      <p:sp>
        <p:nvSpPr>
          <p:cNvPr id="3" name="Content Placeholder 2">
            <a:extLst>
              <a:ext uri="{FF2B5EF4-FFF2-40B4-BE49-F238E27FC236}">
                <a16:creationId xmlns:a16="http://schemas.microsoft.com/office/drawing/2014/main" id="{05046624-F4D4-4DA8-A651-3F89EC486FF5}"/>
              </a:ext>
            </a:extLst>
          </p:cNvPr>
          <p:cNvSpPr>
            <a:spLocks noGrp="1"/>
          </p:cNvSpPr>
          <p:nvPr>
            <p:ph idx="1"/>
          </p:nvPr>
        </p:nvSpPr>
        <p:spPr/>
        <p:txBody>
          <a:bodyPr/>
          <a:lstStyle/>
          <a:p>
            <a:pPr marL="424180" marR="107950" indent="-412115">
              <a:lnSpc>
                <a:spcPct val="100000"/>
              </a:lnSpc>
              <a:spcBef>
                <a:spcPts val="95"/>
              </a:spcBef>
              <a:buSzPct val="64285"/>
              <a:buFont typeface="Arial MT"/>
              <a:buChar char="•"/>
              <a:tabLst>
                <a:tab pos="424180" algn="l"/>
                <a:tab pos="424815" algn="l"/>
              </a:tabLst>
            </a:pPr>
            <a:r>
              <a:rPr lang="en-US" sz="2000" spc="-5" dirty="0">
                <a:latin typeface="Cambria"/>
                <a:cs typeface="Cambria"/>
              </a:rPr>
              <a:t>The</a:t>
            </a:r>
            <a:r>
              <a:rPr lang="en-US" sz="2000" spc="-15" dirty="0">
                <a:latin typeface="Cambria"/>
                <a:cs typeface="Cambria"/>
              </a:rPr>
              <a:t> </a:t>
            </a:r>
            <a:r>
              <a:rPr lang="en-US" sz="2000" spc="-10" dirty="0">
                <a:latin typeface="Cambria"/>
                <a:cs typeface="Cambria"/>
              </a:rPr>
              <a:t>degree</a:t>
            </a:r>
            <a:r>
              <a:rPr lang="en-US" sz="2000" spc="-5" dirty="0">
                <a:latin typeface="Cambria"/>
                <a:cs typeface="Cambria"/>
              </a:rPr>
              <a:t> </a:t>
            </a:r>
            <a:r>
              <a:rPr lang="en-US" sz="2000" spc="-15" dirty="0">
                <a:latin typeface="Cambria"/>
                <a:cs typeface="Cambria"/>
              </a:rPr>
              <a:t>to</a:t>
            </a:r>
            <a:r>
              <a:rPr lang="en-US" sz="2000" spc="-10" dirty="0">
                <a:latin typeface="Cambria"/>
                <a:cs typeface="Cambria"/>
              </a:rPr>
              <a:t> which</a:t>
            </a:r>
            <a:r>
              <a:rPr lang="en-US" sz="2000" spc="-5" dirty="0">
                <a:latin typeface="Cambria"/>
                <a:cs typeface="Cambria"/>
              </a:rPr>
              <a:t> numerical</a:t>
            </a:r>
            <a:r>
              <a:rPr lang="en-US" sz="2000" spc="5" dirty="0">
                <a:latin typeface="Cambria"/>
                <a:cs typeface="Cambria"/>
              </a:rPr>
              <a:t> </a:t>
            </a:r>
            <a:r>
              <a:rPr lang="en-US" sz="2000" spc="-5" dirty="0">
                <a:latin typeface="Cambria"/>
                <a:cs typeface="Cambria"/>
              </a:rPr>
              <a:t>data</a:t>
            </a:r>
            <a:r>
              <a:rPr lang="en-US" sz="2000" spc="-15" dirty="0">
                <a:latin typeface="Cambria"/>
                <a:cs typeface="Cambria"/>
              </a:rPr>
              <a:t> </a:t>
            </a:r>
            <a:r>
              <a:rPr lang="en-US" sz="2000" spc="-10" dirty="0">
                <a:latin typeface="Cambria"/>
                <a:cs typeface="Cambria"/>
              </a:rPr>
              <a:t>tend</a:t>
            </a:r>
            <a:r>
              <a:rPr lang="en-US" sz="2000" spc="-5" dirty="0">
                <a:latin typeface="Cambria"/>
                <a:cs typeface="Cambria"/>
              </a:rPr>
              <a:t> </a:t>
            </a:r>
            <a:r>
              <a:rPr lang="en-US" sz="2000" spc="-20" dirty="0">
                <a:latin typeface="Cambria"/>
                <a:cs typeface="Cambria"/>
              </a:rPr>
              <a:t>to</a:t>
            </a:r>
            <a:r>
              <a:rPr lang="en-US" sz="2000" spc="-5" dirty="0">
                <a:latin typeface="Cambria"/>
                <a:cs typeface="Cambria"/>
              </a:rPr>
              <a:t> </a:t>
            </a:r>
            <a:r>
              <a:rPr lang="en-US" sz="2000" spc="-10" dirty="0">
                <a:latin typeface="Cambria"/>
                <a:cs typeface="Cambria"/>
              </a:rPr>
              <a:t>spread </a:t>
            </a:r>
            <a:r>
              <a:rPr lang="en-US" sz="2000" spc="-605" dirty="0">
                <a:latin typeface="Cambria"/>
                <a:cs typeface="Cambria"/>
              </a:rPr>
              <a:t> </a:t>
            </a:r>
            <a:r>
              <a:rPr lang="en-US" sz="2000" spc="-5" dirty="0">
                <a:latin typeface="Cambria"/>
                <a:cs typeface="Cambria"/>
              </a:rPr>
              <a:t>is</a:t>
            </a:r>
            <a:r>
              <a:rPr lang="en-US" sz="2000" spc="-15" dirty="0">
                <a:latin typeface="Cambria"/>
                <a:cs typeface="Cambria"/>
              </a:rPr>
              <a:t> </a:t>
            </a:r>
            <a:r>
              <a:rPr lang="en-US" sz="2000" spc="-5" dirty="0">
                <a:latin typeface="Cambria"/>
                <a:cs typeface="Cambria"/>
              </a:rPr>
              <a:t>called </a:t>
            </a:r>
            <a:r>
              <a:rPr lang="en-US" sz="2000" spc="-10" dirty="0">
                <a:latin typeface="Cambria"/>
                <a:cs typeface="Cambria"/>
              </a:rPr>
              <a:t>the</a:t>
            </a:r>
            <a:r>
              <a:rPr lang="en-US" sz="2000" spc="10" dirty="0">
                <a:latin typeface="Cambria"/>
                <a:cs typeface="Cambria"/>
              </a:rPr>
              <a:t> </a:t>
            </a:r>
            <a:r>
              <a:rPr lang="en-US" sz="2000" spc="-5" dirty="0">
                <a:latin typeface="Cambria"/>
                <a:cs typeface="Cambria"/>
              </a:rPr>
              <a:t>dispersion,</a:t>
            </a:r>
            <a:r>
              <a:rPr lang="en-US" sz="2000" dirty="0">
                <a:latin typeface="Cambria"/>
                <a:cs typeface="Cambria"/>
              </a:rPr>
              <a:t> </a:t>
            </a:r>
            <a:r>
              <a:rPr lang="en-US" sz="2000" spc="-5" dirty="0">
                <a:latin typeface="Cambria"/>
                <a:cs typeface="Cambria"/>
              </a:rPr>
              <a:t>or </a:t>
            </a:r>
            <a:r>
              <a:rPr lang="en-US" sz="2000" spc="-15" dirty="0">
                <a:latin typeface="Cambria"/>
                <a:cs typeface="Cambria"/>
              </a:rPr>
              <a:t>variance</a:t>
            </a:r>
            <a:r>
              <a:rPr lang="en-US" sz="2000" spc="10" dirty="0">
                <a:latin typeface="Cambria"/>
                <a:cs typeface="Cambria"/>
              </a:rPr>
              <a:t> </a:t>
            </a:r>
            <a:r>
              <a:rPr lang="en-US" sz="2000" spc="-5" dirty="0">
                <a:latin typeface="Cambria"/>
                <a:cs typeface="Cambria"/>
              </a:rPr>
              <a:t>of the data.</a:t>
            </a:r>
            <a:endParaRPr lang="en-US" sz="2000" dirty="0">
              <a:latin typeface="Cambria"/>
              <a:cs typeface="Cambria"/>
            </a:endParaRPr>
          </a:p>
          <a:p>
            <a:pPr marL="424180" marR="5080" indent="-412115">
              <a:lnSpc>
                <a:spcPct val="100000"/>
              </a:lnSpc>
              <a:spcBef>
                <a:spcPts val="675"/>
              </a:spcBef>
              <a:buSzPct val="64285"/>
              <a:buFont typeface="Arial MT"/>
              <a:buChar char="•"/>
              <a:tabLst>
                <a:tab pos="424180" algn="l"/>
                <a:tab pos="424815" algn="l"/>
              </a:tabLst>
            </a:pPr>
            <a:r>
              <a:rPr lang="en-US" sz="2000" spc="-5" dirty="0">
                <a:latin typeface="Cambria"/>
                <a:cs typeface="Cambria"/>
              </a:rPr>
              <a:t>The most common </a:t>
            </a:r>
            <a:r>
              <a:rPr lang="en-US" sz="2000" spc="-10" dirty="0">
                <a:latin typeface="Cambria"/>
                <a:cs typeface="Cambria"/>
              </a:rPr>
              <a:t>measures </a:t>
            </a:r>
            <a:r>
              <a:rPr lang="en-US" sz="2000" spc="-5" dirty="0">
                <a:latin typeface="Cambria"/>
                <a:cs typeface="Cambria"/>
              </a:rPr>
              <a:t>of data dispersion </a:t>
            </a:r>
            <a:r>
              <a:rPr lang="en-US" sz="2000" spc="-20" dirty="0">
                <a:latin typeface="Cambria"/>
                <a:cs typeface="Cambria"/>
              </a:rPr>
              <a:t>are </a:t>
            </a:r>
            <a:r>
              <a:rPr lang="en-US" sz="2000" spc="-15" dirty="0">
                <a:latin typeface="Cambria"/>
                <a:cs typeface="Cambria"/>
              </a:rPr>
              <a:t> range,</a:t>
            </a:r>
            <a:r>
              <a:rPr lang="en-US" sz="2000" spc="-5" dirty="0">
                <a:latin typeface="Cambria"/>
                <a:cs typeface="Cambria"/>
              </a:rPr>
              <a:t> </a:t>
            </a:r>
            <a:r>
              <a:rPr lang="en-US" sz="2000" spc="-10" dirty="0">
                <a:latin typeface="Cambria"/>
                <a:cs typeface="Cambria"/>
              </a:rPr>
              <a:t>the</a:t>
            </a:r>
            <a:r>
              <a:rPr lang="en-US" sz="2000" spc="-5" dirty="0">
                <a:latin typeface="Cambria"/>
                <a:cs typeface="Cambria"/>
              </a:rPr>
              <a:t> </a:t>
            </a:r>
            <a:r>
              <a:rPr lang="en-US" sz="2000" spc="-15" dirty="0">
                <a:latin typeface="Cambria"/>
                <a:cs typeface="Cambria"/>
              </a:rPr>
              <a:t>five-number</a:t>
            </a:r>
            <a:r>
              <a:rPr lang="en-US" sz="2000" spc="-5" dirty="0">
                <a:latin typeface="Cambria"/>
                <a:cs typeface="Cambria"/>
              </a:rPr>
              <a:t> summary</a:t>
            </a:r>
            <a:r>
              <a:rPr lang="en-US" sz="2000" spc="-10" dirty="0">
                <a:latin typeface="Cambria"/>
                <a:cs typeface="Cambria"/>
              </a:rPr>
              <a:t> </a:t>
            </a:r>
            <a:r>
              <a:rPr lang="en-US" sz="2000" spc="-5" dirty="0">
                <a:latin typeface="Cambria"/>
                <a:cs typeface="Cambria"/>
              </a:rPr>
              <a:t>(based on </a:t>
            </a:r>
            <a:r>
              <a:rPr lang="en-US" sz="2000" dirty="0">
                <a:latin typeface="Cambria"/>
                <a:cs typeface="Cambria"/>
              </a:rPr>
              <a:t> </a:t>
            </a:r>
            <a:r>
              <a:rPr lang="en-US" sz="2000" spc="-5" dirty="0">
                <a:latin typeface="Cambria"/>
                <a:cs typeface="Cambria"/>
              </a:rPr>
              <a:t>quartiles),</a:t>
            </a:r>
            <a:r>
              <a:rPr lang="en-US" sz="2000" spc="15" dirty="0">
                <a:latin typeface="Cambria"/>
                <a:cs typeface="Cambria"/>
              </a:rPr>
              <a:t> </a:t>
            </a:r>
            <a:r>
              <a:rPr lang="en-US" sz="2000" spc="-10" dirty="0">
                <a:latin typeface="Cambria"/>
                <a:cs typeface="Cambria"/>
              </a:rPr>
              <a:t>the</a:t>
            </a:r>
            <a:r>
              <a:rPr lang="en-US" sz="2000" spc="15" dirty="0">
                <a:latin typeface="Cambria"/>
                <a:cs typeface="Cambria"/>
              </a:rPr>
              <a:t> </a:t>
            </a:r>
            <a:r>
              <a:rPr lang="en-US" sz="2000" spc="-10" dirty="0">
                <a:latin typeface="Cambria"/>
                <a:cs typeface="Cambria"/>
              </a:rPr>
              <a:t>interquartile</a:t>
            </a:r>
            <a:r>
              <a:rPr lang="en-US" sz="2000" spc="30" dirty="0">
                <a:latin typeface="Cambria"/>
                <a:cs typeface="Cambria"/>
              </a:rPr>
              <a:t> </a:t>
            </a:r>
            <a:r>
              <a:rPr lang="en-US" sz="2000" spc="-15" dirty="0">
                <a:latin typeface="Cambria"/>
                <a:cs typeface="Cambria"/>
              </a:rPr>
              <a:t>range,</a:t>
            </a:r>
            <a:r>
              <a:rPr lang="en-US" sz="2000" spc="5" dirty="0">
                <a:latin typeface="Cambria"/>
                <a:cs typeface="Cambria"/>
              </a:rPr>
              <a:t> </a:t>
            </a:r>
            <a:r>
              <a:rPr lang="en-US" sz="2000" spc="-10" dirty="0">
                <a:latin typeface="Cambria"/>
                <a:cs typeface="Cambria"/>
              </a:rPr>
              <a:t>and</a:t>
            </a:r>
            <a:r>
              <a:rPr lang="en-US" sz="2000" spc="5" dirty="0">
                <a:latin typeface="Cambria"/>
                <a:cs typeface="Cambria"/>
              </a:rPr>
              <a:t> </a:t>
            </a:r>
            <a:r>
              <a:rPr lang="en-US" sz="2000" spc="-10" dirty="0">
                <a:latin typeface="Cambria"/>
                <a:cs typeface="Cambria"/>
              </a:rPr>
              <a:t>the</a:t>
            </a:r>
            <a:r>
              <a:rPr lang="en-US" sz="2000" spc="5" dirty="0">
                <a:latin typeface="Cambria"/>
                <a:cs typeface="Cambria"/>
              </a:rPr>
              <a:t> </a:t>
            </a:r>
            <a:r>
              <a:rPr lang="en-US" sz="2000" spc="-10" dirty="0">
                <a:latin typeface="Cambria"/>
                <a:cs typeface="Cambria"/>
              </a:rPr>
              <a:t>standard </a:t>
            </a:r>
            <a:r>
              <a:rPr lang="en-US" sz="2000" spc="-605" dirty="0">
                <a:latin typeface="Cambria"/>
                <a:cs typeface="Cambria"/>
              </a:rPr>
              <a:t> </a:t>
            </a:r>
            <a:r>
              <a:rPr lang="en-US" sz="2000" spc="-10" dirty="0">
                <a:latin typeface="Cambria"/>
                <a:cs typeface="Cambria"/>
              </a:rPr>
              <a:t>deviation,Q1,Q3.</a:t>
            </a:r>
            <a:endParaRPr lang="en-US" sz="2000" dirty="0">
              <a:latin typeface="Cambria"/>
              <a:cs typeface="Cambria"/>
            </a:endParaRPr>
          </a:p>
          <a:p>
            <a:pPr marL="424180" marR="455295" indent="-412115">
              <a:lnSpc>
                <a:spcPct val="100000"/>
              </a:lnSpc>
              <a:spcBef>
                <a:spcPts val="675"/>
              </a:spcBef>
              <a:buSzPct val="64285"/>
              <a:buFont typeface="Arial MT"/>
              <a:buChar char="•"/>
              <a:tabLst>
                <a:tab pos="424180" algn="l"/>
                <a:tab pos="424815" algn="l"/>
              </a:tabLst>
            </a:pPr>
            <a:r>
              <a:rPr lang="en-US" sz="2000" spc="-10" dirty="0">
                <a:latin typeface="Cambria"/>
                <a:cs typeface="Cambria"/>
              </a:rPr>
              <a:t>Boxplot</a:t>
            </a:r>
            <a:r>
              <a:rPr lang="en-US" sz="2000" spc="-5" dirty="0">
                <a:latin typeface="Cambria"/>
                <a:cs typeface="Cambria"/>
              </a:rPr>
              <a:t> can </a:t>
            </a:r>
            <a:r>
              <a:rPr lang="en-US" sz="2000" dirty="0">
                <a:latin typeface="Cambria"/>
                <a:cs typeface="Cambria"/>
              </a:rPr>
              <a:t>be</a:t>
            </a:r>
            <a:r>
              <a:rPr lang="en-US" sz="2000" spc="-15" dirty="0">
                <a:latin typeface="Cambria"/>
                <a:cs typeface="Cambria"/>
              </a:rPr>
              <a:t> </a:t>
            </a:r>
            <a:r>
              <a:rPr lang="en-US" sz="2000" spc="-10" dirty="0">
                <a:latin typeface="Cambria"/>
                <a:cs typeface="Cambria"/>
              </a:rPr>
              <a:t>plotted</a:t>
            </a:r>
            <a:r>
              <a:rPr lang="en-US" sz="2000" spc="5" dirty="0">
                <a:latin typeface="Cambria"/>
                <a:cs typeface="Cambria"/>
              </a:rPr>
              <a:t> </a:t>
            </a:r>
            <a:r>
              <a:rPr lang="en-US" sz="2000" spc="-5" dirty="0">
                <a:latin typeface="Cambria"/>
                <a:cs typeface="Cambria"/>
              </a:rPr>
              <a:t>based</a:t>
            </a:r>
            <a:r>
              <a:rPr lang="en-US" sz="2000" spc="-15" dirty="0">
                <a:latin typeface="Cambria"/>
                <a:cs typeface="Cambria"/>
              </a:rPr>
              <a:t> </a:t>
            </a:r>
            <a:r>
              <a:rPr lang="en-US" sz="2000" spc="-5" dirty="0">
                <a:latin typeface="Cambria"/>
                <a:cs typeface="Cambria"/>
              </a:rPr>
              <a:t>on</a:t>
            </a:r>
            <a:r>
              <a:rPr lang="en-US" sz="2000" spc="5" dirty="0">
                <a:latin typeface="Cambria"/>
                <a:cs typeface="Cambria"/>
              </a:rPr>
              <a:t> </a:t>
            </a:r>
            <a:r>
              <a:rPr lang="en-US" sz="2000" spc="-10" dirty="0">
                <a:latin typeface="Cambria"/>
                <a:cs typeface="Cambria"/>
              </a:rPr>
              <a:t>the</a:t>
            </a:r>
            <a:r>
              <a:rPr lang="en-US" sz="2000" spc="5" dirty="0">
                <a:latin typeface="Cambria"/>
                <a:cs typeface="Cambria"/>
              </a:rPr>
              <a:t> </a:t>
            </a:r>
            <a:r>
              <a:rPr lang="en-US" sz="2000" spc="-15" dirty="0">
                <a:latin typeface="Cambria"/>
                <a:cs typeface="Cambria"/>
              </a:rPr>
              <a:t>five-number </a:t>
            </a:r>
            <a:r>
              <a:rPr lang="en-US" sz="2000" spc="-600" dirty="0">
                <a:latin typeface="Cambria"/>
                <a:cs typeface="Cambria"/>
              </a:rPr>
              <a:t> </a:t>
            </a:r>
            <a:r>
              <a:rPr lang="en-US" sz="2000" spc="-5" dirty="0">
                <a:latin typeface="Cambria"/>
                <a:cs typeface="Cambria"/>
              </a:rPr>
              <a:t>summary</a:t>
            </a:r>
            <a:r>
              <a:rPr lang="en-US" sz="2000" spc="-15" dirty="0">
                <a:latin typeface="Cambria"/>
                <a:cs typeface="Cambria"/>
              </a:rPr>
              <a:t> </a:t>
            </a:r>
            <a:r>
              <a:rPr lang="en-US" sz="2000" spc="-10" dirty="0">
                <a:latin typeface="Cambria"/>
                <a:cs typeface="Cambria"/>
              </a:rPr>
              <a:t>and</a:t>
            </a:r>
            <a:r>
              <a:rPr lang="en-US" sz="2000" spc="-5" dirty="0">
                <a:latin typeface="Cambria"/>
                <a:cs typeface="Cambria"/>
              </a:rPr>
              <a:t> </a:t>
            </a:r>
            <a:r>
              <a:rPr lang="en-US" sz="2000" spc="-25" dirty="0">
                <a:latin typeface="Cambria"/>
                <a:cs typeface="Cambria"/>
              </a:rPr>
              <a:t>are</a:t>
            </a:r>
            <a:r>
              <a:rPr lang="en-US" sz="2000" spc="-10" dirty="0">
                <a:latin typeface="Cambria"/>
                <a:cs typeface="Cambria"/>
              </a:rPr>
              <a:t> </a:t>
            </a:r>
            <a:r>
              <a:rPr lang="en-US" sz="2000" spc="-5" dirty="0">
                <a:latin typeface="Cambria"/>
                <a:cs typeface="Cambria"/>
              </a:rPr>
              <a:t>a useful </a:t>
            </a:r>
            <a:r>
              <a:rPr lang="en-US" sz="2000" spc="-10" dirty="0">
                <a:latin typeface="Cambria"/>
                <a:cs typeface="Cambria"/>
              </a:rPr>
              <a:t>tool</a:t>
            </a:r>
            <a:r>
              <a:rPr lang="en-US" sz="2000" spc="15" dirty="0">
                <a:latin typeface="Cambria"/>
                <a:cs typeface="Cambria"/>
              </a:rPr>
              <a:t> </a:t>
            </a:r>
            <a:r>
              <a:rPr lang="en-US" sz="2000" spc="-15" dirty="0">
                <a:latin typeface="Cambria"/>
                <a:cs typeface="Cambria"/>
              </a:rPr>
              <a:t>for</a:t>
            </a:r>
            <a:r>
              <a:rPr lang="en-US" sz="2000" spc="-5" dirty="0">
                <a:latin typeface="Cambria"/>
                <a:cs typeface="Cambria"/>
              </a:rPr>
              <a:t> identifying </a:t>
            </a:r>
            <a:r>
              <a:rPr lang="en-US" sz="2000" dirty="0">
                <a:latin typeface="Cambria"/>
                <a:cs typeface="Cambria"/>
              </a:rPr>
              <a:t> </a:t>
            </a:r>
            <a:r>
              <a:rPr lang="en-US" sz="2000" spc="-5" dirty="0">
                <a:latin typeface="Cambria"/>
                <a:cs typeface="Cambria"/>
              </a:rPr>
              <a:t>outliers.</a:t>
            </a:r>
            <a:r>
              <a:rPr lang="en-IN" sz="2000" spc="-5" dirty="0">
                <a:latin typeface="Cambria"/>
                <a:cs typeface="Cambria"/>
              </a:rPr>
              <a:t> 	</a:t>
            </a:r>
            <a:endParaRPr lang="en-US" sz="2000" dirty="0">
              <a:latin typeface="Cambria"/>
              <a:cs typeface="Cambria"/>
            </a:endParaRPr>
          </a:p>
        </p:txBody>
      </p:sp>
    </p:spTree>
    <p:extLst>
      <p:ext uri="{BB962C8B-B14F-4D97-AF65-F5344CB8AC3E}">
        <p14:creationId xmlns:p14="http://schemas.microsoft.com/office/powerpoint/2010/main" val="3299974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4243-5F6E-4AFE-911D-7AC7E2C61F20}"/>
              </a:ext>
            </a:extLst>
          </p:cNvPr>
          <p:cNvSpPr>
            <a:spLocks noGrp="1"/>
          </p:cNvSpPr>
          <p:nvPr>
            <p:ph type="title"/>
          </p:nvPr>
        </p:nvSpPr>
        <p:spPr/>
        <p:txBody>
          <a:bodyPr/>
          <a:lstStyle/>
          <a:p>
            <a:r>
              <a:rPr lang="en-US" dirty="0"/>
              <a:t>Percentiles  And Quartiles</a:t>
            </a:r>
            <a:endParaRPr lang="en-IN" dirty="0"/>
          </a:p>
        </p:txBody>
      </p:sp>
      <p:sp>
        <p:nvSpPr>
          <p:cNvPr id="3" name="Content Placeholder 2">
            <a:extLst>
              <a:ext uri="{FF2B5EF4-FFF2-40B4-BE49-F238E27FC236}">
                <a16:creationId xmlns:a16="http://schemas.microsoft.com/office/drawing/2014/main" id="{01194DEA-C84B-47A0-B65F-97494D616C73}"/>
              </a:ext>
            </a:extLst>
          </p:cNvPr>
          <p:cNvSpPr>
            <a:spLocks noGrp="1"/>
          </p:cNvSpPr>
          <p:nvPr>
            <p:ph idx="1"/>
          </p:nvPr>
        </p:nvSpPr>
        <p:spPr/>
        <p:txBody>
          <a:bodyPr/>
          <a:lstStyle/>
          <a:p>
            <a:pPr marL="474980" marR="160020" indent="-412115">
              <a:lnSpc>
                <a:spcPct val="100000"/>
              </a:lnSpc>
              <a:spcBef>
                <a:spcPts val="675"/>
              </a:spcBef>
              <a:buSzPct val="64285"/>
              <a:buFont typeface="Arial MT"/>
              <a:buChar char="•"/>
              <a:tabLst>
                <a:tab pos="474980" algn="l"/>
                <a:tab pos="475615" algn="l"/>
              </a:tabLst>
            </a:pPr>
            <a:r>
              <a:rPr lang="en-US" sz="2000" spc="-5" dirty="0">
                <a:solidFill>
                  <a:schemeClr val="tx1"/>
                </a:solidFill>
                <a:latin typeface="Calibri" panose="020F0502020204030204" pitchFamily="34" charset="0"/>
                <a:cs typeface="Calibri" panose="020F0502020204030204" pitchFamily="34" charset="0"/>
              </a:rPr>
              <a:t>The </a:t>
            </a:r>
            <a:r>
              <a:rPr lang="en-US" sz="2000" dirty="0">
                <a:solidFill>
                  <a:schemeClr val="tx1"/>
                </a:solidFill>
                <a:latin typeface="Calibri" panose="020F0502020204030204" pitchFamily="34" charset="0"/>
                <a:cs typeface="Calibri" panose="020F0502020204030204" pitchFamily="34" charset="0"/>
              </a:rPr>
              <a:t>k</a:t>
            </a:r>
            <a:r>
              <a:rPr lang="en-US" sz="2000" baseline="-21021" dirty="0">
                <a:solidFill>
                  <a:schemeClr val="tx1"/>
                </a:solidFill>
                <a:latin typeface="Calibri" panose="020F0502020204030204" pitchFamily="34" charset="0"/>
                <a:cs typeface="Calibri" panose="020F0502020204030204" pitchFamily="34" charset="0"/>
              </a:rPr>
              <a:t>th</a:t>
            </a:r>
            <a:r>
              <a:rPr lang="en-US" sz="2000" spc="7" baseline="-21021"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percentile </a:t>
            </a:r>
            <a:r>
              <a:rPr lang="en-US" sz="2000" spc="-5" dirty="0">
                <a:solidFill>
                  <a:schemeClr val="tx1"/>
                </a:solidFill>
                <a:latin typeface="Calibri" panose="020F0502020204030204" pitchFamily="34" charset="0"/>
                <a:cs typeface="Calibri" panose="020F0502020204030204" pitchFamily="34" charset="0"/>
              </a:rPr>
              <a:t>of </a:t>
            </a:r>
            <a:r>
              <a:rPr lang="en-US" sz="2000" b="1" spc="-5" dirty="0">
                <a:solidFill>
                  <a:schemeClr val="tx1"/>
                </a:solidFill>
                <a:latin typeface="Calibri" panose="020F0502020204030204" pitchFamily="34" charset="0"/>
                <a:cs typeface="Calibri" panose="020F0502020204030204" pitchFamily="34" charset="0"/>
              </a:rPr>
              <a:t>a set of </a:t>
            </a:r>
            <a:r>
              <a:rPr lang="en-US" sz="2000" b="1" spc="-10" dirty="0">
                <a:solidFill>
                  <a:schemeClr val="tx1"/>
                </a:solidFill>
                <a:latin typeface="Calibri" panose="020F0502020204030204" pitchFamily="34" charset="0"/>
                <a:cs typeface="Calibri" panose="020F0502020204030204" pitchFamily="34" charset="0"/>
              </a:rPr>
              <a:t>data </a:t>
            </a:r>
            <a:r>
              <a:rPr lang="en-US" sz="2000" b="1" spc="-5" dirty="0">
                <a:solidFill>
                  <a:schemeClr val="tx1"/>
                </a:solidFill>
                <a:latin typeface="Calibri" panose="020F0502020204030204" pitchFamily="34" charset="0"/>
                <a:cs typeface="Calibri" panose="020F0502020204030204" pitchFamily="34" charset="0"/>
              </a:rPr>
              <a:t>in numerical </a:t>
            </a:r>
            <a:r>
              <a:rPr lang="en-US" sz="2000" b="1" spc="-15" dirty="0">
                <a:solidFill>
                  <a:schemeClr val="tx1"/>
                </a:solidFill>
                <a:latin typeface="Calibri" panose="020F0502020204030204" pitchFamily="34" charset="0"/>
                <a:cs typeface="Calibri" panose="020F0502020204030204" pitchFamily="34" charset="0"/>
              </a:rPr>
              <a:t>order </a:t>
            </a:r>
            <a:r>
              <a:rPr lang="en-US" sz="2000" b="1" spc="-605"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is </a:t>
            </a:r>
            <a:r>
              <a:rPr lang="en-US" sz="2000" spc="-10" dirty="0">
                <a:solidFill>
                  <a:schemeClr val="tx1"/>
                </a:solidFill>
                <a:latin typeface="Calibri" panose="020F0502020204030204" pitchFamily="34" charset="0"/>
                <a:cs typeface="Calibri" panose="020F0502020204030204" pitchFamily="34" charset="0"/>
              </a:rPr>
              <a:t>the </a:t>
            </a:r>
            <a:r>
              <a:rPr lang="en-US" sz="2000" spc="-20" dirty="0">
                <a:solidFill>
                  <a:schemeClr val="tx1"/>
                </a:solidFill>
                <a:latin typeface="Calibri" panose="020F0502020204030204" pitchFamily="34" charset="0"/>
                <a:cs typeface="Calibri" panose="020F0502020204030204" pitchFamily="34" charset="0"/>
              </a:rPr>
              <a:t>value </a:t>
            </a:r>
            <a:r>
              <a:rPr lang="en-US" sz="2000" dirty="0">
                <a:solidFill>
                  <a:schemeClr val="tx1"/>
                </a:solidFill>
                <a:latin typeface="Calibri" panose="020F0502020204030204" pitchFamily="34" charset="0"/>
                <a:cs typeface="Calibri" panose="020F0502020204030204" pitchFamily="34" charset="0"/>
              </a:rPr>
              <a:t>x</a:t>
            </a:r>
            <a:r>
              <a:rPr lang="en-US" sz="2000" baseline="-21021" dirty="0">
                <a:solidFill>
                  <a:schemeClr val="tx1"/>
                </a:solidFill>
                <a:latin typeface="Calibri" panose="020F0502020204030204" pitchFamily="34" charset="0"/>
                <a:cs typeface="Calibri" panose="020F0502020204030204" pitchFamily="34" charset="0"/>
              </a:rPr>
              <a:t>i</a:t>
            </a:r>
            <a:r>
              <a:rPr lang="en-US" sz="2000" spc="7" baseline="-21021" dirty="0">
                <a:solidFill>
                  <a:schemeClr val="tx1"/>
                </a:solidFill>
                <a:latin typeface="Calibri" panose="020F0502020204030204" pitchFamily="34" charset="0"/>
                <a:cs typeface="Calibri" panose="020F0502020204030204" pitchFamily="34" charset="0"/>
              </a:rPr>
              <a:t> </a:t>
            </a:r>
            <a:r>
              <a:rPr lang="en-US" sz="2000" spc="-15" dirty="0">
                <a:solidFill>
                  <a:schemeClr val="tx1"/>
                </a:solidFill>
                <a:latin typeface="Calibri" panose="020F0502020204030204" pitchFamily="34" charset="0"/>
                <a:cs typeface="Calibri" panose="020F0502020204030204" pitchFamily="34" charset="0"/>
              </a:rPr>
              <a:t>having </a:t>
            </a:r>
            <a:r>
              <a:rPr lang="en-US" sz="2000" spc="-10" dirty="0">
                <a:solidFill>
                  <a:schemeClr val="tx1"/>
                </a:solidFill>
                <a:latin typeface="Calibri" panose="020F0502020204030204" pitchFamily="34" charset="0"/>
                <a:cs typeface="Calibri" panose="020F0502020204030204" pitchFamily="34" charset="0"/>
              </a:rPr>
              <a:t>the property </a:t>
            </a:r>
            <a:r>
              <a:rPr lang="en-US" sz="2000" spc="-5" dirty="0">
                <a:solidFill>
                  <a:schemeClr val="tx1"/>
                </a:solidFill>
                <a:latin typeface="Calibri" panose="020F0502020204030204" pitchFamily="34" charset="0"/>
                <a:cs typeface="Calibri" panose="020F0502020204030204" pitchFamily="34" charset="0"/>
              </a:rPr>
              <a:t>that k </a:t>
            </a:r>
            <a:r>
              <a:rPr lang="en-US" sz="2000" spc="-10" dirty="0">
                <a:solidFill>
                  <a:schemeClr val="tx1"/>
                </a:solidFill>
                <a:latin typeface="Calibri" panose="020F0502020204030204" pitchFamily="34" charset="0"/>
                <a:cs typeface="Calibri" panose="020F0502020204030204" pitchFamily="34" charset="0"/>
              </a:rPr>
              <a:t>percent </a:t>
            </a:r>
            <a:r>
              <a:rPr lang="en-US" sz="2000" spc="-5" dirty="0">
                <a:solidFill>
                  <a:schemeClr val="tx1"/>
                </a:solidFill>
                <a:latin typeface="Calibri" panose="020F0502020204030204" pitchFamily="34" charset="0"/>
                <a:cs typeface="Calibri" panose="020F0502020204030204" pitchFamily="34" charset="0"/>
              </a:rPr>
              <a:t>of the </a:t>
            </a:r>
            <a:r>
              <a:rPr lang="en-US" sz="2000" spc="-605"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data entries lie at or below </a:t>
            </a:r>
            <a:r>
              <a:rPr lang="en-US" sz="2000" dirty="0">
                <a:solidFill>
                  <a:schemeClr val="tx1"/>
                </a:solidFill>
                <a:latin typeface="Calibri" panose="020F0502020204030204" pitchFamily="34" charset="0"/>
                <a:cs typeface="Calibri" panose="020F0502020204030204" pitchFamily="34" charset="0"/>
              </a:rPr>
              <a:t>x</a:t>
            </a:r>
            <a:r>
              <a:rPr lang="en-US" sz="2000" baseline="-21021" dirty="0">
                <a:solidFill>
                  <a:schemeClr val="tx1"/>
                </a:solidFill>
                <a:latin typeface="Calibri" panose="020F0502020204030204" pitchFamily="34" charset="0"/>
                <a:cs typeface="Calibri" panose="020F0502020204030204" pitchFamily="34" charset="0"/>
              </a:rPr>
              <a:t>i. </a:t>
            </a:r>
            <a:r>
              <a:rPr lang="en-US" sz="2000" spc="-5" dirty="0">
                <a:solidFill>
                  <a:schemeClr val="tx1"/>
                </a:solidFill>
                <a:latin typeface="Calibri" panose="020F0502020204030204" pitchFamily="34" charset="0"/>
                <a:cs typeface="Calibri" panose="020F0502020204030204" pitchFamily="34" charset="0"/>
              </a:rPr>
              <a:t>The median is </a:t>
            </a:r>
            <a:r>
              <a:rPr lang="en-US" sz="2000" spc="-10" dirty="0">
                <a:solidFill>
                  <a:schemeClr val="tx1"/>
                </a:solidFill>
                <a:latin typeface="Calibri" panose="020F0502020204030204" pitchFamily="34" charset="0"/>
                <a:cs typeface="Calibri" panose="020F0502020204030204" pitchFamily="34" charset="0"/>
              </a:rPr>
              <a:t>the </a:t>
            </a:r>
            <a:r>
              <a:rPr lang="en-US" sz="2000" spc="-5" dirty="0">
                <a:solidFill>
                  <a:schemeClr val="tx1"/>
                </a:solidFill>
                <a:latin typeface="Calibri" panose="020F0502020204030204" pitchFamily="34" charset="0"/>
                <a:cs typeface="Calibri" panose="020F0502020204030204" pitchFamily="34" charset="0"/>
              </a:rPr>
              <a:t>50th </a:t>
            </a:r>
            <a:r>
              <a:rPr lang="en-US" sz="2000"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percentile.</a:t>
            </a:r>
            <a:endParaRPr lang="en-US" sz="2000" dirty="0">
              <a:solidFill>
                <a:schemeClr val="tx1"/>
              </a:solidFill>
              <a:latin typeface="Calibri" panose="020F0502020204030204" pitchFamily="34" charset="0"/>
              <a:cs typeface="Calibri" panose="020F0502020204030204" pitchFamily="34" charset="0"/>
            </a:endParaRPr>
          </a:p>
          <a:p>
            <a:pPr marL="474980" marR="521970" indent="-412115">
              <a:lnSpc>
                <a:spcPct val="100000"/>
              </a:lnSpc>
              <a:spcBef>
                <a:spcPts val="675"/>
              </a:spcBef>
              <a:buSzPct val="64285"/>
              <a:buFont typeface="Arial MT"/>
              <a:buChar char="•"/>
              <a:tabLst>
                <a:tab pos="474980" algn="l"/>
                <a:tab pos="475615" algn="l"/>
              </a:tabLst>
            </a:pPr>
            <a:r>
              <a:rPr lang="en-US" sz="2000" spc="-5" dirty="0">
                <a:solidFill>
                  <a:schemeClr val="tx1"/>
                </a:solidFill>
                <a:latin typeface="Calibri" panose="020F0502020204030204" pitchFamily="34" charset="0"/>
                <a:cs typeface="Calibri" panose="020F0502020204030204" pitchFamily="34" charset="0"/>
              </a:rPr>
              <a:t>The </a:t>
            </a:r>
            <a:r>
              <a:rPr lang="en-US" sz="2000" spc="-10" dirty="0">
                <a:solidFill>
                  <a:schemeClr val="tx1"/>
                </a:solidFill>
                <a:latin typeface="Calibri" panose="020F0502020204030204" pitchFamily="34" charset="0"/>
                <a:cs typeface="Calibri" panose="020F0502020204030204" pitchFamily="34" charset="0"/>
              </a:rPr>
              <a:t>most</a:t>
            </a:r>
            <a:r>
              <a:rPr lang="en-US" sz="2000" spc="5" dirty="0">
                <a:solidFill>
                  <a:schemeClr val="tx1"/>
                </a:solidFill>
                <a:latin typeface="Calibri" panose="020F0502020204030204" pitchFamily="34" charset="0"/>
                <a:cs typeface="Calibri" panose="020F0502020204030204" pitchFamily="34" charset="0"/>
              </a:rPr>
              <a:t> </a:t>
            </a:r>
            <a:r>
              <a:rPr lang="en-US" sz="2000" spc="-15" dirty="0">
                <a:solidFill>
                  <a:schemeClr val="tx1"/>
                </a:solidFill>
                <a:latin typeface="Calibri" panose="020F0502020204030204" pitchFamily="34" charset="0"/>
                <a:cs typeface="Calibri" panose="020F0502020204030204" pitchFamily="34" charset="0"/>
              </a:rPr>
              <a:t>commonly</a:t>
            </a:r>
            <a:r>
              <a:rPr lang="en-US" sz="2000" spc="20"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used</a:t>
            </a:r>
            <a:r>
              <a:rPr lang="en-US" sz="2000" spc="5"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percentiles</a:t>
            </a:r>
            <a:r>
              <a:rPr lang="en-US" sz="2000" spc="-5" dirty="0">
                <a:solidFill>
                  <a:schemeClr val="tx1"/>
                </a:solidFill>
                <a:latin typeface="Calibri" panose="020F0502020204030204" pitchFamily="34" charset="0"/>
                <a:cs typeface="Calibri" panose="020F0502020204030204" pitchFamily="34" charset="0"/>
              </a:rPr>
              <a:t> other</a:t>
            </a:r>
            <a:r>
              <a:rPr lang="en-US" sz="2000" spc="5"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than</a:t>
            </a:r>
            <a:r>
              <a:rPr lang="en-US" sz="2000" spc="5"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the </a:t>
            </a:r>
            <a:r>
              <a:rPr lang="en-US" sz="2000" spc="-605"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median</a:t>
            </a:r>
            <a:r>
              <a:rPr lang="en-US" sz="2000" spc="-35" dirty="0">
                <a:solidFill>
                  <a:schemeClr val="tx1"/>
                </a:solidFill>
                <a:latin typeface="Calibri" panose="020F0502020204030204" pitchFamily="34" charset="0"/>
                <a:cs typeface="Calibri" panose="020F0502020204030204" pitchFamily="34" charset="0"/>
              </a:rPr>
              <a:t> </a:t>
            </a:r>
            <a:r>
              <a:rPr lang="en-US" sz="2000" spc="-20" dirty="0">
                <a:solidFill>
                  <a:schemeClr val="tx1"/>
                </a:solidFill>
                <a:latin typeface="Calibri" panose="020F0502020204030204" pitchFamily="34" charset="0"/>
                <a:cs typeface="Calibri" panose="020F0502020204030204" pitchFamily="34" charset="0"/>
              </a:rPr>
              <a:t>are</a:t>
            </a:r>
            <a:r>
              <a:rPr lang="en-US" sz="2000" spc="-10" dirty="0">
                <a:solidFill>
                  <a:schemeClr val="tx1"/>
                </a:solidFill>
                <a:latin typeface="Calibri" panose="020F0502020204030204" pitchFamily="34" charset="0"/>
                <a:cs typeface="Calibri" panose="020F0502020204030204" pitchFamily="34" charset="0"/>
              </a:rPr>
              <a:t> </a:t>
            </a:r>
            <a:r>
              <a:rPr lang="en-US" sz="2000" b="1" spc="-10" dirty="0">
                <a:solidFill>
                  <a:schemeClr val="tx1"/>
                </a:solidFill>
                <a:latin typeface="Calibri" panose="020F0502020204030204" pitchFamily="34" charset="0"/>
                <a:cs typeface="Calibri" panose="020F0502020204030204" pitchFamily="34" charset="0"/>
              </a:rPr>
              <a:t>quartiles.</a:t>
            </a:r>
            <a:endParaRPr lang="en-US" sz="2000" dirty="0">
              <a:solidFill>
                <a:schemeClr val="tx1"/>
              </a:solidFill>
              <a:latin typeface="Calibri" panose="020F0502020204030204" pitchFamily="34" charset="0"/>
              <a:cs typeface="Calibri" panose="020F0502020204030204" pitchFamily="34" charset="0"/>
            </a:endParaRPr>
          </a:p>
          <a:p>
            <a:pPr marL="424180" marR="5080" indent="-411480" algn="just">
              <a:lnSpc>
                <a:spcPct val="100000"/>
              </a:lnSpc>
              <a:spcBef>
                <a:spcPts val="95"/>
              </a:spcBef>
              <a:buSzPct val="64285"/>
              <a:buFont typeface="Arial MT"/>
              <a:buChar char="•"/>
              <a:tabLst>
                <a:tab pos="424180" algn="l"/>
              </a:tabLst>
            </a:pPr>
            <a:r>
              <a:rPr lang="en-US" sz="2000" spc="-5" dirty="0">
                <a:solidFill>
                  <a:schemeClr val="tx1"/>
                </a:solidFill>
                <a:latin typeface="Calibri" panose="020F0502020204030204" pitchFamily="34" charset="0"/>
                <a:cs typeface="Calibri" panose="020F0502020204030204" pitchFamily="34" charset="0"/>
              </a:rPr>
              <a:t>The first quartile, denoted </a:t>
            </a:r>
            <a:r>
              <a:rPr lang="en-US" sz="2000" spc="-20" dirty="0">
                <a:solidFill>
                  <a:schemeClr val="tx1"/>
                </a:solidFill>
                <a:latin typeface="Calibri" panose="020F0502020204030204" pitchFamily="34" charset="0"/>
                <a:cs typeface="Calibri" panose="020F0502020204030204" pitchFamily="34" charset="0"/>
              </a:rPr>
              <a:t>by </a:t>
            </a:r>
            <a:r>
              <a:rPr lang="en-US" sz="2000" i="1" spc="-5" dirty="0">
                <a:solidFill>
                  <a:schemeClr val="tx1"/>
                </a:solidFill>
                <a:latin typeface="Calibri" panose="020F0502020204030204" pitchFamily="34" charset="0"/>
                <a:cs typeface="Calibri" panose="020F0502020204030204" pitchFamily="34" charset="0"/>
              </a:rPr>
              <a:t>Q1, </a:t>
            </a:r>
            <a:r>
              <a:rPr lang="en-US" sz="2000" i="1" dirty="0">
                <a:solidFill>
                  <a:schemeClr val="tx1"/>
                </a:solidFill>
                <a:latin typeface="Calibri" panose="020F0502020204030204" pitchFamily="34" charset="0"/>
                <a:cs typeface="Calibri" panose="020F0502020204030204" pitchFamily="34" charset="0"/>
              </a:rPr>
              <a:t>is </a:t>
            </a:r>
            <a:r>
              <a:rPr lang="en-US" sz="2000" i="1" spc="-10" dirty="0">
                <a:solidFill>
                  <a:schemeClr val="tx1"/>
                </a:solidFill>
                <a:latin typeface="Calibri" panose="020F0502020204030204" pitchFamily="34" charset="0"/>
                <a:cs typeface="Calibri" panose="020F0502020204030204" pitchFamily="34" charset="0"/>
              </a:rPr>
              <a:t>the </a:t>
            </a:r>
            <a:r>
              <a:rPr lang="en-US" sz="2000" i="1" spc="-15" dirty="0">
                <a:solidFill>
                  <a:schemeClr val="tx1"/>
                </a:solidFill>
                <a:latin typeface="Calibri" panose="020F0502020204030204" pitchFamily="34" charset="0"/>
                <a:cs typeface="Calibri" panose="020F0502020204030204" pitchFamily="34" charset="0"/>
              </a:rPr>
              <a:t>25th percentile; </a:t>
            </a:r>
            <a:r>
              <a:rPr lang="en-US" sz="2000" i="1" spc="-10" dirty="0">
                <a:solidFill>
                  <a:schemeClr val="tx1"/>
                </a:solidFill>
                <a:latin typeface="Calibri" panose="020F0502020204030204" pitchFamily="34" charset="0"/>
                <a:cs typeface="Calibri" panose="020F0502020204030204" pitchFamily="34" charset="0"/>
              </a:rPr>
              <a:t> </a:t>
            </a:r>
            <a:r>
              <a:rPr lang="en-US" sz="2000" i="1" spc="-15" dirty="0">
                <a:solidFill>
                  <a:schemeClr val="tx1"/>
                </a:solidFill>
                <a:latin typeface="Calibri" panose="020F0502020204030204" pitchFamily="34" charset="0"/>
                <a:cs typeface="Calibri" panose="020F0502020204030204" pitchFamily="34" charset="0"/>
              </a:rPr>
              <a:t>the third </a:t>
            </a:r>
            <a:r>
              <a:rPr lang="en-US" sz="2000" i="1" spc="-5" dirty="0">
                <a:solidFill>
                  <a:schemeClr val="tx1"/>
                </a:solidFill>
                <a:latin typeface="Calibri" panose="020F0502020204030204" pitchFamily="34" charset="0"/>
                <a:cs typeface="Calibri" panose="020F0502020204030204" pitchFamily="34" charset="0"/>
              </a:rPr>
              <a:t>quartile, </a:t>
            </a:r>
            <a:r>
              <a:rPr lang="en-US" sz="2000" i="1" spc="-10" dirty="0">
                <a:solidFill>
                  <a:schemeClr val="tx1"/>
                </a:solidFill>
                <a:latin typeface="Calibri" panose="020F0502020204030204" pitchFamily="34" charset="0"/>
                <a:cs typeface="Calibri" panose="020F0502020204030204" pitchFamily="34" charset="0"/>
              </a:rPr>
              <a:t>denoted </a:t>
            </a:r>
            <a:r>
              <a:rPr lang="en-US" sz="2000" i="1" spc="-15" dirty="0">
                <a:solidFill>
                  <a:schemeClr val="tx1"/>
                </a:solidFill>
                <a:latin typeface="Calibri" panose="020F0502020204030204" pitchFamily="34" charset="0"/>
                <a:cs typeface="Calibri" panose="020F0502020204030204" pitchFamily="34" charset="0"/>
              </a:rPr>
              <a:t>by </a:t>
            </a:r>
            <a:r>
              <a:rPr lang="en-US" sz="2000" i="1" spc="-5" dirty="0">
                <a:solidFill>
                  <a:schemeClr val="tx1"/>
                </a:solidFill>
                <a:latin typeface="Calibri" panose="020F0502020204030204" pitchFamily="34" charset="0"/>
                <a:cs typeface="Calibri" panose="020F0502020204030204" pitchFamily="34" charset="0"/>
              </a:rPr>
              <a:t>Q3, is </a:t>
            </a:r>
            <a:r>
              <a:rPr lang="en-US" sz="2000" i="1" spc="-10" dirty="0">
                <a:solidFill>
                  <a:schemeClr val="tx1"/>
                </a:solidFill>
                <a:latin typeface="Calibri" panose="020F0502020204030204" pitchFamily="34" charset="0"/>
                <a:cs typeface="Calibri" panose="020F0502020204030204" pitchFamily="34" charset="0"/>
              </a:rPr>
              <a:t>the </a:t>
            </a:r>
            <a:r>
              <a:rPr lang="en-US" sz="2000" spc="-5" dirty="0">
                <a:solidFill>
                  <a:schemeClr val="tx1"/>
                </a:solidFill>
                <a:latin typeface="Calibri" panose="020F0502020204030204" pitchFamily="34" charset="0"/>
                <a:cs typeface="Calibri" panose="020F0502020204030204" pitchFamily="34" charset="0"/>
              </a:rPr>
              <a:t>75th percentile. </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The</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quartiles,</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including</a:t>
            </a:r>
            <a:r>
              <a:rPr lang="en-US" sz="2000" dirty="0">
                <a:solidFill>
                  <a:schemeClr val="tx1"/>
                </a:solidFill>
                <a:latin typeface="Calibri" panose="020F0502020204030204" pitchFamily="34" charset="0"/>
                <a:cs typeface="Calibri" panose="020F0502020204030204" pitchFamily="34" charset="0"/>
              </a:rPr>
              <a:t> the</a:t>
            </a:r>
            <a:r>
              <a:rPr lang="en-US" sz="2000" spc="5"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median,</a:t>
            </a:r>
            <a:r>
              <a:rPr lang="en-US" sz="2000" spc="-5" dirty="0">
                <a:solidFill>
                  <a:schemeClr val="tx1"/>
                </a:solidFill>
                <a:latin typeface="Calibri" panose="020F0502020204030204" pitchFamily="34" charset="0"/>
                <a:cs typeface="Calibri" panose="020F0502020204030204" pitchFamily="34" charset="0"/>
              </a:rPr>
              <a:t> </a:t>
            </a:r>
            <a:r>
              <a:rPr lang="en-US" sz="2000" spc="-35" dirty="0">
                <a:solidFill>
                  <a:schemeClr val="tx1"/>
                </a:solidFill>
                <a:latin typeface="Calibri" panose="020F0502020204030204" pitchFamily="34" charset="0"/>
                <a:cs typeface="Calibri" panose="020F0502020204030204" pitchFamily="34" charset="0"/>
              </a:rPr>
              <a:t>give</a:t>
            </a:r>
            <a:r>
              <a:rPr lang="en-US" sz="2000" spc="-3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some </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indication</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of</a:t>
            </a:r>
            <a:r>
              <a:rPr lang="en-US" sz="2000"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the</a:t>
            </a:r>
            <a:r>
              <a:rPr lang="en-US" sz="2000" spc="-5" dirty="0">
                <a:solidFill>
                  <a:schemeClr val="tx1"/>
                </a:solidFill>
                <a:latin typeface="Calibri" panose="020F0502020204030204" pitchFamily="34" charset="0"/>
                <a:cs typeface="Calibri" panose="020F0502020204030204" pitchFamily="34" charset="0"/>
              </a:rPr>
              <a:t> </a:t>
            </a:r>
            <a:r>
              <a:rPr lang="en-US" sz="2000" spc="-45" dirty="0">
                <a:solidFill>
                  <a:schemeClr val="tx1"/>
                </a:solidFill>
                <a:latin typeface="Calibri" panose="020F0502020204030204" pitchFamily="34" charset="0"/>
                <a:cs typeface="Calibri" panose="020F0502020204030204" pitchFamily="34" charset="0"/>
              </a:rPr>
              <a:t>center,</a:t>
            </a:r>
            <a:r>
              <a:rPr lang="en-US" sz="2000" spc="-40"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spread,</a:t>
            </a:r>
            <a:r>
              <a:rPr lang="en-US" sz="2000" spc="-5"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and</a:t>
            </a:r>
            <a:r>
              <a:rPr lang="en-US" sz="2000" spc="-5" dirty="0">
                <a:solidFill>
                  <a:schemeClr val="tx1"/>
                </a:solidFill>
                <a:latin typeface="Calibri" panose="020F0502020204030204" pitchFamily="34" charset="0"/>
                <a:cs typeface="Calibri" panose="020F0502020204030204" pitchFamily="34" charset="0"/>
              </a:rPr>
              <a:t> shape</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of</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a </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distribution.</a:t>
            </a:r>
            <a:endParaRPr lang="en-US" sz="2000" dirty="0">
              <a:solidFill>
                <a:schemeClr val="tx1"/>
              </a:solidFill>
              <a:latin typeface="Calibri" panose="020F0502020204030204" pitchFamily="34" charset="0"/>
              <a:cs typeface="Calibri" panose="020F0502020204030204" pitchFamily="34" charset="0"/>
            </a:endParaRPr>
          </a:p>
          <a:p>
            <a:pPr marL="424180" marR="140335" indent="-411480">
              <a:lnSpc>
                <a:spcPct val="100000"/>
              </a:lnSpc>
              <a:spcBef>
                <a:spcPts val="675"/>
              </a:spcBef>
              <a:buSzPct val="64285"/>
              <a:buFont typeface="Arial MT"/>
              <a:buChar char="•"/>
              <a:tabLst>
                <a:tab pos="423545" algn="l"/>
                <a:tab pos="424180" algn="l"/>
              </a:tabLst>
            </a:pPr>
            <a:r>
              <a:rPr lang="en-US" sz="2000" spc="-5" dirty="0">
                <a:solidFill>
                  <a:schemeClr val="tx1"/>
                </a:solidFill>
                <a:latin typeface="Calibri" panose="020F0502020204030204" pitchFamily="34" charset="0"/>
                <a:cs typeface="Calibri" panose="020F0502020204030204" pitchFamily="34" charset="0"/>
              </a:rPr>
              <a:t>The</a:t>
            </a:r>
            <a:r>
              <a:rPr lang="en-US" sz="2000" spc="-1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distance</a:t>
            </a:r>
            <a:r>
              <a:rPr lang="en-US" sz="2000" spc="10"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between</a:t>
            </a:r>
            <a:r>
              <a:rPr lang="en-US" sz="2000"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the</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first</a:t>
            </a:r>
            <a:r>
              <a:rPr lang="en-US" sz="2000" spc="10"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and</a:t>
            </a:r>
            <a:r>
              <a:rPr lang="en-US" sz="2000" spc="-15" dirty="0">
                <a:solidFill>
                  <a:schemeClr val="tx1"/>
                </a:solidFill>
                <a:latin typeface="Calibri" panose="020F0502020204030204" pitchFamily="34" charset="0"/>
                <a:cs typeface="Calibri" panose="020F0502020204030204" pitchFamily="34" charset="0"/>
              </a:rPr>
              <a:t> third</a:t>
            </a:r>
            <a:r>
              <a:rPr lang="en-US" sz="2000" spc="5"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quartiles</a:t>
            </a:r>
            <a:r>
              <a:rPr lang="en-US" sz="2000" spc="15"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is</a:t>
            </a:r>
            <a:r>
              <a:rPr lang="en-US" sz="2000" spc="-1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a </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simple</a:t>
            </a:r>
            <a:r>
              <a:rPr lang="en-US" sz="2000" spc="-15" dirty="0">
                <a:solidFill>
                  <a:schemeClr val="tx1"/>
                </a:solidFill>
                <a:latin typeface="Calibri" panose="020F0502020204030204" pitchFamily="34" charset="0"/>
                <a:cs typeface="Calibri" panose="020F0502020204030204" pitchFamily="34" charset="0"/>
              </a:rPr>
              <a:t> measure</a:t>
            </a:r>
            <a:r>
              <a:rPr lang="en-US" sz="2000" spc="-1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of</a:t>
            </a:r>
            <a:r>
              <a:rPr lang="en-US" sz="2000" spc="5"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spread</a:t>
            </a:r>
            <a:r>
              <a:rPr lang="en-US" sz="2000" spc="5"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that</a:t>
            </a:r>
            <a:r>
              <a:rPr lang="en-US" sz="2000" dirty="0">
                <a:solidFill>
                  <a:schemeClr val="tx1"/>
                </a:solidFill>
                <a:latin typeface="Calibri" panose="020F0502020204030204" pitchFamily="34" charset="0"/>
                <a:cs typeface="Calibri" panose="020F0502020204030204" pitchFamily="34" charset="0"/>
              </a:rPr>
              <a:t> </a:t>
            </a:r>
            <a:r>
              <a:rPr lang="en-US" sz="2000" spc="-30" dirty="0">
                <a:solidFill>
                  <a:schemeClr val="tx1"/>
                </a:solidFill>
                <a:latin typeface="Calibri" panose="020F0502020204030204" pitchFamily="34" charset="0"/>
                <a:cs typeface="Calibri" panose="020F0502020204030204" pitchFamily="34" charset="0"/>
              </a:rPr>
              <a:t>gives</a:t>
            </a:r>
            <a:r>
              <a:rPr lang="en-US" sz="2000" spc="5"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the</a:t>
            </a:r>
            <a:r>
              <a:rPr lang="en-US" sz="2000" spc="5" dirty="0">
                <a:solidFill>
                  <a:schemeClr val="tx1"/>
                </a:solidFill>
                <a:latin typeface="Calibri" panose="020F0502020204030204" pitchFamily="34" charset="0"/>
                <a:cs typeface="Calibri" panose="020F0502020204030204" pitchFamily="34" charset="0"/>
              </a:rPr>
              <a:t> </a:t>
            </a:r>
            <a:r>
              <a:rPr lang="en-US" sz="2000" spc="-15" dirty="0">
                <a:solidFill>
                  <a:schemeClr val="tx1"/>
                </a:solidFill>
                <a:latin typeface="Calibri" panose="020F0502020204030204" pitchFamily="34" charset="0"/>
                <a:cs typeface="Calibri" panose="020F0502020204030204" pitchFamily="34" charset="0"/>
              </a:rPr>
              <a:t>range</a:t>
            </a:r>
            <a:r>
              <a:rPr lang="en-US" sz="2000" dirty="0">
                <a:solidFill>
                  <a:schemeClr val="tx1"/>
                </a:solidFill>
                <a:latin typeface="Calibri" panose="020F0502020204030204" pitchFamily="34" charset="0"/>
                <a:cs typeface="Calibri" panose="020F0502020204030204" pitchFamily="34" charset="0"/>
              </a:rPr>
              <a:t> </a:t>
            </a:r>
            <a:r>
              <a:rPr lang="en-US" sz="2000" spc="-25" dirty="0">
                <a:solidFill>
                  <a:schemeClr val="tx1"/>
                </a:solidFill>
                <a:latin typeface="Calibri" panose="020F0502020204030204" pitchFamily="34" charset="0"/>
                <a:cs typeface="Calibri" panose="020F0502020204030204" pitchFamily="34" charset="0"/>
              </a:rPr>
              <a:t>covered </a:t>
            </a:r>
            <a:r>
              <a:rPr lang="en-US" sz="2000" spc="-600" dirty="0">
                <a:solidFill>
                  <a:schemeClr val="tx1"/>
                </a:solidFill>
                <a:latin typeface="Calibri" panose="020F0502020204030204" pitchFamily="34" charset="0"/>
                <a:cs typeface="Calibri" panose="020F0502020204030204" pitchFamily="34" charset="0"/>
              </a:rPr>
              <a:t> </a:t>
            </a:r>
            <a:r>
              <a:rPr lang="en-US" sz="2000" spc="-20" dirty="0">
                <a:solidFill>
                  <a:schemeClr val="tx1"/>
                </a:solidFill>
                <a:latin typeface="Calibri" panose="020F0502020204030204" pitchFamily="34" charset="0"/>
                <a:cs typeface="Calibri" panose="020F0502020204030204" pitchFamily="34" charset="0"/>
              </a:rPr>
              <a:t>by</a:t>
            </a:r>
            <a:r>
              <a:rPr lang="en-US" sz="2000" spc="-25"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the</a:t>
            </a:r>
            <a:r>
              <a:rPr lang="en-US" sz="2000" spc="10"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middle</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half</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of</a:t>
            </a:r>
            <a:r>
              <a:rPr lang="en-US" sz="2000" spc="5"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the</a:t>
            </a:r>
            <a:r>
              <a:rPr lang="en-US" sz="2000" spc="-5" dirty="0">
                <a:solidFill>
                  <a:schemeClr val="tx1"/>
                </a:solidFill>
                <a:latin typeface="Calibri" panose="020F0502020204030204" pitchFamily="34" charset="0"/>
                <a:cs typeface="Calibri" panose="020F0502020204030204" pitchFamily="34" charset="0"/>
              </a:rPr>
              <a:t> data.</a:t>
            </a:r>
            <a:r>
              <a:rPr lang="en-US" sz="2000" spc="-1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This</a:t>
            </a:r>
            <a:r>
              <a:rPr lang="en-US" sz="2000" spc="1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distance is</a:t>
            </a:r>
            <a:r>
              <a:rPr lang="en-US" sz="2000" dirty="0">
                <a:solidFill>
                  <a:schemeClr val="tx1"/>
                </a:solidFill>
                <a:latin typeface="Calibri" panose="020F0502020204030204" pitchFamily="34" charset="0"/>
                <a:cs typeface="Calibri" panose="020F0502020204030204" pitchFamily="34" charset="0"/>
              </a:rPr>
              <a:t> </a:t>
            </a:r>
            <a:r>
              <a:rPr lang="en-US" sz="2000" spc="-5" dirty="0">
                <a:solidFill>
                  <a:schemeClr val="tx1"/>
                </a:solidFill>
                <a:latin typeface="Calibri" panose="020F0502020204030204" pitchFamily="34" charset="0"/>
                <a:cs typeface="Calibri" panose="020F0502020204030204" pitchFamily="34" charset="0"/>
              </a:rPr>
              <a:t>called </a:t>
            </a:r>
            <a:r>
              <a:rPr lang="en-US" sz="2000" dirty="0">
                <a:solidFill>
                  <a:schemeClr val="tx1"/>
                </a:solidFill>
                <a:latin typeface="Calibri" panose="020F0502020204030204" pitchFamily="34" charset="0"/>
                <a:cs typeface="Calibri" panose="020F0502020204030204" pitchFamily="34" charset="0"/>
              </a:rPr>
              <a:t> </a:t>
            </a:r>
            <a:r>
              <a:rPr lang="en-US" sz="2000" spc="-10" dirty="0">
                <a:solidFill>
                  <a:schemeClr val="tx1"/>
                </a:solidFill>
                <a:latin typeface="Calibri" panose="020F0502020204030204" pitchFamily="34" charset="0"/>
                <a:cs typeface="Calibri" panose="020F0502020204030204" pitchFamily="34" charset="0"/>
              </a:rPr>
              <a:t>the interquartile</a:t>
            </a:r>
            <a:r>
              <a:rPr lang="en-US" sz="2000" spc="10" dirty="0">
                <a:solidFill>
                  <a:schemeClr val="tx1"/>
                </a:solidFill>
                <a:latin typeface="Calibri" panose="020F0502020204030204" pitchFamily="34" charset="0"/>
                <a:cs typeface="Calibri" panose="020F0502020204030204" pitchFamily="34" charset="0"/>
              </a:rPr>
              <a:t> </a:t>
            </a:r>
            <a:r>
              <a:rPr lang="en-US" sz="2000" spc="-20" dirty="0">
                <a:solidFill>
                  <a:schemeClr val="tx1"/>
                </a:solidFill>
                <a:latin typeface="Calibri" panose="020F0502020204030204" pitchFamily="34" charset="0"/>
                <a:cs typeface="Calibri" panose="020F0502020204030204" pitchFamily="34" charset="0"/>
              </a:rPr>
              <a:t>range</a:t>
            </a:r>
            <a:r>
              <a:rPr lang="en-US" sz="2000" spc="5" dirty="0">
                <a:solidFill>
                  <a:schemeClr val="tx1"/>
                </a:solidFill>
                <a:latin typeface="Calibri" panose="020F0502020204030204" pitchFamily="34" charset="0"/>
                <a:cs typeface="Calibri" panose="020F0502020204030204" pitchFamily="34" charset="0"/>
              </a:rPr>
              <a:t> </a:t>
            </a:r>
            <a:r>
              <a:rPr lang="en-US" sz="2000" dirty="0">
                <a:solidFill>
                  <a:schemeClr val="tx1"/>
                </a:solidFill>
                <a:latin typeface="Calibri" panose="020F0502020204030204" pitchFamily="34" charset="0"/>
                <a:cs typeface="Calibri" panose="020F0502020204030204" pitchFamily="34" charset="0"/>
              </a:rPr>
              <a:t>(</a:t>
            </a:r>
            <a:r>
              <a:rPr lang="en-US" sz="2000" i="1" dirty="0">
                <a:solidFill>
                  <a:schemeClr val="tx1"/>
                </a:solidFill>
                <a:latin typeface="Calibri" panose="020F0502020204030204" pitchFamily="34" charset="0"/>
                <a:cs typeface="Calibri" panose="020F0502020204030204" pitchFamily="34" charset="0"/>
              </a:rPr>
              <a:t>IQR) </a:t>
            </a:r>
            <a:r>
              <a:rPr lang="en-US" sz="2000" i="1" spc="-5" dirty="0">
                <a:solidFill>
                  <a:schemeClr val="tx1"/>
                </a:solidFill>
                <a:latin typeface="Calibri" panose="020F0502020204030204" pitchFamily="34" charset="0"/>
                <a:cs typeface="Calibri" panose="020F0502020204030204" pitchFamily="34" charset="0"/>
              </a:rPr>
              <a:t>and</a:t>
            </a:r>
            <a:r>
              <a:rPr lang="en-US" sz="2000" i="1" spc="-20" dirty="0">
                <a:solidFill>
                  <a:schemeClr val="tx1"/>
                </a:solidFill>
                <a:latin typeface="Calibri" panose="020F0502020204030204" pitchFamily="34" charset="0"/>
                <a:cs typeface="Calibri" panose="020F0502020204030204" pitchFamily="34" charset="0"/>
              </a:rPr>
              <a:t> </a:t>
            </a:r>
            <a:r>
              <a:rPr lang="en-US" sz="2000" i="1" spc="-5" dirty="0">
                <a:solidFill>
                  <a:schemeClr val="tx1"/>
                </a:solidFill>
                <a:latin typeface="Calibri" panose="020F0502020204030204" pitchFamily="34" charset="0"/>
                <a:cs typeface="Calibri" panose="020F0502020204030204" pitchFamily="34" charset="0"/>
              </a:rPr>
              <a:t>is</a:t>
            </a:r>
            <a:r>
              <a:rPr lang="en-US" sz="2000" i="1" spc="15" dirty="0">
                <a:solidFill>
                  <a:schemeClr val="tx1"/>
                </a:solidFill>
                <a:latin typeface="Calibri" panose="020F0502020204030204" pitchFamily="34" charset="0"/>
                <a:cs typeface="Calibri" panose="020F0502020204030204" pitchFamily="34" charset="0"/>
              </a:rPr>
              <a:t> </a:t>
            </a:r>
            <a:r>
              <a:rPr lang="en-US" sz="2000" i="1" spc="-5" dirty="0">
                <a:solidFill>
                  <a:schemeClr val="tx1"/>
                </a:solidFill>
                <a:latin typeface="Calibri" panose="020F0502020204030204" pitchFamily="34" charset="0"/>
                <a:cs typeface="Calibri" panose="020F0502020204030204" pitchFamily="34" charset="0"/>
              </a:rPr>
              <a:t>defined </a:t>
            </a:r>
            <a:r>
              <a:rPr lang="en-US" sz="2000" i="1" dirty="0">
                <a:solidFill>
                  <a:schemeClr val="tx1"/>
                </a:solidFill>
                <a:latin typeface="Calibri" panose="020F0502020204030204" pitchFamily="34" charset="0"/>
                <a:cs typeface="Calibri" panose="020F0502020204030204" pitchFamily="34" charset="0"/>
              </a:rPr>
              <a:t>as</a:t>
            </a:r>
            <a:r>
              <a:rPr lang="en-US" sz="2000" i="1" spc="5" dirty="0">
                <a:solidFill>
                  <a:schemeClr val="tx1"/>
                </a:solidFill>
                <a:latin typeface="Calibri" panose="020F0502020204030204" pitchFamily="34" charset="0"/>
                <a:cs typeface="Calibri" panose="020F0502020204030204" pitchFamily="34" charset="0"/>
              </a:rPr>
              <a:t> </a:t>
            </a:r>
            <a:r>
              <a:rPr lang="en-US" sz="2000" i="1" spc="-5" dirty="0">
                <a:solidFill>
                  <a:schemeClr val="tx1"/>
                </a:solidFill>
                <a:latin typeface="Calibri" panose="020F0502020204030204" pitchFamily="34" charset="0"/>
                <a:cs typeface="Calibri" panose="020F0502020204030204" pitchFamily="34" charset="0"/>
              </a:rPr>
              <a:t>:</a:t>
            </a:r>
            <a:endParaRPr lang="en-US" sz="2000" dirty="0">
              <a:solidFill>
                <a:schemeClr val="tx1"/>
              </a:solidFill>
              <a:latin typeface="Calibri" panose="020F0502020204030204" pitchFamily="34" charset="0"/>
              <a:cs typeface="Calibri" panose="020F0502020204030204" pitchFamily="34" charset="0"/>
            </a:endParaRPr>
          </a:p>
          <a:p>
            <a:pPr marL="2436495" indent="0">
              <a:lnSpc>
                <a:spcPct val="100000"/>
              </a:lnSpc>
              <a:spcBef>
                <a:spcPts val="675"/>
              </a:spcBef>
              <a:buNone/>
              <a:tabLst>
                <a:tab pos="4068445" algn="l"/>
                <a:tab pos="4337050" algn="l"/>
              </a:tabLst>
            </a:pPr>
            <a:r>
              <a:rPr lang="en-US" sz="2000" i="1" spc="-5" dirty="0">
                <a:solidFill>
                  <a:schemeClr val="tx1"/>
                </a:solidFill>
                <a:latin typeface="Calibri" panose="020F0502020204030204" pitchFamily="34" charset="0"/>
                <a:cs typeface="Calibri" panose="020F0502020204030204" pitchFamily="34" charset="0"/>
              </a:rPr>
              <a:t>IQR</a:t>
            </a:r>
            <a:r>
              <a:rPr lang="en-US" sz="2000" i="1" spc="-25" dirty="0">
                <a:solidFill>
                  <a:schemeClr val="tx1"/>
                </a:solidFill>
                <a:latin typeface="Calibri" panose="020F0502020204030204" pitchFamily="34" charset="0"/>
                <a:cs typeface="Calibri" panose="020F0502020204030204" pitchFamily="34" charset="0"/>
              </a:rPr>
              <a:t> </a:t>
            </a:r>
            <a:r>
              <a:rPr lang="en-US" sz="2000" i="1" spc="-5" dirty="0">
                <a:solidFill>
                  <a:schemeClr val="tx1"/>
                </a:solidFill>
                <a:latin typeface="Calibri" panose="020F0502020204030204" pitchFamily="34" charset="0"/>
                <a:cs typeface="Calibri" panose="020F0502020204030204" pitchFamily="34" charset="0"/>
              </a:rPr>
              <a:t>=</a:t>
            </a:r>
            <a:r>
              <a:rPr lang="en-US" sz="2000" i="1" dirty="0">
                <a:solidFill>
                  <a:schemeClr val="tx1"/>
                </a:solidFill>
                <a:latin typeface="Calibri" panose="020F0502020204030204" pitchFamily="34" charset="0"/>
                <a:cs typeface="Calibri" panose="020F0502020204030204" pitchFamily="34" charset="0"/>
              </a:rPr>
              <a:t> </a:t>
            </a:r>
            <a:r>
              <a:rPr lang="en-US" sz="2000" i="1" spc="-5" dirty="0">
                <a:solidFill>
                  <a:schemeClr val="tx1"/>
                </a:solidFill>
                <a:latin typeface="Calibri" panose="020F0502020204030204" pitchFamily="34" charset="0"/>
                <a:cs typeface="Calibri" panose="020F0502020204030204" pitchFamily="34" charset="0"/>
              </a:rPr>
              <a:t>Q3 - Q1</a:t>
            </a:r>
            <a:endParaRPr lang="en-US" sz="2000" dirty="0">
              <a:solidFill>
                <a:schemeClr val="tx1"/>
              </a:solidFill>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61817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E3AED-0D2E-4802-89D0-F1636DD6DBF3}"/>
              </a:ext>
            </a:extLst>
          </p:cNvPr>
          <p:cNvSpPr>
            <a:spLocks noGrp="1"/>
          </p:cNvSpPr>
          <p:nvPr>
            <p:ph type="title"/>
          </p:nvPr>
        </p:nvSpPr>
        <p:spPr/>
        <p:txBody>
          <a:bodyPr/>
          <a:lstStyle/>
          <a:p>
            <a:r>
              <a:rPr lang="en-US" dirty="0"/>
              <a:t>Five Number Summary</a:t>
            </a:r>
            <a:endParaRPr lang="en-IN" dirty="0"/>
          </a:p>
        </p:txBody>
      </p:sp>
      <p:sp>
        <p:nvSpPr>
          <p:cNvPr id="3" name="Content Placeholder 2">
            <a:extLst>
              <a:ext uri="{FF2B5EF4-FFF2-40B4-BE49-F238E27FC236}">
                <a16:creationId xmlns:a16="http://schemas.microsoft.com/office/drawing/2014/main" id="{23B6ACDE-59E4-4A29-8AE4-823907F1A50E}"/>
              </a:ext>
            </a:extLst>
          </p:cNvPr>
          <p:cNvSpPr>
            <a:spLocks noGrp="1"/>
          </p:cNvSpPr>
          <p:nvPr>
            <p:ph idx="1"/>
          </p:nvPr>
        </p:nvSpPr>
        <p:spPr/>
        <p:txBody>
          <a:bodyPr/>
          <a:lstStyle/>
          <a:p>
            <a:pPr marL="424180" marR="5080" indent="-411480" algn="just">
              <a:lnSpc>
                <a:spcPct val="100000"/>
              </a:lnSpc>
              <a:spcBef>
                <a:spcPts val="95"/>
              </a:spcBef>
              <a:buSzPct val="64285"/>
              <a:buFont typeface="Arial MT"/>
              <a:buChar char="•"/>
              <a:tabLst>
                <a:tab pos="424180" algn="l"/>
              </a:tabLst>
            </a:pPr>
            <a:r>
              <a:rPr lang="en-US" sz="2000" spc="-5" dirty="0">
                <a:latin typeface="Cambria"/>
                <a:cs typeface="Cambria"/>
              </a:rPr>
              <a:t>Because Q1, </a:t>
            </a:r>
            <a:r>
              <a:rPr lang="en-US" sz="2000" spc="-10" dirty="0">
                <a:latin typeface="Cambria"/>
                <a:cs typeface="Cambria"/>
              </a:rPr>
              <a:t>the </a:t>
            </a:r>
            <a:r>
              <a:rPr lang="en-US" sz="2000" spc="-5" dirty="0">
                <a:latin typeface="Cambria"/>
                <a:cs typeface="Cambria"/>
              </a:rPr>
              <a:t>median, </a:t>
            </a:r>
            <a:r>
              <a:rPr lang="en-US" sz="2000" spc="-10" dirty="0">
                <a:latin typeface="Cambria"/>
                <a:cs typeface="Cambria"/>
              </a:rPr>
              <a:t>and </a:t>
            </a:r>
            <a:r>
              <a:rPr lang="en-US" sz="2000" spc="-5" dirty="0">
                <a:latin typeface="Cambria"/>
                <a:cs typeface="Cambria"/>
              </a:rPr>
              <a:t>Q3 together contain </a:t>
            </a:r>
            <a:r>
              <a:rPr lang="en-US" sz="2000" spc="-10" dirty="0">
                <a:latin typeface="Cambria"/>
                <a:cs typeface="Cambria"/>
              </a:rPr>
              <a:t>no </a:t>
            </a:r>
            <a:r>
              <a:rPr lang="en-US" sz="2000" spc="-5" dirty="0">
                <a:latin typeface="Cambria"/>
                <a:cs typeface="Cambria"/>
              </a:rPr>
              <a:t> information about </a:t>
            </a:r>
            <a:r>
              <a:rPr lang="en-US" sz="2000" dirty="0">
                <a:latin typeface="Cambria"/>
                <a:cs typeface="Cambria"/>
              </a:rPr>
              <a:t>the </a:t>
            </a:r>
            <a:r>
              <a:rPr lang="en-US" sz="2000" spc="-5" dirty="0">
                <a:latin typeface="Cambria"/>
                <a:cs typeface="Cambria"/>
              </a:rPr>
              <a:t>endpoints (e.g., tails) of </a:t>
            </a:r>
            <a:r>
              <a:rPr lang="en-US" sz="2000" dirty="0">
                <a:latin typeface="Cambria"/>
                <a:cs typeface="Cambria"/>
              </a:rPr>
              <a:t>the </a:t>
            </a:r>
            <a:r>
              <a:rPr lang="en-US" sz="2000" spc="-5" dirty="0">
                <a:latin typeface="Cambria"/>
                <a:cs typeface="Cambria"/>
              </a:rPr>
              <a:t>data, </a:t>
            </a:r>
            <a:r>
              <a:rPr lang="en-US" sz="2000" spc="-605" dirty="0">
                <a:latin typeface="Cambria"/>
                <a:cs typeface="Cambria"/>
              </a:rPr>
              <a:t> </a:t>
            </a:r>
            <a:r>
              <a:rPr lang="en-US" sz="2000" spc="-5" dirty="0">
                <a:latin typeface="Cambria"/>
                <a:cs typeface="Cambria"/>
              </a:rPr>
              <a:t>a fuller summary of </a:t>
            </a:r>
            <a:r>
              <a:rPr lang="en-US" sz="2000" spc="-10" dirty="0">
                <a:latin typeface="Cambria"/>
                <a:cs typeface="Cambria"/>
              </a:rPr>
              <a:t>the </a:t>
            </a:r>
            <a:r>
              <a:rPr lang="en-US" sz="2000" dirty="0">
                <a:latin typeface="Cambria"/>
                <a:cs typeface="Cambria"/>
              </a:rPr>
              <a:t>shape </a:t>
            </a:r>
            <a:r>
              <a:rPr lang="en-US" sz="2000" spc="-5" dirty="0">
                <a:latin typeface="Cambria"/>
                <a:cs typeface="Cambria"/>
              </a:rPr>
              <a:t>of a distribution can </a:t>
            </a:r>
            <a:r>
              <a:rPr lang="en-US" sz="2000" dirty="0">
                <a:latin typeface="Cambria"/>
                <a:cs typeface="Cambria"/>
              </a:rPr>
              <a:t>be </a:t>
            </a:r>
            <a:r>
              <a:rPr lang="en-US" sz="2000" spc="5" dirty="0">
                <a:latin typeface="Cambria"/>
                <a:cs typeface="Cambria"/>
              </a:rPr>
              <a:t> </a:t>
            </a:r>
            <a:r>
              <a:rPr lang="en-US" sz="2000" spc="-5" dirty="0">
                <a:latin typeface="Cambria"/>
                <a:cs typeface="Cambria"/>
              </a:rPr>
              <a:t>obtained</a:t>
            </a:r>
            <a:r>
              <a:rPr lang="en-US" sz="2000" dirty="0">
                <a:latin typeface="Cambria"/>
                <a:cs typeface="Cambria"/>
              </a:rPr>
              <a:t> </a:t>
            </a:r>
            <a:r>
              <a:rPr lang="en-US" sz="2000" spc="-20" dirty="0">
                <a:latin typeface="Cambria"/>
                <a:cs typeface="Cambria"/>
              </a:rPr>
              <a:t>by</a:t>
            </a:r>
            <a:r>
              <a:rPr lang="en-US" sz="2000" spc="-15" dirty="0">
                <a:latin typeface="Cambria"/>
                <a:cs typeface="Cambria"/>
              </a:rPr>
              <a:t> </a:t>
            </a:r>
            <a:r>
              <a:rPr lang="en-US" sz="2000" spc="-10" dirty="0">
                <a:latin typeface="Cambria"/>
                <a:cs typeface="Cambria"/>
              </a:rPr>
              <a:t>providing</a:t>
            </a:r>
            <a:r>
              <a:rPr lang="en-US" sz="2000" spc="-5" dirty="0">
                <a:latin typeface="Cambria"/>
                <a:cs typeface="Cambria"/>
              </a:rPr>
              <a:t> </a:t>
            </a:r>
            <a:r>
              <a:rPr lang="en-US" sz="2000" spc="-10" dirty="0">
                <a:latin typeface="Cambria"/>
                <a:cs typeface="Cambria"/>
              </a:rPr>
              <a:t>the</a:t>
            </a:r>
            <a:r>
              <a:rPr lang="en-US" sz="2000" spc="-5" dirty="0">
                <a:latin typeface="Cambria"/>
                <a:cs typeface="Cambria"/>
              </a:rPr>
              <a:t> </a:t>
            </a:r>
            <a:r>
              <a:rPr lang="en-US" sz="2000" spc="-15" dirty="0">
                <a:latin typeface="Cambria"/>
                <a:cs typeface="Cambria"/>
              </a:rPr>
              <a:t>lowest</a:t>
            </a:r>
            <a:r>
              <a:rPr lang="en-US" sz="2000" spc="-10" dirty="0">
                <a:latin typeface="Cambria"/>
                <a:cs typeface="Cambria"/>
              </a:rPr>
              <a:t> and</a:t>
            </a:r>
            <a:r>
              <a:rPr lang="en-US" sz="2000" spc="-5" dirty="0">
                <a:latin typeface="Cambria"/>
                <a:cs typeface="Cambria"/>
              </a:rPr>
              <a:t> highest</a:t>
            </a:r>
            <a:r>
              <a:rPr lang="en-US" sz="2000" dirty="0">
                <a:latin typeface="Cambria"/>
                <a:cs typeface="Cambria"/>
              </a:rPr>
              <a:t> </a:t>
            </a:r>
            <a:r>
              <a:rPr lang="en-US" sz="2000" spc="-5" dirty="0">
                <a:latin typeface="Cambria"/>
                <a:cs typeface="Cambria"/>
              </a:rPr>
              <a:t>data </a:t>
            </a:r>
            <a:r>
              <a:rPr lang="en-US" sz="2000" dirty="0">
                <a:latin typeface="Cambria"/>
                <a:cs typeface="Cambria"/>
              </a:rPr>
              <a:t> </a:t>
            </a:r>
            <a:r>
              <a:rPr lang="en-US" sz="2000" spc="-15" dirty="0">
                <a:latin typeface="Cambria"/>
                <a:cs typeface="Cambria"/>
              </a:rPr>
              <a:t>values</a:t>
            </a:r>
            <a:r>
              <a:rPr lang="en-US" sz="2000" spc="-10" dirty="0">
                <a:latin typeface="Cambria"/>
                <a:cs typeface="Cambria"/>
              </a:rPr>
              <a:t> </a:t>
            </a:r>
            <a:r>
              <a:rPr lang="en-US" sz="2000" spc="-5" dirty="0">
                <a:latin typeface="Cambria"/>
                <a:cs typeface="Cambria"/>
              </a:rPr>
              <a:t>as</a:t>
            </a:r>
            <a:r>
              <a:rPr lang="en-US" sz="2000" dirty="0">
                <a:latin typeface="Cambria"/>
                <a:cs typeface="Cambria"/>
              </a:rPr>
              <a:t> </a:t>
            </a:r>
            <a:r>
              <a:rPr lang="en-US" sz="2000" spc="-15" dirty="0">
                <a:latin typeface="Cambria"/>
                <a:cs typeface="Cambria"/>
              </a:rPr>
              <a:t>well.</a:t>
            </a:r>
            <a:r>
              <a:rPr lang="en-US" sz="2000" spc="-10" dirty="0">
                <a:latin typeface="Cambria"/>
                <a:cs typeface="Cambria"/>
              </a:rPr>
              <a:t> </a:t>
            </a:r>
            <a:r>
              <a:rPr lang="en-US" sz="2000" dirty="0">
                <a:latin typeface="Cambria"/>
                <a:cs typeface="Cambria"/>
              </a:rPr>
              <a:t>This</a:t>
            </a:r>
            <a:r>
              <a:rPr lang="en-US" sz="2000" spc="5" dirty="0">
                <a:latin typeface="Cambria"/>
                <a:cs typeface="Cambria"/>
              </a:rPr>
              <a:t> </a:t>
            </a:r>
            <a:r>
              <a:rPr lang="en-US" sz="2000" spc="-5" dirty="0">
                <a:latin typeface="Cambria"/>
                <a:cs typeface="Cambria"/>
              </a:rPr>
              <a:t>is</a:t>
            </a:r>
            <a:r>
              <a:rPr lang="en-US" sz="2000" dirty="0">
                <a:latin typeface="Cambria"/>
                <a:cs typeface="Cambria"/>
              </a:rPr>
              <a:t> </a:t>
            </a:r>
            <a:r>
              <a:rPr lang="en-US" sz="2000" spc="-10" dirty="0">
                <a:latin typeface="Cambria"/>
                <a:cs typeface="Cambria"/>
              </a:rPr>
              <a:t>known</a:t>
            </a:r>
            <a:r>
              <a:rPr lang="en-US" sz="2000" spc="-5" dirty="0">
                <a:latin typeface="Cambria"/>
                <a:cs typeface="Cambria"/>
              </a:rPr>
              <a:t> as</a:t>
            </a:r>
            <a:r>
              <a:rPr lang="en-US" sz="2000" dirty="0">
                <a:latin typeface="Cambria"/>
                <a:cs typeface="Cambria"/>
              </a:rPr>
              <a:t> the</a:t>
            </a:r>
            <a:r>
              <a:rPr lang="en-US" sz="2000" spc="5" dirty="0">
                <a:latin typeface="Cambria"/>
                <a:cs typeface="Cambria"/>
              </a:rPr>
              <a:t> </a:t>
            </a:r>
            <a:r>
              <a:rPr lang="en-US" sz="2000" spc="-15" dirty="0">
                <a:latin typeface="Cambria"/>
                <a:cs typeface="Cambria"/>
              </a:rPr>
              <a:t>five-number </a:t>
            </a:r>
            <a:r>
              <a:rPr lang="en-US" sz="2000" spc="-10" dirty="0">
                <a:latin typeface="Cambria"/>
                <a:cs typeface="Cambria"/>
              </a:rPr>
              <a:t> </a:t>
            </a:r>
            <a:r>
              <a:rPr lang="en-US" sz="2000" spc="-35" dirty="0">
                <a:latin typeface="Cambria"/>
                <a:cs typeface="Cambria"/>
              </a:rPr>
              <a:t>summary.</a:t>
            </a:r>
            <a:endParaRPr lang="en-US" sz="2000" dirty="0">
              <a:latin typeface="Cambria"/>
              <a:cs typeface="Cambria"/>
            </a:endParaRPr>
          </a:p>
          <a:p>
            <a:pPr marL="424180" marR="90170" indent="-424180" algn="just">
              <a:lnSpc>
                <a:spcPct val="120000"/>
              </a:lnSpc>
              <a:spcBef>
                <a:spcPts val="5"/>
              </a:spcBef>
              <a:buSzPct val="64285"/>
              <a:buFont typeface="Arial MT"/>
              <a:buChar char="•"/>
              <a:tabLst>
                <a:tab pos="424180" algn="l"/>
              </a:tabLst>
            </a:pPr>
            <a:r>
              <a:rPr lang="en-US" sz="2000" spc="-5" dirty="0">
                <a:latin typeface="Cambria"/>
                <a:cs typeface="Cambria"/>
              </a:rPr>
              <a:t>The </a:t>
            </a:r>
            <a:r>
              <a:rPr lang="en-US" sz="2000" spc="-15" dirty="0">
                <a:latin typeface="Cambria"/>
                <a:cs typeface="Cambria"/>
              </a:rPr>
              <a:t>five-number </a:t>
            </a:r>
            <a:r>
              <a:rPr lang="en-US" sz="2000" spc="-5" dirty="0">
                <a:latin typeface="Cambria"/>
                <a:cs typeface="Cambria"/>
              </a:rPr>
              <a:t>summary</a:t>
            </a:r>
            <a:r>
              <a:rPr lang="en-US" sz="2000" dirty="0">
                <a:latin typeface="Cambria"/>
                <a:cs typeface="Cambria"/>
              </a:rPr>
              <a:t> </a:t>
            </a:r>
            <a:r>
              <a:rPr lang="en-US" sz="2000" spc="-5" dirty="0">
                <a:latin typeface="Cambria"/>
                <a:cs typeface="Cambria"/>
              </a:rPr>
              <a:t>can be </a:t>
            </a:r>
            <a:r>
              <a:rPr lang="en-US" sz="2000" spc="-10" dirty="0">
                <a:latin typeface="Cambria"/>
                <a:cs typeface="Cambria"/>
              </a:rPr>
              <a:t>written </a:t>
            </a:r>
            <a:r>
              <a:rPr lang="en-US" sz="2000" spc="-5" dirty="0">
                <a:latin typeface="Cambria"/>
                <a:cs typeface="Cambria"/>
              </a:rPr>
              <a:t>in the </a:t>
            </a:r>
            <a:r>
              <a:rPr lang="en-US" sz="2000" spc="-10" dirty="0">
                <a:latin typeface="Cambria"/>
                <a:cs typeface="Cambria"/>
              </a:rPr>
              <a:t>order </a:t>
            </a:r>
            <a:r>
              <a:rPr lang="en-US" sz="2000" spc="-605" dirty="0">
                <a:latin typeface="Cambria"/>
                <a:cs typeface="Cambria"/>
              </a:rPr>
              <a:t> </a:t>
            </a:r>
            <a:r>
              <a:rPr lang="en-US" sz="2000" spc="-5" dirty="0">
                <a:latin typeface="Cambria"/>
                <a:cs typeface="Cambria"/>
              </a:rPr>
              <a:t>Minimum,</a:t>
            </a:r>
            <a:r>
              <a:rPr lang="en-US" sz="2000" spc="-10" dirty="0">
                <a:latin typeface="Cambria"/>
                <a:cs typeface="Cambria"/>
              </a:rPr>
              <a:t> Q1,</a:t>
            </a:r>
            <a:r>
              <a:rPr lang="en-US" sz="2000" dirty="0">
                <a:latin typeface="Cambria"/>
                <a:cs typeface="Cambria"/>
              </a:rPr>
              <a:t> </a:t>
            </a:r>
            <a:r>
              <a:rPr lang="en-US" sz="2000" spc="-10" dirty="0">
                <a:latin typeface="Cambria"/>
                <a:cs typeface="Cambria"/>
              </a:rPr>
              <a:t>Median,</a:t>
            </a:r>
            <a:r>
              <a:rPr lang="en-US" sz="2000" dirty="0">
                <a:latin typeface="Cambria"/>
                <a:cs typeface="Cambria"/>
              </a:rPr>
              <a:t> </a:t>
            </a:r>
            <a:r>
              <a:rPr lang="en-US" sz="2000" spc="-5" dirty="0">
                <a:latin typeface="Cambria"/>
                <a:cs typeface="Cambria"/>
              </a:rPr>
              <a:t>Q3,Maximum.</a:t>
            </a:r>
            <a:endParaRPr lang="en-US" sz="2000" dirty="0">
              <a:latin typeface="Cambria"/>
              <a:cs typeface="Cambria"/>
            </a:endParaRPr>
          </a:p>
          <a:p>
            <a:endParaRPr lang="en-IN" dirty="0"/>
          </a:p>
        </p:txBody>
      </p:sp>
    </p:spTree>
    <p:extLst>
      <p:ext uri="{BB962C8B-B14F-4D97-AF65-F5344CB8AC3E}">
        <p14:creationId xmlns:p14="http://schemas.microsoft.com/office/powerpoint/2010/main" val="2302861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BFD95-FDD3-4C96-BF61-9F6C3CF56266}"/>
              </a:ext>
            </a:extLst>
          </p:cNvPr>
          <p:cNvSpPr>
            <a:spLocks noGrp="1"/>
          </p:cNvSpPr>
          <p:nvPr>
            <p:ph type="title"/>
          </p:nvPr>
        </p:nvSpPr>
        <p:spPr/>
        <p:txBody>
          <a:bodyPr/>
          <a:lstStyle/>
          <a:p>
            <a:r>
              <a:rPr lang="en-US" dirty="0"/>
              <a:t>Examples:</a:t>
            </a:r>
            <a:endParaRPr lang="en-IN" dirty="0"/>
          </a:p>
        </p:txBody>
      </p:sp>
      <p:sp>
        <p:nvSpPr>
          <p:cNvPr id="3" name="Content Placeholder 2">
            <a:extLst>
              <a:ext uri="{FF2B5EF4-FFF2-40B4-BE49-F238E27FC236}">
                <a16:creationId xmlns:a16="http://schemas.microsoft.com/office/drawing/2014/main" id="{B16ABC01-65A1-4235-82F0-14ACA94C97D5}"/>
              </a:ext>
            </a:extLst>
          </p:cNvPr>
          <p:cNvSpPr>
            <a:spLocks noGrp="1"/>
          </p:cNvSpPr>
          <p:nvPr>
            <p:ph idx="1"/>
          </p:nvPr>
        </p:nvSpPr>
        <p:spPr/>
        <p:txBody>
          <a:bodyPr>
            <a:normAutofit fontScale="92500" lnSpcReduction="10000"/>
          </a:bodyPr>
          <a:lstStyle/>
          <a:p>
            <a:pPr marL="424180" marR="5080" indent="-412115">
              <a:lnSpc>
                <a:spcPct val="100000"/>
              </a:lnSpc>
              <a:spcBef>
                <a:spcPts val="95"/>
              </a:spcBef>
              <a:buSzPct val="64285"/>
              <a:buFont typeface="Arial MT"/>
              <a:buChar char="•"/>
              <a:tabLst>
                <a:tab pos="424180" algn="l"/>
                <a:tab pos="424815" algn="l"/>
              </a:tabLst>
            </a:pPr>
            <a:endParaRPr lang="en-US" sz="3200" spc="-5" dirty="0">
              <a:latin typeface="Cambria"/>
              <a:cs typeface="Cambria"/>
            </a:endParaRPr>
          </a:p>
          <a:p>
            <a:pPr marL="424180" marR="5080" indent="-412115">
              <a:lnSpc>
                <a:spcPct val="100000"/>
              </a:lnSpc>
              <a:spcBef>
                <a:spcPts val="95"/>
              </a:spcBef>
              <a:buSzPct val="64285"/>
              <a:buFont typeface="Arial MT"/>
              <a:buChar char="•"/>
              <a:tabLst>
                <a:tab pos="424180" algn="l"/>
                <a:tab pos="424815" algn="l"/>
              </a:tabLst>
            </a:pPr>
            <a:r>
              <a:rPr lang="en-US" sz="3200" spc="-5" dirty="0">
                <a:latin typeface="Cambria"/>
                <a:cs typeface="Cambria"/>
              </a:rPr>
              <a:t>5,</a:t>
            </a:r>
            <a:r>
              <a:rPr lang="en-US" sz="3200" spc="-20" dirty="0">
                <a:latin typeface="Cambria"/>
                <a:cs typeface="Cambria"/>
              </a:rPr>
              <a:t> </a:t>
            </a:r>
            <a:r>
              <a:rPr lang="en-US" sz="3200" spc="-5" dirty="0">
                <a:latin typeface="Cambria"/>
                <a:cs typeface="Cambria"/>
              </a:rPr>
              <a:t>20,</a:t>
            </a:r>
            <a:r>
              <a:rPr lang="en-US" sz="3200" dirty="0">
                <a:latin typeface="Cambria"/>
                <a:cs typeface="Cambria"/>
              </a:rPr>
              <a:t> </a:t>
            </a:r>
            <a:r>
              <a:rPr lang="en-US" sz="3200" spc="-5" dirty="0">
                <a:latin typeface="Cambria"/>
                <a:cs typeface="Cambria"/>
              </a:rPr>
              <a:t>15,</a:t>
            </a:r>
            <a:r>
              <a:rPr lang="en-US" sz="3200" dirty="0">
                <a:latin typeface="Cambria"/>
                <a:cs typeface="Cambria"/>
              </a:rPr>
              <a:t> </a:t>
            </a:r>
            <a:r>
              <a:rPr lang="en-US" sz="3200" spc="-5" dirty="0">
                <a:latin typeface="Cambria"/>
                <a:cs typeface="Cambria"/>
              </a:rPr>
              <a:t>25,</a:t>
            </a:r>
            <a:r>
              <a:rPr lang="en-US" sz="3200" dirty="0">
                <a:latin typeface="Cambria"/>
                <a:cs typeface="Cambria"/>
              </a:rPr>
              <a:t> </a:t>
            </a:r>
            <a:r>
              <a:rPr lang="en-US" sz="3200" spc="-5" dirty="0">
                <a:latin typeface="Cambria"/>
                <a:cs typeface="Cambria"/>
              </a:rPr>
              <a:t>0,</a:t>
            </a:r>
            <a:r>
              <a:rPr lang="en-US" sz="3200" dirty="0">
                <a:latin typeface="Cambria"/>
                <a:cs typeface="Cambria"/>
              </a:rPr>
              <a:t> </a:t>
            </a:r>
            <a:r>
              <a:rPr lang="en-US" sz="3200" spc="-5" dirty="0">
                <a:latin typeface="Cambria"/>
                <a:cs typeface="Cambria"/>
              </a:rPr>
              <a:t>10,</a:t>
            </a:r>
            <a:r>
              <a:rPr lang="en-US" sz="3200" dirty="0">
                <a:latin typeface="Cambria"/>
                <a:cs typeface="Cambria"/>
              </a:rPr>
              <a:t> </a:t>
            </a:r>
            <a:r>
              <a:rPr lang="en-US" sz="3200" spc="-5" dirty="0">
                <a:latin typeface="Cambria"/>
                <a:cs typeface="Cambria"/>
              </a:rPr>
              <a:t>15,</a:t>
            </a:r>
            <a:r>
              <a:rPr lang="en-US" sz="3200" spc="5" dirty="0">
                <a:latin typeface="Cambria"/>
                <a:cs typeface="Cambria"/>
              </a:rPr>
              <a:t> </a:t>
            </a:r>
            <a:r>
              <a:rPr lang="en-US" sz="3200" spc="-5" dirty="0">
                <a:latin typeface="Cambria"/>
                <a:cs typeface="Cambria"/>
              </a:rPr>
              <a:t>5,</a:t>
            </a:r>
            <a:r>
              <a:rPr lang="en-US" sz="3200" dirty="0">
                <a:latin typeface="Cambria"/>
                <a:cs typeface="Cambria"/>
              </a:rPr>
              <a:t> </a:t>
            </a:r>
            <a:r>
              <a:rPr lang="en-US" sz="3200" spc="-5" dirty="0">
                <a:latin typeface="Cambria"/>
                <a:cs typeface="Cambria"/>
              </a:rPr>
              <a:t>25,</a:t>
            </a:r>
            <a:r>
              <a:rPr lang="en-US" sz="3200" dirty="0">
                <a:latin typeface="Cambria"/>
                <a:cs typeface="Cambria"/>
              </a:rPr>
              <a:t> </a:t>
            </a:r>
            <a:r>
              <a:rPr lang="en-US" sz="3200" spc="-5" dirty="0">
                <a:latin typeface="Cambria"/>
                <a:cs typeface="Cambria"/>
              </a:rPr>
              <a:t>30,</a:t>
            </a:r>
            <a:r>
              <a:rPr lang="en-US" sz="3200" dirty="0">
                <a:latin typeface="Cambria"/>
                <a:cs typeface="Cambria"/>
              </a:rPr>
              <a:t> </a:t>
            </a:r>
            <a:r>
              <a:rPr lang="en-US" sz="3200" spc="-5" dirty="0">
                <a:latin typeface="Cambria"/>
                <a:cs typeface="Cambria"/>
              </a:rPr>
              <a:t>20</a:t>
            </a:r>
            <a:endParaRPr lang="en-US" sz="3200" dirty="0">
              <a:latin typeface="Cambria"/>
              <a:cs typeface="Cambria"/>
            </a:endParaRPr>
          </a:p>
          <a:p>
            <a:pPr marL="927100" marR="5080" lvl="1" indent="-412115">
              <a:lnSpc>
                <a:spcPct val="100000"/>
              </a:lnSpc>
              <a:spcBef>
                <a:spcPts val="95"/>
              </a:spcBef>
              <a:buSzPct val="64285"/>
              <a:buFont typeface="Arial MT"/>
              <a:buChar char="•"/>
              <a:tabLst>
                <a:tab pos="424180" algn="l"/>
                <a:tab pos="424815" algn="l"/>
              </a:tabLst>
            </a:pPr>
            <a:r>
              <a:rPr lang="en-US" sz="3000" spc="-5" dirty="0">
                <a:latin typeface="Cambria"/>
                <a:cs typeface="Cambria"/>
              </a:rPr>
              <a:t>Determine</a:t>
            </a:r>
            <a:r>
              <a:rPr lang="en-US" sz="3000" spc="-25" dirty="0">
                <a:latin typeface="Cambria"/>
                <a:cs typeface="Cambria"/>
              </a:rPr>
              <a:t> </a:t>
            </a:r>
            <a:r>
              <a:rPr lang="en-US" sz="3000" spc="-10" dirty="0">
                <a:latin typeface="Cambria"/>
                <a:cs typeface="Cambria"/>
              </a:rPr>
              <a:t>the</a:t>
            </a:r>
            <a:r>
              <a:rPr lang="en-US" sz="3000" dirty="0">
                <a:latin typeface="Cambria"/>
                <a:cs typeface="Cambria"/>
              </a:rPr>
              <a:t> </a:t>
            </a:r>
            <a:r>
              <a:rPr lang="en-US" sz="3000" spc="-10" dirty="0">
                <a:latin typeface="Cambria"/>
                <a:cs typeface="Cambria"/>
              </a:rPr>
              <a:t>Interquartile</a:t>
            </a:r>
            <a:r>
              <a:rPr lang="en-US" sz="3000" spc="20" dirty="0">
                <a:latin typeface="Cambria"/>
                <a:cs typeface="Cambria"/>
              </a:rPr>
              <a:t> </a:t>
            </a:r>
            <a:r>
              <a:rPr lang="en-US" sz="3000" spc="-20" dirty="0">
                <a:latin typeface="Cambria"/>
                <a:cs typeface="Cambria"/>
              </a:rPr>
              <a:t>range</a:t>
            </a:r>
            <a:r>
              <a:rPr lang="en-US" sz="3000" spc="5" dirty="0">
                <a:latin typeface="Cambria"/>
                <a:cs typeface="Cambria"/>
              </a:rPr>
              <a:t> </a:t>
            </a:r>
            <a:r>
              <a:rPr lang="en-US" sz="3000" spc="-15" dirty="0">
                <a:latin typeface="Cambria"/>
                <a:cs typeface="Cambria"/>
              </a:rPr>
              <a:t>for</a:t>
            </a:r>
            <a:r>
              <a:rPr lang="en-US" sz="3000" spc="-5" dirty="0">
                <a:latin typeface="Cambria"/>
                <a:cs typeface="Cambria"/>
              </a:rPr>
              <a:t> the </a:t>
            </a:r>
            <a:r>
              <a:rPr lang="en-US" sz="3000" spc="-600" dirty="0">
                <a:latin typeface="Cambria"/>
                <a:cs typeface="Cambria"/>
              </a:rPr>
              <a:t> </a:t>
            </a:r>
            <a:r>
              <a:rPr lang="en-US" sz="3000" spc="-10" dirty="0">
                <a:latin typeface="Cambria"/>
                <a:cs typeface="Cambria"/>
              </a:rPr>
              <a:t>following </a:t>
            </a:r>
            <a:r>
              <a:rPr lang="en-US" sz="3000" spc="-5" dirty="0">
                <a:latin typeface="Cambria"/>
                <a:cs typeface="Cambria"/>
              </a:rPr>
              <a:t>set</a:t>
            </a:r>
            <a:r>
              <a:rPr lang="en-US" sz="3000" spc="-15" dirty="0">
                <a:latin typeface="Cambria"/>
                <a:cs typeface="Cambria"/>
              </a:rPr>
              <a:t> </a:t>
            </a:r>
            <a:r>
              <a:rPr lang="en-US" sz="3000" spc="-5" dirty="0">
                <a:latin typeface="Cambria"/>
                <a:cs typeface="Cambria"/>
              </a:rPr>
              <a:t>of</a:t>
            </a:r>
            <a:r>
              <a:rPr lang="en-US" sz="3000" dirty="0">
                <a:latin typeface="Cambria"/>
                <a:cs typeface="Cambria"/>
              </a:rPr>
              <a:t> </a:t>
            </a:r>
            <a:r>
              <a:rPr lang="en-US" sz="3000" spc="-5" dirty="0">
                <a:latin typeface="Cambria"/>
                <a:cs typeface="Cambria"/>
              </a:rPr>
              <a:t>data:</a:t>
            </a:r>
          </a:p>
          <a:p>
            <a:pPr marL="927100" marR="5080" lvl="1" indent="-412115">
              <a:lnSpc>
                <a:spcPct val="100000"/>
              </a:lnSpc>
              <a:spcBef>
                <a:spcPts val="95"/>
              </a:spcBef>
              <a:buSzPct val="64285"/>
              <a:buFont typeface="Arial MT"/>
              <a:buChar char="•"/>
              <a:tabLst>
                <a:tab pos="424180" algn="l"/>
                <a:tab pos="424815" algn="l"/>
              </a:tabLst>
            </a:pPr>
            <a:r>
              <a:rPr lang="en-US" sz="3000" spc="-5" dirty="0">
                <a:latin typeface="Cambria"/>
                <a:cs typeface="Cambria"/>
              </a:rPr>
              <a:t>Determine</a:t>
            </a:r>
            <a:r>
              <a:rPr lang="en-US" sz="3000" spc="-30" dirty="0">
                <a:latin typeface="Cambria"/>
                <a:cs typeface="Cambria"/>
              </a:rPr>
              <a:t> </a:t>
            </a:r>
            <a:r>
              <a:rPr lang="en-US" sz="3000" spc="-10" dirty="0">
                <a:latin typeface="Cambria"/>
                <a:cs typeface="Cambria"/>
              </a:rPr>
              <a:t>the</a:t>
            </a:r>
            <a:r>
              <a:rPr lang="en-US" sz="3000" spc="5" dirty="0">
                <a:latin typeface="Cambria"/>
                <a:cs typeface="Cambria"/>
              </a:rPr>
              <a:t> </a:t>
            </a:r>
            <a:r>
              <a:rPr lang="en-US" sz="3000" spc="-5" dirty="0">
                <a:latin typeface="Cambria"/>
                <a:cs typeface="Cambria"/>
              </a:rPr>
              <a:t>5</a:t>
            </a:r>
            <a:r>
              <a:rPr lang="en-US" sz="3000" dirty="0">
                <a:latin typeface="Cambria"/>
                <a:cs typeface="Cambria"/>
              </a:rPr>
              <a:t> </a:t>
            </a:r>
            <a:r>
              <a:rPr lang="en-US" sz="3000" spc="-5" dirty="0">
                <a:latin typeface="Cambria"/>
                <a:cs typeface="Cambria"/>
              </a:rPr>
              <a:t>number</a:t>
            </a:r>
            <a:r>
              <a:rPr lang="en-US" sz="3000" spc="-10" dirty="0">
                <a:latin typeface="Cambria"/>
                <a:cs typeface="Cambria"/>
              </a:rPr>
              <a:t> </a:t>
            </a:r>
            <a:r>
              <a:rPr lang="en-US" sz="3000" spc="-5" dirty="0">
                <a:latin typeface="Cambria"/>
                <a:cs typeface="Cambria"/>
              </a:rPr>
              <a:t>summary</a:t>
            </a:r>
            <a:r>
              <a:rPr lang="en-US" sz="3000" spc="-10" dirty="0">
                <a:latin typeface="Cambria"/>
                <a:cs typeface="Cambria"/>
              </a:rPr>
              <a:t> </a:t>
            </a:r>
            <a:r>
              <a:rPr lang="en-US" sz="3000" spc="-15" dirty="0">
                <a:latin typeface="Cambria"/>
                <a:cs typeface="Cambria"/>
              </a:rPr>
              <a:t>for</a:t>
            </a:r>
            <a:r>
              <a:rPr lang="en-US" sz="3000" spc="-5" dirty="0">
                <a:latin typeface="Cambria"/>
                <a:cs typeface="Cambria"/>
              </a:rPr>
              <a:t> the set</a:t>
            </a:r>
            <a:r>
              <a:rPr lang="en-US" sz="3000" spc="5" dirty="0">
                <a:latin typeface="Cambria"/>
                <a:cs typeface="Cambria"/>
              </a:rPr>
              <a:t> </a:t>
            </a:r>
            <a:r>
              <a:rPr lang="en-US" sz="3000" spc="-5" dirty="0">
                <a:latin typeface="Cambria"/>
                <a:cs typeface="Cambria"/>
              </a:rPr>
              <a:t>of </a:t>
            </a:r>
            <a:r>
              <a:rPr lang="en-US" sz="3000" spc="-605" dirty="0">
                <a:latin typeface="Cambria"/>
                <a:cs typeface="Cambria"/>
              </a:rPr>
              <a:t> </a:t>
            </a:r>
            <a:r>
              <a:rPr lang="en-US" sz="3000" spc="-5" dirty="0">
                <a:latin typeface="Cambria"/>
                <a:cs typeface="Cambria"/>
              </a:rPr>
              <a:t>data.</a:t>
            </a:r>
          </a:p>
          <a:p>
            <a:pPr marL="241300" indent="0">
              <a:lnSpc>
                <a:spcPct val="100000"/>
              </a:lnSpc>
              <a:buNone/>
            </a:pPr>
            <a:r>
              <a:rPr lang="en-US" sz="3200" spc="-5" dirty="0">
                <a:latin typeface="Cambria"/>
                <a:cs typeface="Cambria"/>
              </a:rPr>
              <a:t>88,</a:t>
            </a:r>
            <a:r>
              <a:rPr lang="en-US" sz="3200" spc="-15" dirty="0">
                <a:latin typeface="Cambria"/>
                <a:cs typeface="Cambria"/>
              </a:rPr>
              <a:t> </a:t>
            </a:r>
            <a:r>
              <a:rPr lang="en-US" sz="3200" spc="-5" dirty="0">
                <a:latin typeface="Cambria"/>
                <a:cs typeface="Cambria"/>
              </a:rPr>
              <a:t>53,</a:t>
            </a:r>
            <a:r>
              <a:rPr lang="en-US" sz="3200" spc="5" dirty="0">
                <a:latin typeface="Cambria"/>
                <a:cs typeface="Cambria"/>
              </a:rPr>
              <a:t> </a:t>
            </a:r>
            <a:r>
              <a:rPr lang="en-US" sz="3200" spc="-5" dirty="0">
                <a:latin typeface="Cambria"/>
                <a:cs typeface="Cambria"/>
              </a:rPr>
              <a:t>72,</a:t>
            </a:r>
            <a:r>
              <a:rPr lang="en-US" sz="3200" dirty="0">
                <a:latin typeface="Cambria"/>
                <a:cs typeface="Cambria"/>
              </a:rPr>
              <a:t> </a:t>
            </a:r>
            <a:r>
              <a:rPr lang="en-US" sz="3200" spc="-5" dirty="0">
                <a:latin typeface="Cambria"/>
                <a:cs typeface="Cambria"/>
              </a:rPr>
              <a:t>67,</a:t>
            </a:r>
            <a:r>
              <a:rPr lang="en-US" sz="3200" spc="5" dirty="0">
                <a:latin typeface="Cambria"/>
                <a:cs typeface="Cambria"/>
              </a:rPr>
              <a:t> </a:t>
            </a:r>
            <a:r>
              <a:rPr lang="en-US" sz="3200" spc="-5" dirty="0">
                <a:latin typeface="Cambria"/>
                <a:cs typeface="Cambria"/>
              </a:rPr>
              <a:t>48,</a:t>
            </a:r>
            <a:r>
              <a:rPr lang="en-US" sz="3200" dirty="0">
                <a:latin typeface="Cambria"/>
                <a:cs typeface="Cambria"/>
              </a:rPr>
              <a:t> </a:t>
            </a:r>
            <a:r>
              <a:rPr lang="en-US" sz="3200" spc="-10" dirty="0">
                <a:latin typeface="Cambria"/>
                <a:cs typeface="Cambria"/>
              </a:rPr>
              <a:t>63,</a:t>
            </a:r>
            <a:r>
              <a:rPr lang="en-US" sz="3200" spc="5" dirty="0">
                <a:latin typeface="Cambria"/>
                <a:cs typeface="Cambria"/>
              </a:rPr>
              <a:t> </a:t>
            </a:r>
            <a:r>
              <a:rPr lang="en-US" sz="3200" spc="-5" dirty="0">
                <a:latin typeface="Cambria"/>
                <a:cs typeface="Cambria"/>
              </a:rPr>
              <a:t>25,</a:t>
            </a:r>
            <a:r>
              <a:rPr lang="en-US" sz="3200" dirty="0">
                <a:latin typeface="Cambria"/>
                <a:cs typeface="Cambria"/>
              </a:rPr>
              <a:t> </a:t>
            </a:r>
            <a:r>
              <a:rPr lang="en-US" sz="3200" spc="-5" dirty="0">
                <a:latin typeface="Cambria"/>
                <a:cs typeface="Cambria"/>
              </a:rPr>
              <a:t>34,</a:t>
            </a:r>
            <a:r>
              <a:rPr lang="en-US" sz="3200" spc="5" dirty="0">
                <a:latin typeface="Cambria"/>
                <a:cs typeface="Cambria"/>
              </a:rPr>
              <a:t> </a:t>
            </a:r>
            <a:r>
              <a:rPr lang="en-US" sz="3200" spc="-5" dirty="0">
                <a:latin typeface="Cambria"/>
                <a:cs typeface="Cambria"/>
              </a:rPr>
              <a:t>46,</a:t>
            </a:r>
            <a:r>
              <a:rPr lang="en-US" sz="3200" dirty="0">
                <a:latin typeface="Cambria"/>
                <a:cs typeface="Cambria"/>
              </a:rPr>
              <a:t> </a:t>
            </a:r>
            <a:r>
              <a:rPr lang="en-US" sz="3200" spc="-5" dirty="0">
                <a:latin typeface="Cambria"/>
                <a:cs typeface="Cambria"/>
              </a:rPr>
              <a:t>55,</a:t>
            </a:r>
            <a:r>
              <a:rPr lang="en-US" sz="3200" dirty="0">
                <a:latin typeface="Cambria"/>
                <a:cs typeface="Cambria"/>
              </a:rPr>
              <a:t> </a:t>
            </a:r>
            <a:r>
              <a:rPr lang="en-US" sz="3200" spc="-5" dirty="0">
                <a:latin typeface="Cambria"/>
                <a:cs typeface="Cambria"/>
              </a:rPr>
              <a:t>72,</a:t>
            </a:r>
            <a:r>
              <a:rPr lang="en-US" sz="3200" spc="5" dirty="0">
                <a:latin typeface="Cambria"/>
                <a:cs typeface="Cambria"/>
              </a:rPr>
              <a:t> </a:t>
            </a:r>
            <a:r>
              <a:rPr lang="en-US" sz="3200" spc="-5" dirty="0">
                <a:latin typeface="Cambria"/>
                <a:cs typeface="Cambria"/>
              </a:rPr>
              <a:t>77</a:t>
            </a:r>
          </a:p>
          <a:p>
            <a:pPr marL="1201420" lvl="1" indent="-457200">
              <a:lnSpc>
                <a:spcPct val="100000"/>
              </a:lnSpc>
              <a:buFont typeface="Arial" panose="020B0604020202020204" pitchFamily="34" charset="0"/>
              <a:buChar char="•"/>
            </a:pPr>
            <a:r>
              <a:rPr lang="en-US" sz="3000" spc="-5" dirty="0">
                <a:latin typeface="Cambria"/>
                <a:cs typeface="Cambria"/>
              </a:rPr>
              <a:t>What</a:t>
            </a:r>
            <a:r>
              <a:rPr lang="en-US" sz="3000" spc="-25" dirty="0">
                <a:latin typeface="Cambria"/>
                <a:cs typeface="Cambria"/>
              </a:rPr>
              <a:t> </a:t>
            </a:r>
            <a:r>
              <a:rPr lang="en-US" sz="3000" spc="-10" dirty="0">
                <a:latin typeface="Cambria"/>
                <a:cs typeface="Cambria"/>
              </a:rPr>
              <a:t>percent</a:t>
            </a:r>
            <a:r>
              <a:rPr lang="en-US" sz="3000" spc="5" dirty="0">
                <a:latin typeface="Cambria"/>
                <a:cs typeface="Cambria"/>
              </a:rPr>
              <a:t> </a:t>
            </a:r>
            <a:r>
              <a:rPr lang="en-US" sz="3000" spc="-5" dirty="0">
                <a:latin typeface="Cambria"/>
                <a:cs typeface="Cambria"/>
              </a:rPr>
              <a:t>of the</a:t>
            </a:r>
            <a:r>
              <a:rPr lang="en-US" sz="3000" dirty="0">
                <a:latin typeface="Cambria"/>
                <a:cs typeface="Cambria"/>
              </a:rPr>
              <a:t> </a:t>
            </a:r>
            <a:r>
              <a:rPr lang="en-US" sz="3000" spc="-5" dirty="0">
                <a:latin typeface="Cambria"/>
                <a:cs typeface="Cambria"/>
              </a:rPr>
              <a:t>data</a:t>
            </a:r>
            <a:r>
              <a:rPr lang="en-US" sz="3000" spc="-10" dirty="0">
                <a:latin typeface="Cambria"/>
                <a:cs typeface="Cambria"/>
              </a:rPr>
              <a:t> listed</a:t>
            </a:r>
            <a:r>
              <a:rPr lang="en-US" sz="3000" spc="-5" dirty="0">
                <a:latin typeface="Cambria"/>
                <a:cs typeface="Cambria"/>
              </a:rPr>
              <a:t> </a:t>
            </a:r>
            <a:r>
              <a:rPr lang="en-US" sz="3000" spc="-10" dirty="0">
                <a:latin typeface="Cambria"/>
                <a:cs typeface="Cambria"/>
              </a:rPr>
              <a:t>below </a:t>
            </a:r>
            <a:r>
              <a:rPr lang="en-US" sz="3000" spc="-5" dirty="0">
                <a:latin typeface="Cambria"/>
                <a:cs typeface="Cambria"/>
              </a:rPr>
              <a:t>is </a:t>
            </a:r>
            <a:r>
              <a:rPr lang="en-US" sz="3000" spc="-10" dirty="0">
                <a:latin typeface="Cambria"/>
                <a:cs typeface="Cambria"/>
              </a:rPr>
              <a:t>higher </a:t>
            </a:r>
            <a:r>
              <a:rPr lang="en-US" sz="3000" spc="-600" dirty="0">
                <a:latin typeface="Cambria"/>
                <a:cs typeface="Cambria"/>
              </a:rPr>
              <a:t> </a:t>
            </a:r>
            <a:r>
              <a:rPr lang="en-US" sz="3000" spc="-5" dirty="0">
                <a:latin typeface="Cambria"/>
                <a:cs typeface="Cambria"/>
              </a:rPr>
              <a:t>than</a:t>
            </a:r>
            <a:r>
              <a:rPr lang="en-US" sz="3000" spc="-20" dirty="0">
                <a:latin typeface="Cambria"/>
                <a:cs typeface="Cambria"/>
              </a:rPr>
              <a:t> </a:t>
            </a:r>
            <a:r>
              <a:rPr lang="en-US" sz="3000" spc="-5" dirty="0">
                <a:latin typeface="Cambria"/>
                <a:cs typeface="Cambria"/>
              </a:rPr>
              <a:t>the</a:t>
            </a:r>
            <a:r>
              <a:rPr lang="en-US" sz="3000" spc="10" dirty="0">
                <a:latin typeface="Cambria"/>
                <a:cs typeface="Cambria"/>
              </a:rPr>
              <a:t> </a:t>
            </a:r>
            <a:r>
              <a:rPr lang="en-US" sz="3000" spc="-15" dirty="0">
                <a:latin typeface="Cambria"/>
                <a:cs typeface="Cambria"/>
              </a:rPr>
              <a:t>lower</a:t>
            </a:r>
            <a:r>
              <a:rPr lang="en-US" sz="3000" dirty="0">
                <a:latin typeface="Cambria"/>
                <a:cs typeface="Cambria"/>
              </a:rPr>
              <a:t> </a:t>
            </a:r>
            <a:r>
              <a:rPr lang="en-US" sz="3000" spc="-5" dirty="0">
                <a:latin typeface="Cambria"/>
                <a:cs typeface="Cambria"/>
              </a:rPr>
              <a:t>quartile?</a:t>
            </a:r>
          </a:p>
          <a:p>
            <a:pPr marL="1201420" lvl="1" indent="-457200">
              <a:lnSpc>
                <a:spcPct val="100000"/>
              </a:lnSpc>
              <a:buFont typeface="Arial" panose="020B0604020202020204" pitchFamily="34" charset="0"/>
              <a:buChar char="•"/>
            </a:pPr>
            <a:r>
              <a:rPr lang="en-US" sz="3000" spc="-5" dirty="0">
                <a:latin typeface="Cambria"/>
                <a:cs typeface="Cambria"/>
              </a:rPr>
              <a:t>What</a:t>
            </a:r>
            <a:r>
              <a:rPr lang="en-US" sz="3000" spc="-25" dirty="0">
                <a:latin typeface="Cambria"/>
                <a:cs typeface="Cambria"/>
              </a:rPr>
              <a:t> </a:t>
            </a:r>
            <a:r>
              <a:rPr lang="en-US" sz="3000" spc="-10" dirty="0">
                <a:latin typeface="Cambria"/>
                <a:cs typeface="Cambria"/>
              </a:rPr>
              <a:t>percent</a:t>
            </a:r>
            <a:r>
              <a:rPr lang="en-US" sz="3000" spc="5" dirty="0">
                <a:latin typeface="Cambria"/>
                <a:cs typeface="Cambria"/>
              </a:rPr>
              <a:t> </a:t>
            </a:r>
            <a:r>
              <a:rPr lang="en-US" sz="3000" spc="-5" dirty="0">
                <a:latin typeface="Cambria"/>
                <a:cs typeface="Cambria"/>
              </a:rPr>
              <a:t>of the</a:t>
            </a:r>
            <a:r>
              <a:rPr lang="en-US" sz="3000" dirty="0">
                <a:latin typeface="Cambria"/>
                <a:cs typeface="Cambria"/>
              </a:rPr>
              <a:t> </a:t>
            </a:r>
            <a:r>
              <a:rPr lang="en-US" sz="3000" spc="-5" dirty="0">
                <a:latin typeface="Cambria"/>
                <a:cs typeface="Cambria"/>
              </a:rPr>
              <a:t>data</a:t>
            </a:r>
            <a:r>
              <a:rPr lang="en-US" sz="3000" spc="-10" dirty="0">
                <a:latin typeface="Cambria"/>
                <a:cs typeface="Cambria"/>
              </a:rPr>
              <a:t> listed</a:t>
            </a:r>
            <a:r>
              <a:rPr lang="en-US" sz="3000" spc="-5" dirty="0">
                <a:latin typeface="Cambria"/>
                <a:cs typeface="Cambria"/>
              </a:rPr>
              <a:t> </a:t>
            </a:r>
            <a:r>
              <a:rPr lang="en-US" sz="3000" spc="-10" dirty="0">
                <a:latin typeface="Cambria"/>
                <a:cs typeface="Cambria"/>
              </a:rPr>
              <a:t>below </a:t>
            </a:r>
            <a:r>
              <a:rPr lang="en-US" sz="3000" spc="-5" dirty="0">
                <a:latin typeface="Cambria"/>
                <a:cs typeface="Cambria"/>
              </a:rPr>
              <a:t>is </a:t>
            </a:r>
            <a:r>
              <a:rPr lang="en-US" sz="3000" spc="-10" dirty="0">
                <a:latin typeface="Cambria"/>
                <a:cs typeface="Cambria"/>
              </a:rPr>
              <a:t>higher </a:t>
            </a:r>
            <a:r>
              <a:rPr lang="en-US" sz="3000" spc="-600" dirty="0">
                <a:latin typeface="Cambria"/>
                <a:cs typeface="Cambria"/>
              </a:rPr>
              <a:t> </a:t>
            </a:r>
            <a:r>
              <a:rPr lang="en-US" sz="3000" spc="-5" dirty="0">
                <a:latin typeface="Cambria"/>
                <a:cs typeface="Cambria"/>
              </a:rPr>
              <a:t>than</a:t>
            </a:r>
            <a:r>
              <a:rPr lang="en-US" sz="3000" spc="-20" dirty="0">
                <a:latin typeface="Cambria"/>
                <a:cs typeface="Cambria"/>
              </a:rPr>
              <a:t> </a:t>
            </a:r>
            <a:r>
              <a:rPr lang="en-US" sz="3000" spc="-5" dirty="0">
                <a:latin typeface="Cambria"/>
                <a:cs typeface="Cambria"/>
              </a:rPr>
              <a:t>the</a:t>
            </a:r>
            <a:r>
              <a:rPr lang="en-US" sz="3000" spc="10" dirty="0">
                <a:latin typeface="Cambria"/>
                <a:cs typeface="Cambria"/>
              </a:rPr>
              <a:t> </a:t>
            </a:r>
            <a:r>
              <a:rPr lang="en-US" sz="3000" spc="-10" dirty="0">
                <a:latin typeface="Cambria"/>
                <a:cs typeface="Cambria"/>
              </a:rPr>
              <a:t>median?</a:t>
            </a:r>
            <a:endParaRPr lang="en-US" sz="3600" dirty="0">
              <a:latin typeface="Cambria"/>
              <a:cs typeface="Cambria"/>
            </a:endParaRPr>
          </a:p>
          <a:p>
            <a:pPr marL="0" indent="0">
              <a:lnSpc>
                <a:spcPct val="100000"/>
              </a:lnSpc>
              <a:spcBef>
                <a:spcPts val="15"/>
              </a:spcBef>
              <a:buNone/>
            </a:pPr>
            <a:endParaRPr lang="en-US" sz="3200" dirty="0">
              <a:latin typeface="Cambria"/>
              <a:cs typeface="Cambria"/>
            </a:endParaRPr>
          </a:p>
        </p:txBody>
      </p:sp>
    </p:spTree>
    <p:extLst>
      <p:ext uri="{BB962C8B-B14F-4D97-AF65-F5344CB8AC3E}">
        <p14:creationId xmlns:p14="http://schemas.microsoft.com/office/powerpoint/2010/main" val="1437395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0025D-A057-43B9-8D37-A3409B841EE9}"/>
              </a:ext>
            </a:extLst>
          </p:cNvPr>
          <p:cNvSpPr>
            <a:spLocks noGrp="1"/>
          </p:cNvSpPr>
          <p:nvPr>
            <p:ph type="title"/>
          </p:nvPr>
        </p:nvSpPr>
        <p:spPr/>
        <p:txBody>
          <a:bodyPr/>
          <a:lstStyle/>
          <a:p>
            <a:r>
              <a:rPr lang="en-US" dirty="0"/>
              <a:t>Data Cleaning</a:t>
            </a:r>
            <a:endParaRPr lang="en-IN" dirty="0"/>
          </a:p>
        </p:txBody>
      </p:sp>
      <p:sp>
        <p:nvSpPr>
          <p:cNvPr id="3" name="Content Placeholder 2">
            <a:extLst>
              <a:ext uri="{FF2B5EF4-FFF2-40B4-BE49-F238E27FC236}">
                <a16:creationId xmlns:a16="http://schemas.microsoft.com/office/drawing/2014/main" id="{98482880-6B32-4D14-887A-2435A3C8CC5B}"/>
              </a:ext>
            </a:extLst>
          </p:cNvPr>
          <p:cNvSpPr>
            <a:spLocks noGrp="1"/>
          </p:cNvSpPr>
          <p:nvPr>
            <p:ph idx="1"/>
          </p:nvPr>
        </p:nvSpPr>
        <p:spPr/>
        <p:txBody>
          <a:bodyPr/>
          <a:lstStyle/>
          <a:p>
            <a:pPr marL="355600" indent="-342900">
              <a:lnSpc>
                <a:spcPct val="100000"/>
              </a:lnSpc>
              <a:spcBef>
                <a:spcPts val="390"/>
              </a:spcBef>
              <a:buClr>
                <a:srgbClr val="CC9900"/>
              </a:buClr>
              <a:buSzPct val="63461"/>
              <a:buFont typeface="Wingdings"/>
              <a:buChar char=""/>
              <a:tabLst>
                <a:tab pos="354965" algn="l"/>
                <a:tab pos="355600" algn="l"/>
              </a:tabLst>
            </a:pPr>
            <a:r>
              <a:rPr lang="en-US" sz="2600" spc="-5" dirty="0">
                <a:latin typeface="Arial MT"/>
                <a:cs typeface="Arial MT"/>
              </a:rPr>
              <a:t>Importance</a:t>
            </a:r>
            <a:endParaRPr lang="en-US" sz="2600" dirty="0">
              <a:latin typeface="Arial MT"/>
              <a:cs typeface="Arial MT"/>
            </a:endParaRPr>
          </a:p>
          <a:p>
            <a:pPr marL="749300" marR="5080" lvl="1" indent="-279400">
              <a:lnSpc>
                <a:spcPts val="2370"/>
              </a:lnSpc>
              <a:spcBef>
                <a:spcPts val="555"/>
              </a:spcBef>
              <a:buClr>
                <a:srgbClr val="3B812F"/>
              </a:buClr>
              <a:buSzPct val="59090"/>
              <a:buFont typeface="Wingdings"/>
              <a:buChar char=""/>
              <a:tabLst>
                <a:tab pos="755015" algn="l"/>
                <a:tab pos="755650" algn="l"/>
              </a:tabLst>
            </a:pPr>
            <a:r>
              <a:rPr lang="en-US" sz="2200" spc="-5" dirty="0">
                <a:solidFill>
                  <a:schemeClr val="tx1"/>
                </a:solidFill>
                <a:latin typeface="MS PGothic"/>
                <a:cs typeface="MS PGothic"/>
              </a:rPr>
              <a:t>“</a:t>
            </a:r>
            <a:r>
              <a:rPr lang="en-US" sz="2200" spc="-5" dirty="0">
                <a:solidFill>
                  <a:schemeClr val="tx1"/>
                </a:solidFill>
                <a:latin typeface="Arial MT"/>
                <a:cs typeface="Arial MT"/>
              </a:rPr>
              <a:t>Data</a:t>
            </a:r>
            <a:r>
              <a:rPr lang="en-US" sz="2200" spc="-10" dirty="0">
                <a:solidFill>
                  <a:schemeClr val="tx1"/>
                </a:solidFill>
                <a:latin typeface="Arial MT"/>
                <a:cs typeface="Arial MT"/>
              </a:rPr>
              <a:t> </a:t>
            </a:r>
            <a:r>
              <a:rPr lang="en-US" sz="2200" dirty="0">
                <a:solidFill>
                  <a:schemeClr val="tx1"/>
                </a:solidFill>
                <a:latin typeface="Arial MT"/>
                <a:cs typeface="Arial MT"/>
              </a:rPr>
              <a:t>cleaning</a:t>
            </a:r>
            <a:r>
              <a:rPr lang="en-US" sz="2200" spc="-5" dirty="0">
                <a:solidFill>
                  <a:schemeClr val="tx1"/>
                </a:solidFill>
                <a:latin typeface="Arial MT"/>
                <a:cs typeface="Arial MT"/>
              </a:rPr>
              <a:t> </a:t>
            </a:r>
            <a:r>
              <a:rPr lang="en-US" sz="2200" dirty="0">
                <a:solidFill>
                  <a:schemeClr val="tx1"/>
                </a:solidFill>
                <a:latin typeface="Arial MT"/>
                <a:cs typeface="Arial MT"/>
              </a:rPr>
              <a:t>is</a:t>
            </a:r>
            <a:r>
              <a:rPr lang="en-US" sz="2200" spc="-15" dirty="0">
                <a:solidFill>
                  <a:schemeClr val="tx1"/>
                </a:solidFill>
                <a:latin typeface="Arial MT"/>
                <a:cs typeface="Arial MT"/>
              </a:rPr>
              <a:t> </a:t>
            </a:r>
            <a:r>
              <a:rPr lang="en-US" sz="2200" spc="-5" dirty="0">
                <a:solidFill>
                  <a:schemeClr val="tx1"/>
                </a:solidFill>
                <a:latin typeface="Arial MT"/>
                <a:cs typeface="Arial MT"/>
              </a:rPr>
              <a:t>the </a:t>
            </a:r>
            <a:r>
              <a:rPr lang="en-US" sz="2200" dirty="0">
                <a:solidFill>
                  <a:schemeClr val="tx1"/>
                </a:solidFill>
                <a:latin typeface="Arial MT"/>
                <a:cs typeface="Arial MT"/>
              </a:rPr>
              <a:t>number</a:t>
            </a:r>
            <a:r>
              <a:rPr lang="en-US" sz="2200" spc="-10" dirty="0">
                <a:solidFill>
                  <a:schemeClr val="tx1"/>
                </a:solidFill>
                <a:latin typeface="Arial MT"/>
                <a:cs typeface="Arial MT"/>
              </a:rPr>
              <a:t> </a:t>
            </a:r>
            <a:r>
              <a:rPr lang="en-US" sz="2200" dirty="0">
                <a:solidFill>
                  <a:schemeClr val="tx1"/>
                </a:solidFill>
                <a:latin typeface="Arial MT"/>
                <a:cs typeface="Arial MT"/>
              </a:rPr>
              <a:t>one</a:t>
            </a:r>
            <a:r>
              <a:rPr lang="en-US" sz="2200" spc="-10" dirty="0">
                <a:solidFill>
                  <a:schemeClr val="tx1"/>
                </a:solidFill>
                <a:latin typeface="Arial MT"/>
                <a:cs typeface="Arial MT"/>
              </a:rPr>
              <a:t> </a:t>
            </a:r>
            <a:r>
              <a:rPr lang="en-US" sz="2200" dirty="0">
                <a:solidFill>
                  <a:schemeClr val="tx1"/>
                </a:solidFill>
                <a:latin typeface="Arial MT"/>
                <a:cs typeface="Arial MT"/>
              </a:rPr>
              <a:t>problem</a:t>
            </a:r>
            <a:r>
              <a:rPr lang="en-US" sz="2200" spc="-10" dirty="0">
                <a:solidFill>
                  <a:schemeClr val="tx1"/>
                </a:solidFill>
                <a:latin typeface="Arial MT"/>
                <a:cs typeface="Arial MT"/>
              </a:rPr>
              <a:t> </a:t>
            </a:r>
            <a:r>
              <a:rPr lang="en-US" sz="2200" dirty="0">
                <a:solidFill>
                  <a:schemeClr val="tx1"/>
                </a:solidFill>
                <a:latin typeface="Arial MT"/>
                <a:cs typeface="Arial MT"/>
              </a:rPr>
              <a:t>in</a:t>
            </a:r>
            <a:r>
              <a:rPr lang="en-US" sz="2200" spc="-5" dirty="0">
                <a:solidFill>
                  <a:schemeClr val="tx1"/>
                </a:solidFill>
                <a:latin typeface="Arial MT"/>
                <a:cs typeface="Arial MT"/>
              </a:rPr>
              <a:t> data </a:t>
            </a:r>
            <a:r>
              <a:rPr lang="en-US" sz="2200" spc="-600" dirty="0">
                <a:solidFill>
                  <a:schemeClr val="tx1"/>
                </a:solidFill>
                <a:latin typeface="Arial MT"/>
                <a:cs typeface="Arial MT"/>
              </a:rPr>
              <a:t> </a:t>
            </a:r>
            <a:r>
              <a:rPr lang="en-US" sz="2200" spc="-5" dirty="0">
                <a:solidFill>
                  <a:schemeClr val="tx1"/>
                </a:solidFill>
                <a:latin typeface="Arial MT"/>
                <a:cs typeface="Arial MT"/>
              </a:rPr>
              <a:t>warehousing</a:t>
            </a:r>
            <a:r>
              <a:rPr lang="en-US" sz="2200" spc="-5" dirty="0">
                <a:solidFill>
                  <a:schemeClr val="tx1"/>
                </a:solidFill>
                <a:latin typeface="MS PGothic"/>
                <a:cs typeface="MS PGothic"/>
              </a:rPr>
              <a:t>”</a:t>
            </a:r>
            <a:endParaRPr lang="en-US" sz="2200" dirty="0">
              <a:solidFill>
                <a:schemeClr val="tx1"/>
              </a:solidFill>
              <a:latin typeface="MS PGothic"/>
              <a:cs typeface="MS PGothic"/>
            </a:endParaRPr>
          </a:p>
          <a:p>
            <a:pPr marL="355600" indent="-342900">
              <a:lnSpc>
                <a:spcPct val="100000"/>
              </a:lnSpc>
              <a:spcBef>
                <a:spcPts val="1510"/>
              </a:spcBef>
              <a:buClr>
                <a:srgbClr val="CC9900"/>
              </a:buClr>
              <a:buSzPct val="63461"/>
              <a:buFont typeface="Wingdings"/>
              <a:buChar char=""/>
              <a:tabLst>
                <a:tab pos="354965" algn="l"/>
                <a:tab pos="355600" algn="l"/>
              </a:tabLst>
            </a:pPr>
            <a:r>
              <a:rPr lang="en-US" sz="2600" spc="-5" dirty="0">
                <a:solidFill>
                  <a:schemeClr val="tx1"/>
                </a:solidFill>
                <a:latin typeface="Arial MT"/>
                <a:cs typeface="Arial MT"/>
              </a:rPr>
              <a:t>Data</a:t>
            </a:r>
            <a:r>
              <a:rPr lang="en-US" sz="2600" spc="-25" dirty="0">
                <a:solidFill>
                  <a:schemeClr val="tx1"/>
                </a:solidFill>
                <a:latin typeface="Arial MT"/>
                <a:cs typeface="Arial MT"/>
              </a:rPr>
              <a:t> </a:t>
            </a:r>
            <a:r>
              <a:rPr lang="en-US" sz="2600" dirty="0">
                <a:solidFill>
                  <a:schemeClr val="tx1"/>
                </a:solidFill>
                <a:latin typeface="Arial MT"/>
                <a:cs typeface="Arial MT"/>
              </a:rPr>
              <a:t>cleaning</a:t>
            </a:r>
            <a:r>
              <a:rPr lang="en-US" sz="2600" spc="-20" dirty="0">
                <a:solidFill>
                  <a:schemeClr val="tx1"/>
                </a:solidFill>
                <a:latin typeface="Arial MT"/>
                <a:cs typeface="Arial MT"/>
              </a:rPr>
              <a:t> </a:t>
            </a:r>
            <a:r>
              <a:rPr lang="en-US" sz="2600" spc="-5" dirty="0">
                <a:solidFill>
                  <a:schemeClr val="tx1"/>
                </a:solidFill>
                <a:latin typeface="Arial MT"/>
                <a:cs typeface="Arial MT"/>
              </a:rPr>
              <a:t>tasks</a:t>
            </a:r>
            <a:endParaRPr lang="en-US" sz="2600" dirty="0">
              <a:solidFill>
                <a:schemeClr val="tx1"/>
              </a:solidFill>
              <a:latin typeface="Arial MT"/>
              <a:cs typeface="Arial MT"/>
            </a:endParaRPr>
          </a:p>
          <a:p>
            <a:pPr marL="755650" lvl="1" indent="-285750">
              <a:lnSpc>
                <a:spcPct val="100000"/>
              </a:lnSpc>
              <a:spcBef>
                <a:spcPts val="1095"/>
              </a:spcBef>
              <a:buClr>
                <a:srgbClr val="3B812F"/>
              </a:buClr>
              <a:buSzPct val="59090"/>
              <a:buFont typeface="Wingdings"/>
              <a:buChar char=""/>
              <a:tabLst>
                <a:tab pos="755015" algn="l"/>
                <a:tab pos="755650" algn="l"/>
              </a:tabLst>
            </a:pPr>
            <a:r>
              <a:rPr lang="en-US" sz="2200" spc="-5" dirty="0">
                <a:solidFill>
                  <a:schemeClr val="tx1"/>
                </a:solidFill>
                <a:latin typeface="Arial MT"/>
                <a:cs typeface="Arial MT"/>
              </a:rPr>
              <a:t>Fill</a:t>
            </a:r>
            <a:r>
              <a:rPr lang="en-US" sz="2200" spc="-25" dirty="0">
                <a:solidFill>
                  <a:schemeClr val="tx1"/>
                </a:solidFill>
                <a:latin typeface="Arial MT"/>
                <a:cs typeface="Arial MT"/>
              </a:rPr>
              <a:t> </a:t>
            </a:r>
            <a:r>
              <a:rPr lang="en-US" sz="2200" dirty="0">
                <a:solidFill>
                  <a:schemeClr val="tx1"/>
                </a:solidFill>
                <a:latin typeface="Arial MT"/>
                <a:cs typeface="Arial MT"/>
              </a:rPr>
              <a:t>in</a:t>
            </a:r>
            <a:r>
              <a:rPr lang="en-US" sz="2200" spc="-20" dirty="0">
                <a:solidFill>
                  <a:schemeClr val="tx1"/>
                </a:solidFill>
                <a:latin typeface="Arial MT"/>
                <a:cs typeface="Arial MT"/>
              </a:rPr>
              <a:t> </a:t>
            </a:r>
            <a:r>
              <a:rPr lang="en-US" sz="2200" dirty="0">
                <a:solidFill>
                  <a:schemeClr val="tx1"/>
                </a:solidFill>
                <a:latin typeface="Arial MT"/>
                <a:cs typeface="Arial MT"/>
              </a:rPr>
              <a:t>missing</a:t>
            </a:r>
            <a:r>
              <a:rPr lang="en-US" sz="2200" spc="-20" dirty="0">
                <a:solidFill>
                  <a:schemeClr val="tx1"/>
                </a:solidFill>
                <a:latin typeface="Arial MT"/>
                <a:cs typeface="Arial MT"/>
              </a:rPr>
              <a:t> </a:t>
            </a:r>
            <a:r>
              <a:rPr lang="en-US" sz="2200" dirty="0">
                <a:solidFill>
                  <a:schemeClr val="tx1"/>
                </a:solidFill>
                <a:latin typeface="Arial MT"/>
                <a:cs typeface="Arial MT"/>
              </a:rPr>
              <a:t>values</a:t>
            </a:r>
          </a:p>
          <a:p>
            <a:pPr marL="755650" lvl="1" indent="-285750">
              <a:lnSpc>
                <a:spcPct val="100000"/>
              </a:lnSpc>
              <a:spcBef>
                <a:spcPts val="1060"/>
              </a:spcBef>
              <a:buClr>
                <a:srgbClr val="3B812F"/>
              </a:buClr>
              <a:buSzPct val="59090"/>
              <a:buFont typeface="Wingdings"/>
              <a:buChar char=""/>
              <a:tabLst>
                <a:tab pos="755015" algn="l"/>
                <a:tab pos="755650" algn="l"/>
              </a:tabLst>
            </a:pPr>
            <a:r>
              <a:rPr lang="en-US" sz="2200" spc="-5" dirty="0">
                <a:solidFill>
                  <a:schemeClr val="tx1"/>
                </a:solidFill>
                <a:latin typeface="Arial MT"/>
                <a:cs typeface="Arial MT"/>
              </a:rPr>
              <a:t>Identify outliers </a:t>
            </a:r>
            <a:r>
              <a:rPr lang="en-US" sz="2200" dirty="0">
                <a:solidFill>
                  <a:schemeClr val="tx1"/>
                </a:solidFill>
                <a:latin typeface="Arial MT"/>
                <a:cs typeface="Arial MT"/>
              </a:rPr>
              <a:t>and </a:t>
            </a:r>
            <a:r>
              <a:rPr lang="en-US" sz="2200" spc="-5" dirty="0">
                <a:solidFill>
                  <a:schemeClr val="tx1"/>
                </a:solidFill>
                <a:latin typeface="Arial MT"/>
                <a:cs typeface="Arial MT"/>
              </a:rPr>
              <a:t>smooth</a:t>
            </a:r>
            <a:r>
              <a:rPr lang="en-US" sz="2200" dirty="0">
                <a:solidFill>
                  <a:schemeClr val="tx1"/>
                </a:solidFill>
                <a:latin typeface="Arial MT"/>
                <a:cs typeface="Arial MT"/>
              </a:rPr>
              <a:t> out</a:t>
            </a:r>
            <a:r>
              <a:rPr lang="en-US" sz="2200" spc="-5" dirty="0">
                <a:solidFill>
                  <a:schemeClr val="tx1"/>
                </a:solidFill>
                <a:latin typeface="Arial MT"/>
                <a:cs typeface="Arial MT"/>
              </a:rPr>
              <a:t> </a:t>
            </a:r>
            <a:r>
              <a:rPr lang="en-US" sz="2200" dirty="0">
                <a:solidFill>
                  <a:schemeClr val="tx1"/>
                </a:solidFill>
                <a:latin typeface="Arial MT"/>
                <a:cs typeface="Arial MT"/>
              </a:rPr>
              <a:t>noisy</a:t>
            </a:r>
            <a:r>
              <a:rPr lang="en-US" sz="2200" spc="-5" dirty="0">
                <a:solidFill>
                  <a:schemeClr val="tx1"/>
                </a:solidFill>
                <a:latin typeface="Arial MT"/>
                <a:cs typeface="Arial MT"/>
              </a:rPr>
              <a:t> data</a:t>
            </a:r>
            <a:endParaRPr lang="en-US" sz="2200" dirty="0">
              <a:solidFill>
                <a:schemeClr val="tx1"/>
              </a:solidFill>
              <a:latin typeface="Arial MT"/>
              <a:cs typeface="Arial MT"/>
            </a:endParaRPr>
          </a:p>
          <a:p>
            <a:pPr marL="755650" lvl="1" indent="-285750">
              <a:lnSpc>
                <a:spcPct val="100000"/>
              </a:lnSpc>
              <a:spcBef>
                <a:spcPts val="1060"/>
              </a:spcBef>
              <a:buClr>
                <a:srgbClr val="3B812F"/>
              </a:buClr>
              <a:buSzPct val="59090"/>
              <a:buFont typeface="Wingdings"/>
              <a:buChar char=""/>
              <a:tabLst>
                <a:tab pos="755015" algn="l"/>
                <a:tab pos="755650" algn="l"/>
              </a:tabLst>
            </a:pPr>
            <a:r>
              <a:rPr lang="en-US" sz="2200" dirty="0">
                <a:solidFill>
                  <a:schemeClr val="tx1"/>
                </a:solidFill>
                <a:latin typeface="Arial MT"/>
                <a:cs typeface="Arial MT"/>
              </a:rPr>
              <a:t>Correct</a:t>
            </a:r>
            <a:r>
              <a:rPr lang="en-US" sz="2200" spc="-15" dirty="0">
                <a:solidFill>
                  <a:schemeClr val="tx1"/>
                </a:solidFill>
                <a:latin typeface="Arial MT"/>
                <a:cs typeface="Arial MT"/>
              </a:rPr>
              <a:t> </a:t>
            </a:r>
            <a:r>
              <a:rPr lang="en-US" sz="2200" spc="-5" dirty="0">
                <a:solidFill>
                  <a:schemeClr val="tx1"/>
                </a:solidFill>
                <a:latin typeface="Arial MT"/>
                <a:cs typeface="Arial MT"/>
              </a:rPr>
              <a:t>inconsistent</a:t>
            </a:r>
            <a:r>
              <a:rPr lang="en-US" sz="2200" spc="-15" dirty="0">
                <a:solidFill>
                  <a:schemeClr val="tx1"/>
                </a:solidFill>
                <a:latin typeface="Arial MT"/>
                <a:cs typeface="Arial MT"/>
              </a:rPr>
              <a:t> </a:t>
            </a:r>
            <a:r>
              <a:rPr lang="en-US" sz="2200" spc="-5" dirty="0">
                <a:solidFill>
                  <a:schemeClr val="tx1"/>
                </a:solidFill>
                <a:latin typeface="Arial MT"/>
                <a:cs typeface="Arial MT"/>
              </a:rPr>
              <a:t>data</a:t>
            </a:r>
            <a:endParaRPr lang="en-US" sz="2200" dirty="0">
              <a:solidFill>
                <a:schemeClr val="tx1"/>
              </a:solidFill>
              <a:latin typeface="Arial MT"/>
              <a:cs typeface="Arial MT"/>
            </a:endParaRPr>
          </a:p>
          <a:p>
            <a:pPr marL="755650" lvl="1" indent="-285750">
              <a:lnSpc>
                <a:spcPct val="100000"/>
              </a:lnSpc>
              <a:spcBef>
                <a:spcPts val="1060"/>
              </a:spcBef>
              <a:buClr>
                <a:srgbClr val="3B812F"/>
              </a:buClr>
              <a:buSzPct val="59090"/>
              <a:buFont typeface="Wingdings"/>
              <a:buChar char=""/>
              <a:tabLst>
                <a:tab pos="755015" algn="l"/>
                <a:tab pos="755650" algn="l"/>
              </a:tabLst>
            </a:pPr>
            <a:r>
              <a:rPr lang="en-US" sz="2200" dirty="0">
                <a:solidFill>
                  <a:schemeClr val="tx1"/>
                </a:solidFill>
                <a:latin typeface="Arial MT"/>
                <a:cs typeface="Arial MT"/>
              </a:rPr>
              <a:t>Resolve</a:t>
            </a:r>
            <a:r>
              <a:rPr lang="en-US" sz="2200" spc="-10" dirty="0">
                <a:solidFill>
                  <a:schemeClr val="tx1"/>
                </a:solidFill>
                <a:latin typeface="Arial MT"/>
                <a:cs typeface="Arial MT"/>
              </a:rPr>
              <a:t> </a:t>
            </a:r>
            <a:r>
              <a:rPr lang="en-US" sz="2200" dirty="0">
                <a:solidFill>
                  <a:schemeClr val="tx1"/>
                </a:solidFill>
                <a:latin typeface="Arial MT"/>
                <a:cs typeface="Arial MT"/>
              </a:rPr>
              <a:t>redundancy</a:t>
            </a:r>
            <a:r>
              <a:rPr lang="en-US" sz="2200" spc="-10" dirty="0">
                <a:solidFill>
                  <a:schemeClr val="tx1"/>
                </a:solidFill>
                <a:latin typeface="Arial MT"/>
                <a:cs typeface="Arial MT"/>
              </a:rPr>
              <a:t> </a:t>
            </a:r>
            <a:r>
              <a:rPr lang="en-US" sz="2200" dirty="0">
                <a:solidFill>
                  <a:schemeClr val="tx1"/>
                </a:solidFill>
                <a:latin typeface="Arial MT"/>
                <a:cs typeface="Arial MT"/>
              </a:rPr>
              <a:t>caused</a:t>
            </a:r>
            <a:r>
              <a:rPr lang="en-US" sz="2200" spc="-5" dirty="0">
                <a:solidFill>
                  <a:schemeClr val="tx1"/>
                </a:solidFill>
                <a:latin typeface="Arial MT"/>
                <a:cs typeface="Arial MT"/>
              </a:rPr>
              <a:t> </a:t>
            </a:r>
            <a:r>
              <a:rPr lang="en-US" sz="2200" dirty="0">
                <a:solidFill>
                  <a:schemeClr val="tx1"/>
                </a:solidFill>
                <a:latin typeface="Arial MT"/>
                <a:cs typeface="Arial MT"/>
              </a:rPr>
              <a:t>by</a:t>
            </a:r>
            <a:r>
              <a:rPr lang="en-US" sz="2200" spc="-15" dirty="0">
                <a:solidFill>
                  <a:schemeClr val="tx1"/>
                </a:solidFill>
                <a:latin typeface="Arial MT"/>
                <a:cs typeface="Arial MT"/>
              </a:rPr>
              <a:t> </a:t>
            </a:r>
            <a:r>
              <a:rPr lang="en-US" sz="2200" spc="-5" dirty="0">
                <a:solidFill>
                  <a:schemeClr val="tx1"/>
                </a:solidFill>
                <a:latin typeface="Arial MT"/>
                <a:cs typeface="Arial MT"/>
              </a:rPr>
              <a:t>data integration</a:t>
            </a:r>
            <a:endParaRPr lang="en-US" sz="2200" dirty="0">
              <a:solidFill>
                <a:schemeClr val="tx1"/>
              </a:solidFill>
              <a:latin typeface="Arial MT"/>
              <a:cs typeface="Arial MT"/>
            </a:endParaRPr>
          </a:p>
          <a:p>
            <a:endParaRPr lang="en-IN" dirty="0"/>
          </a:p>
        </p:txBody>
      </p:sp>
    </p:spTree>
    <p:extLst>
      <p:ext uri="{BB962C8B-B14F-4D97-AF65-F5344CB8AC3E}">
        <p14:creationId xmlns:p14="http://schemas.microsoft.com/office/powerpoint/2010/main" val="3312100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519DC-A137-42EF-BFC3-081A926F6862}"/>
              </a:ext>
            </a:extLst>
          </p:cNvPr>
          <p:cNvSpPr>
            <a:spLocks noGrp="1"/>
          </p:cNvSpPr>
          <p:nvPr>
            <p:ph type="title"/>
          </p:nvPr>
        </p:nvSpPr>
        <p:spPr/>
        <p:txBody>
          <a:bodyPr/>
          <a:lstStyle/>
          <a:p>
            <a:r>
              <a:rPr lang="en-US" dirty="0"/>
              <a:t>Missing Data</a:t>
            </a:r>
            <a:endParaRPr lang="en-IN" dirty="0"/>
          </a:p>
        </p:txBody>
      </p:sp>
      <p:sp>
        <p:nvSpPr>
          <p:cNvPr id="3" name="Content Placeholder 2">
            <a:extLst>
              <a:ext uri="{FF2B5EF4-FFF2-40B4-BE49-F238E27FC236}">
                <a16:creationId xmlns:a16="http://schemas.microsoft.com/office/drawing/2014/main" id="{80982E5F-9F86-44AB-A7B6-E12EB8D557A6}"/>
              </a:ext>
            </a:extLst>
          </p:cNvPr>
          <p:cNvSpPr>
            <a:spLocks noGrp="1"/>
          </p:cNvSpPr>
          <p:nvPr>
            <p:ph idx="1"/>
          </p:nvPr>
        </p:nvSpPr>
        <p:spPr/>
        <p:txBody>
          <a:bodyPr/>
          <a:lstStyle/>
          <a:p>
            <a:pPr marL="355600" indent="-342900">
              <a:lnSpc>
                <a:spcPct val="100000"/>
              </a:lnSpc>
              <a:spcBef>
                <a:spcPts val="1320"/>
              </a:spcBef>
              <a:buClr>
                <a:srgbClr val="CC9900"/>
              </a:buClr>
              <a:buSzPct val="63461"/>
              <a:buFont typeface="Wingdings"/>
              <a:buChar char=""/>
              <a:tabLst>
                <a:tab pos="354965" algn="l"/>
                <a:tab pos="355600" algn="l"/>
              </a:tabLst>
            </a:pPr>
            <a:r>
              <a:rPr lang="en-US" sz="2600" spc="-5" dirty="0">
                <a:solidFill>
                  <a:schemeClr val="tx1"/>
                </a:solidFill>
                <a:latin typeface="Arial MT"/>
                <a:cs typeface="Arial MT"/>
              </a:rPr>
              <a:t>Data</a:t>
            </a:r>
            <a:r>
              <a:rPr lang="en-US" sz="2600" spc="-20" dirty="0">
                <a:solidFill>
                  <a:schemeClr val="tx1"/>
                </a:solidFill>
                <a:latin typeface="Arial MT"/>
                <a:cs typeface="Arial MT"/>
              </a:rPr>
              <a:t> </a:t>
            </a:r>
            <a:r>
              <a:rPr lang="en-US" sz="2600" dirty="0">
                <a:solidFill>
                  <a:schemeClr val="tx1"/>
                </a:solidFill>
                <a:latin typeface="Arial MT"/>
                <a:cs typeface="Arial MT"/>
              </a:rPr>
              <a:t>is</a:t>
            </a:r>
            <a:r>
              <a:rPr lang="en-US" sz="2600" spc="-20" dirty="0">
                <a:solidFill>
                  <a:schemeClr val="tx1"/>
                </a:solidFill>
                <a:latin typeface="Arial MT"/>
                <a:cs typeface="Arial MT"/>
              </a:rPr>
              <a:t> </a:t>
            </a:r>
            <a:r>
              <a:rPr lang="en-US" sz="2600" dirty="0">
                <a:solidFill>
                  <a:schemeClr val="tx1"/>
                </a:solidFill>
                <a:latin typeface="Arial MT"/>
                <a:cs typeface="Arial MT"/>
              </a:rPr>
              <a:t>not</a:t>
            </a:r>
            <a:r>
              <a:rPr lang="en-US" sz="2600" spc="-20" dirty="0">
                <a:solidFill>
                  <a:schemeClr val="tx1"/>
                </a:solidFill>
                <a:latin typeface="Arial MT"/>
                <a:cs typeface="Arial MT"/>
              </a:rPr>
              <a:t> </a:t>
            </a:r>
            <a:r>
              <a:rPr lang="en-US" sz="2600" dirty="0">
                <a:solidFill>
                  <a:schemeClr val="tx1"/>
                </a:solidFill>
                <a:latin typeface="Arial MT"/>
                <a:cs typeface="Arial MT"/>
              </a:rPr>
              <a:t>always</a:t>
            </a:r>
            <a:r>
              <a:rPr lang="en-US" sz="2600" spc="-25" dirty="0">
                <a:solidFill>
                  <a:schemeClr val="tx1"/>
                </a:solidFill>
                <a:latin typeface="Arial MT"/>
                <a:cs typeface="Arial MT"/>
              </a:rPr>
              <a:t> </a:t>
            </a:r>
            <a:r>
              <a:rPr lang="en-US" sz="2600" dirty="0">
                <a:solidFill>
                  <a:schemeClr val="tx1"/>
                </a:solidFill>
                <a:latin typeface="Arial MT"/>
                <a:cs typeface="Arial MT"/>
              </a:rPr>
              <a:t>available</a:t>
            </a:r>
          </a:p>
          <a:p>
            <a:pPr marL="748665" marR="569595" lvl="1" indent="-279400">
              <a:lnSpc>
                <a:spcPct val="121700"/>
              </a:lnSpc>
              <a:spcBef>
                <a:spcPts val="420"/>
              </a:spcBef>
              <a:buClr>
                <a:srgbClr val="3B812F"/>
              </a:buClr>
              <a:buSzPct val="60000"/>
              <a:buFont typeface="Wingdings"/>
              <a:buChar char=""/>
              <a:tabLst>
                <a:tab pos="755015" algn="l"/>
                <a:tab pos="755650" algn="l"/>
              </a:tabLst>
            </a:pPr>
            <a:r>
              <a:rPr lang="en-US" sz="2000" spc="-5" dirty="0">
                <a:solidFill>
                  <a:schemeClr val="tx1"/>
                </a:solidFill>
                <a:latin typeface="Arial MT"/>
                <a:cs typeface="Arial MT"/>
              </a:rPr>
              <a:t>E.g.,</a:t>
            </a:r>
            <a:r>
              <a:rPr lang="en-US" sz="2000" spc="-15" dirty="0">
                <a:solidFill>
                  <a:schemeClr val="tx1"/>
                </a:solidFill>
                <a:latin typeface="Arial MT"/>
                <a:cs typeface="Arial MT"/>
              </a:rPr>
              <a:t> </a:t>
            </a:r>
            <a:r>
              <a:rPr lang="en-US" sz="2000" dirty="0">
                <a:solidFill>
                  <a:schemeClr val="tx1"/>
                </a:solidFill>
                <a:latin typeface="Arial MT"/>
                <a:cs typeface="Arial MT"/>
              </a:rPr>
              <a:t>many</a:t>
            </a:r>
            <a:r>
              <a:rPr lang="en-US" sz="2000" spc="-10" dirty="0">
                <a:solidFill>
                  <a:schemeClr val="tx1"/>
                </a:solidFill>
                <a:latin typeface="Arial MT"/>
                <a:cs typeface="Arial MT"/>
              </a:rPr>
              <a:t> </a:t>
            </a:r>
            <a:r>
              <a:rPr lang="en-US" sz="2000" spc="-5" dirty="0">
                <a:solidFill>
                  <a:schemeClr val="tx1"/>
                </a:solidFill>
                <a:latin typeface="Arial MT"/>
                <a:cs typeface="Arial MT"/>
              </a:rPr>
              <a:t>tuples</a:t>
            </a:r>
            <a:r>
              <a:rPr lang="en-US" sz="2000" spc="-10" dirty="0">
                <a:solidFill>
                  <a:schemeClr val="tx1"/>
                </a:solidFill>
                <a:latin typeface="Arial MT"/>
                <a:cs typeface="Arial MT"/>
              </a:rPr>
              <a:t> </a:t>
            </a:r>
            <a:r>
              <a:rPr lang="en-US" sz="2000" dirty="0">
                <a:solidFill>
                  <a:schemeClr val="tx1"/>
                </a:solidFill>
                <a:latin typeface="Arial MT"/>
                <a:cs typeface="Arial MT"/>
              </a:rPr>
              <a:t>have</a:t>
            </a:r>
            <a:r>
              <a:rPr lang="en-US" sz="2000" spc="-5" dirty="0">
                <a:solidFill>
                  <a:schemeClr val="tx1"/>
                </a:solidFill>
                <a:latin typeface="Arial MT"/>
                <a:cs typeface="Arial MT"/>
              </a:rPr>
              <a:t> </a:t>
            </a:r>
            <a:r>
              <a:rPr lang="en-US" sz="2000" dirty="0">
                <a:solidFill>
                  <a:schemeClr val="tx1"/>
                </a:solidFill>
                <a:latin typeface="Arial MT"/>
                <a:cs typeface="Arial MT"/>
              </a:rPr>
              <a:t>no</a:t>
            </a:r>
            <a:r>
              <a:rPr lang="en-US" sz="2000" spc="-10" dirty="0">
                <a:solidFill>
                  <a:schemeClr val="tx1"/>
                </a:solidFill>
                <a:latin typeface="Arial MT"/>
                <a:cs typeface="Arial MT"/>
              </a:rPr>
              <a:t> </a:t>
            </a:r>
            <a:r>
              <a:rPr lang="en-US" sz="2000" dirty="0">
                <a:solidFill>
                  <a:schemeClr val="tx1"/>
                </a:solidFill>
                <a:latin typeface="Arial MT"/>
                <a:cs typeface="Arial MT"/>
              </a:rPr>
              <a:t>recorded</a:t>
            </a:r>
            <a:r>
              <a:rPr lang="en-US" sz="2000" spc="-5" dirty="0">
                <a:solidFill>
                  <a:schemeClr val="tx1"/>
                </a:solidFill>
                <a:latin typeface="Arial MT"/>
                <a:cs typeface="Arial MT"/>
              </a:rPr>
              <a:t> </a:t>
            </a:r>
            <a:r>
              <a:rPr lang="en-US" sz="2000" dirty="0">
                <a:solidFill>
                  <a:schemeClr val="tx1"/>
                </a:solidFill>
                <a:latin typeface="Arial MT"/>
                <a:cs typeface="Arial MT"/>
              </a:rPr>
              <a:t>values</a:t>
            </a:r>
            <a:r>
              <a:rPr lang="en-US" sz="2000" spc="-10" dirty="0">
                <a:solidFill>
                  <a:schemeClr val="tx1"/>
                </a:solidFill>
                <a:latin typeface="Arial MT"/>
                <a:cs typeface="Arial MT"/>
              </a:rPr>
              <a:t> </a:t>
            </a:r>
            <a:r>
              <a:rPr lang="en-US" sz="2000" spc="-5" dirty="0">
                <a:solidFill>
                  <a:schemeClr val="tx1"/>
                </a:solidFill>
                <a:latin typeface="Arial MT"/>
                <a:cs typeface="Arial MT"/>
              </a:rPr>
              <a:t>for</a:t>
            </a:r>
            <a:r>
              <a:rPr lang="en-US" sz="2000" spc="-10" dirty="0">
                <a:solidFill>
                  <a:schemeClr val="tx1"/>
                </a:solidFill>
                <a:latin typeface="Arial MT"/>
                <a:cs typeface="Arial MT"/>
              </a:rPr>
              <a:t> </a:t>
            </a:r>
            <a:r>
              <a:rPr lang="en-US" sz="2000" dirty="0">
                <a:solidFill>
                  <a:schemeClr val="tx1"/>
                </a:solidFill>
                <a:latin typeface="Arial MT"/>
                <a:cs typeface="Arial MT"/>
              </a:rPr>
              <a:t>several </a:t>
            </a:r>
            <a:r>
              <a:rPr lang="en-US" sz="2000" spc="-540" dirty="0">
                <a:solidFill>
                  <a:schemeClr val="tx1"/>
                </a:solidFill>
                <a:latin typeface="Arial MT"/>
                <a:cs typeface="Arial MT"/>
              </a:rPr>
              <a:t> </a:t>
            </a:r>
            <a:r>
              <a:rPr lang="en-US" sz="2000" spc="-5" dirty="0">
                <a:solidFill>
                  <a:schemeClr val="tx1"/>
                </a:solidFill>
                <a:latin typeface="Arial MT"/>
                <a:cs typeface="Arial MT"/>
              </a:rPr>
              <a:t>attributes,</a:t>
            </a:r>
            <a:r>
              <a:rPr lang="en-US" sz="2000" spc="-10" dirty="0">
                <a:solidFill>
                  <a:schemeClr val="tx1"/>
                </a:solidFill>
                <a:latin typeface="Arial MT"/>
                <a:cs typeface="Arial MT"/>
              </a:rPr>
              <a:t> </a:t>
            </a:r>
            <a:r>
              <a:rPr lang="en-US" sz="2000" dirty="0">
                <a:solidFill>
                  <a:schemeClr val="tx1"/>
                </a:solidFill>
                <a:latin typeface="Arial MT"/>
                <a:cs typeface="Arial MT"/>
              </a:rPr>
              <a:t>such as</a:t>
            </a:r>
            <a:r>
              <a:rPr lang="en-US" sz="2000" spc="-5" dirty="0">
                <a:solidFill>
                  <a:schemeClr val="tx1"/>
                </a:solidFill>
                <a:latin typeface="Arial MT"/>
                <a:cs typeface="Arial MT"/>
              </a:rPr>
              <a:t> customer </a:t>
            </a:r>
            <a:r>
              <a:rPr lang="en-US" sz="2000" dirty="0">
                <a:solidFill>
                  <a:schemeClr val="tx1"/>
                </a:solidFill>
                <a:latin typeface="Arial MT"/>
                <a:cs typeface="Arial MT"/>
              </a:rPr>
              <a:t>income in sales</a:t>
            </a:r>
            <a:r>
              <a:rPr lang="en-US" sz="2000" spc="-5" dirty="0">
                <a:solidFill>
                  <a:schemeClr val="tx1"/>
                </a:solidFill>
                <a:latin typeface="Arial MT"/>
                <a:cs typeface="Arial MT"/>
              </a:rPr>
              <a:t> data</a:t>
            </a:r>
            <a:endParaRPr lang="en-US" sz="2000" dirty="0">
              <a:solidFill>
                <a:schemeClr val="tx1"/>
              </a:solidFill>
              <a:latin typeface="Arial MT"/>
              <a:cs typeface="Arial MT"/>
            </a:endParaRPr>
          </a:p>
          <a:p>
            <a:pPr marL="355600" indent="-342900">
              <a:lnSpc>
                <a:spcPct val="100000"/>
              </a:lnSpc>
              <a:spcBef>
                <a:spcPts val="1145"/>
              </a:spcBef>
              <a:buClr>
                <a:srgbClr val="CC9900"/>
              </a:buClr>
              <a:buSzPct val="63461"/>
              <a:buFont typeface="Wingdings"/>
              <a:buChar char=""/>
              <a:tabLst>
                <a:tab pos="354965" algn="l"/>
                <a:tab pos="355600" algn="l"/>
              </a:tabLst>
            </a:pPr>
            <a:r>
              <a:rPr lang="en-US" sz="2600" dirty="0">
                <a:solidFill>
                  <a:schemeClr val="tx1"/>
                </a:solidFill>
                <a:latin typeface="Arial MT"/>
                <a:cs typeface="Arial MT"/>
              </a:rPr>
              <a:t>Missing</a:t>
            </a:r>
            <a:r>
              <a:rPr lang="en-US" sz="2600" spc="-15" dirty="0">
                <a:solidFill>
                  <a:schemeClr val="tx1"/>
                </a:solidFill>
                <a:latin typeface="Arial MT"/>
                <a:cs typeface="Arial MT"/>
              </a:rPr>
              <a:t> </a:t>
            </a:r>
            <a:r>
              <a:rPr lang="en-US" sz="2600" spc="-5" dirty="0">
                <a:solidFill>
                  <a:schemeClr val="tx1"/>
                </a:solidFill>
                <a:latin typeface="Arial MT"/>
                <a:cs typeface="Arial MT"/>
              </a:rPr>
              <a:t>data</a:t>
            </a:r>
            <a:r>
              <a:rPr lang="en-US" sz="2600" spc="-15" dirty="0">
                <a:solidFill>
                  <a:schemeClr val="tx1"/>
                </a:solidFill>
                <a:latin typeface="Arial MT"/>
                <a:cs typeface="Arial MT"/>
              </a:rPr>
              <a:t> </a:t>
            </a:r>
            <a:r>
              <a:rPr lang="en-US" sz="2600" dirty="0">
                <a:solidFill>
                  <a:schemeClr val="tx1"/>
                </a:solidFill>
                <a:latin typeface="Arial MT"/>
                <a:cs typeface="Arial MT"/>
              </a:rPr>
              <a:t>may</a:t>
            </a:r>
            <a:r>
              <a:rPr lang="en-US" sz="2600" spc="-15" dirty="0">
                <a:solidFill>
                  <a:schemeClr val="tx1"/>
                </a:solidFill>
                <a:latin typeface="Arial MT"/>
                <a:cs typeface="Arial MT"/>
              </a:rPr>
              <a:t> </a:t>
            </a:r>
            <a:r>
              <a:rPr lang="en-US" sz="2600" dirty="0">
                <a:solidFill>
                  <a:schemeClr val="tx1"/>
                </a:solidFill>
                <a:latin typeface="Arial MT"/>
                <a:cs typeface="Arial MT"/>
              </a:rPr>
              <a:t>be</a:t>
            </a:r>
            <a:r>
              <a:rPr lang="en-US" sz="2600" spc="-15" dirty="0">
                <a:solidFill>
                  <a:schemeClr val="tx1"/>
                </a:solidFill>
                <a:latin typeface="Arial MT"/>
                <a:cs typeface="Arial MT"/>
              </a:rPr>
              <a:t> </a:t>
            </a:r>
            <a:r>
              <a:rPr lang="en-US" sz="2600" dirty="0">
                <a:solidFill>
                  <a:schemeClr val="tx1"/>
                </a:solidFill>
                <a:latin typeface="Arial MT"/>
                <a:cs typeface="Arial MT"/>
              </a:rPr>
              <a:t>due</a:t>
            </a:r>
            <a:r>
              <a:rPr lang="en-US" sz="2600" spc="-10" dirty="0">
                <a:solidFill>
                  <a:schemeClr val="tx1"/>
                </a:solidFill>
                <a:latin typeface="Arial MT"/>
                <a:cs typeface="Arial MT"/>
              </a:rPr>
              <a:t> </a:t>
            </a:r>
            <a:r>
              <a:rPr lang="en-US" sz="2600" spc="-5" dirty="0">
                <a:solidFill>
                  <a:schemeClr val="tx1"/>
                </a:solidFill>
                <a:latin typeface="Arial MT"/>
                <a:cs typeface="Arial MT"/>
              </a:rPr>
              <a:t>to</a:t>
            </a:r>
            <a:endParaRPr lang="en-US" sz="2600" dirty="0">
              <a:solidFill>
                <a:schemeClr val="tx1"/>
              </a:solidFill>
              <a:latin typeface="Arial MT"/>
              <a:cs typeface="Arial MT"/>
            </a:endParaRPr>
          </a:p>
          <a:p>
            <a:pPr marL="755650" lvl="1" indent="-285750">
              <a:lnSpc>
                <a:spcPct val="100000"/>
              </a:lnSpc>
              <a:spcBef>
                <a:spcPts val="535"/>
              </a:spcBef>
              <a:buClr>
                <a:srgbClr val="3B812F"/>
              </a:buClr>
              <a:buSzPct val="60000"/>
              <a:buFont typeface="Wingdings"/>
              <a:buChar char=""/>
              <a:tabLst>
                <a:tab pos="755015" algn="l"/>
                <a:tab pos="755650" algn="l"/>
              </a:tabLst>
            </a:pPr>
            <a:r>
              <a:rPr lang="en-US" sz="2000" dirty="0">
                <a:solidFill>
                  <a:schemeClr val="tx1"/>
                </a:solidFill>
                <a:latin typeface="Arial MT"/>
                <a:cs typeface="Arial MT"/>
              </a:rPr>
              <a:t>equipment</a:t>
            </a:r>
            <a:r>
              <a:rPr lang="en-US" sz="2000" spc="-30" dirty="0">
                <a:solidFill>
                  <a:schemeClr val="tx1"/>
                </a:solidFill>
                <a:latin typeface="Arial MT"/>
                <a:cs typeface="Arial MT"/>
              </a:rPr>
              <a:t> </a:t>
            </a:r>
            <a:r>
              <a:rPr lang="en-US" sz="2000" spc="-5" dirty="0">
                <a:solidFill>
                  <a:schemeClr val="tx1"/>
                </a:solidFill>
                <a:latin typeface="Arial MT"/>
                <a:cs typeface="Arial MT"/>
              </a:rPr>
              <a:t>malfunction</a:t>
            </a:r>
            <a:endParaRPr lang="en-US" sz="2000" dirty="0">
              <a:solidFill>
                <a:schemeClr val="tx1"/>
              </a:solidFill>
              <a:latin typeface="Arial MT"/>
              <a:cs typeface="Arial MT"/>
            </a:endParaRPr>
          </a:p>
          <a:p>
            <a:pPr marL="755650" lvl="1" indent="-285750">
              <a:lnSpc>
                <a:spcPct val="100000"/>
              </a:lnSpc>
              <a:spcBef>
                <a:spcPts val="500"/>
              </a:spcBef>
              <a:buClr>
                <a:srgbClr val="3B812F"/>
              </a:buClr>
              <a:buSzPct val="60000"/>
              <a:buFont typeface="Wingdings"/>
              <a:buChar char=""/>
              <a:tabLst>
                <a:tab pos="755015" algn="l"/>
                <a:tab pos="755650" algn="l"/>
              </a:tabLst>
            </a:pPr>
            <a:r>
              <a:rPr lang="en-US" sz="2000" spc="-5" dirty="0">
                <a:solidFill>
                  <a:schemeClr val="tx1"/>
                </a:solidFill>
                <a:latin typeface="Arial MT"/>
                <a:cs typeface="Arial MT"/>
              </a:rPr>
              <a:t>inconsistent</a:t>
            </a:r>
            <a:r>
              <a:rPr lang="en-US" sz="2000" dirty="0">
                <a:solidFill>
                  <a:schemeClr val="tx1"/>
                </a:solidFill>
                <a:latin typeface="Arial MT"/>
                <a:cs typeface="Arial MT"/>
              </a:rPr>
              <a:t> </a:t>
            </a:r>
            <a:r>
              <a:rPr lang="en-US" sz="2000" spc="-5" dirty="0">
                <a:solidFill>
                  <a:schemeClr val="tx1"/>
                </a:solidFill>
                <a:latin typeface="Arial MT"/>
                <a:cs typeface="Arial MT"/>
              </a:rPr>
              <a:t>with</a:t>
            </a:r>
            <a:r>
              <a:rPr lang="en-US" sz="2000" spc="5" dirty="0">
                <a:solidFill>
                  <a:schemeClr val="tx1"/>
                </a:solidFill>
                <a:latin typeface="Arial MT"/>
                <a:cs typeface="Arial MT"/>
              </a:rPr>
              <a:t> </a:t>
            </a:r>
            <a:r>
              <a:rPr lang="en-US" sz="2000" spc="-5" dirty="0">
                <a:solidFill>
                  <a:schemeClr val="tx1"/>
                </a:solidFill>
                <a:latin typeface="Arial MT"/>
                <a:cs typeface="Arial MT"/>
              </a:rPr>
              <a:t>other</a:t>
            </a:r>
            <a:r>
              <a:rPr lang="en-US" sz="2000" dirty="0">
                <a:solidFill>
                  <a:schemeClr val="tx1"/>
                </a:solidFill>
                <a:latin typeface="Arial MT"/>
                <a:cs typeface="Arial MT"/>
              </a:rPr>
              <a:t> recorded</a:t>
            </a:r>
            <a:r>
              <a:rPr lang="en-US" sz="2000" spc="5" dirty="0">
                <a:solidFill>
                  <a:schemeClr val="tx1"/>
                </a:solidFill>
                <a:latin typeface="Arial MT"/>
                <a:cs typeface="Arial MT"/>
              </a:rPr>
              <a:t> </a:t>
            </a:r>
            <a:r>
              <a:rPr lang="en-US" sz="2000" spc="-5" dirty="0">
                <a:solidFill>
                  <a:schemeClr val="tx1"/>
                </a:solidFill>
                <a:latin typeface="Arial MT"/>
                <a:cs typeface="Arial MT"/>
              </a:rPr>
              <a:t>data</a:t>
            </a:r>
            <a:r>
              <a:rPr lang="en-US" sz="2000" spc="10" dirty="0">
                <a:solidFill>
                  <a:schemeClr val="tx1"/>
                </a:solidFill>
                <a:latin typeface="Arial MT"/>
                <a:cs typeface="Arial MT"/>
              </a:rPr>
              <a:t> </a:t>
            </a:r>
            <a:r>
              <a:rPr lang="en-US" sz="2000" dirty="0">
                <a:solidFill>
                  <a:schemeClr val="tx1"/>
                </a:solidFill>
                <a:latin typeface="Arial MT"/>
                <a:cs typeface="Arial MT"/>
              </a:rPr>
              <a:t>and</a:t>
            </a:r>
            <a:r>
              <a:rPr lang="en-US" sz="2000" spc="5" dirty="0">
                <a:solidFill>
                  <a:schemeClr val="tx1"/>
                </a:solidFill>
                <a:latin typeface="Arial MT"/>
                <a:cs typeface="Arial MT"/>
              </a:rPr>
              <a:t> </a:t>
            </a:r>
            <a:r>
              <a:rPr lang="en-US" sz="2000" spc="-5" dirty="0">
                <a:solidFill>
                  <a:schemeClr val="tx1"/>
                </a:solidFill>
                <a:latin typeface="Arial MT"/>
                <a:cs typeface="Arial MT"/>
              </a:rPr>
              <a:t>thus</a:t>
            </a:r>
            <a:r>
              <a:rPr lang="en-US" sz="2000" dirty="0">
                <a:solidFill>
                  <a:schemeClr val="tx1"/>
                </a:solidFill>
                <a:latin typeface="Arial MT"/>
                <a:cs typeface="Arial MT"/>
              </a:rPr>
              <a:t> </a:t>
            </a:r>
            <a:r>
              <a:rPr lang="en-US" sz="2000" spc="-5" dirty="0">
                <a:solidFill>
                  <a:schemeClr val="tx1"/>
                </a:solidFill>
                <a:latin typeface="Arial MT"/>
                <a:cs typeface="Arial MT"/>
              </a:rPr>
              <a:t>deleted</a:t>
            </a:r>
            <a:endParaRPr lang="en-US" sz="2000" dirty="0">
              <a:solidFill>
                <a:schemeClr val="tx1"/>
              </a:solidFill>
              <a:latin typeface="Arial MT"/>
              <a:cs typeface="Arial MT"/>
            </a:endParaRPr>
          </a:p>
          <a:p>
            <a:pPr marL="755650" lvl="1" indent="-285750">
              <a:lnSpc>
                <a:spcPct val="100000"/>
              </a:lnSpc>
              <a:spcBef>
                <a:spcPts val="500"/>
              </a:spcBef>
              <a:buClr>
                <a:srgbClr val="3B812F"/>
              </a:buClr>
              <a:buSzPct val="60000"/>
              <a:buFont typeface="Wingdings"/>
              <a:buChar char=""/>
              <a:tabLst>
                <a:tab pos="755015" algn="l"/>
                <a:tab pos="755650" algn="l"/>
              </a:tabLst>
            </a:pPr>
            <a:r>
              <a:rPr lang="en-US" sz="2000" spc="-5" dirty="0">
                <a:solidFill>
                  <a:schemeClr val="tx1"/>
                </a:solidFill>
                <a:latin typeface="Arial MT"/>
                <a:cs typeface="Arial MT"/>
              </a:rPr>
              <a:t>data</a:t>
            </a:r>
            <a:r>
              <a:rPr lang="en-US" sz="2000" dirty="0">
                <a:solidFill>
                  <a:schemeClr val="tx1"/>
                </a:solidFill>
                <a:latin typeface="Arial MT"/>
                <a:cs typeface="Arial MT"/>
              </a:rPr>
              <a:t> not </a:t>
            </a:r>
            <a:r>
              <a:rPr lang="en-US" sz="2000" spc="-5" dirty="0">
                <a:solidFill>
                  <a:schemeClr val="tx1"/>
                </a:solidFill>
                <a:latin typeface="Arial MT"/>
                <a:cs typeface="Arial MT"/>
              </a:rPr>
              <a:t>entered</a:t>
            </a:r>
            <a:r>
              <a:rPr lang="en-US" sz="2000" spc="5" dirty="0">
                <a:solidFill>
                  <a:schemeClr val="tx1"/>
                </a:solidFill>
                <a:latin typeface="Arial MT"/>
                <a:cs typeface="Arial MT"/>
              </a:rPr>
              <a:t> </a:t>
            </a:r>
            <a:r>
              <a:rPr lang="en-US" sz="2000" dirty="0">
                <a:solidFill>
                  <a:schemeClr val="tx1"/>
                </a:solidFill>
                <a:latin typeface="Arial MT"/>
                <a:cs typeface="Arial MT"/>
              </a:rPr>
              <a:t>due</a:t>
            </a:r>
            <a:r>
              <a:rPr lang="en-US" sz="2000" spc="5" dirty="0">
                <a:solidFill>
                  <a:schemeClr val="tx1"/>
                </a:solidFill>
                <a:latin typeface="Arial MT"/>
                <a:cs typeface="Arial MT"/>
              </a:rPr>
              <a:t> </a:t>
            </a:r>
            <a:r>
              <a:rPr lang="en-US" sz="2000" spc="-5" dirty="0">
                <a:solidFill>
                  <a:schemeClr val="tx1"/>
                </a:solidFill>
                <a:latin typeface="Arial MT"/>
                <a:cs typeface="Arial MT"/>
              </a:rPr>
              <a:t>to</a:t>
            </a:r>
            <a:r>
              <a:rPr lang="en-US" sz="2000" spc="5" dirty="0">
                <a:solidFill>
                  <a:schemeClr val="tx1"/>
                </a:solidFill>
                <a:latin typeface="Arial MT"/>
                <a:cs typeface="Arial MT"/>
              </a:rPr>
              <a:t> </a:t>
            </a:r>
            <a:r>
              <a:rPr lang="en-US" sz="2000" spc="-5" dirty="0">
                <a:solidFill>
                  <a:schemeClr val="tx1"/>
                </a:solidFill>
                <a:latin typeface="Arial MT"/>
                <a:cs typeface="Arial MT"/>
              </a:rPr>
              <a:t>misunderstanding</a:t>
            </a:r>
            <a:endParaRPr lang="en-US" sz="2000" dirty="0">
              <a:solidFill>
                <a:schemeClr val="tx1"/>
              </a:solidFill>
              <a:latin typeface="Arial MT"/>
              <a:cs typeface="Arial MT"/>
            </a:endParaRPr>
          </a:p>
          <a:p>
            <a:pPr marL="748665" marR="5080" lvl="1" indent="-279400">
              <a:lnSpc>
                <a:spcPts val="2900"/>
              </a:lnSpc>
              <a:spcBef>
                <a:spcPts val="80"/>
              </a:spcBef>
              <a:buClr>
                <a:srgbClr val="3B812F"/>
              </a:buClr>
              <a:buSzPct val="60000"/>
              <a:buFont typeface="Wingdings"/>
              <a:buChar char=""/>
              <a:tabLst>
                <a:tab pos="755015" algn="l"/>
                <a:tab pos="755650" algn="l"/>
              </a:tabLst>
            </a:pPr>
            <a:r>
              <a:rPr lang="en-US" sz="2000" spc="-5" dirty="0">
                <a:solidFill>
                  <a:schemeClr val="tx1"/>
                </a:solidFill>
                <a:latin typeface="Arial MT"/>
                <a:cs typeface="Arial MT"/>
              </a:rPr>
              <a:t>certain</a:t>
            </a:r>
            <a:r>
              <a:rPr lang="en-US" sz="2000" dirty="0">
                <a:solidFill>
                  <a:schemeClr val="tx1"/>
                </a:solidFill>
                <a:latin typeface="Arial MT"/>
                <a:cs typeface="Arial MT"/>
              </a:rPr>
              <a:t> </a:t>
            </a:r>
            <a:r>
              <a:rPr lang="en-US" sz="2000" spc="-5" dirty="0">
                <a:solidFill>
                  <a:schemeClr val="tx1"/>
                </a:solidFill>
                <a:latin typeface="Arial MT"/>
                <a:cs typeface="Arial MT"/>
              </a:rPr>
              <a:t>data</a:t>
            </a:r>
            <a:r>
              <a:rPr lang="en-US" sz="2000" dirty="0">
                <a:solidFill>
                  <a:schemeClr val="tx1"/>
                </a:solidFill>
                <a:latin typeface="Arial MT"/>
                <a:cs typeface="Arial MT"/>
              </a:rPr>
              <a:t> may</a:t>
            </a:r>
            <a:r>
              <a:rPr lang="en-US" sz="2000" spc="-5" dirty="0">
                <a:solidFill>
                  <a:schemeClr val="tx1"/>
                </a:solidFill>
                <a:latin typeface="Arial MT"/>
                <a:cs typeface="Arial MT"/>
              </a:rPr>
              <a:t> </a:t>
            </a:r>
            <a:r>
              <a:rPr lang="en-US" sz="2000" dirty="0">
                <a:solidFill>
                  <a:schemeClr val="tx1"/>
                </a:solidFill>
                <a:latin typeface="Arial MT"/>
                <a:cs typeface="Arial MT"/>
              </a:rPr>
              <a:t>not</a:t>
            </a:r>
            <a:r>
              <a:rPr lang="en-US" sz="2000" spc="-5" dirty="0">
                <a:solidFill>
                  <a:schemeClr val="tx1"/>
                </a:solidFill>
                <a:latin typeface="Arial MT"/>
                <a:cs typeface="Arial MT"/>
              </a:rPr>
              <a:t> </a:t>
            </a:r>
            <a:r>
              <a:rPr lang="en-US" sz="2000" dirty="0">
                <a:solidFill>
                  <a:schemeClr val="tx1"/>
                </a:solidFill>
                <a:latin typeface="Arial MT"/>
                <a:cs typeface="Arial MT"/>
              </a:rPr>
              <a:t>be considered</a:t>
            </a:r>
            <a:r>
              <a:rPr lang="en-US" sz="2000" spc="5" dirty="0">
                <a:solidFill>
                  <a:schemeClr val="tx1"/>
                </a:solidFill>
                <a:latin typeface="Arial MT"/>
                <a:cs typeface="Arial MT"/>
              </a:rPr>
              <a:t> </a:t>
            </a:r>
            <a:r>
              <a:rPr lang="en-US" sz="2000" spc="-5" dirty="0">
                <a:solidFill>
                  <a:schemeClr val="tx1"/>
                </a:solidFill>
                <a:latin typeface="Arial MT"/>
                <a:cs typeface="Arial MT"/>
              </a:rPr>
              <a:t>important </a:t>
            </a:r>
            <a:r>
              <a:rPr lang="en-US" sz="2000" dirty="0">
                <a:solidFill>
                  <a:schemeClr val="tx1"/>
                </a:solidFill>
                <a:latin typeface="Arial MT"/>
                <a:cs typeface="Arial MT"/>
              </a:rPr>
              <a:t>at</a:t>
            </a:r>
            <a:r>
              <a:rPr lang="en-US" sz="2000" spc="-5" dirty="0">
                <a:solidFill>
                  <a:schemeClr val="tx1"/>
                </a:solidFill>
                <a:latin typeface="Arial MT"/>
                <a:cs typeface="Arial MT"/>
              </a:rPr>
              <a:t> the</a:t>
            </a:r>
            <a:r>
              <a:rPr lang="en-US" sz="2000" dirty="0">
                <a:solidFill>
                  <a:schemeClr val="tx1"/>
                </a:solidFill>
                <a:latin typeface="Arial MT"/>
                <a:cs typeface="Arial MT"/>
              </a:rPr>
              <a:t> </a:t>
            </a:r>
            <a:r>
              <a:rPr lang="en-US" sz="2000" spc="-5" dirty="0">
                <a:solidFill>
                  <a:schemeClr val="tx1"/>
                </a:solidFill>
                <a:latin typeface="Arial MT"/>
                <a:cs typeface="Arial MT"/>
              </a:rPr>
              <a:t>time</a:t>
            </a:r>
            <a:r>
              <a:rPr lang="en-US" sz="2000" dirty="0">
                <a:solidFill>
                  <a:schemeClr val="tx1"/>
                </a:solidFill>
                <a:latin typeface="Arial MT"/>
                <a:cs typeface="Arial MT"/>
              </a:rPr>
              <a:t> of </a:t>
            </a:r>
            <a:r>
              <a:rPr lang="en-US" sz="2000" spc="-540" dirty="0">
                <a:solidFill>
                  <a:schemeClr val="tx1"/>
                </a:solidFill>
                <a:latin typeface="Arial MT"/>
                <a:cs typeface="Arial MT"/>
              </a:rPr>
              <a:t> </a:t>
            </a:r>
            <a:r>
              <a:rPr lang="en-US" sz="2000" spc="-5" dirty="0">
                <a:solidFill>
                  <a:schemeClr val="tx1"/>
                </a:solidFill>
                <a:latin typeface="Arial MT"/>
                <a:cs typeface="Arial MT"/>
              </a:rPr>
              <a:t>entry</a:t>
            </a:r>
            <a:endParaRPr lang="en-US" sz="2000" dirty="0">
              <a:solidFill>
                <a:schemeClr val="tx1"/>
              </a:solidFill>
              <a:latin typeface="Arial MT"/>
              <a:cs typeface="Arial MT"/>
            </a:endParaRPr>
          </a:p>
          <a:p>
            <a:pPr marL="755650" lvl="1" indent="-285750">
              <a:lnSpc>
                <a:spcPct val="100000"/>
              </a:lnSpc>
              <a:spcBef>
                <a:spcPts val="320"/>
              </a:spcBef>
              <a:buClr>
                <a:srgbClr val="3B812F"/>
              </a:buClr>
              <a:buSzPct val="60000"/>
              <a:buFont typeface="Wingdings"/>
              <a:buChar char=""/>
              <a:tabLst>
                <a:tab pos="755015" algn="l"/>
                <a:tab pos="755650" algn="l"/>
              </a:tabLst>
            </a:pPr>
            <a:r>
              <a:rPr lang="en-US" sz="2000" dirty="0">
                <a:solidFill>
                  <a:schemeClr val="tx1"/>
                </a:solidFill>
                <a:latin typeface="Arial MT"/>
                <a:cs typeface="Arial MT"/>
              </a:rPr>
              <a:t>no</a:t>
            </a:r>
            <a:r>
              <a:rPr lang="en-US" sz="2000" spc="-5" dirty="0">
                <a:solidFill>
                  <a:schemeClr val="tx1"/>
                </a:solidFill>
                <a:latin typeface="Arial MT"/>
                <a:cs typeface="Arial MT"/>
              </a:rPr>
              <a:t> register history </a:t>
            </a:r>
            <a:r>
              <a:rPr lang="en-US" sz="2000" dirty="0">
                <a:solidFill>
                  <a:schemeClr val="tx1"/>
                </a:solidFill>
                <a:latin typeface="Arial MT"/>
                <a:cs typeface="Arial MT"/>
              </a:rPr>
              <a:t>or</a:t>
            </a:r>
            <a:r>
              <a:rPr lang="en-US" sz="2000" spc="-5" dirty="0">
                <a:solidFill>
                  <a:schemeClr val="tx1"/>
                </a:solidFill>
                <a:latin typeface="Arial MT"/>
                <a:cs typeface="Arial MT"/>
              </a:rPr>
              <a:t> </a:t>
            </a:r>
            <a:r>
              <a:rPr lang="en-US" sz="2000" dirty="0">
                <a:solidFill>
                  <a:schemeClr val="tx1"/>
                </a:solidFill>
                <a:latin typeface="Arial MT"/>
                <a:cs typeface="Arial MT"/>
              </a:rPr>
              <a:t>changes</a:t>
            </a:r>
            <a:r>
              <a:rPr lang="en-US" sz="2000" spc="-10" dirty="0">
                <a:solidFill>
                  <a:schemeClr val="tx1"/>
                </a:solidFill>
                <a:latin typeface="Arial MT"/>
                <a:cs typeface="Arial MT"/>
              </a:rPr>
              <a:t> </a:t>
            </a:r>
            <a:r>
              <a:rPr lang="en-US" sz="2000" dirty="0">
                <a:solidFill>
                  <a:schemeClr val="tx1"/>
                </a:solidFill>
                <a:latin typeface="Arial MT"/>
                <a:cs typeface="Arial MT"/>
              </a:rPr>
              <a:t>of</a:t>
            </a:r>
            <a:r>
              <a:rPr lang="en-US" sz="2000" spc="-5" dirty="0">
                <a:solidFill>
                  <a:schemeClr val="tx1"/>
                </a:solidFill>
                <a:latin typeface="Arial MT"/>
                <a:cs typeface="Arial MT"/>
              </a:rPr>
              <a:t> the</a:t>
            </a:r>
            <a:r>
              <a:rPr lang="en-US" sz="2000" dirty="0">
                <a:solidFill>
                  <a:schemeClr val="tx1"/>
                </a:solidFill>
                <a:latin typeface="Arial MT"/>
                <a:cs typeface="Arial MT"/>
              </a:rPr>
              <a:t> </a:t>
            </a:r>
            <a:r>
              <a:rPr lang="en-US" sz="2000" spc="-5" dirty="0">
                <a:solidFill>
                  <a:schemeClr val="tx1"/>
                </a:solidFill>
                <a:latin typeface="Arial MT"/>
                <a:cs typeface="Arial MT"/>
              </a:rPr>
              <a:t>data</a:t>
            </a:r>
            <a:endParaRPr lang="en-US" sz="2000" dirty="0">
              <a:solidFill>
                <a:schemeClr val="tx1"/>
              </a:solidFill>
              <a:latin typeface="Arial MT"/>
              <a:cs typeface="Arial MT"/>
            </a:endParaRPr>
          </a:p>
          <a:p>
            <a:pPr marL="755650" lvl="1" indent="-285750">
              <a:lnSpc>
                <a:spcPct val="100000"/>
              </a:lnSpc>
              <a:spcBef>
                <a:spcPts val="500"/>
              </a:spcBef>
              <a:buClr>
                <a:srgbClr val="3B812F"/>
              </a:buClr>
              <a:buSzPct val="60000"/>
              <a:buFont typeface="Wingdings"/>
              <a:buChar char=""/>
              <a:tabLst>
                <a:tab pos="755015" algn="l"/>
                <a:tab pos="755650" algn="l"/>
              </a:tabLst>
            </a:pPr>
            <a:r>
              <a:rPr lang="en-US" sz="2000" dirty="0">
                <a:solidFill>
                  <a:schemeClr val="tx1"/>
                </a:solidFill>
                <a:latin typeface="Arial MT"/>
                <a:cs typeface="Arial MT"/>
              </a:rPr>
              <a:t>expansion</a:t>
            </a:r>
            <a:r>
              <a:rPr lang="en-US" sz="2000" spc="-25" dirty="0">
                <a:solidFill>
                  <a:schemeClr val="tx1"/>
                </a:solidFill>
                <a:latin typeface="Arial MT"/>
                <a:cs typeface="Arial MT"/>
              </a:rPr>
              <a:t> </a:t>
            </a:r>
            <a:r>
              <a:rPr lang="en-US" sz="2000" dirty="0">
                <a:solidFill>
                  <a:schemeClr val="tx1"/>
                </a:solidFill>
                <a:latin typeface="Arial MT"/>
                <a:cs typeface="Arial MT"/>
              </a:rPr>
              <a:t>of</a:t>
            </a:r>
            <a:r>
              <a:rPr lang="en-US" sz="2000" spc="-25" dirty="0">
                <a:solidFill>
                  <a:schemeClr val="tx1"/>
                </a:solidFill>
                <a:latin typeface="Arial MT"/>
                <a:cs typeface="Arial MT"/>
              </a:rPr>
              <a:t> </a:t>
            </a:r>
            <a:r>
              <a:rPr lang="en-US" sz="2000" spc="-5" dirty="0">
                <a:solidFill>
                  <a:schemeClr val="tx1"/>
                </a:solidFill>
                <a:latin typeface="Arial MT"/>
                <a:cs typeface="Arial MT"/>
              </a:rPr>
              <a:t>data</a:t>
            </a:r>
            <a:r>
              <a:rPr lang="en-US" sz="2000" spc="-20" dirty="0">
                <a:solidFill>
                  <a:schemeClr val="tx1"/>
                </a:solidFill>
                <a:latin typeface="Arial MT"/>
                <a:cs typeface="Arial MT"/>
              </a:rPr>
              <a:t> </a:t>
            </a:r>
            <a:r>
              <a:rPr lang="en-US" sz="2000" dirty="0">
                <a:solidFill>
                  <a:schemeClr val="tx1"/>
                </a:solidFill>
                <a:latin typeface="Arial MT"/>
                <a:cs typeface="Arial MT"/>
              </a:rPr>
              <a:t>schema</a:t>
            </a:r>
          </a:p>
        </p:txBody>
      </p:sp>
    </p:spTree>
    <p:extLst>
      <p:ext uri="{BB962C8B-B14F-4D97-AF65-F5344CB8AC3E}">
        <p14:creationId xmlns:p14="http://schemas.microsoft.com/office/powerpoint/2010/main" val="3027706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DC517-3029-4413-A3DE-3C4D0F758A18}"/>
              </a:ext>
            </a:extLst>
          </p:cNvPr>
          <p:cNvSpPr>
            <a:spLocks noGrp="1"/>
          </p:cNvSpPr>
          <p:nvPr>
            <p:ph type="title"/>
          </p:nvPr>
        </p:nvSpPr>
        <p:spPr/>
        <p:txBody>
          <a:bodyPr/>
          <a:lstStyle/>
          <a:p>
            <a:r>
              <a:rPr lang="en-US" dirty="0"/>
              <a:t>How to Handle Missing Values/Data</a:t>
            </a:r>
            <a:endParaRPr lang="en-IN" dirty="0"/>
          </a:p>
        </p:txBody>
      </p:sp>
      <p:sp>
        <p:nvSpPr>
          <p:cNvPr id="3" name="Content Placeholder 2">
            <a:extLst>
              <a:ext uri="{FF2B5EF4-FFF2-40B4-BE49-F238E27FC236}">
                <a16:creationId xmlns:a16="http://schemas.microsoft.com/office/drawing/2014/main" id="{7FC036FA-472D-429F-9D41-FFEA3EE0DA83}"/>
              </a:ext>
            </a:extLst>
          </p:cNvPr>
          <p:cNvSpPr>
            <a:spLocks noGrp="1"/>
          </p:cNvSpPr>
          <p:nvPr>
            <p:ph idx="1"/>
          </p:nvPr>
        </p:nvSpPr>
        <p:spPr/>
        <p:txBody>
          <a:bodyPr/>
          <a:lstStyle/>
          <a:p>
            <a:pPr marL="355600" indent="-342900">
              <a:lnSpc>
                <a:spcPct val="100000"/>
              </a:lnSpc>
              <a:spcBef>
                <a:spcPts val="680"/>
              </a:spcBef>
              <a:buClr>
                <a:srgbClr val="CC9900"/>
              </a:buClr>
              <a:buSzPct val="63461"/>
              <a:buFont typeface="Wingdings"/>
              <a:buChar char=""/>
              <a:tabLst>
                <a:tab pos="354965" algn="l"/>
                <a:tab pos="355600" algn="l"/>
              </a:tabLst>
            </a:pPr>
            <a:r>
              <a:rPr lang="en-US" sz="2600" spc="-5" dirty="0">
                <a:solidFill>
                  <a:schemeClr val="tx1"/>
                </a:solidFill>
                <a:latin typeface="Arial MT"/>
                <a:cs typeface="Arial MT"/>
              </a:rPr>
              <a:t>Ignore</a:t>
            </a:r>
            <a:r>
              <a:rPr lang="en-US" sz="2600" dirty="0">
                <a:solidFill>
                  <a:schemeClr val="tx1"/>
                </a:solidFill>
                <a:latin typeface="Arial MT"/>
                <a:cs typeface="Arial MT"/>
              </a:rPr>
              <a:t> </a:t>
            </a:r>
            <a:r>
              <a:rPr lang="en-US" sz="2600" spc="-5" dirty="0">
                <a:solidFill>
                  <a:schemeClr val="tx1"/>
                </a:solidFill>
                <a:latin typeface="Arial MT"/>
                <a:cs typeface="Arial MT"/>
              </a:rPr>
              <a:t>the</a:t>
            </a:r>
            <a:r>
              <a:rPr lang="en-US" sz="2600" dirty="0">
                <a:solidFill>
                  <a:schemeClr val="tx1"/>
                </a:solidFill>
                <a:latin typeface="Arial MT"/>
                <a:cs typeface="Arial MT"/>
              </a:rPr>
              <a:t> </a:t>
            </a:r>
            <a:r>
              <a:rPr lang="en-US" sz="2600" spc="-5" dirty="0">
                <a:solidFill>
                  <a:schemeClr val="tx1"/>
                </a:solidFill>
                <a:latin typeface="Arial MT"/>
                <a:cs typeface="Arial MT"/>
              </a:rPr>
              <a:t>tuple</a:t>
            </a:r>
            <a:r>
              <a:rPr lang="en-US" sz="2600" dirty="0">
                <a:solidFill>
                  <a:schemeClr val="tx1"/>
                </a:solidFill>
                <a:latin typeface="Arial MT"/>
                <a:cs typeface="Arial MT"/>
              </a:rPr>
              <a:t> (loss</a:t>
            </a:r>
            <a:r>
              <a:rPr lang="en-US" sz="2600" spc="-5" dirty="0">
                <a:solidFill>
                  <a:schemeClr val="tx1"/>
                </a:solidFill>
                <a:latin typeface="Arial MT"/>
                <a:cs typeface="Arial MT"/>
              </a:rPr>
              <a:t> </a:t>
            </a:r>
            <a:r>
              <a:rPr lang="en-US" sz="2600" dirty="0">
                <a:solidFill>
                  <a:schemeClr val="tx1"/>
                </a:solidFill>
                <a:latin typeface="Arial MT"/>
                <a:cs typeface="Arial MT"/>
              </a:rPr>
              <a:t>of</a:t>
            </a:r>
            <a:r>
              <a:rPr lang="en-US" sz="2600" spc="-5" dirty="0">
                <a:solidFill>
                  <a:schemeClr val="tx1"/>
                </a:solidFill>
                <a:latin typeface="Arial MT"/>
                <a:cs typeface="Arial MT"/>
              </a:rPr>
              <a:t> information)</a:t>
            </a:r>
            <a:endParaRPr lang="en-US" sz="2600" dirty="0">
              <a:solidFill>
                <a:schemeClr val="tx1"/>
              </a:solidFill>
              <a:latin typeface="Arial MT"/>
              <a:cs typeface="Arial MT"/>
            </a:endParaRPr>
          </a:p>
          <a:p>
            <a:pPr marL="355600" indent="-342900">
              <a:lnSpc>
                <a:spcPct val="100000"/>
              </a:lnSpc>
              <a:spcBef>
                <a:spcPts val="580"/>
              </a:spcBef>
              <a:buClr>
                <a:srgbClr val="CC9900"/>
              </a:buClr>
              <a:buSzPct val="63461"/>
              <a:buFont typeface="Wingdings"/>
              <a:buChar char=""/>
              <a:tabLst>
                <a:tab pos="354965" algn="l"/>
                <a:tab pos="355600" algn="l"/>
              </a:tabLst>
            </a:pPr>
            <a:r>
              <a:rPr lang="en-US" sz="2600" spc="-5" dirty="0">
                <a:solidFill>
                  <a:schemeClr val="tx1"/>
                </a:solidFill>
                <a:latin typeface="Arial MT"/>
                <a:cs typeface="Arial MT"/>
              </a:rPr>
              <a:t>Fill</a:t>
            </a:r>
            <a:r>
              <a:rPr lang="en-US" sz="2600" dirty="0">
                <a:solidFill>
                  <a:schemeClr val="tx1"/>
                </a:solidFill>
                <a:latin typeface="Arial MT"/>
                <a:cs typeface="Arial MT"/>
              </a:rPr>
              <a:t> in missing values</a:t>
            </a:r>
            <a:r>
              <a:rPr lang="en-US" sz="2600" spc="-5" dirty="0">
                <a:solidFill>
                  <a:schemeClr val="tx1"/>
                </a:solidFill>
                <a:latin typeface="Arial MT"/>
                <a:cs typeface="Arial MT"/>
              </a:rPr>
              <a:t> </a:t>
            </a:r>
            <a:r>
              <a:rPr lang="en-US" sz="2600" dirty="0">
                <a:solidFill>
                  <a:schemeClr val="tx1"/>
                </a:solidFill>
                <a:latin typeface="Arial MT"/>
                <a:cs typeface="Arial MT"/>
              </a:rPr>
              <a:t>manually:</a:t>
            </a:r>
            <a:r>
              <a:rPr lang="en-US" sz="2600" spc="-5" dirty="0">
                <a:solidFill>
                  <a:schemeClr val="tx1"/>
                </a:solidFill>
                <a:latin typeface="Arial MT"/>
                <a:cs typeface="Arial MT"/>
              </a:rPr>
              <a:t> </a:t>
            </a:r>
            <a:r>
              <a:rPr lang="en-US" sz="2100" spc="-5" dirty="0">
                <a:solidFill>
                  <a:schemeClr val="tx1"/>
                </a:solidFill>
                <a:latin typeface="Arial MT"/>
                <a:cs typeface="Arial MT"/>
              </a:rPr>
              <a:t>tedious, infeasible?</a:t>
            </a:r>
            <a:endParaRPr lang="en-US" sz="2100" dirty="0">
              <a:solidFill>
                <a:schemeClr val="tx1"/>
              </a:solidFill>
              <a:latin typeface="Arial MT"/>
              <a:cs typeface="Arial MT"/>
            </a:endParaRPr>
          </a:p>
          <a:p>
            <a:pPr marL="355600" indent="-342900">
              <a:lnSpc>
                <a:spcPct val="100000"/>
              </a:lnSpc>
              <a:spcBef>
                <a:spcPts val="580"/>
              </a:spcBef>
              <a:buClr>
                <a:srgbClr val="CC9900"/>
              </a:buClr>
              <a:buSzPct val="63461"/>
              <a:buFont typeface="Wingdings"/>
              <a:buChar char=""/>
              <a:tabLst>
                <a:tab pos="354965" algn="l"/>
                <a:tab pos="355600" algn="l"/>
              </a:tabLst>
            </a:pPr>
            <a:r>
              <a:rPr lang="en-US" sz="2600" spc="-5" dirty="0">
                <a:solidFill>
                  <a:schemeClr val="tx1"/>
                </a:solidFill>
                <a:latin typeface="Arial MT"/>
                <a:cs typeface="Arial MT"/>
              </a:rPr>
              <a:t>Fill </a:t>
            </a:r>
            <a:r>
              <a:rPr lang="en-US" sz="2600" dirty="0">
                <a:solidFill>
                  <a:schemeClr val="tx1"/>
                </a:solidFill>
                <a:latin typeface="Arial MT"/>
                <a:cs typeface="Arial MT"/>
              </a:rPr>
              <a:t>in</a:t>
            </a:r>
            <a:r>
              <a:rPr lang="en-US" sz="2600" spc="-5" dirty="0">
                <a:solidFill>
                  <a:schemeClr val="tx1"/>
                </a:solidFill>
                <a:latin typeface="Arial MT"/>
                <a:cs typeface="Arial MT"/>
              </a:rPr>
              <a:t> </a:t>
            </a:r>
            <a:r>
              <a:rPr lang="en-US" sz="2600" dirty="0">
                <a:solidFill>
                  <a:schemeClr val="tx1"/>
                </a:solidFill>
                <a:latin typeface="Arial MT"/>
                <a:cs typeface="Arial MT"/>
              </a:rPr>
              <a:t>it</a:t>
            </a:r>
            <a:r>
              <a:rPr lang="en-US" sz="2600" spc="-5" dirty="0">
                <a:solidFill>
                  <a:schemeClr val="tx1"/>
                </a:solidFill>
                <a:latin typeface="Arial MT"/>
                <a:cs typeface="Arial MT"/>
              </a:rPr>
              <a:t> automatically</a:t>
            </a:r>
            <a:r>
              <a:rPr lang="en-US" sz="2600" spc="-10" dirty="0">
                <a:solidFill>
                  <a:schemeClr val="tx1"/>
                </a:solidFill>
                <a:latin typeface="Arial MT"/>
                <a:cs typeface="Arial MT"/>
              </a:rPr>
              <a:t> </a:t>
            </a:r>
            <a:r>
              <a:rPr lang="en-US" sz="2600" spc="-5" dirty="0">
                <a:solidFill>
                  <a:schemeClr val="tx1"/>
                </a:solidFill>
                <a:latin typeface="Arial MT"/>
                <a:cs typeface="Arial MT"/>
              </a:rPr>
              <a:t>with</a:t>
            </a:r>
            <a:endParaRPr lang="en-US" sz="2600" dirty="0">
              <a:solidFill>
                <a:schemeClr val="tx1"/>
              </a:solidFill>
              <a:latin typeface="Arial MT"/>
              <a:cs typeface="Arial MT"/>
            </a:endParaRPr>
          </a:p>
          <a:p>
            <a:pPr marL="755650" lvl="1" indent="-285750">
              <a:lnSpc>
                <a:spcPct val="100000"/>
              </a:lnSpc>
              <a:spcBef>
                <a:spcPts val="600"/>
              </a:spcBef>
              <a:buClr>
                <a:srgbClr val="3B812F"/>
              </a:buClr>
              <a:buSzPct val="59090"/>
              <a:buFont typeface="Wingdings"/>
              <a:buChar char=""/>
              <a:tabLst>
                <a:tab pos="755015" algn="l"/>
                <a:tab pos="755650" algn="l"/>
              </a:tabLst>
            </a:pPr>
            <a:r>
              <a:rPr lang="en-US" sz="2200" dirty="0">
                <a:solidFill>
                  <a:schemeClr val="tx1"/>
                </a:solidFill>
                <a:latin typeface="Arial MT"/>
                <a:cs typeface="Arial MT"/>
              </a:rPr>
              <a:t>a</a:t>
            </a:r>
            <a:r>
              <a:rPr lang="en-US" sz="2200" spc="-5" dirty="0">
                <a:solidFill>
                  <a:schemeClr val="tx1"/>
                </a:solidFill>
                <a:latin typeface="Arial MT"/>
                <a:cs typeface="Arial MT"/>
              </a:rPr>
              <a:t> </a:t>
            </a:r>
            <a:r>
              <a:rPr lang="en-US" sz="2200" dirty="0">
                <a:solidFill>
                  <a:schemeClr val="tx1"/>
                </a:solidFill>
                <a:latin typeface="Arial MT"/>
                <a:cs typeface="Arial MT"/>
              </a:rPr>
              <a:t>global </a:t>
            </a:r>
            <a:r>
              <a:rPr lang="en-US" sz="2200" spc="-5" dirty="0">
                <a:solidFill>
                  <a:schemeClr val="tx1"/>
                </a:solidFill>
                <a:latin typeface="Arial MT"/>
                <a:cs typeface="Arial MT"/>
              </a:rPr>
              <a:t>constant </a:t>
            </a:r>
            <a:r>
              <a:rPr lang="en-US" sz="2200" dirty="0">
                <a:solidFill>
                  <a:schemeClr val="tx1"/>
                </a:solidFill>
                <a:latin typeface="Arial MT"/>
                <a:cs typeface="Arial MT"/>
              </a:rPr>
              <a:t>:</a:t>
            </a:r>
            <a:r>
              <a:rPr lang="en-US" sz="2200" spc="-5" dirty="0">
                <a:solidFill>
                  <a:schemeClr val="tx1"/>
                </a:solidFill>
                <a:latin typeface="Arial MT"/>
                <a:cs typeface="Arial MT"/>
              </a:rPr>
              <a:t> e.g., </a:t>
            </a:r>
            <a:r>
              <a:rPr lang="en-US" sz="2200" spc="-5" dirty="0">
                <a:solidFill>
                  <a:schemeClr val="tx1"/>
                </a:solidFill>
                <a:latin typeface="MS PGothic"/>
                <a:cs typeface="MS PGothic"/>
              </a:rPr>
              <a:t>“</a:t>
            </a:r>
            <a:r>
              <a:rPr lang="en-US" sz="2200" spc="-5" dirty="0">
                <a:solidFill>
                  <a:schemeClr val="tx1"/>
                </a:solidFill>
                <a:latin typeface="Arial MT"/>
                <a:cs typeface="Arial MT"/>
              </a:rPr>
              <a:t>unknown</a:t>
            </a:r>
            <a:r>
              <a:rPr lang="en-US" sz="2200" spc="-5" dirty="0">
                <a:solidFill>
                  <a:schemeClr val="tx1"/>
                </a:solidFill>
                <a:latin typeface="MS PGothic"/>
                <a:cs typeface="MS PGothic"/>
              </a:rPr>
              <a:t>”</a:t>
            </a:r>
            <a:r>
              <a:rPr lang="en-US" sz="2200" spc="-5" dirty="0">
                <a:solidFill>
                  <a:schemeClr val="tx1"/>
                </a:solidFill>
                <a:latin typeface="Arial MT"/>
                <a:cs typeface="Arial MT"/>
              </a:rPr>
              <a:t>, </a:t>
            </a:r>
            <a:r>
              <a:rPr lang="en-US" sz="2200" dirty="0">
                <a:solidFill>
                  <a:schemeClr val="tx1"/>
                </a:solidFill>
                <a:latin typeface="Arial MT"/>
                <a:cs typeface="Arial MT"/>
              </a:rPr>
              <a:t>a new class?!</a:t>
            </a:r>
          </a:p>
          <a:p>
            <a:pPr marL="755650" lvl="1" indent="-285750">
              <a:lnSpc>
                <a:spcPct val="100000"/>
              </a:lnSpc>
              <a:spcBef>
                <a:spcPts val="560"/>
              </a:spcBef>
              <a:buClr>
                <a:srgbClr val="3B812F"/>
              </a:buClr>
              <a:buSzPct val="59090"/>
              <a:buFont typeface="Wingdings"/>
              <a:buChar char=""/>
              <a:tabLst>
                <a:tab pos="755015" algn="l"/>
                <a:tab pos="755650" algn="l"/>
              </a:tabLst>
            </a:pPr>
            <a:r>
              <a:rPr lang="en-US" sz="2200" spc="-5" dirty="0">
                <a:solidFill>
                  <a:schemeClr val="tx1"/>
                </a:solidFill>
                <a:latin typeface="Arial MT"/>
                <a:cs typeface="Arial MT"/>
              </a:rPr>
              <a:t>the</a:t>
            </a:r>
            <a:r>
              <a:rPr lang="en-US" sz="2200" spc="-20" dirty="0">
                <a:solidFill>
                  <a:schemeClr val="tx1"/>
                </a:solidFill>
                <a:latin typeface="Arial MT"/>
                <a:cs typeface="Arial MT"/>
              </a:rPr>
              <a:t> </a:t>
            </a:r>
            <a:r>
              <a:rPr lang="en-US" sz="2200" spc="-5" dirty="0">
                <a:solidFill>
                  <a:schemeClr val="tx1"/>
                </a:solidFill>
                <a:latin typeface="Arial MT"/>
                <a:cs typeface="Arial MT"/>
              </a:rPr>
              <a:t>attribute</a:t>
            </a:r>
            <a:r>
              <a:rPr lang="en-US" sz="2200" spc="-20" dirty="0">
                <a:solidFill>
                  <a:schemeClr val="tx1"/>
                </a:solidFill>
                <a:latin typeface="Arial MT"/>
                <a:cs typeface="Arial MT"/>
              </a:rPr>
              <a:t> </a:t>
            </a:r>
            <a:r>
              <a:rPr lang="en-US" sz="2200" dirty="0">
                <a:solidFill>
                  <a:schemeClr val="tx1"/>
                </a:solidFill>
                <a:latin typeface="Arial MT"/>
                <a:cs typeface="Arial MT"/>
              </a:rPr>
              <a:t>mean</a:t>
            </a:r>
          </a:p>
          <a:p>
            <a:pPr marL="748665" marR="5080" lvl="1" indent="-279400">
              <a:lnSpc>
                <a:spcPts val="3200"/>
              </a:lnSpc>
              <a:buClr>
                <a:srgbClr val="3B812F"/>
              </a:buClr>
              <a:buSzPct val="59090"/>
              <a:buFont typeface="Wingdings"/>
              <a:buChar char=""/>
              <a:tabLst>
                <a:tab pos="755015" algn="l"/>
                <a:tab pos="755650" algn="l"/>
              </a:tabLst>
            </a:pPr>
            <a:r>
              <a:rPr lang="en-US" sz="2200" spc="-5" dirty="0">
                <a:solidFill>
                  <a:schemeClr val="tx1"/>
                </a:solidFill>
                <a:latin typeface="Arial MT"/>
                <a:cs typeface="Arial MT"/>
              </a:rPr>
              <a:t>the </a:t>
            </a:r>
            <a:r>
              <a:rPr lang="en-US" sz="2200" dirty="0">
                <a:solidFill>
                  <a:schemeClr val="tx1"/>
                </a:solidFill>
                <a:latin typeface="Arial MT"/>
                <a:cs typeface="Arial MT"/>
              </a:rPr>
              <a:t>most probable value: </a:t>
            </a:r>
            <a:r>
              <a:rPr lang="en-US" sz="2200" spc="-5" dirty="0">
                <a:solidFill>
                  <a:schemeClr val="tx1"/>
                </a:solidFill>
                <a:latin typeface="Arial MT"/>
                <a:cs typeface="Arial MT"/>
              </a:rPr>
              <a:t>inference-based </a:t>
            </a:r>
            <a:r>
              <a:rPr lang="en-US" sz="2200" dirty="0">
                <a:solidFill>
                  <a:schemeClr val="tx1"/>
                </a:solidFill>
                <a:latin typeface="Arial MT"/>
                <a:cs typeface="Arial MT"/>
              </a:rPr>
              <a:t>such as Bayesian </a:t>
            </a:r>
            <a:r>
              <a:rPr lang="en-US" sz="2200" spc="-600" dirty="0">
                <a:solidFill>
                  <a:schemeClr val="tx1"/>
                </a:solidFill>
                <a:latin typeface="Arial MT"/>
                <a:cs typeface="Arial MT"/>
              </a:rPr>
              <a:t> </a:t>
            </a:r>
            <a:r>
              <a:rPr lang="en-US" sz="2200" spc="-5" dirty="0">
                <a:solidFill>
                  <a:schemeClr val="tx1"/>
                </a:solidFill>
                <a:latin typeface="Arial MT"/>
                <a:cs typeface="Arial MT"/>
              </a:rPr>
              <a:t>formula,</a:t>
            </a:r>
            <a:r>
              <a:rPr lang="en-US" sz="2200" spc="-10" dirty="0">
                <a:solidFill>
                  <a:schemeClr val="tx1"/>
                </a:solidFill>
                <a:latin typeface="Arial MT"/>
                <a:cs typeface="Arial MT"/>
              </a:rPr>
              <a:t> </a:t>
            </a:r>
            <a:r>
              <a:rPr lang="en-US" sz="2200" dirty="0">
                <a:solidFill>
                  <a:schemeClr val="tx1"/>
                </a:solidFill>
                <a:latin typeface="Arial MT"/>
                <a:cs typeface="Arial MT"/>
              </a:rPr>
              <a:t>decision </a:t>
            </a:r>
            <a:r>
              <a:rPr lang="en-US" sz="2200" spc="-5" dirty="0">
                <a:solidFill>
                  <a:schemeClr val="tx1"/>
                </a:solidFill>
                <a:latin typeface="Arial MT"/>
                <a:cs typeface="Arial MT"/>
              </a:rPr>
              <a:t>tree, </a:t>
            </a:r>
            <a:r>
              <a:rPr lang="en-US" sz="2200" dirty="0">
                <a:solidFill>
                  <a:schemeClr val="tx1"/>
                </a:solidFill>
                <a:latin typeface="Arial MT"/>
                <a:cs typeface="Arial MT"/>
              </a:rPr>
              <a:t>or</a:t>
            </a:r>
            <a:r>
              <a:rPr lang="en-US" sz="2200" spc="-5" dirty="0">
                <a:solidFill>
                  <a:schemeClr val="tx1"/>
                </a:solidFill>
                <a:latin typeface="Arial MT"/>
                <a:cs typeface="Arial MT"/>
              </a:rPr>
              <a:t> </a:t>
            </a:r>
            <a:r>
              <a:rPr lang="en-US" sz="2200" dirty="0">
                <a:solidFill>
                  <a:schemeClr val="tx1"/>
                </a:solidFill>
                <a:latin typeface="Arial MT"/>
                <a:cs typeface="Arial MT"/>
              </a:rPr>
              <a:t>EM </a:t>
            </a:r>
            <a:r>
              <a:rPr lang="en-US" sz="2200" spc="-5" dirty="0">
                <a:solidFill>
                  <a:schemeClr val="tx1"/>
                </a:solidFill>
                <a:latin typeface="Arial MT"/>
                <a:cs typeface="Arial MT"/>
              </a:rPr>
              <a:t>algorithm</a:t>
            </a:r>
            <a:endParaRPr lang="en-US" sz="2200" dirty="0">
              <a:solidFill>
                <a:schemeClr val="tx1"/>
              </a:solidFill>
              <a:latin typeface="Arial MT"/>
              <a:cs typeface="Arial MT"/>
            </a:endParaRPr>
          </a:p>
          <a:p>
            <a:endParaRPr lang="en-IN" dirty="0"/>
          </a:p>
        </p:txBody>
      </p:sp>
    </p:spTree>
    <p:extLst>
      <p:ext uri="{BB962C8B-B14F-4D97-AF65-F5344CB8AC3E}">
        <p14:creationId xmlns:p14="http://schemas.microsoft.com/office/powerpoint/2010/main" val="3585200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45C09-2922-46B2-B272-C0330106B1B9}"/>
              </a:ext>
            </a:extLst>
          </p:cNvPr>
          <p:cNvSpPr>
            <a:spLocks noGrp="1"/>
          </p:cNvSpPr>
          <p:nvPr>
            <p:ph type="title"/>
          </p:nvPr>
        </p:nvSpPr>
        <p:spPr/>
        <p:txBody>
          <a:bodyPr/>
          <a:lstStyle/>
          <a:p>
            <a:r>
              <a:rPr lang="en-US" dirty="0"/>
              <a:t>Noisy Data</a:t>
            </a:r>
            <a:endParaRPr lang="en-IN" dirty="0"/>
          </a:p>
        </p:txBody>
      </p:sp>
      <p:sp>
        <p:nvSpPr>
          <p:cNvPr id="3" name="Content Placeholder 2">
            <a:extLst>
              <a:ext uri="{FF2B5EF4-FFF2-40B4-BE49-F238E27FC236}">
                <a16:creationId xmlns:a16="http://schemas.microsoft.com/office/drawing/2014/main" id="{6697A3BE-9419-487B-A714-292CF584164F}"/>
              </a:ext>
            </a:extLst>
          </p:cNvPr>
          <p:cNvSpPr>
            <a:spLocks noGrp="1"/>
          </p:cNvSpPr>
          <p:nvPr>
            <p:ph idx="1"/>
          </p:nvPr>
        </p:nvSpPr>
        <p:spPr/>
        <p:txBody>
          <a:bodyPr/>
          <a:lstStyle/>
          <a:p>
            <a:pPr marL="355600" marR="445770" indent="-342900">
              <a:lnSpc>
                <a:spcPts val="3100"/>
              </a:lnSpc>
              <a:spcBef>
                <a:spcPts val="219"/>
              </a:spcBef>
              <a:buClr>
                <a:srgbClr val="CC9900"/>
              </a:buClr>
              <a:buSzPct val="63461"/>
              <a:buFont typeface="Wingdings"/>
              <a:buChar char=""/>
              <a:tabLst>
                <a:tab pos="354965" algn="l"/>
                <a:tab pos="355600" algn="l"/>
              </a:tabLst>
            </a:pPr>
            <a:r>
              <a:rPr lang="en-IN" sz="2600" dirty="0">
                <a:solidFill>
                  <a:schemeClr val="tx1"/>
                </a:solidFill>
                <a:latin typeface="Arial MT"/>
                <a:cs typeface="Arial MT"/>
              </a:rPr>
              <a:t>Noise:</a:t>
            </a:r>
            <a:r>
              <a:rPr lang="en-IN" sz="2600" spc="-20" dirty="0">
                <a:solidFill>
                  <a:schemeClr val="tx1"/>
                </a:solidFill>
                <a:latin typeface="Arial MT"/>
                <a:cs typeface="Arial MT"/>
              </a:rPr>
              <a:t> </a:t>
            </a:r>
            <a:r>
              <a:rPr lang="en-IN" sz="2600" dirty="0">
                <a:solidFill>
                  <a:schemeClr val="tx1"/>
                </a:solidFill>
                <a:latin typeface="Arial MT"/>
                <a:cs typeface="Arial MT"/>
              </a:rPr>
              <a:t>random</a:t>
            </a:r>
            <a:r>
              <a:rPr lang="en-IN" sz="2600" spc="-20" dirty="0">
                <a:solidFill>
                  <a:schemeClr val="tx1"/>
                </a:solidFill>
                <a:latin typeface="Arial MT"/>
                <a:cs typeface="Arial MT"/>
              </a:rPr>
              <a:t> </a:t>
            </a:r>
            <a:r>
              <a:rPr lang="en-IN" sz="2600" dirty="0">
                <a:solidFill>
                  <a:schemeClr val="tx1"/>
                </a:solidFill>
                <a:latin typeface="Arial MT"/>
                <a:cs typeface="Arial MT"/>
              </a:rPr>
              <a:t>error</a:t>
            </a:r>
            <a:r>
              <a:rPr lang="en-IN" sz="2600" spc="-20" dirty="0">
                <a:solidFill>
                  <a:schemeClr val="tx1"/>
                </a:solidFill>
                <a:latin typeface="Arial MT"/>
                <a:cs typeface="Arial MT"/>
              </a:rPr>
              <a:t> </a:t>
            </a:r>
            <a:r>
              <a:rPr lang="en-IN" sz="2600" dirty="0">
                <a:solidFill>
                  <a:schemeClr val="tx1"/>
                </a:solidFill>
                <a:latin typeface="Arial MT"/>
                <a:cs typeface="Arial MT"/>
              </a:rPr>
              <a:t>or</a:t>
            </a:r>
            <a:r>
              <a:rPr lang="en-IN" sz="2600" spc="-20" dirty="0">
                <a:solidFill>
                  <a:schemeClr val="tx1"/>
                </a:solidFill>
                <a:latin typeface="Arial MT"/>
                <a:cs typeface="Arial MT"/>
              </a:rPr>
              <a:t> </a:t>
            </a:r>
            <a:r>
              <a:rPr lang="en-IN" sz="2600" dirty="0">
                <a:solidFill>
                  <a:schemeClr val="tx1"/>
                </a:solidFill>
                <a:latin typeface="Arial MT"/>
                <a:cs typeface="Arial MT"/>
              </a:rPr>
              <a:t>variance</a:t>
            </a:r>
            <a:r>
              <a:rPr lang="en-IN" sz="2600" spc="-15" dirty="0">
                <a:solidFill>
                  <a:schemeClr val="tx1"/>
                </a:solidFill>
                <a:latin typeface="Arial MT"/>
                <a:cs typeface="Arial MT"/>
              </a:rPr>
              <a:t> </a:t>
            </a:r>
            <a:r>
              <a:rPr lang="en-IN" sz="2600" dirty="0">
                <a:solidFill>
                  <a:schemeClr val="tx1"/>
                </a:solidFill>
                <a:latin typeface="Arial MT"/>
                <a:cs typeface="Arial MT"/>
              </a:rPr>
              <a:t>in</a:t>
            </a:r>
            <a:r>
              <a:rPr lang="en-IN" sz="2600" spc="-10" dirty="0">
                <a:solidFill>
                  <a:schemeClr val="tx1"/>
                </a:solidFill>
                <a:latin typeface="Arial MT"/>
                <a:cs typeface="Arial MT"/>
              </a:rPr>
              <a:t> </a:t>
            </a:r>
            <a:r>
              <a:rPr lang="en-IN" sz="2600" dirty="0">
                <a:solidFill>
                  <a:schemeClr val="tx1"/>
                </a:solidFill>
                <a:latin typeface="Arial MT"/>
                <a:cs typeface="Arial MT"/>
              </a:rPr>
              <a:t>a</a:t>
            </a:r>
            <a:r>
              <a:rPr lang="en-IN" sz="2600" spc="-15" dirty="0">
                <a:solidFill>
                  <a:schemeClr val="tx1"/>
                </a:solidFill>
                <a:latin typeface="Arial MT"/>
                <a:cs typeface="Arial MT"/>
              </a:rPr>
              <a:t> </a:t>
            </a:r>
            <a:r>
              <a:rPr lang="en-IN" sz="2600" dirty="0">
                <a:solidFill>
                  <a:schemeClr val="tx1"/>
                </a:solidFill>
                <a:latin typeface="Arial MT"/>
                <a:cs typeface="Arial MT"/>
              </a:rPr>
              <a:t>measured </a:t>
            </a:r>
            <a:r>
              <a:rPr lang="en-IN" sz="2600" spc="-710" dirty="0">
                <a:solidFill>
                  <a:schemeClr val="tx1"/>
                </a:solidFill>
                <a:latin typeface="Arial MT"/>
                <a:cs typeface="Arial MT"/>
              </a:rPr>
              <a:t> </a:t>
            </a:r>
            <a:r>
              <a:rPr lang="en-IN" sz="2600" dirty="0">
                <a:solidFill>
                  <a:schemeClr val="tx1"/>
                </a:solidFill>
                <a:latin typeface="Arial MT"/>
                <a:cs typeface="Arial MT"/>
              </a:rPr>
              <a:t>variable.</a:t>
            </a:r>
          </a:p>
          <a:p>
            <a:pPr marL="355600" indent="-342900">
              <a:lnSpc>
                <a:spcPct val="100000"/>
              </a:lnSpc>
              <a:spcBef>
                <a:spcPts val="500"/>
              </a:spcBef>
              <a:buClr>
                <a:srgbClr val="CC9900"/>
              </a:buClr>
              <a:buSzPct val="63461"/>
              <a:buFont typeface="Wingdings"/>
              <a:buChar char=""/>
              <a:tabLst>
                <a:tab pos="354965" algn="l"/>
                <a:tab pos="355600" algn="l"/>
              </a:tabLst>
            </a:pPr>
            <a:r>
              <a:rPr lang="en-IN" sz="2600" spc="-5" dirty="0">
                <a:solidFill>
                  <a:schemeClr val="tx1"/>
                </a:solidFill>
                <a:latin typeface="Arial MT"/>
                <a:cs typeface="Arial MT"/>
              </a:rPr>
              <a:t>Incorrect</a:t>
            </a:r>
            <a:r>
              <a:rPr lang="en-IN" sz="2600" spc="-10" dirty="0">
                <a:solidFill>
                  <a:schemeClr val="tx1"/>
                </a:solidFill>
                <a:latin typeface="Arial MT"/>
                <a:cs typeface="Arial MT"/>
              </a:rPr>
              <a:t> </a:t>
            </a:r>
            <a:r>
              <a:rPr lang="en-IN" sz="2600" spc="-5" dirty="0">
                <a:solidFill>
                  <a:schemeClr val="tx1"/>
                </a:solidFill>
                <a:latin typeface="Arial MT"/>
                <a:cs typeface="Arial MT"/>
              </a:rPr>
              <a:t>attribute </a:t>
            </a:r>
            <a:r>
              <a:rPr lang="en-IN" sz="2600" dirty="0">
                <a:solidFill>
                  <a:schemeClr val="tx1"/>
                </a:solidFill>
                <a:latin typeface="Arial MT"/>
                <a:cs typeface="Arial MT"/>
              </a:rPr>
              <a:t>values</a:t>
            </a:r>
            <a:r>
              <a:rPr lang="en-IN" sz="2600" spc="-10" dirty="0">
                <a:solidFill>
                  <a:schemeClr val="tx1"/>
                </a:solidFill>
                <a:latin typeface="Arial MT"/>
                <a:cs typeface="Arial MT"/>
              </a:rPr>
              <a:t> </a:t>
            </a:r>
            <a:r>
              <a:rPr lang="en-IN" sz="2600" dirty="0">
                <a:solidFill>
                  <a:schemeClr val="tx1"/>
                </a:solidFill>
                <a:latin typeface="Arial MT"/>
                <a:cs typeface="Arial MT"/>
              </a:rPr>
              <a:t>may</a:t>
            </a:r>
            <a:r>
              <a:rPr lang="en-IN" sz="2600" spc="-10" dirty="0">
                <a:solidFill>
                  <a:schemeClr val="tx1"/>
                </a:solidFill>
                <a:latin typeface="Arial MT"/>
                <a:cs typeface="Arial MT"/>
              </a:rPr>
              <a:t> </a:t>
            </a:r>
            <a:r>
              <a:rPr lang="en-IN" sz="2600" dirty="0">
                <a:solidFill>
                  <a:schemeClr val="tx1"/>
                </a:solidFill>
                <a:latin typeface="Arial MT"/>
                <a:cs typeface="Arial MT"/>
              </a:rPr>
              <a:t>due</a:t>
            </a:r>
            <a:r>
              <a:rPr lang="en-IN" sz="2600" spc="-5" dirty="0">
                <a:solidFill>
                  <a:schemeClr val="tx1"/>
                </a:solidFill>
                <a:latin typeface="Arial MT"/>
                <a:cs typeface="Arial MT"/>
              </a:rPr>
              <a:t> to</a:t>
            </a:r>
            <a:endParaRPr lang="en-IN" sz="2600" dirty="0">
              <a:solidFill>
                <a:schemeClr val="tx1"/>
              </a:solidFill>
              <a:latin typeface="Arial MT"/>
              <a:cs typeface="Arial MT"/>
            </a:endParaRPr>
          </a:p>
          <a:p>
            <a:pPr marL="755650" lvl="1" indent="-285750">
              <a:lnSpc>
                <a:spcPct val="100000"/>
              </a:lnSpc>
              <a:spcBef>
                <a:spcPts val="484"/>
              </a:spcBef>
              <a:buClr>
                <a:srgbClr val="3B812F"/>
              </a:buClr>
              <a:buSzPct val="59090"/>
              <a:buFont typeface="Wingdings"/>
              <a:buChar char=""/>
              <a:tabLst>
                <a:tab pos="755015" algn="l"/>
                <a:tab pos="755650" algn="l"/>
              </a:tabLst>
            </a:pPr>
            <a:r>
              <a:rPr lang="en-IN" sz="2200" spc="-5" dirty="0">
                <a:solidFill>
                  <a:schemeClr val="tx1"/>
                </a:solidFill>
                <a:latin typeface="Arial MT"/>
                <a:cs typeface="Arial MT"/>
              </a:rPr>
              <a:t>faulty</a:t>
            </a:r>
            <a:r>
              <a:rPr lang="en-IN" sz="2200" dirty="0">
                <a:solidFill>
                  <a:schemeClr val="tx1"/>
                </a:solidFill>
                <a:latin typeface="Arial MT"/>
                <a:cs typeface="Arial MT"/>
              </a:rPr>
              <a:t> </a:t>
            </a:r>
            <a:r>
              <a:rPr lang="en-IN" sz="2200" spc="-5" dirty="0">
                <a:solidFill>
                  <a:schemeClr val="tx1"/>
                </a:solidFill>
                <a:latin typeface="Arial MT"/>
                <a:cs typeface="Arial MT"/>
              </a:rPr>
              <a:t>data</a:t>
            </a:r>
            <a:r>
              <a:rPr lang="en-IN" sz="2200" spc="5" dirty="0">
                <a:solidFill>
                  <a:schemeClr val="tx1"/>
                </a:solidFill>
                <a:latin typeface="Arial MT"/>
                <a:cs typeface="Arial MT"/>
              </a:rPr>
              <a:t> </a:t>
            </a:r>
            <a:r>
              <a:rPr lang="en-IN" sz="2200" spc="-5" dirty="0">
                <a:solidFill>
                  <a:schemeClr val="tx1"/>
                </a:solidFill>
                <a:latin typeface="Arial MT"/>
                <a:cs typeface="Arial MT"/>
              </a:rPr>
              <a:t>collection</a:t>
            </a:r>
            <a:r>
              <a:rPr lang="en-IN" sz="2200" spc="5" dirty="0">
                <a:solidFill>
                  <a:schemeClr val="tx1"/>
                </a:solidFill>
                <a:latin typeface="Arial MT"/>
                <a:cs typeface="Arial MT"/>
              </a:rPr>
              <a:t> </a:t>
            </a:r>
            <a:r>
              <a:rPr lang="en-IN" sz="2200" spc="-5" dirty="0">
                <a:solidFill>
                  <a:schemeClr val="tx1"/>
                </a:solidFill>
                <a:latin typeface="Arial MT"/>
                <a:cs typeface="Arial MT"/>
              </a:rPr>
              <a:t>instruments</a:t>
            </a:r>
            <a:endParaRPr lang="en-IN" sz="2200" dirty="0">
              <a:solidFill>
                <a:schemeClr val="tx1"/>
              </a:solidFill>
              <a:latin typeface="Arial MT"/>
              <a:cs typeface="Arial MT"/>
            </a:endParaRPr>
          </a:p>
          <a:p>
            <a:pPr marL="755650" lvl="1" indent="-285750">
              <a:lnSpc>
                <a:spcPct val="100000"/>
              </a:lnSpc>
              <a:spcBef>
                <a:spcPts val="560"/>
              </a:spcBef>
              <a:buClr>
                <a:srgbClr val="3B812F"/>
              </a:buClr>
              <a:buSzPct val="59090"/>
              <a:buFont typeface="Wingdings"/>
              <a:buChar char=""/>
              <a:tabLst>
                <a:tab pos="755015" algn="l"/>
                <a:tab pos="755650" algn="l"/>
              </a:tabLst>
            </a:pPr>
            <a:r>
              <a:rPr lang="en-IN" sz="2200" spc="-5" dirty="0">
                <a:solidFill>
                  <a:schemeClr val="tx1"/>
                </a:solidFill>
                <a:latin typeface="Arial MT"/>
                <a:cs typeface="Arial MT"/>
              </a:rPr>
              <a:t>data</a:t>
            </a:r>
            <a:r>
              <a:rPr lang="en-IN" sz="2200" spc="-25" dirty="0">
                <a:solidFill>
                  <a:schemeClr val="tx1"/>
                </a:solidFill>
                <a:latin typeface="Arial MT"/>
                <a:cs typeface="Arial MT"/>
              </a:rPr>
              <a:t> </a:t>
            </a:r>
            <a:r>
              <a:rPr lang="en-IN" sz="2200" spc="-5" dirty="0">
                <a:solidFill>
                  <a:schemeClr val="tx1"/>
                </a:solidFill>
                <a:latin typeface="Arial MT"/>
                <a:cs typeface="Arial MT"/>
              </a:rPr>
              <a:t>entry</a:t>
            </a:r>
            <a:r>
              <a:rPr lang="en-IN" sz="2200" spc="-25" dirty="0">
                <a:solidFill>
                  <a:schemeClr val="tx1"/>
                </a:solidFill>
                <a:latin typeface="Arial MT"/>
                <a:cs typeface="Arial MT"/>
              </a:rPr>
              <a:t> </a:t>
            </a:r>
            <a:r>
              <a:rPr lang="en-IN" sz="2200" dirty="0">
                <a:solidFill>
                  <a:schemeClr val="tx1"/>
                </a:solidFill>
                <a:latin typeface="Arial MT"/>
                <a:cs typeface="Arial MT"/>
              </a:rPr>
              <a:t>problems</a:t>
            </a:r>
          </a:p>
          <a:p>
            <a:pPr marL="755650" lvl="1" indent="-285750">
              <a:lnSpc>
                <a:spcPct val="100000"/>
              </a:lnSpc>
              <a:spcBef>
                <a:spcPts val="560"/>
              </a:spcBef>
              <a:buClr>
                <a:srgbClr val="3B812F"/>
              </a:buClr>
              <a:buSzPct val="59090"/>
              <a:buFont typeface="Wingdings"/>
              <a:buChar char=""/>
              <a:tabLst>
                <a:tab pos="755015" algn="l"/>
                <a:tab pos="755650" algn="l"/>
              </a:tabLst>
            </a:pPr>
            <a:r>
              <a:rPr lang="en-IN" sz="2200" spc="-5" dirty="0">
                <a:solidFill>
                  <a:schemeClr val="tx1"/>
                </a:solidFill>
                <a:latin typeface="Arial MT"/>
                <a:cs typeface="Arial MT"/>
              </a:rPr>
              <a:t>data</a:t>
            </a:r>
            <a:r>
              <a:rPr lang="en-IN" sz="2200" spc="-10" dirty="0">
                <a:solidFill>
                  <a:schemeClr val="tx1"/>
                </a:solidFill>
                <a:latin typeface="Arial MT"/>
                <a:cs typeface="Arial MT"/>
              </a:rPr>
              <a:t> </a:t>
            </a:r>
            <a:r>
              <a:rPr lang="en-IN" sz="2200" spc="-5" dirty="0">
                <a:solidFill>
                  <a:schemeClr val="tx1"/>
                </a:solidFill>
                <a:latin typeface="Arial MT"/>
                <a:cs typeface="Arial MT"/>
              </a:rPr>
              <a:t>transmission</a:t>
            </a:r>
            <a:r>
              <a:rPr lang="en-IN" sz="2200" spc="-10" dirty="0">
                <a:solidFill>
                  <a:schemeClr val="tx1"/>
                </a:solidFill>
                <a:latin typeface="Arial MT"/>
                <a:cs typeface="Arial MT"/>
              </a:rPr>
              <a:t> </a:t>
            </a:r>
            <a:r>
              <a:rPr lang="en-IN" sz="2200" dirty="0">
                <a:solidFill>
                  <a:schemeClr val="tx1"/>
                </a:solidFill>
                <a:latin typeface="Arial MT"/>
                <a:cs typeface="Arial MT"/>
              </a:rPr>
              <a:t>problems</a:t>
            </a:r>
          </a:p>
          <a:p>
            <a:pPr marL="755650" lvl="1" indent="-285750">
              <a:lnSpc>
                <a:spcPct val="100000"/>
              </a:lnSpc>
              <a:spcBef>
                <a:spcPts val="459"/>
              </a:spcBef>
              <a:buClr>
                <a:srgbClr val="3B812F"/>
              </a:buClr>
              <a:buSzPct val="59090"/>
              <a:buFont typeface="Wingdings"/>
              <a:buChar char=""/>
              <a:tabLst>
                <a:tab pos="755015" algn="l"/>
                <a:tab pos="755650" algn="l"/>
              </a:tabLst>
            </a:pPr>
            <a:r>
              <a:rPr lang="en-IN" sz="2200" dirty="0">
                <a:solidFill>
                  <a:schemeClr val="tx1"/>
                </a:solidFill>
                <a:latin typeface="Arial MT"/>
                <a:cs typeface="Arial MT"/>
              </a:rPr>
              <a:t>etc</a:t>
            </a:r>
          </a:p>
          <a:p>
            <a:pPr marL="355600" indent="-342900">
              <a:lnSpc>
                <a:spcPct val="100000"/>
              </a:lnSpc>
              <a:spcBef>
                <a:spcPts val="660"/>
              </a:spcBef>
              <a:buClr>
                <a:srgbClr val="CC9900"/>
              </a:buClr>
              <a:buSzPct val="63461"/>
              <a:buFont typeface="Wingdings"/>
              <a:buChar char=""/>
              <a:tabLst>
                <a:tab pos="354965" algn="l"/>
                <a:tab pos="355600" algn="l"/>
              </a:tabLst>
            </a:pPr>
            <a:r>
              <a:rPr lang="en-IN" sz="2600" spc="-5" dirty="0">
                <a:solidFill>
                  <a:schemeClr val="tx1"/>
                </a:solidFill>
                <a:latin typeface="Arial MT"/>
                <a:cs typeface="Arial MT"/>
              </a:rPr>
              <a:t>Other</a:t>
            </a:r>
            <a:r>
              <a:rPr lang="en-IN" sz="2600" spc="-15" dirty="0">
                <a:solidFill>
                  <a:schemeClr val="tx1"/>
                </a:solidFill>
                <a:latin typeface="Arial MT"/>
                <a:cs typeface="Arial MT"/>
              </a:rPr>
              <a:t> </a:t>
            </a:r>
            <a:r>
              <a:rPr lang="en-IN" sz="2600" spc="-5" dirty="0">
                <a:solidFill>
                  <a:schemeClr val="tx1"/>
                </a:solidFill>
                <a:latin typeface="Arial MT"/>
                <a:cs typeface="Arial MT"/>
              </a:rPr>
              <a:t>data</a:t>
            </a:r>
            <a:r>
              <a:rPr lang="en-IN" sz="2600" spc="-10" dirty="0">
                <a:solidFill>
                  <a:schemeClr val="tx1"/>
                </a:solidFill>
                <a:latin typeface="Arial MT"/>
                <a:cs typeface="Arial MT"/>
              </a:rPr>
              <a:t> </a:t>
            </a:r>
            <a:r>
              <a:rPr lang="en-IN" sz="2600" dirty="0">
                <a:solidFill>
                  <a:schemeClr val="tx1"/>
                </a:solidFill>
                <a:latin typeface="Arial MT"/>
                <a:cs typeface="Arial MT"/>
              </a:rPr>
              <a:t>problems</a:t>
            </a:r>
            <a:r>
              <a:rPr lang="en-IN" sz="2600" spc="-15" dirty="0">
                <a:solidFill>
                  <a:schemeClr val="tx1"/>
                </a:solidFill>
                <a:latin typeface="Arial MT"/>
                <a:cs typeface="Arial MT"/>
              </a:rPr>
              <a:t> </a:t>
            </a:r>
            <a:r>
              <a:rPr lang="en-IN" sz="2600" dirty="0">
                <a:solidFill>
                  <a:schemeClr val="tx1"/>
                </a:solidFill>
                <a:latin typeface="Arial MT"/>
                <a:cs typeface="Arial MT"/>
              </a:rPr>
              <a:t>which</a:t>
            </a:r>
            <a:r>
              <a:rPr lang="en-IN" sz="2600" spc="-10" dirty="0">
                <a:solidFill>
                  <a:schemeClr val="tx1"/>
                </a:solidFill>
                <a:latin typeface="Arial MT"/>
                <a:cs typeface="Arial MT"/>
              </a:rPr>
              <a:t> </a:t>
            </a:r>
            <a:r>
              <a:rPr lang="en-IN" sz="2600" dirty="0">
                <a:solidFill>
                  <a:schemeClr val="tx1"/>
                </a:solidFill>
                <a:latin typeface="Arial MT"/>
                <a:cs typeface="Arial MT"/>
              </a:rPr>
              <a:t>requires</a:t>
            </a:r>
            <a:r>
              <a:rPr lang="en-IN" sz="2600" spc="-10" dirty="0">
                <a:solidFill>
                  <a:schemeClr val="tx1"/>
                </a:solidFill>
                <a:latin typeface="Arial MT"/>
                <a:cs typeface="Arial MT"/>
              </a:rPr>
              <a:t> </a:t>
            </a:r>
            <a:r>
              <a:rPr lang="en-IN" sz="2600" spc="-5" dirty="0">
                <a:solidFill>
                  <a:schemeClr val="tx1"/>
                </a:solidFill>
                <a:latin typeface="Arial MT"/>
                <a:cs typeface="Arial MT"/>
              </a:rPr>
              <a:t>data</a:t>
            </a:r>
            <a:r>
              <a:rPr lang="en-IN" sz="2600" spc="-10" dirty="0">
                <a:solidFill>
                  <a:schemeClr val="tx1"/>
                </a:solidFill>
                <a:latin typeface="Arial MT"/>
                <a:cs typeface="Arial MT"/>
              </a:rPr>
              <a:t> </a:t>
            </a:r>
            <a:r>
              <a:rPr lang="en-IN" sz="2600" dirty="0">
                <a:solidFill>
                  <a:schemeClr val="tx1"/>
                </a:solidFill>
                <a:latin typeface="Arial MT"/>
                <a:cs typeface="Arial MT"/>
              </a:rPr>
              <a:t>cleaning</a:t>
            </a:r>
          </a:p>
          <a:p>
            <a:pPr marL="755650" lvl="1" indent="-285750">
              <a:lnSpc>
                <a:spcPct val="100000"/>
              </a:lnSpc>
              <a:spcBef>
                <a:spcPts val="480"/>
              </a:spcBef>
              <a:buClr>
                <a:srgbClr val="3B812F"/>
              </a:buClr>
              <a:buSzPct val="59090"/>
              <a:buFont typeface="Wingdings"/>
              <a:buChar char=""/>
              <a:tabLst>
                <a:tab pos="755015" algn="l"/>
                <a:tab pos="755650" algn="l"/>
              </a:tabLst>
            </a:pPr>
            <a:r>
              <a:rPr lang="en-IN" sz="2200" spc="-5" dirty="0">
                <a:solidFill>
                  <a:schemeClr val="tx1"/>
                </a:solidFill>
                <a:latin typeface="Arial MT"/>
                <a:cs typeface="Arial MT"/>
              </a:rPr>
              <a:t>duplicate</a:t>
            </a:r>
            <a:r>
              <a:rPr lang="en-IN" sz="2200" spc="10" dirty="0">
                <a:solidFill>
                  <a:schemeClr val="tx1"/>
                </a:solidFill>
                <a:latin typeface="Arial MT"/>
                <a:cs typeface="Arial MT"/>
              </a:rPr>
              <a:t> </a:t>
            </a:r>
            <a:r>
              <a:rPr lang="en-IN" sz="2200" dirty="0">
                <a:solidFill>
                  <a:schemeClr val="tx1"/>
                </a:solidFill>
                <a:latin typeface="Arial MT"/>
                <a:cs typeface="Arial MT"/>
              </a:rPr>
              <a:t>records,</a:t>
            </a:r>
            <a:r>
              <a:rPr lang="en-IN" sz="2200" spc="5" dirty="0">
                <a:solidFill>
                  <a:schemeClr val="tx1"/>
                </a:solidFill>
                <a:latin typeface="Arial MT"/>
                <a:cs typeface="Arial MT"/>
              </a:rPr>
              <a:t> </a:t>
            </a:r>
            <a:r>
              <a:rPr lang="en-IN" sz="2200" spc="-5" dirty="0">
                <a:solidFill>
                  <a:schemeClr val="tx1"/>
                </a:solidFill>
                <a:latin typeface="Arial MT"/>
                <a:cs typeface="Arial MT"/>
              </a:rPr>
              <a:t>incomplete</a:t>
            </a:r>
            <a:r>
              <a:rPr lang="en-IN" sz="2200" spc="15" dirty="0">
                <a:solidFill>
                  <a:schemeClr val="tx1"/>
                </a:solidFill>
                <a:latin typeface="Arial MT"/>
                <a:cs typeface="Arial MT"/>
              </a:rPr>
              <a:t> </a:t>
            </a:r>
            <a:r>
              <a:rPr lang="en-IN" sz="2200" spc="-5" dirty="0">
                <a:solidFill>
                  <a:schemeClr val="tx1"/>
                </a:solidFill>
                <a:latin typeface="Arial MT"/>
                <a:cs typeface="Arial MT"/>
              </a:rPr>
              <a:t>data,</a:t>
            </a:r>
            <a:r>
              <a:rPr lang="en-IN" sz="2200" spc="5" dirty="0">
                <a:solidFill>
                  <a:schemeClr val="tx1"/>
                </a:solidFill>
                <a:latin typeface="Arial MT"/>
                <a:cs typeface="Arial MT"/>
              </a:rPr>
              <a:t> </a:t>
            </a:r>
            <a:r>
              <a:rPr lang="en-IN" sz="2200" spc="-5" dirty="0">
                <a:solidFill>
                  <a:schemeClr val="tx1"/>
                </a:solidFill>
                <a:latin typeface="Arial MT"/>
                <a:cs typeface="Arial MT"/>
              </a:rPr>
              <a:t>inconsistent</a:t>
            </a:r>
            <a:r>
              <a:rPr lang="en-IN" sz="2200" spc="10" dirty="0">
                <a:solidFill>
                  <a:schemeClr val="tx1"/>
                </a:solidFill>
                <a:latin typeface="Arial MT"/>
                <a:cs typeface="Arial MT"/>
              </a:rPr>
              <a:t> </a:t>
            </a:r>
            <a:r>
              <a:rPr lang="en-IN" sz="2200" spc="-5" dirty="0">
                <a:solidFill>
                  <a:schemeClr val="tx1"/>
                </a:solidFill>
                <a:latin typeface="Arial MT"/>
                <a:cs typeface="Arial MT"/>
              </a:rPr>
              <a:t>data</a:t>
            </a:r>
            <a:endParaRPr lang="en-IN" sz="2200" dirty="0">
              <a:solidFill>
                <a:schemeClr val="tx1"/>
              </a:solidFill>
              <a:latin typeface="Arial MT"/>
              <a:cs typeface="Arial MT"/>
            </a:endParaRPr>
          </a:p>
          <a:p>
            <a:endParaRPr lang="en-IN" dirty="0"/>
          </a:p>
        </p:txBody>
      </p:sp>
    </p:spTree>
    <p:extLst>
      <p:ext uri="{BB962C8B-B14F-4D97-AF65-F5344CB8AC3E}">
        <p14:creationId xmlns:p14="http://schemas.microsoft.com/office/powerpoint/2010/main" val="881712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C4E14-8AA9-460A-81A6-F2104B4D7DC2}"/>
              </a:ext>
            </a:extLst>
          </p:cNvPr>
          <p:cNvSpPr>
            <a:spLocks noGrp="1"/>
          </p:cNvSpPr>
          <p:nvPr>
            <p:ph type="title"/>
          </p:nvPr>
        </p:nvSpPr>
        <p:spPr/>
        <p:txBody>
          <a:bodyPr/>
          <a:lstStyle/>
          <a:p>
            <a:r>
              <a:rPr lang="en-US" dirty="0"/>
              <a:t>How to Handle Noisy Data</a:t>
            </a:r>
            <a:endParaRPr lang="en-IN" dirty="0"/>
          </a:p>
        </p:txBody>
      </p:sp>
      <p:sp>
        <p:nvSpPr>
          <p:cNvPr id="3" name="Content Placeholder 2">
            <a:extLst>
              <a:ext uri="{FF2B5EF4-FFF2-40B4-BE49-F238E27FC236}">
                <a16:creationId xmlns:a16="http://schemas.microsoft.com/office/drawing/2014/main" id="{BC2845F1-7415-4E1B-B254-F7D326A2C139}"/>
              </a:ext>
            </a:extLst>
          </p:cNvPr>
          <p:cNvSpPr>
            <a:spLocks noGrp="1"/>
          </p:cNvSpPr>
          <p:nvPr>
            <p:ph idx="1"/>
          </p:nvPr>
        </p:nvSpPr>
        <p:spPr/>
        <p:txBody>
          <a:bodyPr/>
          <a:lstStyle/>
          <a:p>
            <a:r>
              <a:rPr lang="en-US" dirty="0"/>
              <a:t>Different data smoothing techniques</a:t>
            </a:r>
          </a:p>
          <a:p>
            <a:pPr lvl="1"/>
            <a:r>
              <a:rPr lang="en-US" dirty="0"/>
              <a:t>Binning</a:t>
            </a:r>
          </a:p>
          <a:p>
            <a:pPr lvl="1"/>
            <a:r>
              <a:rPr lang="en-US" dirty="0"/>
              <a:t>Outlier Analysis by Clustering</a:t>
            </a:r>
          </a:p>
          <a:p>
            <a:pPr lvl="1"/>
            <a:r>
              <a:rPr lang="en-US" dirty="0"/>
              <a:t>Regression</a:t>
            </a:r>
            <a:endParaRPr lang="en-IN" dirty="0"/>
          </a:p>
        </p:txBody>
      </p:sp>
    </p:spTree>
    <p:extLst>
      <p:ext uri="{BB962C8B-B14F-4D97-AF65-F5344CB8AC3E}">
        <p14:creationId xmlns:p14="http://schemas.microsoft.com/office/powerpoint/2010/main" val="696684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B3758-9003-43F9-8C82-49ACEA1062DD}"/>
              </a:ext>
            </a:extLst>
          </p:cNvPr>
          <p:cNvSpPr>
            <a:spLocks noGrp="1"/>
          </p:cNvSpPr>
          <p:nvPr>
            <p:ph type="title"/>
          </p:nvPr>
        </p:nvSpPr>
        <p:spPr/>
        <p:txBody>
          <a:bodyPr>
            <a:normAutofit/>
          </a:bodyPr>
          <a:lstStyle/>
          <a:p>
            <a:r>
              <a:rPr lang="en-US" sz="3200" dirty="0"/>
              <a:t>Binning Method</a:t>
            </a:r>
            <a:endParaRPr lang="en-IN" sz="3200" dirty="0"/>
          </a:p>
        </p:txBody>
      </p:sp>
      <p:sp>
        <p:nvSpPr>
          <p:cNvPr id="3" name="Content Placeholder 2">
            <a:extLst>
              <a:ext uri="{FF2B5EF4-FFF2-40B4-BE49-F238E27FC236}">
                <a16:creationId xmlns:a16="http://schemas.microsoft.com/office/drawing/2014/main" id="{B064058B-9154-4DEA-AF36-A2BDD33506A9}"/>
              </a:ext>
            </a:extLst>
          </p:cNvPr>
          <p:cNvSpPr>
            <a:spLocks noGrp="1"/>
          </p:cNvSpPr>
          <p:nvPr>
            <p:ph idx="1"/>
          </p:nvPr>
        </p:nvSpPr>
        <p:spPr/>
        <p:txBody>
          <a:bodyPr/>
          <a:lstStyle/>
          <a:p>
            <a:pPr marL="294005" indent="-281940">
              <a:lnSpc>
                <a:spcPts val="2735"/>
              </a:lnSpc>
              <a:spcBef>
                <a:spcPts val="100"/>
              </a:spcBef>
              <a:buSzPct val="79166"/>
              <a:buFont typeface="Wingdings"/>
              <a:buChar char=""/>
              <a:tabLst>
                <a:tab pos="294005" algn="l"/>
                <a:tab pos="294640" algn="l"/>
              </a:tabLst>
            </a:pPr>
            <a:r>
              <a:rPr lang="en-US" sz="2000" dirty="0">
                <a:latin typeface="Cambria"/>
                <a:cs typeface="Cambria"/>
              </a:rPr>
              <a:t>first</a:t>
            </a:r>
            <a:r>
              <a:rPr lang="en-US" sz="2000" spc="-30" dirty="0">
                <a:latin typeface="Cambria"/>
                <a:cs typeface="Cambria"/>
              </a:rPr>
              <a:t> </a:t>
            </a:r>
            <a:r>
              <a:rPr lang="en-US" sz="2000" dirty="0">
                <a:latin typeface="Cambria"/>
                <a:cs typeface="Cambria"/>
              </a:rPr>
              <a:t>sort</a:t>
            </a:r>
            <a:r>
              <a:rPr lang="en-US" sz="2000" spc="-15" dirty="0">
                <a:latin typeface="Cambria"/>
                <a:cs typeface="Cambria"/>
              </a:rPr>
              <a:t> </a:t>
            </a:r>
            <a:r>
              <a:rPr lang="en-US" sz="2000" dirty="0">
                <a:latin typeface="Cambria"/>
                <a:cs typeface="Cambria"/>
              </a:rPr>
              <a:t>data</a:t>
            </a:r>
            <a:r>
              <a:rPr lang="en-US" sz="2000" spc="10" dirty="0">
                <a:latin typeface="Cambria"/>
                <a:cs typeface="Cambria"/>
              </a:rPr>
              <a:t> </a:t>
            </a:r>
            <a:r>
              <a:rPr lang="en-US" sz="2000" spc="-5" dirty="0">
                <a:latin typeface="Cambria"/>
                <a:cs typeface="Cambria"/>
              </a:rPr>
              <a:t>and </a:t>
            </a:r>
            <a:r>
              <a:rPr lang="en-US" sz="2000" dirty="0">
                <a:latin typeface="Cambria"/>
                <a:cs typeface="Cambria"/>
              </a:rPr>
              <a:t>partition</a:t>
            </a:r>
            <a:r>
              <a:rPr lang="en-US" sz="2000" spc="-30" dirty="0">
                <a:latin typeface="Cambria"/>
                <a:cs typeface="Cambria"/>
              </a:rPr>
              <a:t> </a:t>
            </a:r>
            <a:r>
              <a:rPr lang="en-US" sz="2000" spc="-5" dirty="0">
                <a:latin typeface="Cambria"/>
                <a:cs typeface="Cambria"/>
              </a:rPr>
              <a:t>into</a:t>
            </a:r>
            <a:r>
              <a:rPr lang="en-US" sz="2000" spc="-30" dirty="0">
                <a:latin typeface="Cambria"/>
                <a:cs typeface="Cambria"/>
              </a:rPr>
              <a:t> </a:t>
            </a:r>
            <a:r>
              <a:rPr lang="en-US" sz="2000" spc="-5" dirty="0">
                <a:latin typeface="Cambria"/>
                <a:cs typeface="Cambria"/>
              </a:rPr>
              <a:t>(</a:t>
            </a:r>
            <a:r>
              <a:rPr lang="en-US" sz="2000" spc="-5" dirty="0" err="1">
                <a:latin typeface="Cambria"/>
                <a:cs typeface="Cambria"/>
              </a:rPr>
              <a:t>equi</a:t>
            </a:r>
            <a:r>
              <a:rPr lang="en-US" sz="2000" spc="-5" dirty="0">
                <a:latin typeface="Cambria"/>
                <a:cs typeface="Cambria"/>
              </a:rPr>
              <a:t>-depth)</a:t>
            </a:r>
            <a:r>
              <a:rPr lang="en-US" sz="2000" spc="15" dirty="0">
                <a:latin typeface="Cambria"/>
                <a:cs typeface="Cambria"/>
              </a:rPr>
              <a:t> </a:t>
            </a:r>
            <a:r>
              <a:rPr lang="en-US" sz="2000" spc="-10" dirty="0">
                <a:latin typeface="Cambria"/>
                <a:cs typeface="Cambria"/>
              </a:rPr>
              <a:t>buckets</a:t>
            </a:r>
            <a:r>
              <a:rPr lang="en-US" sz="2000" spc="5" dirty="0">
                <a:latin typeface="Cambria"/>
                <a:cs typeface="Cambria"/>
              </a:rPr>
              <a:t> </a:t>
            </a:r>
            <a:r>
              <a:rPr lang="en-US" sz="2000" dirty="0">
                <a:latin typeface="Cambria"/>
                <a:cs typeface="Cambria"/>
              </a:rPr>
              <a:t>or </a:t>
            </a:r>
            <a:r>
              <a:rPr lang="en-US" sz="2000" spc="-5" dirty="0">
                <a:latin typeface="Cambria"/>
                <a:cs typeface="Cambria"/>
              </a:rPr>
              <a:t>bins.</a:t>
            </a:r>
            <a:endParaRPr lang="en-US" sz="2000" dirty="0">
              <a:latin typeface="Cambria"/>
              <a:cs typeface="Cambria"/>
            </a:endParaRPr>
          </a:p>
          <a:p>
            <a:pPr marL="294005" marR="52069" indent="-281940">
              <a:lnSpc>
                <a:spcPts val="2590"/>
              </a:lnSpc>
              <a:spcBef>
                <a:spcPts val="615"/>
              </a:spcBef>
              <a:buSzPct val="79166"/>
              <a:buFont typeface="Wingdings"/>
              <a:buChar char=""/>
              <a:tabLst>
                <a:tab pos="294005" algn="l"/>
                <a:tab pos="294640" algn="l"/>
              </a:tabLst>
            </a:pPr>
            <a:r>
              <a:rPr lang="en-US" sz="2000" spc="-5" dirty="0">
                <a:latin typeface="Cambria"/>
                <a:cs typeface="Cambria"/>
              </a:rPr>
              <a:t>Because</a:t>
            </a:r>
            <a:r>
              <a:rPr lang="en-US" sz="2000" spc="-10" dirty="0">
                <a:latin typeface="Cambria"/>
                <a:cs typeface="Cambria"/>
              </a:rPr>
              <a:t> </a:t>
            </a:r>
            <a:r>
              <a:rPr lang="en-US" sz="2000" spc="-5" dirty="0">
                <a:latin typeface="Cambria"/>
                <a:cs typeface="Cambria"/>
              </a:rPr>
              <a:t>binning</a:t>
            </a:r>
            <a:r>
              <a:rPr lang="en-US" sz="2000" spc="-40" dirty="0">
                <a:latin typeface="Cambria"/>
                <a:cs typeface="Cambria"/>
              </a:rPr>
              <a:t> </a:t>
            </a:r>
            <a:r>
              <a:rPr lang="en-US" sz="2000" spc="-5" dirty="0">
                <a:latin typeface="Cambria"/>
                <a:cs typeface="Cambria"/>
              </a:rPr>
              <a:t>methods</a:t>
            </a:r>
            <a:r>
              <a:rPr lang="en-US" sz="2000" dirty="0">
                <a:latin typeface="Cambria"/>
                <a:cs typeface="Cambria"/>
              </a:rPr>
              <a:t> </a:t>
            </a:r>
            <a:r>
              <a:rPr lang="en-US" sz="2000" spc="-5" dirty="0">
                <a:latin typeface="Cambria"/>
                <a:cs typeface="Cambria"/>
              </a:rPr>
              <a:t>consult</a:t>
            </a:r>
            <a:r>
              <a:rPr lang="en-US" sz="2000" spc="5" dirty="0">
                <a:latin typeface="Cambria"/>
                <a:cs typeface="Cambria"/>
              </a:rPr>
              <a:t> </a:t>
            </a:r>
            <a:r>
              <a:rPr lang="en-US" sz="2000" spc="-5" dirty="0">
                <a:latin typeface="Cambria"/>
                <a:cs typeface="Cambria"/>
              </a:rPr>
              <a:t>the</a:t>
            </a:r>
            <a:r>
              <a:rPr lang="en-US" sz="2000" spc="40" dirty="0">
                <a:latin typeface="Cambria"/>
                <a:cs typeface="Cambria"/>
              </a:rPr>
              <a:t> </a:t>
            </a:r>
            <a:r>
              <a:rPr lang="en-US" sz="2000" spc="-5" dirty="0">
                <a:latin typeface="Cambria"/>
                <a:cs typeface="Cambria"/>
              </a:rPr>
              <a:t>neighborhood</a:t>
            </a:r>
            <a:r>
              <a:rPr lang="en-US" sz="2000" dirty="0">
                <a:latin typeface="Cambria"/>
                <a:cs typeface="Cambria"/>
              </a:rPr>
              <a:t> of </a:t>
            </a:r>
            <a:r>
              <a:rPr lang="en-US" sz="2000" spc="-515" dirty="0">
                <a:latin typeface="Cambria"/>
                <a:cs typeface="Cambria"/>
              </a:rPr>
              <a:t> </a:t>
            </a:r>
            <a:r>
              <a:rPr lang="en-US" sz="2000" spc="-15" dirty="0">
                <a:latin typeface="Cambria"/>
                <a:cs typeface="Cambria"/>
              </a:rPr>
              <a:t>values,</a:t>
            </a:r>
            <a:r>
              <a:rPr lang="en-US" sz="2000" spc="-20" dirty="0">
                <a:latin typeface="Cambria"/>
                <a:cs typeface="Cambria"/>
              </a:rPr>
              <a:t> </a:t>
            </a:r>
            <a:r>
              <a:rPr lang="en-US" sz="2000" spc="-10" dirty="0">
                <a:latin typeface="Cambria"/>
                <a:cs typeface="Cambria"/>
              </a:rPr>
              <a:t>they</a:t>
            </a:r>
            <a:r>
              <a:rPr lang="en-US" sz="2000" spc="-5" dirty="0">
                <a:latin typeface="Cambria"/>
                <a:cs typeface="Cambria"/>
              </a:rPr>
              <a:t> perform</a:t>
            </a:r>
            <a:r>
              <a:rPr lang="en-US" sz="2000" spc="-30" dirty="0">
                <a:latin typeface="Cambria"/>
                <a:cs typeface="Cambria"/>
              </a:rPr>
              <a:t> </a:t>
            </a:r>
            <a:r>
              <a:rPr lang="en-US" sz="2000" spc="-5" dirty="0">
                <a:latin typeface="Cambria"/>
                <a:cs typeface="Cambria"/>
              </a:rPr>
              <a:t>local</a:t>
            </a:r>
            <a:r>
              <a:rPr lang="en-US" sz="2000" spc="10" dirty="0">
                <a:latin typeface="Cambria"/>
                <a:cs typeface="Cambria"/>
              </a:rPr>
              <a:t> </a:t>
            </a:r>
            <a:r>
              <a:rPr lang="en-US" sz="2000" spc="-5" dirty="0">
                <a:latin typeface="Cambria"/>
                <a:cs typeface="Cambria"/>
              </a:rPr>
              <a:t>smoothing.</a:t>
            </a:r>
            <a:endParaRPr lang="en-US" sz="2000" dirty="0">
              <a:latin typeface="Cambria"/>
              <a:cs typeface="Cambria"/>
            </a:endParaRPr>
          </a:p>
          <a:p>
            <a:pPr marL="294005" indent="-281940">
              <a:lnSpc>
                <a:spcPts val="2735"/>
              </a:lnSpc>
              <a:spcBef>
                <a:spcPts val="254"/>
              </a:spcBef>
              <a:buSzPct val="79166"/>
              <a:buFont typeface="Wingdings"/>
              <a:buChar char=""/>
              <a:tabLst>
                <a:tab pos="294005" algn="l"/>
                <a:tab pos="294640" algn="l"/>
                <a:tab pos="4984115" algn="l"/>
              </a:tabLst>
            </a:pPr>
            <a:r>
              <a:rPr lang="en-US" sz="2000" spc="-5" dirty="0">
                <a:latin typeface="Cambria"/>
                <a:cs typeface="Cambria"/>
              </a:rPr>
              <a:t>then</a:t>
            </a:r>
            <a:r>
              <a:rPr lang="en-US" sz="2000" spc="-20" dirty="0">
                <a:latin typeface="Cambria"/>
                <a:cs typeface="Cambria"/>
              </a:rPr>
              <a:t> </a:t>
            </a:r>
            <a:r>
              <a:rPr lang="en-US" sz="2000" dirty="0">
                <a:latin typeface="Cambria"/>
                <a:cs typeface="Cambria"/>
              </a:rPr>
              <a:t>one</a:t>
            </a:r>
            <a:r>
              <a:rPr lang="en-US" sz="2000" spc="10" dirty="0">
                <a:latin typeface="Cambria"/>
                <a:cs typeface="Cambria"/>
              </a:rPr>
              <a:t> </a:t>
            </a:r>
            <a:r>
              <a:rPr lang="en-US" sz="2000" dirty="0">
                <a:latin typeface="Cambria"/>
                <a:cs typeface="Cambria"/>
              </a:rPr>
              <a:t>can</a:t>
            </a:r>
            <a:r>
              <a:rPr lang="en-US" sz="2000" spc="5" dirty="0">
                <a:latin typeface="Cambria"/>
                <a:cs typeface="Cambria"/>
              </a:rPr>
              <a:t> </a:t>
            </a:r>
            <a:r>
              <a:rPr lang="en-US" sz="2000" spc="-5" dirty="0">
                <a:solidFill>
                  <a:srgbClr val="0000FF"/>
                </a:solidFill>
                <a:latin typeface="Cambria"/>
                <a:cs typeface="Cambria"/>
              </a:rPr>
              <a:t>smooth</a:t>
            </a:r>
            <a:r>
              <a:rPr lang="en-US" sz="2000" spc="20" dirty="0">
                <a:solidFill>
                  <a:srgbClr val="0000FF"/>
                </a:solidFill>
                <a:latin typeface="Cambria"/>
                <a:cs typeface="Cambria"/>
              </a:rPr>
              <a:t> </a:t>
            </a:r>
            <a:r>
              <a:rPr lang="en-US" sz="2000" spc="-25" dirty="0">
                <a:solidFill>
                  <a:srgbClr val="0000FF"/>
                </a:solidFill>
                <a:latin typeface="Cambria"/>
                <a:cs typeface="Cambria"/>
              </a:rPr>
              <a:t>by</a:t>
            </a:r>
            <a:r>
              <a:rPr lang="en-US" sz="2000" spc="10" dirty="0">
                <a:solidFill>
                  <a:srgbClr val="0000FF"/>
                </a:solidFill>
                <a:latin typeface="Cambria"/>
                <a:cs typeface="Cambria"/>
              </a:rPr>
              <a:t> </a:t>
            </a:r>
            <a:r>
              <a:rPr lang="en-US" sz="2000" spc="-5" dirty="0">
                <a:solidFill>
                  <a:srgbClr val="0000FF"/>
                </a:solidFill>
                <a:latin typeface="Cambria"/>
                <a:cs typeface="Cambria"/>
              </a:rPr>
              <a:t>bin means, smooth</a:t>
            </a:r>
            <a:r>
              <a:rPr lang="en-US" sz="2000" spc="-10" dirty="0">
                <a:solidFill>
                  <a:srgbClr val="0000FF"/>
                </a:solidFill>
                <a:latin typeface="Cambria"/>
                <a:cs typeface="Cambria"/>
              </a:rPr>
              <a:t> </a:t>
            </a:r>
            <a:r>
              <a:rPr lang="en-US" sz="2000" spc="-25" dirty="0">
                <a:solidFill>
                  <a:srgbClr val="0000FF"/>
                </a:solidFill>
                <a:latin typeface="Cambria"/>
                <a:cs typeface="Cambria"/>
              </a:rPr>
              <a:t>by</a:t>
            </a:r>
            <a:r>
              <a:rPr lang="en-US" sz="2000" spc="-20" dirty="0">
                <a:solidFill>
                  <a:srgbClr val="0000FF"/>
                </a:solidFill>
                <a:latin typeface="Cambria"/>
                <a:cs typeface="Cambria"/>
              </a:rPr>
              <a:t> </a:t>
            </a:r>
            <a:r>
              <a:rPr lang="en-US" sz="2000" spc="-5" dirty="0">
                <a:solidFill>
                  <a:srgbClr val="0000FF"/>
                </a:solidFill>
                <a:latin typeface="Cambria"/>
                <a:cs typeface="Cambria"/>
              </a:rPr>
              <a:t>bin</a:t>
            </a:r>
            <a:r>
              <a:rPr lang="en-US" dirty="0">
                <a:latin typeface="Cambria"/>
                <a:cs typeface="Cambria"/>
              </a:rPr>
              <a:t> </a:t>
            </a:r>
            <a:r>
              <a:rPr lang="en-US" sz="2000" spc="-5" dirty="0">
                <a:solidFill>
                  <a:srgbClr val="0000FF"/>
                </a:solidFill>
                <a:latin typeface="Cambria"/>
                <a:cs typeface="Cambria"/>
              </a:rPr>
              <a:t>median,</a:t>
            </a:r>
            <a:r>
              <a:rPr lang="en-US" sz="2000" spc="-30" dirty="0">
                <a:solidFill>
                  <a:srgbClr val="0000FF"/>
                </a:solidFill>
                <a:latin typeface="Cambria"/>
                <a:cs typeface="Cambria"/>
              </a:rPr>
              <a:t> </a:t>
            </a:r>
            <a:r>
              <a:rPr lang="en-US" sz="2000" spc="-5" dirty="0">
                <a:solidFill>
                  <a:srgbClr val="0000FF"/>
                </a:solidFill>
                <a:latin typeface="Cambria"/>
                <a:cs typeface="Cambria"/>
              </a:rPr>
              <a:t>smooth</a:t>
            </a:r>
            <a:r>
              <a:rPr lang="en-US" sz="2000" spc="15" dirty="0">
                <a:solidFill>
                  <a:srgbClr val="0000FF"/>
                </a:solidFill>
                <a:latin typeface="Cambria"/>
                <a:cs typeface="Cambria"/>
              </a:rPr>
              <a:t> </a:t>
            </a:r>
            <a:r>
              <a:rPr lang="en-US" sz="2000" spc="-25" dirty="0">
                <a:solidFill>
                  <a:srgbClr val="0000FF"/>
                </a:solidFill>
                <a:latin typeface="Cambria"/>
                <a:cs typeface="Cambria"/>
              </a:rPr>
              <a:t>by</a:t>
            </a:r>
            <a:r>
              <a:rPr lang="en-US" sz="2000" spc="-5" dirty="0">
                <a:solidFill>
                  <a:srgbClr val="0000FF"/>
                </a:solidFill>
                <a:latin typeface="Cambria"/>
                <a:cs typeface="Cambria"/>
              </a:rPr>
              <a:t> bin</a:t>
            </a:r>
            <a:r>
              <a:rPr lang="en-US" sz="2000" spc="-10" dirty="0">
                <a:solidFill>
                  <a:srgbClr val="0000FF"/>
                </a:solidFill>
                <a:latin typeface="Cambria"/>
                <a:cs typeface="Cambria"/>
              </a:rPr>
              <a:t> </a:t>
            </a:r>
            <a:r>
              <a:rPr lang="en-US" sz="2000" spc="-5" dirty="0">
                <a:solidFill>
                  <a:srgbClr val="0000FF"/>
                </a:solidFill>
                <a:latin typeface="Cambria"/>
                <a:cs typeface="Cambria"/>
              </a:rPr>
              <a:t>boundaries</a:t>
            </a:r>
            <a:r>
              <a:rPr lang="en-US" sz="2000" spc="-5" dirty="0">
                <a:latin typeface="Cambria"/>
                <a:cs typeface="Cambria"/>
              </a:rPr>
              <a:t>,</a:t>
            </a:r>
            <a:r>
              <a:rPr lang="en-US" sz="2000" spc="-15" dirty="0">
                <a:latin typeface="Cambria"/>
                <a:cs typeface="Cambria"/>
              </a:rPr>
              <a:t> </a:t>
            </a:r>
            <a:r>
              <a:rPr lang="en-US" sz="2000" spc="-5" dirty="0">
                <a:latin typeface="Cambria"/>
                <a:cs typeface="Cambria"/>
              </a:rPr>
              <a:t>etc.</a:t>
            </a:r>
            <a:endParaRPr lang="en-US" sz="2000" dirty="0">
              <a:latin typeface="Cambria"/>
              <a:cs typeface="Cambria"/>
            </a:endParaRPr>
          </a:p>
          <a:p>
            <a:pPr marL="294005" indent="-281940">
              <a:lnSpc>
                <a:spcPct val="100000"/>
              </a:lnSpc>
              <a:spcBef>
                <a:spcPts val="290"/>
              </a:spcBef>
              <a:buSzPct val="79166"/>
              <a:buFont typeface="Wingdings"/>
              <a:buChar char=""/>
              <a:tabLst>
                <a:tab pos="294005" algn="l"/>
                <a:tab pos="294640" algn="l"/>
              </a:tabLst>
            </a:pPr>
            <a:r>
              <a:rPr lang="en-US" sz="2000" spc="-5" dirty="0">
                <a:latin typeface="Cambria"/>
                <a:cs typeface="Cambria"/>
              </a:rPr>
              <a:t>Binning</a:t>
            </a:r>
            <a:r>
              <a:rPr lang="en-US" sz="2000" spc="-60" dirty="0">
                <a:latin typeface="Cambria"/>
                <a:cs typeface="Cambria"/>
              </a:rPr>
              <a:t> </a:t>
            </a:r>
            <a:r>
              <a:rPr lang="en-US" sz="2000" dirty="0">
                <a:latin typeface="Cambria"/>
                <a:cs typeface="Cambria"/>
              </a:rPr>
              <a:t>is </a:t>
            </a:r>
            <a:r>
              <a:rPr lang="en-US" sz="2000" spc="-5" dirty="0">
                <a:latin typeface="Cambria"/>
                <a:cs typeface="Cambria"/>
              </a:rPr>
              <a:t>also</a:t>
            </a:r>
            <a:r>
              <a:rPr lang="en-US" sz="2000" dirty="0">
                <a:latin typeface="Cambria"/>
                <a:cs typeface="Cambria"/>
              </a:rPr>
              <a:t> </a:t>
            </a:r>
            <a:r>
              <a:rPr lang="en-US" sz="2000" spc="-5" dirty="0">
                <a:latin typeface="Cambria"/>
                <a:cs typeface="Cambria"/>
              </a:rPr>
              <a:t>used</a:t>
            </a:r>
            <a:r>
              <a:rPr lang="en-US" sz="2000" spc="15" dirty="0">
                <a:latin typeface="Cambria"/>
                <a:cs typeface="Cambria"/>
              </a:rPr>
              <a:t> </a:t>
            </a:r>
            <a:r>
              <a:rPr lang="en-US" sz="2000" spc="-5" dirty="0">
                <a:latin typeface="Cambria"/>
                <a:cs typeface="Cambria"/>
              </a:rPr>
              <a:t>as </a:t>
            </a:r>
            <a:r>
              <a:rPr lang="en-US" sz="2000" dirty="0">
                <a:latin typeface="Cambria"/>
                <a:cs typeface="Cambria"/>
              </a:rPr>
              <a:t>a</a:t>
            </a:r>
            <a:r>
              <a:rPr lang="en-US" sz="2000" spc="10" dirty="0">
                <a:latin typeface="Cambria"/>
                <a:cs typeface="Cambria"/>
              </a:rPr>
              <a:t> </a:t>
            </a:r>
            <a:r>
              <a:rPr lang="en-US" sz="2000" spc="-5" dirty="0">
                <a:latin typeface="Cambria"/>
                <a:cs typeface="Cambria"/>
              </a:rPr>
              <a:t>Discretization</a:t>
            </a:r>
            <a:r>
              <a:rPr lang="en-US" sz="2000" spc="-35" dirty="0">
                <a:latin typeface="Cambria"/>
                <a:cs typeface="Cambria"/>
              </a:rPr>
              <a:t> </a:t>
            </a:r>
            <a:r>
              <a:rPr lang="en-US" sz="2000" spc="-5" dirty="0">
                <a:latin typeface="Cambria"/>
                <a:cs typeface="Cambria"/>
              </a:rPr>
              <a:t>technique.</a:t>
            </a:r>
            <a:endParaRPr lang="en-US" sz="2000" dirty="0">
              <a:latin typeface="Cambria"/>
              <a:cs typeface="Cambria"/>
            </a:endParaRPr>
          </a:p>
        </p:txBody>
      </p:sp>
    </p:spTree>
    <p:extLst>
      <p:ext uri="{BB962C8B-B14F-4D97-AF65-F5344CB8AC3E}">
        <p14:creationId xmlns:p14="http://schemas.microsoft.com/office/powerpoint/2010/main" val="3876621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EA973-C791-4BC6-9AA7-71FF408063E3}"/>
              </a:ext>
            </a:extLst>
          </p:cNvPr>
          <p:cNvSpPr>
            <a:spLocks noGrp="1"/>
          </p:cNvSpPr>
          <p:nvPr>
            <p:ph type="title"/>
          </p:nvPr>
        </p:nvSpPr>
        <p:spPr/>
        <p:txBody>
          <a:bodyPr>
            <a:normAutofit/>
          </a:bodyPr>
          <a:lstStyle/>
          <a:p>
            <a:r>
              <a:rPr lang="en-US" sz="3200" dirty="0"/>
              <a:t>Binning Method</a:t>
            </a:r>
            <a:endParaRPr lang="en-IN" sz="3200" dirty="0"/>
          </a:p>
        </p:txBody>
      </p:sp>
      <p:sp>
        <p:nvSpPr>
          <p:cNvPr id="3" name="Content Placeholder 2">
            <a:extLst>
              <a:ext uri="{FF2B5EF4-FFF2-40B4-BE49-F238E27FC236}">
                <a16:creationId xmlns:a16="http://schemas.microsoft.com/office/drawing/2014/main" id="{8768533D-15B3-4D29-8CB6-FEF9FD3DC976}"/>
              </a:ext>
            </a:extLst>
          </p:cNvPr>
          <p:cNvSpPr>
            <a:spLocks noGrp="1"/>
          </p:cNvSpPr>
          <p:nvPr>
            <p:ph idx="1"/>
          </p:nvPr>
        </p:nvSpPr>
        <p:spPr/>
        <p:txBody>
          <a:bodyPr>
            <a:normAutofit/>
          </a:bodyPr>
          <a:lstStyle/>
          <a:p>
            <a:pPr marL="424180" indent="-412115">
              <a:lnSpc>
                <a:spcPct val="100000"/>
              </a:lnSpc>
              <a:spcBef>
                <a:spcPts val="100"/>
              </a:spcBef>
              <a:buSzPct val="64583"/>
              <a:buFont typeface="Arial MT"/>
              <a:buChar char="•"/>
              <a:tabLst>
                <a:tab pos="424180" algn="l"/>
                <a:tab pos="424815" algn="l"/>
              </a:tabLst>
            </a:pPr>
            <a:r>
              <a:rPr lang="en-US" sz="2400" spc="-5" dirty="0">
                <a:solidFill>
                  <a:srgbClr val="0000FF"/>
                </a:solidFill>
                <a:latin typeface="Cambria"/>
                <a:cs typeface="Cambria"/>
              </a:rPr>
              <a:t>Equal-width</a:t>
            </a:r>
            <a:r>
              <a:rPr lang="en-US" sz="2400" spc="-10" dirty="0">
                <a:solidFill>
                  <a:srgbClr val="0000FF"/>
                </a:solidFill>
                <a:latin typeface="Cambria"/>
                <a:cs typeface="Cambria"/>
              </a:rPr>
              <a:t> </a:t>
            </a:r>
            <a:r>
              <a:rPr lang="en-US" sz="2400" spc="-5" dirty="0">
                <a:latin typeface="Cambria"/>
                <a:cs typeface="Cambria"/>
              </a:rPr>
              <a:t>(distance)</a:t>
            </a:r>
            <a:r>
              <a:rPr lang="en-US" sz="2400" spc="-30" dirty="0">
                <a:latin typeface="Cambria"/>
                <a:cs typeface="Cambria"/>
              </a:rPr>
              <a:t> </a:t>
            </a:r>
            <a:r>
              <a:rPr lang="en-US" sz="2400" dirty="0">
                <a:latin typeface="Cambria"/>
                <a:cs typeface="Cambria"/>
              </a:rPr>
              <a:t>partitioning:</a:t>
            </a:r>
          </a:p>
          <a:p>
            <a:pPr marL="744220" lvl="1" indent="-282575">
              <a:lnSpc>
                <a:spcPct val="100000"/>
              </a:lnSpc>
              <a:buSzPct val="80000"/>
              <a:buFont typeface="Wingdings"/>
              <a:buChar char=""/>
              <a:tabLst>
                <a:tab pos="744220" algn="l"/>
                <a:tab pos="744855" algn="l"/>
              </a:tabLst>
            </a:pPr>
            <a:r>
              <a:rPr lang="en-US" sz="2000" spc="-5" dirty="0">
                <a:latin typeface="Cambria"/>
                <a:cs typeface="Cambria"/>
              </a:rPr>
              <a:t>It</a:t>
            </a:r>
            <a:r>
              <a:rPr lang="en-US" sz="2000" spc="-20" dirty="0">
                <a:latin typeface="Cambria"/>
                <a:cs typeface="Cambria"/>
              </a:rPr>
              <a:t> </a:t>
            </a:r>
            <a:r>
              <a:rPr lang="en-US" sz="2000" spc="-10" dirty="0">
                <a:latin typeface="Cambria"/>
                <a:cs typeface="Cambria"/>
              </a:rPr>
              <a:t>divides</a:t>
            </a:r>
            <a:r>
              <a:rPr lang="en-US" sz="2000" spc="-5" dirty="0">
                <a:latin typeface="Cambria"/>
                <a:cs typeface="Cambria"/>
              </a:rPr>
              <a:t> </a:t>
            </a:r>
            <a:r>
              <a:rPr lang="en-US" sz="2000" dirty="0">
                <a:latin typeface="Cambria"/>
                <a:cs typeface="Cambria"/>
              </a:rPr>
              <a:t>the</a:t>
            </a:r>
            <a:r>
              <a:rPr lang="en-US" sz="2000" spc="-25" dirty="0">
                <a:latin typeface="Cambria"/>
                <a:cs typeface="Cambria"/>
              </a:rPr>
              <a:t> </a:t>
            </a:r>
            <a:r>
              <a:rPr lang="en-US" sz="2000" spc="-10" dirty="0">
                <a:latin typeface="Cambria"/>
                <a:cs typeface="Cambria"/>
              </a:rPr>
              <a:t>range</a:t>
            </a:r>
            <a:r>
              <a:rPr lang="en-US" sz="2000" spc="-25" dirty="0">
                <a:latin typeface="Cambria"/>
                <a:cs typeface="Cambria"/>
              </a:rPr>
              <a:t> </a:t>
            </a:r>
            <a:r>
              <a:rPr lang="en-US" sz="2000" spc="-5" dirty="0">
                <a:latin typeface="Cambria"/>
                <a:cs typeface="Cambria"/>
              </a:rPr>
              <a:t>into</a:t>
            </a:r>
            <a:r>
              <a:rPr lang="en-US" sz="2000" spc="-25" dirty="0">
                <a:latin typeface="Cambria"/>
                <a:cs typeface="Cambria"/>
              </a:rPr>
              <a:t> </a:t>
            </a:r>
            <a:r>
              <a:rPr lang="en-US" sz="2000" i="1" dirty="0">
                <a:latin typeface="Cambria"/>
                <a:cs typeface="Cambria"/>
              </a:rPr>
              <a:t>N</a:t>
            </a:r>
            <a:r>
              <a:rPr lang="en-US" sz="2000" i="1" spc="-5" dirty="0">
                <a:latin typeface="Cambria"/>
                <a:cs typeface="Cambria"/>
              </a:rPr>
              <a:t> </a:t>
            </a:r>
            <a:r>
              <a:rPr lang="en-US" sz="2000" spc="-10" dirty="0">
                <a:latin typeface="Cambria"/>
                <a:cs typeface="Cambria"/>
              </a:rPr>
              <a:t>intervals</a:t>
            </a:r>
            <a:r>
              <a:rPr lang="en-US" sz="2000" spc="-20" dirty="0">
                <a:latin typeface="Cambria"/>
                <a:cs typeface="Cambria"/>
              </a:rPr>
              <a:t> </a:t>
            </a:r>
            <a:r>
              <a:rPr lang="en-US" sz="2000" dirty="0">
                <a:latin typeface="Cambria"/>
                <a:cs typeface="Cambria"/>
              </a:rPr>
              <a:t>of</a:t>
            </a:r>
            <a:r>
              <a:rPr lang="en-US" sz="2000" spc="-15" dirty="0">
                <a:latin typeface="Cambria"/>
                <a:cs typeface="Cambria"/>
              </a:rPr>
              <a:t> </a:t>
            </a:r>
            <a:r>
              <a:rPr lang="en-US" sz="2000" spc="-5" dirty="0">
                <a:latin typeface="Cambria"/>
                <a:cs typeface="Cambria"/>
              </a:rPr>
              <a:t>equal size:</a:t>
            </a:r>
            <a:r>
              <a:rPr lang="en-US" sz="2000" spc="5" dirty="0">
                <a:latin typeface="Cambria"/>
                <a:cs typeface="Cambria"/>
              </a:rPr>
              <a:t> </a:t>
            </a:r>
            <a:r>
              <a:rPr lang="en-US" sz="2000" spc="-5" dirty="0">
                <a:solidFill>
                  <a:srgbClr val="39513D"/>
                </a:solidFill>
                <a:latin typeface="Cambria"/>
                <a:cs typeface="Cambria"/>
              </a:rPr>
              <a:t>uniform</a:t>
            </a:r>
            <a:r>
              <a:rPr lang="en-US" sz="2000" spc="-25" dirty="0">
                <a:solidFill>
                  <a:srgbClr val="39513D"/>
                </a:solidFill>
                <a:latin typeface="Cambria"/>
                <a:cs typeface="Cambria"/>
              </a:rPr>
              <a:t> </a:t>
            </a:r>
            <a:r>
              <a:rPr lang="en-US" sz="2000" spc="-5" dirty="0">
                <a:solidFill>
                  <a:srgbClr val="39513D"/>
                </a:solidFill>
                <a:latin typeface="Cambria"/>
                <a:cs typeface="Cambria"/>
              </a:rPr>
              <a:t>grid</a:t>
            </a:r>
            <a:endParaRPr lang="en-US" sz="2000" dirty="0">
              <a:latin typeface="Cambria"/>
              <a:cs typeface="Cambria"/>
            </a:endParaRPr>
          </a:p>
          <a:p>
            <a:pPr marL="744220" lvl="1" indent="-282575">
              <a:lnSpc>
                <a:spcPct val="100000"/>
              </a:lnSpc>
              <a:spcBef>
                <a:spcPts val="5"/>
              </a:spcBef>
              <a:buSzPct val="80000"/>
              <a:buFont typeface="Wingdings"/>
              <a:buChar char=""/>
              <a:tabLst>
                <a:tab pos="744220" algn="l"/>
                <a:tab pos="744855" algn="l"/>
              </a:tabLst>
            </a:pPr>
            <a:r>
              <a:rPr lang="en-US" sz="2000" dirty="0">
                <a:latin typeface="Cambria"/>
                <a:cs typeface="Cambria"/>
              </a:rPr>
              <a:t>if</a:t>
            </a:r>
            <a:r>
              <a:rPr lang="en-US" sz="2000" spc="-35" dirty="0">
                <a:latin typeface="Cambria"/>
                <a:cs typeface="Cambria"/>
              </a:rPr>
              <a:t> </a:t>
            </a:r>
            <a:r>
              <a:rPr lang="en-US" sz="2000" i="1" dirty="0">
                <a:latin typeface="Cambria"/>
                <a:cs typeface="Cambria"/>
              </a:rPr>
              <a:t>A </a:t>
            </a:r>
            <a:r>
              <a:rPr lang="en-US" sz="2000" dirty="0">
                <a:latin typeface="Cambria"/>
                <a:cs typeface="Cambria"/>
              </a:rPr>
              <a:t>and</a:t>
            </a:r>
            <a:r>
              <a:rPr lang="en-US" sz="2000" spc="-15" dirty="0">
                <a:latin typeface="Cambria"/>
                <a:cs typeface="Cambria"/>
              </a:rPr>
              <a:t> </a:t>
            </a:r>
            <a:r>
              <a:rPr lang="en-US" sz="2000" i="1" dirty="0">
                <a:latin typeface="Cambria"/>
                <a:cs typeface="Cambria"/>
              </a:rPr>
              <a:t>B</a:t>
            </a:r>
            <a:r>
              <a:rPr lang="en-US" sz="2000" i="1" spc="-15" dirty="0">
                <a:latin typeface="Cambria"/>
                <a:cs typeface="Cambria"/>
              </a:rPr>
              <a:t> </a:t>
            </a:r>
            <a:r>
              <a:rPr lang="en-US" sz="2000" spc="-10" dirty="0">
                <a:latin typeface="Cambria"/>
                <a:cs typeface="Cambria"/>
              </a:rPr>
              <a:t>are</a:t>
            </a:r>
            <a:r>
              <a:rPr lang="en-US" sz="2000" spc="-25" dirty="0">
                <a:latin typeface="Cambria"/>
                <a:cs typeface="Cambria"/>
              </a:rPr>
              <a:t> </a:t>
            </a:r>
            <a:r>
              <a:rPr lang="en-US" sz="2000" spc="-5" dirty="0">
                <a:latin typeface="Cambria"/>
                <a:cs typeface="Cambria"/>
              </a:rPr>
              <a:t>the</a:t>
            </a:r>
            <a:r>
              <a:rPr lang="en-US" sz="2000" spc="-15" dirty="0">
                <a:latin typeface="Cambria"/>
                <a:cs typeface="Cambria"/>
              </a:rPr>
              <a:t> </a:t>
            </a:r>
            <a:r>
              <a:rPr lang="en-US" sz="2000" spc="-10" dirty="0">
                <a:latin typeface="Cambria"/>
                <a:cs typeface="Cambria"/>
              </a:rPr>
              <a:t>lowest </a:t>
            </a:r>
            <a:r>
              <a:rPr lang="en-US" sz="2000" dirty="0">
                <a:latin typeface="Cambria"/>
                <a:cs typeface="Cambria"/>
              </a:rPr>
              <a:t>and </a:t>
            </a:r>
            <a:r>
              <a:rPr lang="en-US" sz="2000" spc="-5" dirty="0">
                <a:latin typeface="Cambria"/>
                <a:cs typeface="Cambria"/>
              </a:rPr>
              <a:t>highest</a:t>
            </a:r>
            <a:r>
              <a:rPr lang="en-US" sz="2000" spc="-30" dirty="0">
                <a:latin typeface="Cambria"/>
                <a:cs typeface="Cambria"/>
              </a:rPr>
              <a:t> </a:t>
            </a:r>
            <a:r>
              <a:rPr lang="en-US" sz="2000" spc="-15" dirty="0">
                <a:latin typeface="Cambria"/>
                <a:cs typeface="Cambria"/>
              </a:rPr>
              <a:t>values</a:t>
            </a:r>
            <a:r>
              <a:rPr lang="en-US" sz="2000" spc="-5" dirty="0">
                <a:latin typeface="Cambria"/>
                <a:cs typeface="Cambria"/>
              </a:rPr>
              <a:t> </a:t>
            </a:r>
            <a:r>
              <a:rPr lang="en-US" sz="2000" dirty="0">
                <a:latin typeface="Cambria"/>
                <a:cs typeface="Cambria"/>
              </a:rPr>
              <a:t>of</a:t>
            </a:r>
            <a:r>
              <a:rPr lang="en-US" sz="2000" spc="-15" dirty="0">
                <a:latin typeface="Cambria"/>
                <a:cs typeface="Cambria"/>
              </a:rPr>
              <a:t> </a:t>
            </a:r>
            <a:r>
              <a:rPr lang="en-US" sz="2000" spc="-5" dirty="0">
                <a:latin typeface="Cambria"/>
                <a:cs typeface="Cambria"/>
              </a:rPr>
              <a:t>the</a:t>
            </a:r>
            <a:r>
              <a:rPr lang="en-US" sz="2000" spc="-30" dirty="0">
                <a:latin typeface="Cambria"/>
                <a:cs typeface="Cambria"/>
              </a:rPr>
              <a:t> </a:t>
            </a:r>
            <a:r>
              <a:rPr lang="en-US" sz="2000" spc="-5" dirty="0">
                <a:latin typeface="Cambria"/>
                <a:cs typeface="Cambria"/>
              </a:rPr>
              <a:t>attribute,</a:t>
            </a:r>
            <a:r>
              <a:rPr lang="en-US" sz="2000" spc="-35" dirty="0">
                <a:latin typeface="Cambria"/>
                <a:cs typeface="Cambria"/>
              </a:rPr>
              <a:t> </a:t>
            </a:r>
            <a:r>
              <a:rPr lang="en-US" sz="2000" spc="-5" dirty="0">
                <a:latin typeface="Cambria"/>
                <a:cs typeface="Cambria"/>
              </a:rPr>
              <a:t>the </a:t>
            </a:r>
            <a:r>
              <a:rPr lang="en-US" sz="2000" dirty="0">
                <a:latin typeface="Cambria"/>
                <a:cs typeface="Cambria"/>
              </a:rPr>
              <a:t>width</a:t>
            </a:r>
            <a:r>
              <a:rPr lang="en-US" sz="2000" spc="-40" dirty="0">
                <a:latin typeface="Cambria"/>
                <a:cs typeface="Cambria"/>
              </a:rPr>
              <a:t> </a:t>
            </a:r>
            <a:r>
              <a:rPr lang="en-US" sz="2000" dirty="0">
                <a:latin typeface="Cambria"/>
                <a:cs typeface="Cambria"/>
              </a:rPr>
              <a:t>of</a:t>
            </a:r>
            <a:r>
              <a:rPr lang="en-US" sz="2000" spc="-20" dirty="0">
                <a:latin typeface="Cambria"/>
                <a:cs typeface="Cambria"/>
              </a:rPr>
              <a:t> </a:t>
            </a:r>
            <a:r>
              <a:rPr lang="en-US" sz="2000" spc="-10" dirty="0">
                <a:latin typeface="Cambria"/>
                <a:cs typeface="Cambria"/>
              </a:rPr>
              <a:t>intervals</a:t>
            </a:r>
            <a:r>
              <a:rPr lang="en-US" sz="2000" spc="-30" dirty="0">
                <a:latin typeface="Cambria"/>
                <a:cs typeface="Cambria"/>
              </a:rPr>
              <a:t> </a:t>
            </a:r>
            <a:r>
              <a:rPr lang="en-US" sz="2000" spc="-5" dirty="0">
                <a:latin typeface="Cambria"/>
                <a:cs typeface="Cambria"/>
              </a:rPr>
              <a:t>will</a:t>
            </a:r>
            <a:r>
              <a:rPr lang="en-US" sz="2000" spc="-15" dirty="0">
                <a:latin typeface="Cambria"/>
                <a:cs typeface="Cambria"/>
              </a:rPr>
              <a:t> </a:t>
            </a:r>
            <a:r>
              <a:rPr lang="en-US" sz="2000" spc="-5" dirty="0">
                <a:latin typeface="Cambria"/>
                <a:cs typeface="Cambria"/>
              </a:rPr>
              <a:t>be:</a:t>
            </a:r>
            <a:r>
              <a:rPr lang="en-US" sz="2000" spc="10" dirty="0">
                <a:latin typeface="Cambria"/>
                <a:cs typeface="Cambria"/>
              </a:rPr>
              <a:t> </a:t>
            </a:r>
            <a:r>
              <a:rPr lang="en-US" sz="2000" i="1" dirty="0">
                <a:latin typeface="Cambria"/>
                <a:cs typeface="Cambria"/>
              </a:rPr>
              <a:t>W</a:t>
            </a:r>
            <a:r>
              <a:rPr lang="en-US" sz="2000" i="1" spc="-20" dirty="0">
                <a:latin typeface="Cambria"/>
                <a:cs typeface="Cambria"/>
              </a:rPr>
              <a:t> </a:t>
            </a:r>
            <a:r>
              <a:rPr lang="en-US" sz="2000" dirty="0">
                <a:latin typeface="Cambria"/>
                <a:cs typeface="Cambria"/>
              </a:rPr>
              <a:t>=</a:t>
            </a:r>
            <a:r>
              <a:rPr lang="en-US" sz="2000" spc="-5" dirty="0">
                <a:latin typeface="Cambria"/>
                <a:cs typeface="Cambria"/>
              </a:rPr>
              <a:t> </a:t>
            </a:r>
            <a:r>
              <a:rPr lang="en-US" sz="2000" spc="-10" dirty="0">
                <a:latin typeface="Cambria"/>
                <a:cs typeface="Cambria"/>
              </a:rPr>
              <a:t>(</a:t>
            </a:r>
            <a:r>
              <a:rPr lang="en-US" sz="2000" i="1" spc="-10" dirty="0">
                <a:latin typeface="Cambria"/>
                <a:cs typeface="Cambria"/>
              </a:rPr>
              <a:t>B</a:t>
            </a:r>
            <a:r>
              <a:rPr lang="en-US" sz="2000" spc="-10" dirty="0">
                <a:latin typeface="Cambria"/>
                <a:cs typeface="Cambria"/>
              </a:rPr>
              <a:t>-</a:t>
            </a:r>
            <a:r>
              <a:rPr lang="en-US" sz="2000" i="1" spc="-10" dirty="0">
                <a:latin typeface="Cambria"/>
                <a:cs typeface="Cambria"/>
              </a:rPr>
              <a:t>A</a:t>
            </a:r>
            <a:r>
              <a:rPr lang="en-US" sz="2000" spc="-10" dirty="0">
                <a:latin typeface="Cambria"/>
                <a:cs typeface="Cambria"/>
              </a:rPr>
              <a:t>)/</a:t>
            </a:r>
            <a:r>
              <a:rPr lang="en-US" sz="2000" i="1" spc="-10" dirty="0">
                <a:latin typeface="Cambria"/>
                <a:cs typeface="Cambria"/>
              </a:rPr>
              <a:t>N.</a:t>
            </a:r>
            <a:endParaRPr lang="en-US" sz="2000" dirty="0">
              <a:latin typeface="Cambria"/>
              <a:cs typeface="Cambria"/>
            </a:endParaRPr>
          </a:p>
          <a:p>
            <a:pPr marL="744220" lvl="1" indent="-282575">
              <a:lnSpc>
                <a:spcPct val="100000"/>
              </a:lnSpc>
              <a:buSzPct val="80000"/>
              <a:buFont typeface="Wingdings"/>
              <a:buChar char=""/>
              <a:tabLst>
                <a:tab pos="744220" algn="l"/>
                <a:tab pos="744855" algn="l"/>
              </a:tabLst>
            </a:pPr>
            <a:r>
              <a:rPr lang="en-US" sz="2000" dirty="0">
                <a:latin typeface="Cambria"/>
                <a:cs typeface="Cambria"/>
              </a:rPr>
              <a:t>The</a:t>
            </a:r>
            <a:r>
              <a:rPr lang="en-US" sz="2000" spc="-50" dirty="0">
                <a:latin typeface="Cambria"/>
                <a:cs typeface="Cambria"/>
              </a:rPr>
              <a:t> </a:t>
            </a:r>
            <a:r>
              <a:rPr lang="en-US" sz="2000" spc="-5" dirty="0">
                <a:latin typeface="Cambria"/>
                <a:cs typeface="Cambria"/>
              </a:rPr>
              <a:t>most</a:t>
            </a:r>
            <a:r>
              <a:rPr lang="en-US" sz="2000" spc="-45" dirty="0">
                <a:latin typeface="Cambria"/>
                <a:cs typeface="Cambria"/>
              </a:rPr>
              <a:t> </a:t>
            </a:r>
            <a:r>
              <a:rPr lang="en-US" sz="2000" spc="-10" dirty="0">
                <a:latin typeface="Cambria"/>
                <a:cs typeface="Cambria"/>
              </a:rPr>
              <a:t>straightforward</a:t>
            </a:r>
            <a:endParaRPr lang="en-US" sz="2000" dirty="0">
              <a:latin typeface="Cambria"/>
              <a:cs typeface="Cambria"/>
            </a:endParaRPr>
          </a:p>
          <a:p>
            <a:pPr marL="744220" lvl="1" indent="-282575">
              <a:lnSpc>
                <a:spcPct val="100000"/>
              </a:lnSpc>
              <a:buSzPct val="80000"/>
              <a:buFont typeface="Wingdings"/>
              <a:buChar char=""/>
              <a:tabLst>
                <a:tab pos="744220" algn="l"/>
                <a:tab pos="744855" algn="l"/>
              </a:tabLst>
            </a:pPr>
            <a:r>
              <a:rPr lang="en-US" sz="2000" spc="-5" dirty="0">
                <a:latin typeface="Cambria"/>
                <a:cs typeface="Cambria"/>
              </a:rPr>
              <a:t>But</a:t>
            </a:r>
            <a:r>
              <a:rPr lang="en-US" sz="2000" spc="-25" dirty="0">
                <a:latin typeface="Cambria"/>
                <a:cs typeface="Cambria"/>
              </a:rPr>
              <a:t> </a:t>
            </a:r>
            <a:r>
              <a:rPr lang="en-US" sz="2000" spc="-5" dirty="0">
                <a:latin typeface="Cambria"/>
                <a:cs typeface="Cambria"/>
              </a:rPr>
              <a:t>outliers</a:t>
            </a:r>
            <a:r>
              <a:rPr lang="en-US" sz="2000" spc="-15" dirty="0">
                <a:latin typeface="Cambria"/>
                <a:cs typeface="Cambria"/>
              </a:rPr>
              <a:t> may</a:t>
            </a:r>
            <a:r>
              <a:rPr lang="en-US" sz="2000" spc="-20" dirty="0">
                <a:latin typeface="Cambria"/>
                <a:cs typeface="Cambria"/>
              </a:rPr>
              <a:t> </a:t>
            </a:r>
            <a:r>
              <a:rPr lang="en-US" sz="2000" spc="-5" dirty="0">
                <a:latin typeface="Cambria"/>
                <a:cs typeface="Cambria"/>
              </a:rPr>
              <a:t>dominate</a:t>
            </a:r>
            <a:r>
              <a:rPr lang="en-US" sz="2000" spc="-55" dirty="0">
                <a:latin typeface="Cambria"/>
                <a:cs typeface="Cambria"/>
              </a:rPr>
              <a:t> </a:t>
            </a:r>
            <a:r>
              <a:rPr lang="en-US" sz="2000" spc="-5" dirty="0">
                <a:latin typeface="Cambria"/>
                <a:cs typeface="Cambria"/>
              </a:rPr>
              <a:t>presentation</a:t>
            </a:r>
            <a:endParaRPr lang="en-US" sz="2000" dirty="0">
              <a:latin typeface="Cambria"/>
              <a:cs typeface="Cambria"/>
            </a:endParaRPr>
          </a:p>
          <a:p>
            <a:pPr marL="744220" lvl="1" indent="-282575">
              <a:lnSpc>
                <a:spcPct val="100000"/>
              </a:lnSpc>
              <a:buSzPct val="80000"/>
              <a:buFont typeface="Wingdings"/>
              <a:buChar char=""/>
              <a:tabLst>
                <a:tab pos="744220" algn="l"/>
                <a:tab pos="744855" algn="l"/>
              </a:tabLst>
            </a:pPr>
            <a:r>
              <a:rPr lang="en-US" sz="2000" spc="-10" dirty="0">
                <a:latin typeface="Cambria"/>
                <a:cs typeface="Cambria"/>
              </a:rPr>
              <a:t>Skewed</a:t>
            </a:r>
            <a:r>
              <a:rPr lang="en-US" sz="2000" spc="-35" dirty="0">
                <a:latin typeface="Cambria"/>
                <a:cs typeface="Cambria"/>
              </a:rPr>
              <a:t> </a:t>
            </a:r>
            <a:r>
              <a:rPr lang="en-US" sz="2000" dirty="0">
                <a:latin typeface="Cambria"/>
                <a:cs typeface="Cambria"/>
              </a:rPr>
              <a:t>data</a:t>
            </a:r>
            <a:r>
              <a:rPr lang="en-US" sz="2000" spc="-35" dirty="0">
                <a:latin typeface="Cambria"/>
                <a:cs typeface="Cambria"/>
              </a:rPr>
              <a:t> </a:t>
            </a:r>
            <a:r>
              <a:rPr lang="en-US" sz="2000" dirty="0">
                <a:latin typeface="Cambria"/>
                <a:cs typeface="Cambria"/>
              </a:rPr>
              <a:t>is</a:t>
            </a:r>
            <a:r>
              <a:rPr lang="en-US" sz="2000" spc="-25" dirty="0">
                <a:latin typeface="Cambria"/>
                <a:cs typeface="Cambria"/>
              </a:rPr>
              <a:t> </a:t>
            </a:r>
            <a:r>
              <a:rPr lang="en-US" sz="2000" spc="-5" dirty="0">
                <a:latin typeface="Cambria"/>
                <a:cs typeface="Cambria"/>
              </a:rPr>
              <a:t>not</a:t>
            </a:r>
            <a:r>
              <a:rPr lang="en-US" sz="2000" spc="-20" dirty="0">
                <a:latin typeface="Cambria"/>
                <a:cs typeface="Cambria"/>
              </a:rPr>
              <a:t> </a:t>
            </a:r>
            <a:r>
              <a:rPr lang="en-US" sz="2000" dirty="0">
                <a:latin typeface="Cambria"/>
                <a:cs typeface="Cambria"/>
              </a:rPr>
              <a:t>handled</a:t>
            </a:r>
            <a:r>
              <a:rPr lang="en-US" sz="2000" spc="-45" dirty="0">
                <a:latin typeface="Cambria"/>
                <a:cs typeface="Cambria"/>
              </a:rPr>
              <a:t> </a:t>
            </a:r>
            <a:r>
              <a:rPr lang="en-US" sz="2000" spc="-10" dirty="0">
                <a:latin typeface="Cambria"/>
                <a:cs typeface="Cambria"/>
              </a:rPr>
              <a:t>well.</a:t>
            </a:r>
            <a:endParaRPr lang="en-US" sz="2000" dirty="0">
              <a:latin typeface="Cambria"/>
              <a:cs typeface="Cambria"/>
            </a:endParaRPr>
          </a:p>
          <a:p>
            <a:pPr marL="424180" indent="-412115">
              <a:lnSpc>
                <a:spcPct val="100000"/>
              </a:lnSpc>
              <a:spcBef>
                <a:spcPts val="575"/>
              </a:spcBef>
              <a:buSzPct val="64583"/>
              <a:buFont typeface="Arial MT"/>
              <a:buChar char="•"/>
              <a:tabLst>
                <a:tab pos="424180" algn="l"/>
                <a:tab pos="424815" algn="l"/>
              </a:tabLst>
            </a:pPr>
            <a:r>
              <a:rPr lang="en-US" sz="2400" spc="-5" dirty="0">
                <a:solidFill>
                  <a:srgbClr val="0000FF"/>
                </a:solidFill>
                <a:latin typeface="Cambria"/>
                <a:cs typeface="Cambria"/>
              </a:rPr>
              <a:t>Equal-depth</a:t>
            </a:r>
            <a:r>
              <a:rPr lang="en-US" sz="2400" spc="-15" dirty="0">
                <a:solidFill>
                  <a:srgbClr val="0000FF"/>
                </a:solidFill>
                <a:latin typeface="Cambria"/>
                <a:cs typeface="Cambria"/>
              </a:rPr>
              <a:t> </a:t>
            </a:r>
            <a:r>
              <a:rPr lang="en-US" sz="2400" spc="-5" dirty="0">
                <a:latin typeface="Cambria"/>
                <a:cs typeface="Cambria"/>
              </a:rPr>
              <a:t>(frequency)</a:t>
            </a:r>
            <a:r>
              <a:rPr lang="en-US" sz="2400" spc="-30" dirty="0">
                <a:latin typeface="Cambria"/>
                <a:cs typeface="Cambria"/>
              </a:rPr>
              <a:t> </a:t>
            </a:r>
            <a:r>
              <a:rPr lang="en-US" sz="2400" dirty="0">
                <a:latin typeface="Cambria"/>
                <a:cs typeface="Cambria"/>
              </a:rPr>
              <a:t>partitioning:</a:t>
            </a:r>
          </a:p>
          <a:p>
            <a:pPr marL="744220" marR="1188085" lvl="1" indent="-281940">
              <a:lnSpc>
                <a:spcPct val="100000"/>
              </a:lnSpc>
              <a:spcBef>
                <a:spcPts val="5"/>
              </a:spcBef>
              <a:buSzPct val="80000"/>
              <a:buFont typeface="Wingdings"/>
              <a:buChar char=""/>
              <a:tabLst>
                <a:tab pos="744220" algn="l"/>
                <a:tab pos="744855" algn="l"/>
              </a:tabLst>
            </a:pPr>
            <a:r>
              <a:rPr lang="en-US" sz="2000" spc="-5" dirty="0">
                <a:latin typeface="Cambria"/>
                <a:cs typeface="Cambria"/>
              </a:rPr>
              <a:t>It </a:t>
            </a:r>
            <a:r>
              <a:rPr lang="en-US" sz="2000" spc="-10" dirty="0">
                <a:latin typeface="Cambria"/>
                <a:cs typeface="Cambria"/>
              </a:rPr>
              <a:t>divides </a:t>
            </a:r>
            <a:r>
              <a:rPr lang="en-US" sz="2000" dirty="0">
                <a:latin typeface="Cambria"/>
                <a:cs typeface="Cambria"/>
              </a:rPr>
              <a:t>the </a:t>
            </a:r>
            <a:r>
              <a:rPr lang="en-US" sz="2000" spc="-10" dirty="0">
                <a:latin typeface="Cambria"/>
                <a:cs typeface="Cambria"/>
              </a:rPr>
              <a:t>range </a:t>
            </a:r>
            <a:r>
              <a:rPr lang="en-US" sz="2000" spc="-5" dirty="0">
                <a:latin typeface="Cambria"/>
                <a:cs typeface="Cambria"/>
              </a:rPr>
              <a:t>into </a:t>
            </a:r>
            <a:r>
              <a:rPr lang="en-US" sz="2000" i="1" dirty="0">
                <a:latin typeface="Cambria"/>
                <a:cs typeface="Cambria"/>
              </a:rPr>
              <a:t>N </a:t>
            </a:r>
            <a:r>
              <a:rPr lang="en-US" sz="2000" spc="-10" dirty="0">
                <a:latin typeface="Cambria"/>
                <a:cs typeface="Cambria"/>
              </a:rPr>
              <a:t>intervals, </a:t>
            </a:r>
            <a:r>
              <a:rPr lang="en-US" sz="2000" dirty="0">
                <a:latin typeface="Cambria"/>
                <a:cs typeface="Cambria"/>
              </a:rPr>
              <a:t>each </a:t>
            </a:r>
            <a:r>
              <a:rPr lang="en-US" sz="2000" spc="-5" dirty="0">
                <a:latin typeface="Cambria"/>
                <a:cs typeface="Cambria"/>
              </a:rPr>
              <a:t>containing </a:t>
            </a:r>
            <a:r>
              <a:rPr lang="en-US" sz="2000" spc="-430" dirty="0">
                <a:latin typeface="Cambria"/>
                <a:cs typeface="Cambria"/>
              </a:rPr>
              <a:t> </a:t>
            </a:r>
            <a:r>
              <a:rPr lang="en-US" sz="2000" spc="-10" dirty="0">
                <a:latin typeface="Cambria"/>
                <a:cs typeface="Cambria"/>
              </a:rPr>
              <a:t>approximately</a:t>
            </a:r>
            <a:r>
              <a:rPr lang="en-US" sz="2000" spc="-55" dirty="0">
                <a:latin typeface="Cambria"/>
                <a:cs typeface="Cambria"/>
              </a:rPr>
              <a:t> </a:t>
            </a:r>
            <a:r>
              <a:rPr lang="en-US" sz="2000" dirty="0">
                <a:latin typeface="Cambria"/>
                <a:cs typeface="Cambria"/>
              </a:rPr>
              <a:t>same</a:t>
            </a:r>
            <a:r>
              <a:rPr lang="en-US" sz="2000" spc="-15" dirty="0">
                <a:latin typeface="Cambria"/>
                <a:cs typeface="Cambria"/>
              </a:rPr>
              <a:t> </a:t>
            </a:r>
            <a:r>
              <a:rPr lang="en-US" sz="2000" spc="-5" dirty="0">
                <a:latin typeface="Cambria"/>
                <a:cs typeface="Cambria"/>
              </a:rPr>
              <a:t>number</a:t>
            </a:r>
            <a:r>
              <a:rPr lang="en-US" sz="2000" spc="-20" dirty="0">
                <a:latin typeface="Cambria"/>
                <a:cs typeface="Cambria"/>
              </a:rPr>
              <a:t> </a:t>
            </a:r>
            <a:r>
              <a:rPr lang="en-US" sz="2000" dirty="0">
                <a:latin typeface="Cambria"/>
                <a:cs typeface="Cambria"/>
              </a:rPr>
              <a:t>of</a:t>
            </a:r>
            <a:r>
              <a:rPr lang="en-US" sz="2000" spc="-20" dirty="0">
                <a:latin typeface="Cambria"/>
                <a:cs typeface="Cambria"/>
              </a:rPr>
              <a:t> </a:t>
            </a:r>
            <a:r>
              <a:rPr lang="en-US" sz="2000" spc="-5" dirty="0">
                <a:latin typeface="Cambria"/>
                <a:cs typeface="Cambria"/>
              </a:rPr>
              <a:t>samples</a:t>
            </a:r>
            <a:endParaRPr lang="en-US" sz="2000" dirty="0">
              <a:latin typeface="Cambria"/>
              <a:cs typeface="Cambria"/>
            </a:endParaRPr>
          </a:p>
          <a:p>
            <a:pPr marL="744220" lvl="1" indent="-282575">
              <a:lnSpc>
                <a:spcPct val="100000"/>
              </a:lnSpc>
              <a:buSzPct val="80000"/>
              <a:buFont typeface="Wingdings"/>
              <a:buChar char=""/>
              <a:tabLst>
                <a:tab pos="744220" algn="l"/>
                <a:tab pos="744855" algn="l"/>
              </a:tabLst>
            </a:pPr>
            <a:r>
              <a:rPr lang="en-US" sz="2000" dirty="0">
                <a:latin typeface="Cambria"/>
                <a:cs typeface="Cambria"/>
              </a:rPr>
              <a:t>Good</a:t>
            </a:r>
            <a:r>
              <a:rPr lang="en-US" sz="2000" spc="-30" dirty="0">
                <a:latin typeface="Cambria"/>
                <a:cs typeface="Cambria"/>
              </a:rPr>
              <a:t> </a:t>
            </a:r>
            <a:r>
              <a:rPr lang="en-US" sz="2000" dirty="0">
                <a:latin typeface="Cambria"/>
                <a:cs typeface="Cambria"/>
              </a:rPr>
              <a:t>data</a:t>
            </a:r>
            <a:r>
              <a:rPr lang="en-US" sz="2000" spc="-30" dirty="0">
                <a:latin typeface="Cambria"/>
                <a:cs typeface="Cambria"/>
              </a:rPr>
              <a:t> </a:t>
            </a:r>
            <a:r>
              <a:rPr lang="en-US" sz="2000" spc="-5" dirty="0">
                <a:latin typeface="Cambria"/>
                <a:cs typeface="Cambria"/>
              </a:rPr>
              <a:t>scaling</a:t>
            </a:r>
            <a:r>
              <a:rPr lang="en-US" sz="2000" spc="-15" dirty="0">
                <a:latin typeface="Cambria"/>
                <a:cs typeface="Cambria"/>
              </a:rPr>
              <a:t> </a:t>
            </a:r>
            <a:r>
              <a:rPr lang="en-US" sz="2000" dirty="0">
                <a:latin typeface="Cambria"/>
                <a:cs typeface="Cambria"/>
              </a:rPr>
              <a:t>–</a:t>
            </a:r>
            <a:r>
              <a:rPr lang="en-US" sz="2000" spc="-5" dirty="0">
                <a:latin typeface="Cambria"/>
                <a:cs typeface="Cambria"/>
              </a:rPr>
              <a:t> </a:t>
            </a:r>
            <a:r>
              <a:rPr lang="en-US" sz="2000" dirty="0">
                <a:latin typeface="Cambria"/>
                <a:cs typeface="Cambria"/>
              </a:rPr>
              <a:t>good</a:t>
            </a:r>
            <a:r>
              <a:rPr lang="en-US" sz="2000" spc="-20" dirty="0">
                <a:latin typeface="Cambria"/>
                <a:cs typeface="Cambria"/>
              </a:rPr>
              <a:t> </a:t>
            </a:r>
            <a:r>
              <a:rPr lang="en-US" sz="2000" dirty="0">
                <a:latin typeface="Cambria"/>
                <a:cs typeface="Cambria"/>
              </a:rPr>
              <a:t>handing</a:t>
            </a:r>
            <a:r>
              <a:rPr lang="en-US" sz="2000" spc="-40" dirty="0">
                <a:latin typeface="Cambria"/>
                <a:cs typeface="Cambria"/>
              </a:rPr>
              <a:t> </a:t>
            </a:r>
            <a:r>
              <a:rPr lang="en-US" sz="2000" dirty="0">
                <a:latin typeface="Cambria"/>
                <a:cs typeface="Cambria"/>
              </a:rPr>
              <a:t>of</a:t>
            </a:r>
            <a:r>
              <a:rPr lang="en-US" sz="2000" spc="-15" dirty="0">
                <a:latin typeface="Cambria"/>
                <a:cs typeface="Cambria"/>
              </a:rPr>
              <a:t> </a:t>
            </a:r>
            <a:r>
              <a:rPr lang="en-US" sz="2000" spc="-10" dirty="0">
                <a:latin typeface="Cambria"/>
                <a:cs typeface="Cambria"/>
              </a:rPr>
              <a:t>skewed</a:t>
            </a:r>
            <a:r>
              <a:rPr lang="en-US" sz="2000" spc="5" dirty="0">
                <a:latin typeface="Cambria"/>
                <a:cs typeface="Cambria"/>
              </a:rPr>
              <a:t> </a:t>
            </a:r>
            <a:r>
              <a:rPr lang="en-US" sz="2000" dirty="0">
                <a:latin typeface="Cambria"/>
                <a:cs typeface="Cambria"/>
              </a:rPr>
              <a:t>data</a:t>
            </a:r>
          </a:p>
          <a:p>
            <a:pPr marL="744220" lvl="1" indent="-282575">
              <a:lnSpc>
                <a:spcPct val="100000"/>
              </a:lnSpc>
              <a:buSzPct val="80000"/>
              <a:buFont typeface="Wingdings"/>
              <a:buChar char=""/>
              <a:tabLst>
                <a:tab pos="744220" algn="l"/>
                <a:tab pos="744855" algn="l"/>
              </a:tabLst>
            </a:pPr>
            <a:r>
              <a:rPr lang="en-US" sz="2000" dirty="0">
                <a:latin typeface="Cambria"/>
                <a:cs typeface="Cambria"/>
              </a:rPr>
              <a:t>Categorical data can be problem.</a:t>
            </a:r>
          </a:p>
          <a:p>
            <a:pPr marL="461645" lvl="1" indent="0">
              <a:lnSpc>
                <a:spcPct val="100000"/>
              </a:lnSpc>
              <a:buSzPct val="80000"/>
              <a:buNone/>
              <a:tabLst>
                <a:tab pos="744220" algn="l"/>
                <a:tab pos="744855" algn="l"/>
              </a:tabLst>
            </a:pPr>
            <a:endParaRPr lang="en-US" sz="2000" dirty="0">
              <a:latin typeface="Cambria"/>
              <a:cs typeface="Cambria"/>
            </a:endParaRPr>
          </a:p>
        </p:txBody>
      </p:sp>
    </p:spTree>
    <p:extLst>
      <p:ext uri="{BB962C8B-B14F-4D97-AF65-F5344CB8AC3E}">
        <p14:creationId xmlns:p14="http://schemas.microsoft.com/office/powerpoint/2010/main" val="926259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13D6A-333B-4263-BF61-A05DE24C1C07}"/>
              </a:ext>
            </a:extLst>
          </p:cNvPr>
          <p:cNvSpPr>
            <a:spLocks noGrp="1"/>
          </p:cNvSpPr>
          <p:nvPr>
            <p:ph type="title"/>
          </p:nvPr>
        </p:nvSpPr>
        <p:spPr/>
        <p:txBody>
          <a:bodyPr/>
          <a:lstStyle/>
          <a:p>
            <a:r>
              <a:rPr lang="en-US"/>
              <a:t>Smoothing method</a:t>
            </a:r>
            <a:endParaRPr lang="en-IN"/>
          </a:p>
        </p:txBody>
      </p:sp>
      <p:sp>
        <p:nvSpPr>
          <p:cNvPr id="3" name="Content Placeholder 2">
            <a:extLst>
              <a:ext uri="{FF2B5EF4-FFF2-40B4-BE49-F238E27FC236}">
                <a16:creationId xmlns:a16="http://schemas.microsoft.com/office/drawing/2014/main" id="{52179A5C-4693-4F9B-BE44-2133AC6C6B88}"/>
              </a:ext>
            </a:extLst>
          </p:cNvPr>
          <p:cNvSpPr>
            <a:spLocks noGrp="1"/>
          </p:cNvSpPr>
          <p:nvPr>
            <p:ph idx="1"/>
          </p:nvPr>
        </p:nvSpPr>
        <p:spPr/>
        <p:txBody>
          <a:bodyPr/>
          <a:lstStyle/>
          <a:p>
            <a:pPr marL="424180" marR="5080" indent="-412115">
              <a:lnSpc>
                <a:spcPct val="100000"/>
              </a:lnSpc>
              <a:spcBef>
                <a:spcPts val="95"/>
              </a:spcBef>
              <a:buSzPct val="64285"/>
              <a:buFont typeface="Arial MT"/>
              <a:buChar char="•"/>
              <a:tabLst>
                <a:tab pos="424180" algn="l"/>
                <a:tab pos="424815" algn="l"/>
              </a:tabLst>
            </a:pPr>
            <a:r>
              <a:rPr lang="en-US" sz="2000" spc="-5" dirty="0">
                <a:latin typeface="Cambria"/>
                <a:cs typeface="Cambria"/>
              </a:rPr>
              <a:t>The</a:t>
            </a:r>
            <a:r>
              <a:rPr lang="en-US" sz="2000" spc="-10" dirty="0">
                <a:latin typeface="Cambria"/>
                <a:cs typeface="Cambria"/>
              </a:rPr>
              <a:t> algorithm</a:t>
            </a:r>
            <a:r>
              <a:rPr lang="en-US" sz="2000" spc="15" dirty="0">
                <a:latin typeface="Cambria"/>
                <a:cs typeface="Cambria"/>
              </a:rPr>
              <a:t> </a:t>
            </a:r>
            <a:r>
              <a:rPr lang="en-US" sz="2000" spc="-15" dirty="0">
                <a:latin typeface="Cambria"/>
                <a:cs typeface="Cambria"/>
              </a:rPr>
              <a:t>divides</a:t>
            </a:r>
            <a:r>
              <a:rPr lang="en-US" sz="2000" spc="5" dirty="0">
                <a:latin typeface="Cambria"/>
                <a:cs typeface="Cambria"/>
              </a:rPr>
              <a:t> </a:t>
            </a:r>
            <a:r>
              <a:rPr lang="en-US" sz="2000" spc="-5" dirty="0">
                <a:latin typeface="Cambria"/>
                <a:cs typeface="Cambria"/>
              </a:rPr>
              <a:t>the</a:t>
            </a:r>
            <a:r>
              <a:rPr lang="en-US" sz="2000" dirty="0">
                <a:latin typeface="Cambria"/>
                <a:cs typeface="Cambria"/>
              </a:rPr>
              <a:t> </a:t>
            </a:r>
            <a:r>
              <a:rPr lang="en-US" sz="2000" spc="-5" dirty="0">
                <a:latin typeface="Cambria"/>
                <a:cs typeface="Cambria"/>
              </a:rPr>
              <a:t>data </a:t>
            </a:r>
            <a:r>
              <a:rPr lang="en-US" sz="2000" spc="-10" dirty="0">
                <a:latin typeface="Cambria"/>
                <a:cs typeface="Cambria"/>
              </a:rPr>
              <a:t>into</a:t>
            </a:r>
            <a:r>
              <a:rPr lang="en-US" sz="2000" spc="20" dirty="0">
                <a:latin typeface="Cambria"/>
                <a:cs typeface="Cambria"/>
              </a:rPr>
              <a:t> </a:t>
            </a:r>
            <a:r>
              <a:rPr lang="en-US" sz="2000" i="1" spc="-5" dirty="0">
                <a:latin typeface="Cambria"/>
                <a:cs typeface="Cambria"/>
              </a:rPr>
              <a:t>k</a:t>
            </a:r>
            <a:r>
              <a:rPr lang="en-US" sz="2000" i="1" dirty="0">
                <a:latin typeface="Cambria"/>
                <a:cs typeface="Cambria"/>
              </a:rPr>
              <a:t> </a:t>
            </a:r>
            <a:r>
              <a:rPr lang="en-US" sz="2000" spc="-15" dirty="0">
                <a:latin typeface="Cambria"/>
                <a:cs typeface="Cambria"/>
              </a:rPr>
              <a:t>intervals</a:t>
            </a:r>
            <a:r>
              <a:rPr lang="en-US" sz="2000" dirty="0">
                <a:latin typeface="Cambria"/>
                <a:cs typeface="Cambria"/>
              </a:rPr>
              <a:t> </a:t>
            </a:r>
            <a:r>
              <a:rPr lang="en-US" sz="2000" spc="-5" dirty="0">
                <a:latin typeface="Cambria"/>
                <a:cs typeface="Cambria"/>
              </a:rPr>
              <a:t>of </a:t>
            </a:r>
            <a:r>
              <a:rPr lang="en-US" sz="2000" spc="-600" dirty="0">
                <a:latin typeface="Cambria"/>
                <a:cs typeface="Cambria"/>
              </a:rPr>
              <a:t> </a:t>
            </a:r>
            <a:r>
              <a:rPr lang="en-US" sz="2000" spc="-5" dirty="0">
                <a:latin typeface="Cambria"/>
                <a:cs typeface="Cambria"/>
              </a:rPr>
              <a:t>equal size.</a:t>
            </a:r>
            <a:r>
              <a:rPr lang="en-US" sz="2000" spc="-15" dirty="0">
                <a:latin typeface="Cambria"/>
                <a:cs typeface="Cambria"/>
              </a:rPr>
              <a:t> </a:t>
            </a:r>
            <a:r>
              <a:rPr lang="en-US" sz="2000" spc="-5" dirty="0">
                <a:latin typeface="Cambria"/>
                <a:cs typeface="Cambria"/>
              </a:rPr>
              <a:t>The</a:t>
            </a:r>
            <a:r>
              <a:rPr lang="en-US" sz="2000" spc="10" dirty="0">
                <a:latin typeface="Cambria"/>
                <a:cs typeface="Cambria"/>
              </a:rPr>
              <a:t> </a:t>
            </a:r>
            <a:r>
              <a:rPr lang="en-US" sz="2000" spc="-10" dirty="0">
                <a:latin typeface="Cambria"/>
                <a:cs typeface="Cambria"/>
              </a:rPr>
              <a:t>width</a:t>
            </a:r>
            <a:r>
              <a:rPr lang="en-US" sz="2000" spc="-5" dirty="0">
                <a:latin typeface="Cambria"/>
                <a:cs typeface="Cambria"/>
              </a:rPr>
              <a:t> of </a:t>
            </a:r>
            <a:r>
              <a:rPr lang="en-US" sz="2000" spc="-15" dirty="0">
                <a:latin typeface="Cambria"/>
                <a:cs typeface="Cambria"/>
              </a:rPr>
              <a:t>intervals</a:t>
            </a:r>
            <a:r>
              <a:rPr lang="en-US" sz="2000" dirty="0">
                <a:latin typeface="Cambria"/>
                <a:cs typeface="Cambria"/>
              </a:rPr>
              <a:t> </a:t>
            </a:r>
            <a:r>
              <a:rPr lang="en-US" sz="2000" spc="-5" dirty="0">
                <a:latin typeface="Cambria"/>
                <a:cs typeface="Cambria"/>
              </a:rPr>
              <a:t>is:</a:t>
            </a:r>
            <a:endParaRPr lang="en-US" sz="2000" dirty="0">
              <a:latin typeface="Cambria"/>
              <a:cs typeface="Cambria"/>
            </a:endParaRPr>
          </a:p>
          <a:p>
            <a:pPr marL="424180">
              <a:lnSpc>
                <a:spcPct val="100000"/>
              </a:lnSpc>
              <a:spcBef>
                <a:spcPts val="675"/>
              </a:spcBef>
            </a:pPr>
            <a:r>
              <a:rPr lang="en-US" sz="2000" i="1" spc="-5" dirty="0">
                <a:latin typeface="Cambria"/>
                <a:cs typeface="Cambria"/>
              </a:rPr>
              <a:t>w</a:t>
            </a:r>
            <a:r>
              <a:rPr lang="en-US" sz="2000" i="1" spc="-35" dirty="0">
                <a:latin typeface="Cambria"/>
                <a:cs typeface="Cambria"/>
              </a:rPr>
              <a:t> </a:t>
            </a:r>
            <a:r>
              <a:rPr lang="en-US" sz="2000" i="1" spc="-5" dirty="0">
                <a:latin typeface="Cambria"/>
                <a:cs typeface="Cambria"/>
              </a:rPr>
              <a:t>=</a:t>
            </a:r>
            <a:r>
              <a:rPr lang="en-US" sz="2000" i="1" spc="-20" dirty="0">
                <a:latin typeface="Cambria"/>
                <a:cs typeface="Cambria"/>
              </a:rPr>
              <a:t> </a:t>
            </a:r>
            <a:r>
              <a:rPr lang="en-US" sz="2000" i="1" spc="-5" dirty="0">
                <a:latin typeface="Cambria"/>
                <a:cs typeface="Cambria"/>
              </a:rPr>
              <a:t>(max-min)/k</a:t>
            </a:r>
            <a:endParaRPr lang="en-US" i="1" dirty="0">
              <a:latin typeface="Cambria"/>
              <a:cs typeface="Cambria"/>
            </a:endParaRPr>
          </a:p>
          <a:p>
            <a:pPr marL="424180">
              <a:lnSpc>
                <a:spcPct val="100000"/>
              </a:lnSpc>
              <a:spcBef>
                <a:spcPts val="675"/>
              </a:spcBef>
            </a:pPr>
            <a:r>
              <a:rPr lang="en-US" sz="2000" spc="-10" dirty="0">
                <a:latin typeface="Cambria"/>
                <a:cs typeface="Cambria"/>
              </a:rPr>
              <a:t>And</a:t>
            </a:r>
            <a:r>
              <a:rPr lang="en-US" sz="2000" spc="-20" dirty="0">
                <a:latin typeface="Cambria"/>
                <a:cs typeface="Cambria"/>
              </a:rPr>
              <a:t> </a:t>
            </a:r>
            <a:r>
              <a:rPr lang="en-US" sz="2000" spc="-10" dirty="0">
                <a:latin typeface="Cambria"/>
                <a:cs typeface="Cambria"/>
              </a:rPr>
              <a:t>the</a:t>
            </a:r>
            <a:r>
              <a:rPr lang="en-US" sz="2000" spc="5" dirty="0">
                <a:latin typeface="Cambria"/>
                <a:cs typeface="Cambria"/>
              </a:rPr>
              <a:t> </a:t>
            </a:r>
            <a:r>
              <a:rPr lang="en-US" sz="2000" spc="-15" dirty="0">
                <a:latin typeface="Cambria"/>
                <a:cs typeface="Cambria"/>
              </a:rPr>
              <a:t>interval</a:t>
            </a:r>
            <a:r>
              <a:rPr lang="en-US" sz="2000" dirty="0">
                <a:latin typeface="Cambria"/>
                <a:cs typeface="Cambria"/>
              </a:rPr>
              <a:t> </a:t>
            </a:r>
            <a:r>
              <a:rPr lang="en-US" sz="2000" spc="-10" dirty="0">
                <a:latin typeface="Cambria"/>
                <a:cs typeface="Cambria"/>
              </a:rPr>
              <a:t>boundaries</a:t>
            </a:r>
            <a:r>
              <a:rPr lang="en-US" sz="2000" spc="5" dirty="0">
                <a:latin typeface="Cambria"/>
                <a:cs typeface="Cambria"/>
              </a:rPr>
              <a:t> </a:t>
            </a:r>
            <a:r>
              <a:rPr lang="en-US" sz="2000" spc="-15" dirty="0">
                <a:latin typeface="Cambria"/>
                <a:cs typeface="Cambria"/>
              </a:rPr>
              <a:t>are:</a:t>
            </a:r>
            <a:endParaRPr lang="en-US" sz="2000" dirty="0">
              <a:latin typeface="Cambria"/>
              <a:cs typeface="Cambria"/>
            </a:endParaRPr>
          </a:p>
          <a:p>
            <a:pPr marL="424180">
              <a:lnSpc>
                <a:spcPct val="100000"/>
              </a:lnSpc>
              <a:spcBef>
                <a:spcPts val="675"/>
              </a:spcBef>
            </a:pPr>
            <a:r>
              <a:rPr lang="en-US" sz="2000" i="1" spc="-25" dirty="0" err="1">
                <a:latin typeface="Cambria"/>
                <a:cs typeface="Cambria"/>
              </a:rPr>
              <a:t>min+w</a:t>
            </a:r>
            <a:r>
              <a:rPr lang="en-US" sz="2000" i="1" spc="-25" dirty="0">
                <a:latin typeface="Cambria"/>
                <a:cs typeface="Cambria"/>
              </a:rPr>
              <a:t>,</a:t>
            </a:r>
            <a:r>
              <a:rPr lang="en-US" sz="2000" i="1" spc="-10" dirty="0">
                <a:latin typeface="Cambria"/>
                <a:cs typeface="Cambria"/>
              </a:rPr>
              <a:t> </a:t>
            </a:r>
            <a:r>
              <a:rPr lang="en-US" sz="2000" i="1" spc="-20" dirty="0">
                <a:latin typeface="Cambria"/>
                <a:cs typeface="Cambria"/>
              </a:rPr>
              <a:t>min+2w,</a:t>
            </a:r>
            <a:r>
              <a:rPr lang="en-US" sz="2000" i="1" spc="5" dirty="0">
                <a:latin typeface="Cambria"/>
                <a:cs typeface="Cambria"/>
              </a:rPr>
              <a:t> </a:t>
            </a:r>
            <a:r>
              <a:rPr lang="en-US" sz="2000" i="1" spc="-10" dirty="0">
                <a:latin typeface="Cambria"/>
                <a:cs typeface="Cambria"/>
              </a:rPr>
              <a:t>...</a:t>
            </a:r>
            <a:r>
              <a:rPr lang="en-US" sz="2000" i="1" spc="15" dirty="0">
                <a:latin typeface="Cambria"/>
                <a:cs typeface="Cambria"/>
              </a:rPr>
              <a:t> </a:t>
            </a:r>
            <a:r>
              <a:rPr lang="en-US" sz="2000" i="1" spc="-5" dirty="0">
                <a:latin typeface="Cambria"/>
                <a:cs typeface="Cambria"/>
              </a:rPr>
              <a:t>, min+(k-1)w</a:t>
            </a:r>
          </a:p>
          <a:p>
            <a:pPr marL="424180">
              <a:lnSpc>
                <a:spcPct val="100000"/>
              </a:lnSpc>
              <a:spcBef>
                <a:spcPts val="675"/>
              </a:spcBef>
            </a:pPr>
            <a:r>
              <a:rPr lang="en-US" i="1" spc="-5" dirty="0">
                <a:latin typeface="Cambria"/>
                <a:cs typeface="Cambria"/>
              </a:rPr>
              <a:t>Smoothing by bin mean, bin median, bin boundaries.</a:t>
            </a:r>
            <a:endParaRPr lang="en-US" sz="2000" dirty="0">
              <a:latin typeface="Cambria"/>
              <a:cs typeface="Cambria"/>
            </a:endParaRPr>
          </a:p>
          <a:p>
            <a:pPr marL="0" indent="0">
              <a:buNone/>
            </a:pPr>
            <a:endParaRPr lang="en-IN" dirty="0"/>
          </a:p>
        </p:txBody>
      </p:sp>
    </p:spTree>
    <p:extLst>
      <p:ext uri="{BB962C8B-B14F-4D97-AF65-F5344CB8AC3E}">
        <p14:creationId xmlns:p14="http://schemas.microsoft.com/office/powerpoint/2010/main" val="3279977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2463-3312-4BDF-B12E-D73A5C543763}"/>
              </a:ext>
            </a:extLst>
          </p:cNvPr>
          <p:cNvSpPr>
            <a:spLocks noGrp="1"/>
          </p:cNvSpPr>
          <p:nvPr>
            <p:ph type="title"/>
          </p:nvPr>
        </p:nvSpPr>
        <p:spPr/>
        <p:txBody>
          <a:bodyPr/>
          <a:lstStyle/>
          <a:p>
            <a:r>
              <a:rPr lang="en-US" dirty="0"/>
              <a:t>Example:1</a:t>
            </a:r>
            <a:endParaRPr lang="en-IN" dirty="0"/>
          </a:p>
        </p:txBody>
      </p:sp>
      <p:sp>
        <p:nvSpPr>
          <p:cNvPr id="3" name="Content Placeholder 2">
            <a:extLst>
              <a:ext uri="{FF2B5EF4-FFF2-40B4-BE49-F238E27FC236}">
                <a16:creationId xmlns:a16="http://schemas.microsoft.com/office/drawing/2014/main" id="{7861B4B2-D127-4BD2-812C-F1226CB7DA98}"/>
              </a:ext>
            </a:extLst>
          </p:cNvPr>
          <p:cNvSpPr>
            <a:spLocks noGrp="1"/>
          </p:cNvSpPr>
          <p:nvPr>
            <p:ph idx="1"/>
          </p:nvPr>
        </p:nvSpPr>
        <p:spPr/>
        <p:txBody>
          <a:bodyPr/>
          <a:lstStyle/>
          <a:p>
            <a:r>
              <a:rPr lang="en-US" sz="2000" spc="-5" dirty="0"/>
              <a:t>Sorted</a:t>
            </a:r>
            <a:r>
              <a:rPr lang="en-US" sz="2000" spc="-15" dirty="0"/>
              <a:t> </a:t>
            </a:r>
            <a:r>
              <a:rPr lang="en-US" sz="2000" spc="-5" dirty="0"/>
              <a:t>data</a:t>
            </a:r>
            <a:r>
              <a:rPr lang="en-US" sz="2000" dirty="0"/>
              <a:t> for</a:t>
            </a:r>
            <a:r>
              <a:rPr lang="en-US" sz="2000" spc="-15" dirty="0"/>
              <a:t> </a:t>
            </a:r>
            <a:r>
              <a:rPr lang="en-US" sz="2000" spc="-5" dirty="0"/>
              <a:t>price </a:t>
            </a:r>
            <a:r>
              <a:rPr lang="en-US" sz="2000" dirty="0"/>
              <a:t>(in</a:t>
            </a:r>
            <a:r>
              <a:rPr lang="en-US" sz="2000" spc="-10" dirty="0"/>
              <a:t> </a:t>
            </a:r>
            <a:r>
              <a:rPr lang="en-US" sz="2000" dirty="0"/>
              <a:t>$s):</a:t>
            </a:r>
            <a:r>
              <a:rPr lang="en-US" sz="2000" spc="-25" dirty="0"/>
              <a:t> </a:t>
            </a:r>
            <a:r>
              <a:rPr lang="en-US" sz="2000" dirty="0"/>
              <a:t>4,</a:t>
            </a:r>
            <a:r>
              <a:rPr lang="en-US" sz="2000" spc="-5" dirty="0"/>
              <a:t> </a:t>
            </a:r>
            <a:r>
              <a:rPr lang="en-US" sz="2000" dirty="0"/>
              <a:t>8,</a:t>
            </a:r>
            <a:r>
              <a:rPr lang="en-US" sz="2000" spc="-15" dirty="0"/>
              <a:t> </a:t>
            </a:r>
            <a:r>
              <a:rPr lang="en-US" sz="2000" dirty="0"/>
              <a:t>9,</a:t>
            </a:r>
            <a:r>
              <a:rPr lang="en-US" sz="2000" spc="-5" dirty="0"/>
              <a:t> </a:t>
            </a:r>
            <a:r>
              <a:rPr lang="en-US" sz="2000" dirty="0"/>
              <a:t>15,</a:t>
            </a:r>
            <a:r>
              <a:rPr lang="en-US" sz="2000" spc="-15" dirty="0"/>
              <a:t> </a:t>
            </a:r>
            <a:r>
              <a:rPr lang="en-US" sz="2000" dirty="0"/>
              <a:t>21,</a:t>
            </a:r>
            <a:r>
              <a:rPr lang="en-US" sz="2000" spc="-20" dirty="0"/>
              <a:t> </a:t>
            </a:r>
            <a:r>
              <a:rPr lang="en-US" sz="2000" dirty="0"/>
              <a:t>21, 24,</a:t>
            </a:r>
            <a:r>
              <a:rPr lang="en-US" sz="2000" spc="-15" dirty="0"/>
              <a:t> </a:t>
            </a:r>
            <a:r>
              <a:rPr lang="en-US" sz="2000" dirty="0"/>
              <a:t>25,</a:t>
            </a:r>
            <a:r>
              <a:rPr lang="en-US" sz="2000" spc="-20" dirty="0"/>
              <a:t> </a:t>
            </a:r>
            <a:r>
              <a:rPr lang="en-US" sz="2000" dirty="0"/>
              <a:t>26,</a:t>
            </a:r>
            <a:r>
              <a:rPr lang="en-US" sz="2000" spc="-5" dirty="0"/>
              <a:t> </a:t>
            </a:r>
            <a:r>
              <a:rPr lang="en-US" sz="2000" dirty="0"/>
              <a:t>28,</a:t>
            </a:r>
            <a:r>
              <a:rPr lang="en-US" sz="2000" spc="-15" dirty="0"/>
              <a:t> </a:t>
            </a:r>
            <a:r>
              <a:rPr lang="en-US" sz="2000" dirty="0"/>
              <a:t>29,</a:t>
            </a:r>
            <a:r>
              <a:rPr lang="en-US" sz="2000" spc="-5" dirty="0"/>
              <a:t> </a:t>
            </a:r>
            <a:r>
              <a:rPr lang="en-US" sz="2000" dirty="0"/>
              <a:t>34</a:t>
            </a:r>
          </a:p>
          <a:p>
            <a:pPr marL="149860">
              <a:lnSpc>
                <a:spcPct val="100000"/>
              </a:lnSpc>
              <a:spcBef>
                <a:spcPts val="340"/>
              </a:spcBef>
            </a:pPr>
            <a:r>
              <a:rPr lang="de-DE" sz="2000" spc="-5" dirty="0">
                <a:latin typeface="Cambria"/>
                <a:cs typeface="Cambria"/>
              </a:rPr>
              <a:t>Partition</a:t>
            </a:r>
            <a:r>
              <a:rPr lang="de-DE" sz="2000" spc="-60" dirty="0">
                <a:latin typeface="Cambria"/>
                <a:cs typeface="Cambria"/>
              </a:rPr>
              <a:t> </a:t>
            </a:r>
            <a:r>
              <a:rPr lang="de-DE" sz="2000" spc="-5" dirty="0">
                <a:latin typeface="Cambria"/>
                <a:cs typeface="Cambria"/>
              </a:rPr>
              <a:t>into</a:t>
            </a:r>
            <a:r>
              <a:rPr lang="de-DE" sz="2000" spc="-20" dirty="0">
                <a:latin typeface="Cambria"/>
                <a:cs typeface="Cambria"/>
              </a:rPr>
              <a:t> </a:t>
            </a:r>
            <a:r>
              <a:rPr lang="de-DE" sz="2000" spc="-5" dirty="0">
                <a:latin typeface="Cambria"/>
                <a:cs typeface="Cambria"/>
              </a:rPr>
              <a:t>(</a:t>
            </a:r>
            <a:r>
              <a:rPr lang="de-DE" sz="2000" spc="-5" dirty="0">
                <a:solidFill>
                  <a:srgbClr val="0000FF"/>
                </a:solidFill>
                <a:latin typeface="Cambria"/>
                <a:cs typeface="Cambria"/>
              </a:rPr>
              <a:t>equi-depth</a:t>
            </a:r>
            <a:r>
              <a:rPr lang="de-DE" sz="2000" spc="-5" dirty="0">
                <a:latin typeface="Cambria"/>
                <a:cs typeface="Cambria"/>
              </a:rPr>
              <a:t>)</a:t>
            </a:r>
            <a:r>
              <a:rPr lang="de-DE" sz="2000" spc="-30" dirty="0">
                <a:latin typeface="Cambria"/>
                <a:cs typeface="Cambria"/>
              </a:rPr>
              <a:t> </a:t>
            </a:r>
            <a:r>
              <a:rPr lang="de-DE" sz="2000" spc="-10" dirty="0">
                <a:latin typeface="Cambria"/>
                <a:cs typeface="Cambria"/>
              </a:rPr>
              <a:t>bins:</a:t>
            </a:r>
            <a:endParaRPr lang="de-DE" sz="2000" dirty="0">
              <a:latin typeface="Cambria"/>
              <a:cs typeface="Cambria"/>
            </a:endParaRPr>
          </a:p>
          <a:p>
            <a:pPr marL="481965">
              <a:lnSpc>
                <a:spcPct val="100000"/>
              </a:lnSpc>
              <a:spcBef>
                <a:spcPts val="240"/>
              </a:spcBef>
            </a:pPr>
            <a:r>
              <a:rPr lang="de-DE" sz="2000" dirty="0">
                <a:latin typeface="Cambria"/>
                <a:cs typeface="Cambria"/>
              </a:rPr>
              <a:t>-</a:t>
            </a:r>
            <a:r>
              <a:rPr lang="de-DE" sz="2000" spc="-25" dirty="0">
                <a:latin typeface="Cambria"/>
                <a:cs typeface="Cambria"/>
              </a:rPr>
              <a:t> </a:t>
            </a:r>
            <a:r>
              <a:rPr lang="de-DE" sz="2000" spc="-5" dirty="0">
                <a:latin typeface="Cambria"/>
                <a:cs typeface="Cambria"/>
              </a:rPr>
              <a:t>Bin</a:t>
            </a:r>
            <a:r>
              <a:rPr lang="de-DE" sz="2000" spc="-30" dirty="0">
                <a:latin typeface="Cambria"/>
                <a:cs typeface="Cambria"/>
              </a:rPr>
              <a:t> </a:t>
            </a:r>
            <a:r>
              <a:rPr lang="de-DE" sz="2000" spc="-5" dirty="0">
                <a:latin typeface="Cambria"/>
                <a:cs typeface="Cambria"/>
              </a:rPr>
              <a:t>1:</a:t>
            </a:r>
            <a:r>
              <a:rPr lang="de-DE" sz="2000" spc="-10" dirty="0">
                <a:latin typeface="Cambria"/>
                <a:cs typeface="Cambria"/>
              </a:rPr>
              <a:t> </a:t>
            </a:r>
            <a:r>
              <a:rPr lang="de-DE" sz="2000" dirty="0">
                <a:latin typeface="Cambria"/>
                <a:cs typeface="Cambria"/>
              </a:rPr>
              <a:t>4,</a:t>
            </a:r>
            <a:r>
              <a:rPr lang="de-DE" sz="2000" spc="-5" dirty="0">
                <a:latin typeface="Cambria"/>
                <a:cs typeface="Cambria"/>
              </a:rPr>
              <a:t> 8,</a:t>
            </a:r>
            <a:r>
              <a:rPr lang="de-DE" sz="2000" dirty="0">
                <a:latin typeface="Cambria"/>
                <a:cs typeface="Cambria"/>
              </a:rPr>
              <a:t> </a:t>
            </a:r>
            <a:r>
              <a:rPr lang="de-DE" sz="2000" spc="-5" dirty="0">
                <a:latin typeface="Cambria"/>
                <a:cs typeface="Cambria"/>
              </a:rPr>
              <a:t>9,</a:t>
            </a:r>
            <a:r>
              <a:rPr lang="de-DE" sz="2000" spc="-10" dirty="0">
                <a:latin typeface="Cambria"/>
                <a:cs typeface="Cambria"/>
              </a:rPr>
              <a:t> </a:t>
            </a:r>
            <a:r>
              <a:rPr lang="de-DE" sz="2000" dirty="0">
                <a:latin typeface="Cambria"/>
                <a:cs typeface="Cambria"/>
              </a:rPr>
              <a:t>15</a:t>
            </a:r>
          </a:p>
          <a:p>
            <a:pPr marL="481965">
              <a:lnSpc>
                <a:spcPct val="100000"/>
              </a:lnSpc>
              <a:spcBef>
                <a:spcPts val="240"/>
              </a:spcBef>
            </a:pPr>
            <a:r>
              <a:rPr lang="de-DE" sz="2000" dirty="0">
                <a:latin typeface="Cambria"/>
                <a:cs typeface="Cambria"/>
              </a:rPr>
              <a:t>-</a:t>
            </a:r>
            <a:r>
              <a:rPr lang="de-DE" sz="2000" spc="-30" dirty="0">
                <a:latin typeface="Cambria"/>
                <a:cs typeface="Cambria"/>
              </a:rPr>
              <a:t> </a:t>
            </a:r>
            <a:r>
              <a:rPr lang="de-DE" sz="2000" spc="-5" dirty="0">
                <a:latin typeface="Cambria"/>
                <a:cs typeface="Cambria"/>
              </a:rPr>
              <a:t>Bin</a:t>
            </a:r>
            <a:r>
              <a:rPr lang="de-DE" sz="2000" spc="-30" dirty="0">
                <a:latin typeface="Cambria"/>
                <a:cs typeface="Cambria"/>
              </a:rPr>
              <a:t> </a:t>
            </a:r>
            <a:r>
              <a:rPr lang="de-DE" sz="2000" spc="-5" dirty="0">
                <a:latin typeface="Cambria"/>
                <a:cs typeface="Cambria"/>
              </a:rPr>
              <a:t>2:</a:t>
            </a:r>
            <a:r>
              <a:rPr lang="de-DE" sz="2000" spc="-10" dirty="0">
                <a:latin typeface="Cambria"/>
                <a:cs typeface="Cambria"/>
              </a:rPr>
              <a:t> </a:t>
            </a:r>
            <a:r>
              <a:rPr lang="de-DE" sz="2000" spc="-5" dirty="0">
                <a:latin typeface="Cambria"/>
                <a:cs typeface="Cambria"/>
              </a:rPr>
              <a:t>21,</a:t>
            </a:r>
            <a:r>
              <a:rPr lang="de-DE" sz="2000" spc="5" dirty="0">
                <a:latin typeface="Cambria"/>
                <a:cs typeface="Cambria"/>
              </a:rPr>
              <a:t> </a:t>
            </a:r>
            <a:r>
              <a:rPr lang="de-DE" sz="2000" spc="-5" dirty="0">
                <a:latin typeface="Cambria"/>
                <a:cs typeface="Cambria"/>
              </a:rPr>
              <a:t>21,</a:t>
            </a:r>
            <a:r>
              <a:rPr lang="de-DE" sz="2000" dirty="0">
                <a:latin typeface="Cambria"/>
                <a:cs typeface="Cambria"/>
              </a:rPr>
              <a:t> </a:t>
            </a:r>
            <a:r>
              <a:rPr lang="de-DE" sz="2000" spc="-5" dirty="0">
                <a:latin typeface="Cambria"/>
                <a:cs typeface="Cambria"/>
              </a:rPr>
              <a:t>24,</a:t>
            </a:r>
            <a:r>
              <a:rPr lang="de-DE" sz="2000" dirty="0">
                <a:latin typeface="Cambria"/>
                <a:cs typeface="Cambria"/>
              </a:rPr>
              <a:t> </a:t>
            </a:r>
            <a:r>
              <a:rPr lang="de-DE" sz="2000" spc="-5" dirty="0">
                <a:latin typeface="Cambria"/>
                <a:cs typeface="Cambria"/>
              </a:rPr>
              <a:t>25</a:t>
            </a:r>
            <a:endParaRPr lang="de-DE" sz="2000" dirty="0">
              <a:latin typeface="Cambria"/>
              <a:cs typeface="Cambria"/>
            </a:endParaRPr>
          </a:p>
          <a:p>
            <a:pPr marL="481965">
              <a:lnSpc>
                <a:spcPct val="100000"/>
              </a:lnSpc>
              <a:spcBef>
                <a:spcPts val="240"/>
              </a:spcBef>
            </a:pPr>
            <a:r>
              <a:rPr lang="de-DE" sz="2000" dirty="0">
                <a:latin typeface="Cambria"/>
                <a:cs typeface="Cambria"/>
              </a:rPr>
              <a:t>-</a:t>
            </a:r>
            <a:r>
              <a:rPr lang="de-DE" sz="2000" spc="-30" dirty="0">
                <a:latin typeface="Cambria"/>
                <a:cs typeface="Cambria"/>
              </a:rPr>
              <a:t> </a:t>
            </a:r>
            <a:r>
              <a:rPr lang="de-DE" sz="2000" spc="-5" dirty="0">
                <a:latin typeface="Cambria"/>
                <a:cs typeface="Cambria"/>
              </a:rPr>
              <a:t>Bin</a:t>
            </a:r>
            <a:r>
              <a:rPr lang="de-DE" sz="2000" spc="-30" dirty="0">
                <a:latin typeface="Cambria"/>
                <a:cs typeface="Cambria"/>
              </a:rPr>
              <a:t> </a:t>
            </a:r>
            <a:r>
              <a:rPr lang="de-DE" sz="2000" spc="-5" dirty="0">
                <a:latin typeface="Cambria"/>
                <a:cs typeface="Cambria"/>
              </a:rPr>
              <a:t>3:</a:t>
            </a:r>
            <a:r>
              <a:rPr lang="de-DE" sz="2000" spc="-10" dirty="0">
                <a:latin typeface="Cambria"/>
                <a:cs typeface="Cambria"/>
              </a:rPr>
              <a:t> </a:t>
            </a:r>
            <a:r>
              <a:rPr lang="de-DE" sz="2000" spc="-5" dirty="0">
                <a:latin typeface="Cambria"/>
                <a:cs typeface="Cambria"/>
              </a:rPr>
              <a:t>26,</a:t>
            </a:r>
            <a:r>
              <a:rPr lang="de-DE" sz="2000" spc="5" dirty="0">
                <a:latin typeface="Cambria"/>
                <a:cs typeface="Cambria"/>
              </a:rPr>
              <a:t> </a:t>
            </a:r>
            <a:r>
              <a:rPr lang="de-DE" sz="2000" spc="-5" dirty="0">
                <a:latin typeface="Cambria"/>
                <a:cs typeface="Cambria"/>
              </a:rPr>
              <a:t>28,</a:t>
            </a:r>
            <a:r>
              <a:rPr lang="de-DE" sz="2000" dirty="0">
                <a:latin typeface="Cambria"/>
                <a:cs typeface="Cambria"/>
              </a:rPr>
              <a:t> </a:t>
            </a:r>
            <a:r>
              <a:rPr lang="de-DE" sz="2000" spc="-5" dirty="0">
                <a:latin typeface="Cambria"/>
                <a:cs typeface="Cambria"/>
              </a:rPr>
              <a:t>29,</a:t>
            </a:r>
            <a:r>
              <a:rPr lang="de-DE" sz="2000" dirty="0">
                <a:latin typeface="Cambria"/>
                <a:cs typeface="Cambria"/>
              </a:rPr>
              <a:t> </a:t>
            </a:r>
            <a:r>
              <a:rPr lang="de-DE" sz="2000" spc="-5" dirty="0">
                <a:latin typeface="Cambria"/>
                <a:cs typeface="Cambria"/>
              </a:rPr>
              <a:t>34</a:t>
            </a:r>
            <a:endParaRPr lang="de-DE" sz="2000" dirty="0">
              <a:latin typeface="Cambria"/>
              <a:cs typeface="Cambria"/>
            </a:endParaRPr>
          </a:p>
          <a:p>
            <a:pPr marL="88900">
              <a:lnSpc>
                <a:spcPct val="100000"/>
              </a:lnSpc>
              <a:spcBef>
                <a:spcPts val="1680"/>
              </a:spcBef>
            </a:pPr>
            <a:r>
              <a:rPr lang="de-DE" sz="2000" dirty="0">
                <a:latin typeface="Cambria"/>
                <a:cs typeface="Cambria"/>
              </a:rPr>
              <a:t>*</a:t>
            </a:r>
            <a:r>
              <a:rPr lang="de-DE" sz="2000" spc="390" dirty="0">
                <a:latin typeface="Cambria"/>
                <a:cs typeface="Cambria"/>
              </a:rPr>
              <a:t> </a:t>
            </a:r>
            <a:r>
              <a:rPr lang="de-DE" sz="2000" dirty="0">
                <a:latin typeface="Cambria"/>
                <a:cs typeface="Cambria"/>
              </a:rPr>
              <a:t>Smoothing</a:t>
            </a:r>
            <a:r>
              <a:rPr lang="de-DE" sz="2000" spc="-60" dirty="0">
                <a:latin typeface="Cambria"/>
                <a:cs typeface="Cambria"/>
              </a:rPr>
              <a:t> </a:t>
            </a:r>
            <a:r>
              <a:rPr lang="de-DE" sz="2000" spc="-5" dirty="0">
                <a:latin typeface="Cambria"/>
                <a:cs typeface="Cambria"/>
              </a:rPr>
              <a:t>by</a:t>
            </a:r>
            <a:r>
              <a:rPr lang="de-DE" sz="2000" spc="-25" dirty="0">
                <a:latin typeface="Cambria"/>
                <a:cs typeface="Cambria"/>
              </a:rPr>
              <a:t> </a:t>
            </a:r>
            <a:r>
              <a:rPr lang="de-DE" sz="2000" spc="-5" dirty="0">
                <a:latin typeface="Cambria"/>
                <a:cs typeface="Cambria"/>
              </a:rPr>
              <a:t>bin</a:t>
            </a:r>
            <a:r>
              <a:rPr lang="de-DE" sz="2000" spc="-10" dirty="0">
                <a:latin typeface="Cambria"/>
                <a:cs typeface="Cambria"/>
              </a:rPr>
              <a:t> </a:t>
            </a:r>
            <a:r>
              <a:rPr lang="de-DE" sz="2000" spc="-5" dirty="0">
                <a:latin typeface="Cambria"/>
                <a:cs typeface="Cambria"/>
              </a:rPr>
              <a:t>means:</a:t>
            </a:r>
            <a:endParaRPr lang="de-DE" sz="2000" dirty="0">
              <a:latin typeface="Cambria"/>
              <a:cs typeface="Cambria"/>
            </a:endParaRPr>
          </a:p>
          <a:p>
            <a:pPr marL="421005">
              <a:lnSpc>
                <a:spcPct val="100000"/>
              </a:lnSpc>
              <a:spcBef>
                <a:spcPts val="240"/>
              </a:spcBef>
            </a:pPr>
            <a:r>
              <a:rPr lang="de-DE" sz="2000" dirty="0">
                <a:latin typeface="Cambria"/>
                <a:cs typeface="Cambria"/>
              </a:rPr>
              <a:t>-</a:t>
            </a:r>
            <a:r>
              <a:rPr lang="de-DE" sz="2000" spc="-25" dirty="0">
                <a:latin typeface="Cambria"/>
                <a:cs typeface="Cambria"/>
              </a:rPr>
              <a:t> </a:t>
            </a:r>
            <a:r>
              <a:rPr lang="de-DE" sz="2000" spc="-5" dirty="0">
                <a:latin typeface="Cambria"/>
                <a:cs typeface="Cambria"/>
              </a:rPr>
              <a:t>Bin</a:t>
            </a:r>
            <a:r>
              <a:rPr lang="de-DE" sz="2000" spc="-30" dirty="0">
                <a:latin typeface="Cambria"/>
                <a:cs typeface="Cambria"/>
              </a:rPr>
              <a:t> </a:t>
            </a:r>
            <a:r>
              <a:rPr lang="de-DE" sz="2000" spc="-5" dirty="0">
                <a:latin typeface="Cambria"/>
                <a:cs typeface="Cambria"/>
              </a:rPr>
              <a:t>1:</a:t>
            </a:r>
            <a:r>
              <a:rPr lang="de-DE" sz="2000" spc="-10" dirty="0">
                <a:latin typeface="Cambria"/>
                <a:cs typeface="Cambria"/>
              </a:rPr>
              <a:t> </a:t>
            </a:r>
            <a:r>
              <a:rPr lang="de-DE" sz="2000" dirty="0">
                <a:latin typeface="Cambria"/>
                <a:cs typeface="Cambria"/>
              </a:rPr>
              <a:t>9,</a:t>
            </a:r>
            <a:r>
              <a:rPr lang="de-DE" sz="2000" spc="-5" dirty="0">
                <a:latin typeface="Cambria"/>
                <a:cs typeface="Cambria"/>
              </a:rPr>
              <a:t> 9,</a:t>
            </a:r>
            <a:r>
              <a:rPr lang="de-DE" sz="2000" dirty="0">
                <a:latin typeface="Cambria"/>
                <a:cs typeface="Cambria"/>
              </a:rPr>
              <a:t> </a:t>
            </a:r>
            <a:r>
              <a:rPr lang="de-DE" sz="2000" spc="-5" dirty="0">
                <a:latin typeface="Cambria"/>
                <a:cs typeface="Cambria"/>
              </a:rPr>
              <a:t>9,</a:t>
            </a:r>
            <a:r>
              <a:rPr lang="de-DE" sz="2000" spc="-10" dirty="0">
                <a:latin typeface="Cambria"/>
                <a:cs typeface="Cambria"/>
              </a:rPr>
              <a:t> </a:t>
            </a:r>
            <a:r>
              <a:rPr lang="de-DE" sz="2000" dirty="0">
                <a:latin typeface="Cambria"/>
                <a:cs typeface="Cambria"/>
              </a:rPr>
              <a:t>9</a:t>
            </a:r>
          </a:p>
          <a:p>
            <a:pPr marL="421005">
              <a:lnSpc>
                <a:spcPct val="100000"/>
              </a:lnSpc>
              <a:spcBef>
                <a:spcPts val="240"/>
              </a:spcBef>
            </a:pPr>
            <a:r>
              <a:rPr lang="de-DE" sz="2000" dirty="0">
                <a:latin typeface="Cambria"/>
                <a:cs typeface="Cambria"/>
              </a:rPr>
              <a:t>-</a:t>
            </a:r>
            <a:r>
              <a:rPr lang="de-DE" sz="2000" spc="-30" dirty="0">
                <a:latin typeface="Cambria"/>
                <a:cs typeface="Cambria"/>
              </a:rPr>
              <a:t> </a:t>
            </a:r>
            <a:r>
              <a:rPr lang="de-DE" sz="2000" spc="-5" dirty="0">
                <a:latin typeface="Cambria"/>
                <a:cs typeface="Cambria"/>
              </a:rPr>
              <a:t>Bin</a:t>
            </a:r>
            <a:r>
              <a:rPr lang="de-DE" sz="2000" spc="-30" dirty="0">
                <a:latin typeface="Cambria"/>
                <a:cs typeface="Cambria"/>
              </a:rPr>
              <a:t> </a:t>
            </a:r>
            <a:r>
              <a:rPr lang="de-DE" sz="2000" spc="-5" dirty="0">
                <a:latin typeface="Cambria"/>
                <a:cs typeface="Cambria"/>
              </a:rPr>
              <a:t>2:</a:t>
            </a:r>
            <a:r>
              <a:rPr lang="de-DE" sz="2000" spc="-10" dirty="0">
                <a:latin typeface="Cambria"/>
                <a:cs typeface="Cambria"/>
              </a:rPr>
              <a:t> </a:t>
            </a:r>
            <a:r>
              <a:rPr lang="de-DE" sz="2000" spc="-5" dirty="0">
                <a:latin typeface="Cambria"/>
                <a:cs typeface="Cambria"/>
              </a:rPr>
              <a:t>23,</a:t>
            </a:r>
            <a:r>
              <a:rPr lang="de-DE" sz="2000" spc="5" dirty="0">
                <a:latin typeface="Cambria"/>
                <a:cs typeface="Cambria"/>
              </a:rPr>
              <a:t> </a:t>
            </a:r>
            <a:r>
              <a:rPr lang="de-DE" sz="2000" spc="-5" dirty="0">
                <a:latin typeface="Cambria"/>
                <a:cs typeface="Cambria"/>
              </a:rPr>
              <a:t>23,</a:t>
            </a:r>
            <a:r>
              <a:rPr lang="de-DE" sz="2000" dirty="0">
                <a:latin typeface="Cambria"/>
                <a:cs typeface="Cambria"/>
              </a:rPr>
              <a:t> </a:t>
            </a:r>
            <a:r>
              <a:rPr lang="de-DE" sz="2000" spc="-5" dirty="0">
                <a:latin typeface="Cambria"/>
                <a:cs typeface="Cambria"/>
              </a:rPr>
              <a:t>23,</a:t>
            </a:r>
            <a:r>
              <a:rPr lang="de-DE" sz="2000" dirty="0">
                <a:latin typeface="Cambria"/>
                <a:cs typeface="Cambria"/>
              </a:rPr>
              <a:t> </a:t>
            </a:r>
            <a:r>
              <a:rPr lang="de-DE" sz="2000" spc="-5" dirty="0">
                <a:latin typeface="Cambria"/>
                <a:cs typeface="Cambria"/>
              </a:rPr>
              <a:t>23</a:t>
            </a:r>
            <a:endParaRPr lang="de-DE" sz="2000" dirty="0">
              <a:latin typeface="Cambria"/>
              <a:cs typeface="Cambria"/>
            </a:endParaRPr>
          </a:p>
          <a:p>
            <a:pPr marL="421005">
              <a:lnSpc>
                <a:spcPct val="100000"/>
              </a:lnSpc>
              <a:spcBef>
                <a:spcPts val="244"/>
              </a:spcBef>
            </a:pPr>
            <a:r>
              <a:rPr lang="de-DE" sz="2000" dirty="0">
                <a:latin typeface="Cambria"/>
                <a:cs typeface="Cambria"/>
              </a:rPr>
              <a:t>-</a:t>
            </a:r>
            <a:r>
              <a:rPr lang="de-DE" sz="2000" spc="-30" dirty="0">
                <a:latin typeface="Cambria"/>
                <a:cs typeface="Cambria"/>
              </a:rPr>
              <a:t> </a:t>
            </a:r>
            <a:r>
              <a:rPr lang="de-DE" sz="2000" spc="-5" dirty="0">
                <a:latin typeface="Cambria"/>
                <a:cs typeface="Cambria"/>
              </a:rPr>
              <a:t>Bin</a:t>
            </a:r>
            <a:r>
              <a:rPr lang="de-DE" sz="2000" spc="-30" dirty="0">
                <a:latin typeface="Cambria"/>
                <a:cs typeface="Cambria"/>
              </a:rPr>
              <a:t> </a:t>
            </a:r>
            <a:r>
              <a:rPr lang="de-DE" sz="2000" spc="-5" dirty="0">
                <a:latin typeface="Cambria"/>
                <a:cs typeface="Cambria"/>
              </a:rPr>
              <a:t>3:</a:t>
            </a:r>
            <a:r>
              <a:rPr lang="de-DE" sz="2000" spc="-10" dirty="0">
                <a:latin typeface="Cambria"/>
                <a:cs typeface="Cambria"/>
              </a:rPr>
              <a:t> </a:t>
            </a:r>
            <a:r>
              <a:rPr lang="de-DE" sz="2000" spc="-5" dirty="0">
                <a:latin typeface="Cambria"/>
                <a:cs typeface="Cambria"/>
              </a:rPr>
              <a:t>29,</a:t>
            </a:r>
            <a:r>
              <a:rPr lang="de-DE" sz="2000" spc="5" dirty="0">
                <a:latin typeface="Cambria"/>
                <a:cs typeface="Cambria"/>
              </a:rPr>
              <a:t> </a:t>
            </a:r>
            <a:r>
              <a:rPr lang="de-DE" sz="2000" spc="-5" dirty="0">
                <a:latin typeface="Cambria"/>
                <a:cs typeface="Cambria"/>
              </a:rPr>
              <a:t>29,</a:t>
            </a:r>
            <a:r>
              <a:rPr lang="de-DE" sz="2000" dirty="0">
                <a:latin typeface="Cambria"/>
                <a:cs typeface="Cambria"/>
              </a:rPr>
              <a:t> </a:t>
            </a:r>
            <a:r>
              <a:rPr lang="de-DE" sz="2000" spc="-5" dirty="0">
                <a:latin typeface="Cambria"/>
                <a:cs typeface="Cambria"/>
              </a:rPr>
              <a:t>29,</a:t>
            </a:r>
            <a:r>
              <a:rPr lang="de-DE" sz="2000" dirty="0">
                <a:latin typeface="Cambria"/>
                <a:cs typeface="Cambria"/>
              </a:rPr>
              <a:t> </a:t>
            </a:r>
            <a:r>
              <a:rPr lang="de-DE" sz="2000" spc="-5" dirty="0">
                <a:latin typeface="Cambria"/>
                <a:cs typeface="Cambria"/>
              </a:rPr>
              <a:t>29</a:t>
            </a:r>
            <a:endParaRPr lang="de-DE" sz="2000" dirty="0">
              <a:latin typeface="Cambria"/>
              <a:cs typeface="Cambria"/>
            </a:endParaRPr>
          </a:p>
          <a:p>
            <a:pPr marL="12700">
              <a:lnSpc>
                <a:spcPct val="100000"/>
              </a:lnSpc>
              <a:spcBef>
                <a:spcPts val="1080"/>
              </a:spcBef>
            </a:pPr>
            <a:r>
              <a:rPr lang="de-DE" sz="2000" dirty="0">
                <a:latin typeface="Cambria"/>
                <a:cs typeface="Cambria"/>
              </a:rPr>
              <a:t>*</a:t>
            </a:r>
            <a:r>
              <a:rPr lang="de-DE" sz="2000" spc="409" dirty="0">
                <a:latin typeface="Cambria"/>
                <a:cs typeface="Cambria"/>
              </a:rPr>
              <a:t> </a:t>
            </a:r>
            <a:r>
              <a:rPr lang="de-DE" sz="2000" dirty="0">
                <a:latin typeface="Cambria"/>
                <a:cs typeface="Cambria"/>
              </a:rPr>
              <a:t>Smoothing</a:t>
            </a:r>
            <a:r>
              <a:rPr lang="de-DE" sz="2000" spc="-60" dirty="0">
                <a:latin typeface="Cambria"/>
                <a:cs typeface="Cambria"/>
              </a:rPr>
              <a:t> </a:t>
            </a:r>
            <a:r>
              <a:rPr lang="de-DE" sz="2000" spc="-5" dirty="0">
                <a:latin typeface="Cambria"/>
                <a:cs typeface="Cambria"/>
              </a:rPr>
              <a:t>by</a:t>
            </a:r>
            <a:r>
              <a:rPr lang="de-DE" sz="2000" spc="-15" dirty="0">
                <a:latin typeface="Cambria"/>
                <a:cs typeface="Cambria"/>
              </a:rPr>
              <a:t> </a:t>
            </a:r>
            <a:r>
              <a:rPr lang="de-DE" sz="2000" spc="-5" dirty="0">
                <a:latin typeface="Cambria"/>
                <a:cs typeface="Cambria"/>
              </a:rPr>
              <a:t>bin</a:t>
            </a:r>
            <a:r>
              <a:rPr lang="de-DE" sz="2000" dirty="0">
                <a:latin typeface="Cambria"/>
                <a:cs typeface="Cambria"/>
              </a:rPr>
              <a:t> </a:t>
            </a:r>
            <a:r>
              <a:rPr lang="de-DE" sz="2000" spc="-5" dirty="0">
                <a:latin typeface="Cambria"/>
                <a:cs typeface="Cambria"/>
              </a:rPr>
              <a:t>boundaries:</a:t>
            </a:r>
            <a:r>
              <a:rPr lang="de-DE" sz="2000" spc="-25" dirty="0">
                <a:latin typeface="Cambria"/>
                <a:cs typeface="Cambria"/>
              </a:rPr>
              <a:t> </a:t>
            </a:r>
            <a:r>
              <a:rPr lang="de-DE" sz="2000" spc="-5" dirty="0">
                <a:latin typeface="Cambria"/>
                <a:cs typeface="Cambria"/>
              </a:rPr>
              <a:t>[4,15],[21,25],[26,34]</a:t>
            </a:r>
            <a:endParaRPr lang="de-DE" sz="2000" dirty="0">
              <a:latin typeface="Cambria"/>
              <a:cs typeface="Cambria"/>
            </a:endParaRPr>
          </a:p>
          <a:p>
            <a:pPr marL="344805">
              <a:lnSpc>
                <a:spcPct val="100000"/>
              </a:lnSpc>
              <a:spcBef>
                <a:spcPts val="240"/>
              </a:spcBef>
            </a:pPr>
            <a:r>
              <a:rPr lang="de-DE" sz="2000" dirty="0">
                <a:latin typeface="Cambria"/>
                <a:cs typeface="Cambria"/>
              </a:rPr>
              <a:t>-</a:t>
            </a:r>
            <a:r>
              <a:rPr lang="de-DE" sz="2000" spc="-25" dirty="0">
                <a:latin typeface="Cambria"/>
                <a:cs typeface="Cambria"/>
              </a:rPr>
              <a:t> </a:t>
            </a:r>
            <a:r>
              <a:rPr lang="de-DE" sz="2000" spc="-5" dirty="0">
                <a:latin typeface="Cambria"/>
                <a:cs typeface="Cambria"/>
              </a:rPr>
              <a:t>Bin</a:t>
            </a:r>
            <a:r>
              <a:rPr lang="de-DE" sz="2000" spc="-30" dirty="0">
                <a:latin typeface="Cambria"/>
                <a:cs typeface="Cambria"/>
              </a:rPr>
              <a:t> </a:t>
            </a:r>
            <a:r>
              <a:rPr lang="de-DE" sz="2000" spc="-5" dirty="0">
                <a:latin typeface="Cambria"/>
                <a:cs typeface="Cambria"/>
              </a:rPr>
              <a:t>1:</a:t>
            </a:r>
            <a:r>
              <a:rPr lang="de-DE" sz="2000" spc="-10" dirty="0">
                <a:latin typeface="Cambria"/>
                <a:cs typeface="Cambria"/>
              </a:rPr>
              <a:t> </a:t>
            </a:r>
            <a:r>
              <a:rPr lang="de-DE" sz="2000" dirty="0">
                <a:latin typeface="Cambria"/>
                <a:cs typeface="Cambria"/>
              </a:rPr>
              <a:t>4,</a:t>
            </a:r>
            <a:r>
              <a:rPr lang="de-DE" sz="2000" spc="-5" dirty="0">
                <a:latin typeface="Cambria"/>
                <a:cs typeface="Cambria"/>
              </a:rPr>
              <a:t> 4,</a:t>
            </a:r>
            <a:r>
              <a:rPr lang="de-DE" sz="2000" dirty="0">
                <a:latin typeface="Cambria"/>
                <a:cs typeface="Cambria"/>
              </a:rPr>
              <a:t> </a:t>
            </a:r>
            <a:r>
              <a:rPr lang="de-DE" sz="2000" spc="-5" dirty="0">
                <a:latin typeface="Cambria"/>
                <a:cs typeface="Cambria"/>
              </a:rPr>
              <a:t>4,</a:t>
            </a:r>
            <a:r>
              <a:rPr lang="de-DE" sz="2000" spc="-10" dirty="0">
                <a:latin typeface="Cambria"/>
                <a:cs typeface="Cambria"/>
              </a:rPr>
              <a:t> </a:t>
            </a:r>
            <a:r>
              <a:rPr lang="de-DE" sz="2000" dirty="0">
                <a:latin typeface="Cambria"/>
                <a:cs typeface="Cambria"/>
              </a:rPr>
              <a:t>15</a:t>
            </a:r>
          </a:p>
          <a:p>
            <a:pPr marL="344805">
              <a:lnSpc>
                <a:spcPct val="100000"/>
              </a:lnSpc>
              <a:spcBef>
                <a:spcPts val="240"/>
              </a:spcBef>
            </a:pPr>
            <a:r>
              <a:rPr lang="de-DE" sz="2000" dirty="0">
                <a:latin typeface="Cambria"/>
                <a:cs typeface="Cambria"/>
              </a:rPr>
              <a:t>-</a:t>
            </a:r>
            <a:r>
              <a:rPr lang="de-DE" sz="2000" spc="-30" dirty="0">
                <a:latin typeface="Cambria"/>
                <a:cs typeface="Cambria"/>
              </a:rPr>
              <a:t> </a:t>
            </a:r>
            <a:r>
              <a:rPr lang="de-DE" sz="2000" spc="-5" dirty="0">
                <a:latin typeface="Cambria"/>
                <a:cs typeface="Cambria"/>
              </a:rPr>
              <a:t>Bin</a:t>
            </a:r>
            <a:r>
              <a:rPr lang="de-DE" sz="2000" spc="-30" dirty="0">
                <a:latin typeface="Cambria"/>
                <a:cs typeface="Cambria"/>
              </a:rPr>
              <a:t> </a:t>
            </a:r>
            <a:r>
              <a:rPr lang="de-DE" sz="2000" spc="-5" dirty="0">
                <a:latin typeface="Cambria"/>
                <a:cs typeface="Cambria"/>
              </a:rPr>
              <a:t>2:</a:t>
            </a:r>
            <a:r>
              <a:rPr lang="de-DE" sz="2000" spc="-10" dirty="0">
                <a:latin typeface="Cambria"/>
                <a:cs typeface="Cambria"/>
              </a:rPr>
              <a:t> </a:t>
            </a:r>
            <a:r>
              <a:rPr lang="de-DE" sz="2000" spc="-5" dirty="0">
                <a:latin typeface="Cambria"/>
                <a:cs typeface="Cambria"/>
              </a:rPr>
              <a:t>21,</a:t>
            </a:r>
            <a:r>
              <a:rPr lang="de-DE" sz="2000" spc="5" dirty="0">
                <a:latin typeface="Cambria"/>
                <a:cs typeface="Cambria"/>
              </a:rPr>
              <a:t> </a:t>
            </a:r>
            <a:r>
              <a:rPr lang="de-DE" sz="2000" spc="-5" dirty="0">
                <a:latin typeface="Cambria"/>
                <a:cs typeface="Cambria"/>
              </a:rPr>
              <a:t>21,</a:t>
            </a:r>
            <a:r>
              <a:rPr lang="de-DE" sz="2000" dirty="0">
                <a:latin typeface="Cambria"/>
                <a:cs typeface="Cambria"/>
              </a:rPr>
              <a:t> </a:t>
            </a:r>
            <a:r>
              <a:rPr lang="de-DE" sz="2000" spc="-5" dirty="0">
                <a:latin typeface="Cambria"/>
                <a:cs typeface="Cambria"/>
              </a:rPr>
              <a:t>25,</a:t>
            </a:r>
            <a:r>
              <a:rPr lang="de-DE" sz="2000" dirty="0">
                <a:latin typeface="Cambria"/>
                <a:cs typeface="Cambria"/>
              </a:rPr>
              <a:t> </a:t>
            </a:r>
            <a:r>
              <a:rPr lang="de-DE" sz="2000" spc="-5" dirty="0">
                <a:latin typeface="Cambria"/>
                <a:cs typeface="Cambria"/>
              </a:rPr>
              <a:t>25</a:t>
            </a:r>
            <a:endParaRPr lang="de-DE" sz="2000" dirty="0">
              <a:latin typeface="Cambria"/>
              <a:cs typeface="Cambria"/>
            </a:endParaRPr>
          </a:p>
          <a:p>
            <a:pPr marL="344805">
              <a:lnSpc>
                <a:spcPct val="100000"/>
              </a:lnSpc>
              <a:spcBef>
                <a:spcPts val="240"/>
              </a:spcBef>
            </a:pPr>
            <a:r>
              <a:rPr lang="de-DE" sz="2000" dirty="0">
                <a:latin typeface="Cambria"/>
                <a:cs typeface="Cambria"/>
              </a:rPr>
              <a:t>-</a:t>
            </a:r>
            <a:r>
              <a:rPr lang="de-DE" sz="2000" spc="-30" dirty="0">
                <a:latin typeface="Cambria"/>
                <a:cs typeface="Cambria"/>
              </a:rPr>
              <a:t> </a:t>
            </a:r>
            <a:r>
              <a:rPr lang="de-DE" sz="2000" spc="-5" dirty="0">
                <a:latin typeface="Cambria"/>
                <a:cs typeface="Cambria"/>
              </a:rPr>
              <a:t>Bin</a:t>
            </a:r>
            <a:r>
              <a:rPr lang="de-DE" sz="2000" spc="-30" dirty="0">
                <a:latin typeface="Cambria"/>
                <a:cs typeface="Cambria"/>
              </a:rPr>
              <a:t> </a:t>
            </a:r>
            <a:r>
              <a:rPr lang="de-DE" sz="2000" spc="-5" dirty="0">
                <a:latin typeface="Cambria"/>
                <a:cs typeface="Cambria"/>
              </a:rPr>
              <a:t>3:</a:t>
            </a:r>
            <a:r>
              <a:rPr lang="de-DE" sz="2000" spc="-10" dirty="0">
                <a:latin typeface="Cambria"/>
                <a:cs typeface="Cambria"/>
              </a:rPr>
              <a:t> </a:t>
            </a:r>
            <a:r>
              <a:rPr lang="de-DE" sz="2000" spc="-5" dirty="0">
                <a:latin typeface="Cambria"/>
                <a:cs typeface="Cambria"/>
              </a:rPr>
              <a:t>26,</a:t>
            </a:r>
            <a:r>
              <a:rPr lang="de-DE" sz="2000" spc="5" dirty="0">
                <a:latin typeface="Cambria"/>
                <a:cs typeface="Cambria"/>
              </a:rPr>
              <a:t> </a:t>
            </a:r>
            <a:r>
              <a:rPr lang="de-DE" sz="2000" spc="-5" dirty="0">
                <a:latin typeface="Cambria"/>
                <a:cs typeface="Cambria"/>
              </a:rPr>
              <a:t>26,</a:t>
            </a:r>
            <a:r>
              <a:rPr lang="de-DE" sz="2000" dirty="0">
                <a:latin typeface="Cambria"/>
                <a:cs typeface="Cambria"/>
              </a:rPr>
              <a:t> </a:t>
            </a:r>
            <a:r>
              <a:rPr lang="de-DE" sz="2000" spc="-5" dirty="0">
                <a:latin typeface="Cambria"/>
                <a:cs typeface="Cambria"/>
              </a:rPr>
              <a:t>26,</a:t>
            </a:r>
            <a:r>
              <a:rPr lang="de-DE" sz="2000" dirty="0">
                <a:latin typeface="Cambria"/>
                <a:cs typeface="Cambria"/>
              </a:rPr>
              <a:t> </a:t>
            </a:r>
            <a:r>
              <a:rPr lang="de-DE" sz="2000" spc="-5" dirty="0">
                <a:latin typeface="Cambria"/>
                <a:cs typeface="Cambria"/>
              </a:rPr>
              <a:t>34</a:t>
            </a:r>
            <a:endParaRPr lang="en-IN" dirty="0"/>
          </a:p>
        </p:txBody>
      </p:sp>
    </p:spTree>
    <p:extLst>
      <p:ext uri="{BB962C8B-B14F-4D97-AF65-F5344CB8AC3E}">
        <p14:creationId xmlns:p14="http://schemas.microsoft.com/office/powerpoint/2010/main" val="1957014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B1E73-C646-4458-A4F5-19D0EFDC78E6}"/>
              </a:ext>
            </a:extLst>
          </p:cNvPr>
          <p:cNvSpPr>
            <a:spLocks noGrp="1"/>
          </p:cNvSpPr>
          <p:nvPr>
            <p:ph type="title"/>
          </p:nvPr>
        </p:nvSpPr>
        <p:spPr/>
        <p:txBody>
          <a:bodyPr/>
          <a:lstStyle/>
          <a:p>
            <a:r>
              <a:rPr lang="en-US" dirty="0"/>
              <a:t>Examples</a:t>
            </a:r>
            <a:endParaRPr lang="en-IN" dirty="0"/>
          </a:p>
        </p:txBody>
      </p:sp>
      <p:sp>
        <p:nvSpPr>
          <p:cNvPr id="3" name="Content Placeholder 2">
            <a:extLst>
              <a:ext uri="{FF2B5EF4-FFF2-40B4-BE49-F238E27FC236}">
                <a16:creationId xmlns:a16="http://schemas.microsoft.com/office/drawing/2014/main" id="{BD9BEF5E-EA4C-4559-9B91-418D76C6520B}"/>
              </a:ext>
            </a:extLst>
          </p:cNvPr>
          <p:cNvSpPr>
            <a:spLocks noGrp="1"/>
          </p:cNvSpPr>
          <p:nvPr>
            <p:ph idx="1"/>
          </p:nvPr>
        </p:nvSpPr>
        <p:spPr/>
        <p:txBody>
          <a:bodyPr/>
          <a:lstStyle/>
          <a:p>
            <a:r>
              <a:rPr lang="en-US" dirty="0"/>
              <a:t>Divide given data into bins of size 3 by bin partition ( equal Frequency</a:t>
            </a:r>
            <a:r>
              <a:rPr lang="en-IN" dirty="0"/>
              <a:t>), by bin </a:t>
            </a:r>
            <a:r>
              <a:rPr lang="en-IN" dirty="0" err="1"/>
              <a:t>means,by</a:t>
            </a:r>
            <a:r>
              <a:rPr lang="en-IN" dirty="0"/>
              <a:t> bin median and by bin boundaries.</a:t>
            </a:r>
          </a:p>
          <a:p>
            <a:r>
              <a:rPr lang="en-IN" dirty="0"/>
              <a:t>Example 1: Consider data 10,2,19,18,20,18,25,28,22</a:t>
            </a:r>
          </a:p>
          <a:p>
            <a:r>
              <a:rPr lang="en-IN" dirty="0"/>
              <a:t>Example 2: 6,9,12,13,15,25,50,70,72,92,204,232</a:t>
            </a:r>
            <a:endParaRPr lang="en-US" dirty="0"/>
          </a:p>
        </p:txBody>
      </p:sp>
    </p:spTree>
    <p:extLst>
      <p:ext uri="{BB962C8B-B14F-4D97-AF65-F5344CB8AC3E}">
        <p14:creationId xmlns:p14="http://schemas.microsoft.com/office/powerpoint/2010/main" val="934578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B2661-20B6-4FA2-8EF5-3945B5E84158}"/>
              </a:ext>
            </a:extLst>
          </p:cNvPr>
          <p:cNvSpPr>
            <a:spLocks noGrp="1"/>
          </p:cNvSpPr>
          <p:nvPr>
            <p:ph type="title"/>
          </p:nvPr>
        </p:nvSpPr>
        <p:spPr/>
        <p:txBody>
          <a:bodyPr/>
          <a:lstStyle/>
          <a:p>
            <a:r>
              <a:rPr lang="en-IN" sz="3600" spc="-40" dirty="0"/>
              <a:t>Outlier </a:t>
            </a:r>
            <a:r>
              <a:rPr lang="en-IN" spc="-114" dirty="0"/>
              <a:t>Detection</a:t>
            </a:r>
            <a:endParaRPr lang="en-IN" dirty="0"/>
          </a:p>
        </p:txBody>
      </p:sp>
      <p:sp>
        <p:nvSpPr>
          <p:cNvPr id="3" name="Content Placeholder 2">
            <a:extLst>
              <a:ext uri="{FF2B5EF4-FFF2-40B4-BE49-F238E27FC236}">
                <a16:creationId xmlns:a16="http://schemas.microsoft.com/office/drawing/2014/main" id="{5F3D566B-10E0-4680-8985-2202EB2A2A72}"/>
              </a:ext>
            </a:extLst>
          </p:cNvPr>
          <p:cNvSpPr>
            <a:spLocks noGrp="1"/>
          </p:cNvSpPr>
          <p:nvPr>
            <p:ph idx="1"/>
          </p:nvPr>
        </p:nvSpPr>
        <p:spPr/>
        <p:txBody>
          <a:bodyPr/>
          <a:lstStyle/>
          <a:p>
            <a:pPr marL="355600" indent="-342900">
              <a:lnSpc>
                <a:spcPct val="100000"/>
              </a:lnSpc>
              <a:spcBef>
                <a:spcPts val="700"/>
              </a:spcBef>
              <a:buClr>
                <a:srgbClr val="CC9900"/>
              </a:buClr>
              <a:buSzPct val="63461"/>
              <a:buFont typeface="Wingdings"/>
              <a:buChar char=""/>
              <a:tabLst>
                <a:tab pos="354965" algn="l"/>
                <a:tab pos="355600" algn="l"/>
              </a:tabLst>
            </a:pPr>
            <a:r>
              <a:rPr lang="en-US" sz="2600" spc="-5" dirty="0">
                <a:latin typeface="Arial MT"/>
                <a:cs typeface="Arial MT"/>
              </a:rPr>
              <a:t>Data</a:t>
            </a:r>
            <a:r>
              <a:rPr lang="en-US" sz="2600" spc="5" dirty="0">
                <a:latin typeface="Arial MT"/>
                <a:cs typeface="Arial MT"/>
              </a:rPr>
              <a:t> </a:t>
            </a:r>
            <a:r>
              <a:rPr lang="en-US" sz="2600" spc="-5" dirty="0">
                <a:latin typeface="Arial MT"/>
                <a:cs typeface="Arial MT"/>
              </a:rPr>
              <a:t>points</a:t>
            </a:r>
            <a:r>
              <a:rPr lang="en-US" sz="2600" spc="5" dirty="0">
                <a:latin typeface="Arial MT"/>
                <a:cs typeface="Arial MT"/>
              </a:rPr>
              <a:t> </a:t>
            </a:r>
            <a:r>
              <a:rPr lang="en-US" sz="2600" spc="-5" dirty="0">
                <a:latin typeface="Arial MT"/>
                <a:cs typeface="Arial MT"/>
              </a:rPr>
              <a:t>inconsistent</a:t>
            </a:r>
            <a:r>
              <a:rPr lang="en-US" sz="2600" spc="5" dirty="0">
                <a:latin typeface="Arial MT"/>
                <a:cs typeface="Arial MT"/>
              </a:rPr>
              <a:t> </a:t>
            </a:r>
            <a:r>
              <a:rPr lang="en-US" sz="2600" spc="-5" dirty="0">
                <a:latin typeface="Arial MT"/>
                <a:cs typeface="Arial MT"/>
              </a:rPr>
              <a:t>with</a:t>
            </a:r>
            <a:r>
              <a:rPr lang="en-US" sz="2600" spc="10" dirty="0">
                <a:latin typeface="Arial MT"/>
                <a:cs typeface="Arial MT"/>
              </a:rPr>
              <a:t> </a:t>
            </a:r>
            <a:r>
              <a:rPr lang="en-US" sz="2600" spc="-5" dirty="0">
                <a:latin typeface="Arial MT"/>
                <a:cs typeface="Arial MT"/>
              </a:rPr>
              <a:t>the</a:t>
            </a:r>
            <a:r>
              <a:rPr lang="en-US" sz="2600" spc="10" dirty="0">
                <a:latin typeface="Arial MT"/>
                <a:cs typeface="Arial MT"/>
              </a:rPr>
              <a:t> </a:t>
            </a:r>
            <a:r>
              <a:rPr lang="en-US" sz="2600" spc="-5" dirty="0">
                <a:latin typeface="Arial MT"/>
                <a:cs typeface="Arial MT"/>
              </a:rPr>
              <a:t>majority</a:t>
            </a:r>
            <a:r>
              <a:rPr lang="en-US" sz="2600" spc="5" dirty="0">
                <a:latin typeface="Arial MT"/>
                <a:cs typeface="Arial MT"/>
              </a:rPr>
              <a:t> </a:t>
            </a:r>
            <a:r>
              <a:rPr lang="en-US" sz="2600" dirty="0">
                <a:latin typeface="Arial MT"/>
                <a:cs typeface="Arial MT"/>
              </a:rPr>
              <a:t>of</a:t>
            </a:r>
            <a:r>
              <a:rPr lang="en-US" sz="2600" spc="5" dirty="0">
                <a:latin typeface="Arial MT"/>
                <a:cs typeface="Arial MT"/>
              </a:rPr>
              <a:t> </a:t>
            </a:r>
            <a:r>
              <a:rPr lang="en-US" sz="2600" spc="-5" dirty="0">
                <a:latin typeface="Arial MT"/>
                <a:cs typeface="Arial MT"/>
              </a:rPr>
              <a:t>data</a:t>
            </a:r>
            <a:endParaRPr lang="en-US" sz="2600" dirty="0">
              <a:latin typeface="Arial MT"/>
              <a:cs typeface="Arial MT"/>
            </a:endParaRPr>
          </a:p>
          <a:p>
            <a:pPr marL="355600" indent="-342900">
              <a:lnSpc>
                <a:spcPct val="100000"/>
              </a:lnSpc>
              <a:spcBef>
                <a:spcPts val="605"/>
              </a:spcBef>
              <a:buClr>
                <a:srgbClr val="CC9900"/>
              </a:buClr>
              <a:buSzPct val="63461"/>
              <a:buFont typeface="Wingdings"/>
              <a:buChar char=""/>
              <a:tabLst>
                <a:tab pos="354965" algn="l"/>
                <a:tab pos="355600" algn="l"/>
              </a:tabLst>
            </a:pPr>
            <a:r>
              <a:rPr lang="en-US" sz="2600" spc="-5" dirty="0">
                <a:latin typeface="Arial MT"/>
                <a:cs typeface="Arial MT"/>
              </a:rPr>
              <a:t>Different</a:t>
            </a:r>
            <a:r>
              <a:rPr lang="en-US" sz="2600" spc="-20" dirty="0">
                <a:latin typeface="Arial MT"/>
                <a:cs typeface="Arial MT"/>
              </a:rPr>
              <a:t> </a:t>
            </a:r>
            <a:r>
              <a:rPr lang="en-US" sz="2600" spc="-5" dirty="0">
                <a:latin typeface="Arial MT"/>
                <a:cs typeface="Arial MT"/>
              </a:rPr>
              <a:t>outliers</a:t>
            </a:r>
            <a:endParaRPr lang="en-US" sz="2600" dirty="0">
              <a:latin typeface="Arial MT"/>
              <a:cs typeface="Arial MT"/>
            </a:endParaRPr>
          </a:p>
          <a:p>
            <a:pPr marL="755650" lvl="1" indent="-285750">
              <a:lnSpc>
                <a:spcPct val="100000"/>
              </a:lnSpc>
              <a:spcBef>
                <a:spcPts val="484"/>
              </a:spcBef>
              <a:buClr>
                <a:srgbClr val="3B812F"/>
              </a:buClr>
              <a:buSzPct val="59090"/>
              <a:buFont typeface="Wingdings"/>
              <a:buChar char=""/>
              <a:tabLst>
                <a:tab pos="755015" algn="l"/>
                <a:tab pos="755650" algn="l"/>
              </a:tabLst>
            </a:pPr>
            <a:r>
              <a:rPr lang="en-US" sz="2200" dirty="0">
                <a:solidFill>
                  <a:srgbClr val="0000FF"/>
                </a:solidFill>
                <a:latin typeface="Arial MT"/>
                <a:cs typeface="Arial MT"/>
              </a:rPr>
              <a:t>Valid:</a:t>
            </a:r>
            <a:r>
              <a:rPr lang="en-US" sz="2200" spc="-5" dirty="0">
                <a:solidFill>
                  <a:srgbClr val="0000FF"/>
                </a:solidFill>
                <a:latin typeface="Arial MT"/>
                <a:cs typeface="Arial MT"/>
              </a:rPr>
              <a:t> </a:t>
            </a:r>
            <a:r>
              <a:rPr lang="en-US" sz="2200" dirty="0" err="1">
                <a:solidFill>
                  <a:srgbClr val="0000FF"/>
                </a:solidFill>
                <a:latin typeface="Arial MT"/>
                <a:cs typeface="Arial MT"/>
              </a:rPr>
              <a:t>CE</a:t>
            </a:r>
            <a:r>
              <a:rPr lang="en-US" sz="2200" spc="-5" dirty="0" err="1">
                <a:solidFill>
                  <a:srgbClr val="0000FF"/>
                </a:solidFill>
                <a:latin typeface="Arial MT"/>
                <a:cs typeface="Arial MT"/>
              </a:rPr>
              <a:t>O</a:t>
            </a:r>
            <a:r>
              <a:rPr lang="en-US" sz="2200" spc="-1100" dirty="0" err="1">
                <a:solidFill>
                  <a:srgbClr val="0000FF"/>
                </a:solidFill>
                <a:latin typeface="MS PGothic"/>
                <a:cs typeface="MS PGothic"/>
              </a:rPr>
              <a:t>ʼ</a:t>
            </a:r>
            <a:r>
              <a:rPr lang="en-US" sz="2200" dirty="0" err="1">
                <a:solidFill>
                  <a:srgbClr val="0000FF"/>
                </a:solidFill>
                <a:latin typeface="Arial MT"/>
                <a:cs typeface="Arial MT"/>
              </a:rPr>
              <a:t>s</a:t>
            </a:r>
            <a:r>
              <a:rPr lang="en-US" sz="2200" spc="-5" dirty="0">
                <a:solidFill>
                  <a:srgbClr val="0000FF"/>
                </a:solidFill>
                <a:latin typeface="Arial MT"/>
                <a:cs typeface="Arial MT"/>
              </a:rPr>
              <a:t> </a:t>
            </a:r>
            <a:r>
              <a:rPr lang="en-US" sz="2200" dirty="0">
                <a:solidFill>
                  <a:srgbClr val="0000FF"/>
                </a:solidFill>
                <a:latin typeface="Arial MT"/>
                <a:cs typeface="Arial MT"/>
              </a:rPr>
              <a:t>salary,</a:t>
            </a:r>
            <a:endParaRPr lang="en-US" sz="2200" dirty="0">
              <a:latin typeface="Arial MT"/>
              <a:cs typeface="Arial MT"/>
            </a:endParaRPr>
          </a:p>
          <a:p>
            <a:pPr marL="755650" lvl="1" indent="-285750">
              <a:lnSpc>
                <a:spcPct val="100000"/>
              </a:lnSpc>
              <a:spcBef>
                <a:spcPts val="560"/>
              </a:spcBef>
              <a:buClr>
                <a:srgbClr val="3B812F"/>
              </a:buClr>
              <a:buSzPct val="59090"/>
              <a:buFont typeface="Wingdings"/>
              <a:buChar char=""/>
              <a:tabLst>
                <a:tab pos="755015" algn="l"/>
                <a:tab pos="755650" algn="l"/>
              </a:tabLst>
            </a:pPr>
            <a:r>
              <a:rPr lang="en-US" sz="2200" dirty="0">
                <a:solidFill>
                  <a:srgbClr val="0000FF"/>
                </a:solidFill>
                <a:latin typeface="Arial MT"/>
                <a:cs typeface="Arial MT"/>
              </a:rPr>
              <a:t>Noisy:</a:t>
            </a:r>
            <a:r>
              <a:rPr lang="en-US" sz="2200" spc="-5" dirty="0">
                <a:solidFill>
                  <a:srgbClr val="0000FF"/>
                </a:solidFill>
                <a:latin typeface="Arial MT"/>
                <a:cs typeface="Arial MT"/>
              </a:rPr>
              <a:t> </a:t>
            </a:r>
            <a:r>
              <a:rPr lang="en-US" sz="2200" spc="-5" dirty="0" err="1">
                <a:solidFill>
                  <a:srgbClr val="0000FF"/>
                </a:solidFill>
                <a:latin typeface="Arial MT"/>
                <a:cs typeface="Arial MT"/>
              </a:rPr>
              <a:t>O</a:t>
            </a:r>
            <a:r>
              <a:rPr lang="en-US" sz="2200" dirty="0" err="1">
                <a:solidFill>
                  <a:srgbClr val="0000FF"/>
                </a:solidFill>
                <a:latin typeface="Arial MT"/>
                <a:cs typeface="Arial MT"/>
              </a:rPr>
              <a:t>ne</a:t>
            </a:r>
            <a:r>
              <a:rPr lang="en-US" sz="2200" spc="-1100" dirty="0" err="1">
                <a:solidFill>
                  <a:srgbClr val="0000FF"/>
                </a:solidFill>
                <a:latin typeface="MS PGothic"/>
                <a:cs typeface="MS PGothic"/>
              </a:rPr>
              <a:t>ʼ</a:t>
            </a:r>
            <a:r>
              <a:rPr lang="en-US" sz="2200" dirty="0" err="1">
                <a:solidFill>
                  <a:srgbClr val="0000FF"/>
                </a:solidFill>
                <a:latin typeface="Arial MT"/>
                <a:cs typeface="Arial MT"/>
              </a:rPr>
              <a:t>s</a:t>
            </a:r>
            <a:r>
              <a:rPr lang="en-US" sz="2200" spc="-5" dirty="0">
                <a:solidFill>
                  <a:srgbClr val="0000FF"/>
                </a:solidFill>
                <a:latin typeface="Arial MT"/>
                <a:cs typeface="Arial MT"/>
              </a:rPr>
              <a:t> </a:t>
            </a:r>
            <a:r>
              <a:rPr lang="en-US" sz="2200" dirty="0">
                <a:solidFill>
                  <a:srgbClr val="0000FF"/>
                </a:solidFill>
                <a:latin typeface="Arial MT"/>
                <a:cs typeface="Arial MT"/>
              </a:rPr>
              <a:t>age = 200,</a:t>
            </a:r>
            <a:r>
              <a:rPr lang="en-US" sz="2200" spc="-5" dirty="0">
                <a:solidFill>
                  <a:srgbClr val="0000FF"/>
                </a:solidFill>
                <a:latin typeface="Arial MT"/>
                <a:cs typeface="Arial MT"/>
              </a:rPr>
              <a:t> </a:t>
            </a:r>
            <a:r>
              <a:rPr lang="en-US" sz="2200" dirty="0">
                <a:solidFill>
                  <a:srgbClr val="0000FF"/>
                </a:solidFill>
                <a:latin typeface="Arial MT"/>
                <a:cs typeface="Arial MT"/>
              </a:rPr>
              <a:t>widely</a:t>
            </a:r>
            <a:r>
              <a:rPr lang="en-US" sz="2200" spc="-5" dirty="0">
                <a:solidFill>
                  <a:srgbClr val="0000FF"/>
                </a:solidFill>
                <a:latin typeface="Arial MT"/>
                <a:cs typeface="Arial MT"/>
              </a:rPr>
              <a:t> </a:t>
            </a:r>
            <a:r>
              <a:rPr lang="en-US" sz="2200" dirty="0">
                <a:solidFill>
                  <a:srgbClr val="0000FF"/>
                </a:solidFill>
                <a:latin typeface="Arial MT"/>
                <a:cs typeface="Arial MT"/>
              </a:rPr>
              <a:t>devia</a:t>
            </a:r>
            <a:r>
              <a:rPr lang="en-US" sz="2200" spc="-5" dirty="0">
                <a:solidFill>
                  <a:srgbClr val="0000FF"/>
                </a:solidFill>
                <a:latin typeface="Arial MT"/>
                <a:cs typeface="Arial MT"/>
              </a:rPr>
              <a:t>t</a:t>
            </a:r>
            <a:r>
              <a:rPr lang="en-US" sz="2200" dirty="0">
                <a:solidFill>
                  <a:srgbClr val="0000FF"/>
                </a:solidFill>
                <a:latin typeface="Arial MT"/>
                <a:cs typeface="Arial MT"/>
              </a:rPr>
              <a:t>ed poin</a:t>
            </a:r>
            <a:r>
              <a:rPr lang="en-US" sz="2200" spc="-5" dirty="0">
                <a:solidFill>
                  <a:srgbClr val="0000FF"/>
                </a:solidFill>
                <a:latin typeface="Arial MT"/>
                <a:cs typeface="Arial MT"/>
              </a:rPr>
              <a:t>t</a:t>
            </a:r>
            <a:r>
              <a:rPr lang="en-US" sz="2200" dirty="0">
                <a:solidFill>
                  <a:srgbClr val="0000FF"/>
                </a:solidFill>
                <a:latin typeface="Arial MT"/>
                <a:cs typeface="Arial MT"/>
              </a:rPr>
              <a:t>s</a:t>
            </a:r>
            <a:endParaRPr lang="en-US" sz="2200" dirty="0">
              <a:latin typeface="Arial MT"/>
              <a:cs typeface="Arial MT"/>
            </a:endParaRPr>
          </a:p>
          <a:p>
            <a:pPr marL="355600" indent="-342900">
              <a:lnSpc>
                <a:spcPct val="100000"/>
              </a:lnSpc>
              <a:spcBef>
                <a:spcPts val="655"/>
              </a:spcBef>
              <a:buClr>
                <a:srgbClr val="CC9900"/>
              </a:buClr>
              <a:buSzPct val="63461"/>
              <a:buFont typeface="Wingdings"/>
              <a:buChar char=""/>
              <a:tabLst>
                <a:tab pos="354965" algn="l"/>
                <a:tab pos="355600" algn="l"/>
              </a:tabLst>
            </a:pPr>
            <a:r>
              <a:rPr lang="en-US" sz="2600" dirty="0">
                <a:latin typeface="Arial MT"/>
                <a:cs typeface="Arial MT"/>
              </a:rPr>
              <a:t>Removal</a:t>
            </a:r>
            <a:r>
              <a:rPr lang="en-US" sz="2600" spc="-35" dirty="0">
                <a:latin typeface="Arial MT"/>
                <a:cs typeface="Arial MT"/>
              </a:rPr>
              <a:t> </a:t>
            </a:r>
            <a:r>
              <a:rPr lang="en-US" sz="2600" spc="-5" dirty="0">
                <a:latin typeface="Arial MT"/>
                <a:cs typeface="Arial MT"/>
              </a:rPr>
              <a:t>methods</a:t>
            </a:r>
            <a:endParaRPr lang="en-US" sz="2600" dirty="0">
              <a:latin typeface="Arial MT"/>
              <a:cs typeface="Arial MT"/>
            </a:endParaRPr>
          </a:p>
          <a:p>
            <a:pPr marL="755650" lvl="1" indent="-285750">
              <a:lnSpc>
                <a:spcPct val="100000"/>
              </a:lnSpc>
              <a:spcBef>
                <a:spcPts val="484"/>
              </a:spcBef>
              <a:buClr>
                <a:srgbClr val="3B812F"/>
              </a:buClr>
              <a:buSzPct val="59090"/>
              <a:buFont typeface="Wingdings"/>
              <a:buChar char=""/>
              <a:tabLst>
                <a:tab pos="755015" algn="l"/>
                <a:tab pos="755650" algn="l"/>
              </a:tabLst>
            </a:pPr>
            <a:r>
              <a:rPr lang="en-US" sz="2200" spc="-5" dirty="0">
                <a:solidFill>
                  <a:srgbClr val="0000FF"/>
                </a:solidFill>
                <a:latin typeface="Arial MT"/>
                <a:cs typeface="Arial MT"/>
              </a:rPr>
              <a:t>Clustering</a:t>
            </a:r>
            <a:endParaRPr lang="en-US" sz="2200" dirty="0">
              <a:latin typeface="Arial MT"/>
              <a:cs typeface="Arial MT"/>
            </a:endParaRPr>
          </a:p>
          <a:p>
            <a:pPr marL="755650" lvl="1" indent="-285750">
              <a:lnSpc>
                <a:spcPct val="100000"/>
              </a:lnSpc>
              <a:spcBef>
                <a:spcPts val="560"/>
              </a:spcBef>
              <a:buClr>
                <a:srgbClr val="3B812F"/>
              </a:buClr>
              <a:buSzPct val="59090"/>
              <a:buFont typeface="Wingdings"/>
              <a:buChar char=""/>
              <a:tabLst>
                <a:tab pos="755015" algn="l"/>
                <a:tab pos="755650" algn="l"/>
              </a:tabLst>
            </a:pPr>
            <a:r>
              <a:rPr lang="en-US" sz="2200" spc="-5" dirty="0">
                <a:solidFill>
                  <a:srgbClr val="0000FF"/>
                </a:solidFill>
                <a:latin typeface="Arial MT"/>
                <a:cs typeface="Arial MT"/>
              </a:rPr>
              <a:t>Curve-fitting/Regression</a:t>
            </a:r>
            <a:endParaRPr lang="en-US" sz="2200" dirty="0">
              <a:latin typeface="Arial MT"/>
              <a:cs typeface="Arial MT"/>
            </a:endParaRPr>
          </a:p>
          <a:p>
            <a:pPr marL="755650" lvl="1" indent="-285750">
              <a:lnSpc>
                <a:spcPct val="100000"/>
              </a:lnSpc>
              <a:spcBef>
                <a:spcPts val="459"/>
              </a:spcBef>
              <a:buClr>
                <a:srgbClr val="3B812F"/>
              </a:buClr>
              <a:buSzPct val="59090"/>
              <a:buFont typeface="Wingdings"/>
              <a:buChar char=""/>
              <a:tabLst>
                <a:tab pos="755015" algn="l"/>
                <a:tab pos="755650" algn="l"/>
              </a:tabLst>
            </a:pPr>
            <a:r>
              <a:rPr lang="en-US" sz="2200" spc="-5" dirty="0">
                <a:solidFill>
                  <a:srgbClr val="0000FF"/>
                </a:solidFill>
                <a:latin typeface="Arial MT"/>
                <a:cs typeface="Arial MT"/>
              </a:rPr>
              <a:t>Hypothesis-testing with</a:t>
            </a:r>
            <a:r>
              <a:rPr lang="en-US" sz="2200" dirty="0">
                <a:solidFill>
                  <a:srgbClr val="0000FF"/>
                </a:solidFill>
                <a:latin typeface="Arial MT"/>
                <a:cs typeface="Arial MT"/>
              </a:rPr>
              <a:t> a</a:t>
            </a:r>
            <a:r>
              <a:rPr lang="en-US" sz="2200" spc="-5" dirty="0">
                <a:solidFill>
                  <a:srgbClr val="0000FF"/>
                </a:solidFill>
                <a:latin typeface="Arial MT"/>
                <a:cs typeface="Arial MT"/>
              </a:rPr>
              <a:t> </a:t>
            </a:r>
            <a:r>
              <a:rPr lang="en-US" sz="2200" dirty="0">
                <a:solidFill>
                  <a:srgbClr val="0000FF"/>
                </a:solidFill>
                <a:latin typeface="Arial MT"/>
                <a:cs typeface="Arial MT"/>
              </a:rPr>
              <a:t>given model</a:t>
            </a:r>
            <a:endParaRPr lang="en-US" sz="2200" dirty="0">
              <a:latin typeface="Arial MT"/>
              <a:cs typeface="Arial MT"/>
            </a:endParaRPr>
          </a:p>
          <a:p>
            <a:endParaRPr lang="en-IN" dirty="0"/>
          </a:p>
        </p:txBody>
      </p:sp>
    </p:spTree>
    <p:extLst>
      <p:ext uri="{BB962C8B-B14F-4D97-AF65-F5344CB8AC3E}">
        <p14:creationId xmlns:p14="http://schemas.microsoft.com/office/powerpoint/2010/main" val="2510668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FC25C-DA67-4E19-BDD7-B040FF4FD298}"/>
              </a:ext>
            </a:extLst>
          </p:cNvPr>
          <p:cNvSpPr>
            <a:spLocks noGrp="1"/>
          </p:cNvSpPr>
          <p:nvPr>
            <p:ph type="title"/>
          </p:nvPr>
        </p:nvSpPr>
        <p:spPr/>
        <p:txBody>
          <a:bodyPr/>
          <a:lstStyle/>
          <a:p>
            <a:r>
              <a:rPr lang="en-IN" sz="3600" spc="-40" dirty="0"/>
              <a:t>Outlier </a:t>
            </a:r>
            <a:r>
              <a:rPr lang="en-IN" spc="-114" dirty="0"/>
              <a:t>Detection</a:t>
            </a:r>
            <a:endParaRPr lang="en-IN" dirty="0"/>
          </a:p>
        </p:txBody>
      </p:sp>
      <p:sp>
        <p:nvSpPr>
          <p:cNvPr id="3" name="Content Placeholder 2">
            <a:extLst>
              <a:ext uri="{FF2B5EF4-FFF2-40B4-BE49-F238E27FC236}">
                <a16:creationId xmlns:a16="http://schemas.microsoft.com/office/drawing/2014/main" id="{AC71595F-C64F-439D-99C7-CC2F72793904}"/>
              </a:ext>
            </a:extLst>
          </p:cNvPr>
          <p:cNvSpPr>
            <a:spLocks noGrp="1"/>
          </p:cNvSpPr>
          <p:nvPr>
            <p:ph idx="1"/>
          </p:nvPr>
        </p:nvSpPr>
        <p:spPr/>
        <p:txBody>
          <a:bodyPr/>
          <a:lstStyle/>
          <a:p>
            <a:pPr marL="474980" marR="103505" indent="-412115">
              <a:lnSpc>
                <a:spcPct val="100000"/>
              </a:lnSpc>
              <a:spcBef>
                <a:spcPts val="95"/>
              </a:spcBef>
              <a:buSzPct val="64285"/>
              <a:buFont typeface="Arial MT"/>
              <a:buChar char="•"/>
              <a:tabLst>
                <a:tab pos="474980" algn="l"/>
                <a:tab pos="475615" algn="l"/>
              </a:tabLst>
            </a:pPr>
            <a:r>
              <a:rPr lang="en-US" sz="2000" spc="-5" dirty="0">
                <a:latin typeface="Cambria"/>
                <a:cs typeface="Cambria"/>
              </a:rPr>
              <a:t>The</a:t>
            </a:r>
            <a:r>
              <a:rPr lang="en-US" sz="2000" spc="-15" dirty="0">
                <a:latin typeface="Cambria"/>
                <a:cs typeface="Cambria"/>
              </a:rPr>
              <a:t> </a:t>
            </a:r>
            <a:r>
              <a:rPr lang="en-US" sz="2000" spc="-10" dirty="0">
                <a:latin typeface="Cambria"/>
                <a:cs typeface="Cambria"/>
              </a:rPr>
              <a:t>IQR</a:t>
            </a:r>
            <a:r>
              <a:rPr lang="en-US" sz="2000" spc="-5" dirty="0">
                <a:latin typeface="Cambria"/>
                <a:cs typeface="Cambria"/>
              </a:rPr>
              <a:t> is the </a:t>
            </a:r>
            <a:r>
              <a:rPr lang="en-US" sz="2000" spc="-10" dirty="0">
                <a:latin typeface="Cambria"/>
                <a:cs typeface="Cambria"/>
              </a:rPr>
              <a:t>length</a:t>
            </a:r>
            <a:r>
              <a:rPr lang="en-US" sz="2000" spc="5" dirty="0">
                <a:latin typeface="Cambria"/>
                <a:cs typeface="Cambria"/>
              </a:rPr>
              <a:t> </a:t>
            </a:r>
            <a:r>
              <a:rPr lang="en-US" sz="2000" spc="-5" dirty="0">
                <a:latin typeface="Cambria"/>
                <a:cs typeface="Cambria"/>
              </a:rPr>
              <a:t>of the </a:t>
            </a:r>
            <a:r>
              <a:rPr lang="en-US" sz="2000" spc="-15" dirty="0">
                <a:latin typeface="Cambria"/>
                <a:cs typeface="Cambria"/>
              </a:rPr>
              <a:t>box </a:t>
            </a:r>
            <a:r>
              <a:rPr lang="en-US" sz="2000" spc="-5" dirty="0">
                <a:latin typeface="Cambria"/>
                <a:cs typeface="Cambria"/>
              </a:rPr>
              <a:t>in </a:t>
            </a:r>
            <a:r>
              <a:rPr lang="en-US" sz="2000" spc="-20" dirty="0">
                <a:latin typeface="Cambria"/>
                <a:cs typeface="Cambria"/>
              </a:rPr>
              <a:t>your</a:t>
            </a:r>
            <a:r>
              <a:rPr lang="en-US" sz="2000" spc="15" dirty="0">
                <a:latin typeface="Cambria"/>
                <a:cs typeface="Cambria"/>
              </a:rPr>
              <a:t> </a:t>
            </a:r>
            <a:r>
              <a:rPr lang="en-US" sz="2000" spc="-5" dirty="0">
                <a:latin typeface="Cambria"/>
                <a:cs typeface="Cambria"/>
              </a:rPr>
              <a:t>box-and- </a:t>
            </a:r>
            <a:r>
              <a:rPr lang="en-US" sz="2000" spc="-605" dirty="0">
                <a:latin typeface="Cambria"/>
                <a:cs typeface="Cambria"/>
              </a:rPr>
              <a:t> </a:t>
            </a:r>
            <a:r>
              <a:rPr lang="en-US" sz="2000" spc="-15" dirty="0">
                <a:latin typeface="Cambria"/>
                <a:cs typeface="Cambria"/>
              </a:rPr>
              <a:t>whisker</a:t>
            </a:r>
            <a:r>
              <a:rPr lang="en-US" sz="2000" spc="-25" dirty="0">
                <a:latin typeface="Cambria"/>
                <a:cs typeface="Cambria"/>
              </a:rPr>
              <a:t> </a:t>
            </a:r>
            <a:r>
              <a:rPr lang="en-US" sz="2000" dirty="0">
                <a:latin typeface="Cambria"/>
                <a:cs typeface="Cambria"/>
              </a:rPr>
              <a:t>plot.</a:t>
            </a:r>
          </a:p>
          <a:p>
            <a:pPr marL="474980" marR="68580" indent="-412115">
              <a:lnSpc>
                <a:spcPct val="100000"/>
              </a:lnSpc>
              <a:spcBef>
                <a:spcPts val="675"/>
              </a:spcBef>
              <a:buSzPct val="64285"/>
              <a:buFont typeface="Arial MT"/>
              <a:buChar char="•"/>
              <a:tabLst>
                <a:tab pos="474980" algn="l"/>
                <a:tab pos="475615" algn="l"/>
              </a:tabLst>
            </a:pPr>
            <a:r>
              <a:rPr lang="en-US" sz="2000" spc="-5" dirty="0">
                <a:latin typeface="Cambria"/>
                <a:cs typeface="Cambria"/>
              </a:rPr>
              <a:t>An outlier</a:t>
            </a:r>
            <a:r>
              <a:rPr lang="en-US" sz="2000" dirty="0">
                <a:latin typeface="Cambria"/>
                <a:cs typeface="Cambria"/>
              </a:rPr>
              <a:t> </a:t>
            </a:r>
            <a:r>
              <a:rPr lang="en-US" sz="2000" spc="-5" dirty="0">
                <a:latin typeface="Cambria"/>
                <a:cs typeface="Cambria"/>
              </a:rPr>
              <a:t>is </a:t>
            </a:r>
            <a:r>
              <a:rPr lang="en-US" sz="2000" spc="-25" dirty="0">
                <a:latin typeface="Cambria"/>
                <a:cs typeface="Cambria"/>
              </a:rPr>
              <a:t>any</a:t>
            </a:r>
            <a:r>
              <a:rPr lang="en-US" sz="2000" spc="-5" dirty="0">
                <a:latin typeface="Cambria"/>
                <a:cs typeface="Cambria"/>
              </a:rPr>
              <a:t> </a:t>
            </a:r>
            <a:r>
              <a:rPr lang="en-US" sz="2000" spc="-20" dirty="0">
                <a:latin typeface="Cambria"/>
                <a:cs typeface="Cambria"/>
              </a:rPr>
              <a:t>value</a:t>
            </a:r>
            <a:r>
              <a:rPr lang="en-US" sz="2000" spc="5" dirty="0">
                <a:latin typeface="Cambria"/>
                <a:cs typeface="Cambria"/>
              </a:rPr>
              <a:t> </a:t>
            </a:r>
            <a:r>
              <a:rPr lang="en-US" sz="2000" spc="-10" dirty="0">
                <a:latin typeface="Cambria"/>
                <a:cs typeface="Cambria"/>
              </a:rPr>
              <a:t>that</a:t>
            </a:r>
            <a:r>
              <a:rPr lang="en-US" sz="2000" spc="5" dirty="0">
                <a:latin typeface="Cambria"/>
                <a:cs typeface="Cambria"/>
              </a:rPr>
              <a:t> </a:t>
            </a:r>
            <a:r>
              <a:rPr lang="en-US" sz="2000" spc="-10" dirty="0">
                <a:latin typeface="Cambria"/>
                <a:cs typeface="Cambria"/>
              </a:rPr>
              <a:t>lies</a:t>
            </a:r>
            <a:r>
              <a:rPr lang="en-US" sz="2000" spc="-5" dirty="0">
                <a:latin typeface="Cambria"/>
                <a:cs typeface="Cambria"/>
              </a:rPr>
              <a:t> </a:t>
            </a:r>
            <a:r>
              <a:rPr lang="en-US" sz="2000" spc="-15" dirty="0">
                <a:latin typeface="Cambria"/>
                <a:cs typeface="Cambria"/>
              </a:rPr>
              <a:t>more</a:t>
            </a:r>
            <a:r>
              <a:rPr lang="en-US" sz="2000" spc="-5" dirty="0">
                <a:latin typeface="Cambria"/>
                <a:cs typeface="Cambria"/>
              </a:rPr>
              <a:t> than one </a:t>
            </a:r>
            <a:r>
              <a:rPr lang="en-US" sz="2000" dirty="0">
                <a:latin typeface="Cambria"/>
                <a:cs typeface="Cambria"/>
              </a:rPr>
              <a:t> </a:t>
            </a:r>
            <a:r>
              <a:rPr lang="en-US" sz="2000" spc="-10" dirty="0">
                <a:latin typeface="Cambria"/>
                <a:cs typeface="Cambria"/>
              </a:rPr>
              <a:t>and</a:t>
            </a:r>
            <a:r>
              <a:rPr lang="en-US" sz="2000" spc="-20" dirty="0">
                <a:latin typeface="Cambria"/>
                <a:cs typeface="Cambria"/>
              </a:rPr>
              <a:t> </a:t>
            </a:r>
            <a:r>
              <a:rPr lang="en-US" sz="2000" spc="-5" dirty="0">
                <a:latin typeface="Cambria"/>
                <a:cs typeface="Cambria"/>
              </a:rPr>
              <a:t>a</a:t>
            </a:r>
            <a:r>
              <a:rPr lang="en-US" sz="2000" dirty="0">
                <a:latin typeface="Cambria"/>
                <a:cs typeface="Cambria"/>
              </a:rPr>
              <a:t> </a:t>
            </a:r>
            <a:r>
              <a:rPr lang="en-US" sz="2000" spc="-5" dirty="0">
                <a:latin typeface="Cambria"/>
                <a:cs typeface="Cambria"/>
              </a:rPr>
              <a:t>half times</a:t>
            </a:r>
            <a:r>
              <a:rPr lang="en-US" sz="2000" spc="-15" dirty="0">
                <a:latin typeface="Cambria"/>
                <a:cs typeface="Cambria"/>
              </a:rPr>
              <a:t> </a:t>
            </a:r>
            <a:r>
              <a:rPr lang="en-US" sz="2000" spc="-10" dirty="0">
                <a:latin typeface="Cambria"/>
                <a:cs typeface="Cambria"/>
              </a:rPr>
              <a:t>the</a:t>
            </a:r>
            <a:r>
              <a:rPr lang="en-US" sz="2000" spc="10" dirty="0">
                <a:latin typeface="Cambria"/>
                <a:cs typeface="Cambria"/>
              </a:rPr>
              <a:t> </a:t>
            </a:r>
            <a:r>
              <a:rPr lang="en-US" sz="2000" spc="-10" dirty="0">
                <a:latin typeface="Cambria"/>
                <a:cs typeface="Cambria"/>
              </a:rPr>
              <a:t>length</a:t>
            </a:r>
            <a:r>
              <a:rPr lang="en-US" sz="2000" spc="5" dirty="0">
                <a:latin typeface="Cambria"/>
                <a:cs typeface="Cambria"/>
              </a:rPr>
              <a:t> </a:t>
            </a:r>
            <a:r>
              <a:rPr lang="en-US" sz="2000" spc="-5" dirty="0">
                <a:latin typeface="Cambria"/>
                <a:cs typeface="Cambria"/>
              </a:rPr>
              <a:t>of</a:t>
            </a:r>
            <a:r>
              <a:rPr lang="en-US" sz="2000" dirty="0">
                <a:latin typeface="Cambria"/>
                <a:cs typeface="Cambria"/>
              </a:rPr>
              <a:t> </a:t>
            </a:r>
            <a:r>
              <a:rPr lang="en-US" sz="2000" spc="-5" dirty="0">
                <a:latin typeface="Cambria"/>
                <a:cs typeface="Cambria"/>
              </a:rPr>
              <a:t>the </a:t>
            </a:r>
            <a:r>
              <a:rPr lang="en-US" sz="2000" spc="-15" dirty="0">
                <a:latin typeface="Cambria"/>
                <a:cs typeface="Cambria"/>
              </a:rPr>
              <a:t>box</a:t>
            </a:r>
            <a:r>
              <a:rPr lang="en-US" sz="2000" spc="-10" dirty="0">
                <a:latin typeface="Cambria"/>
                <a:cs typeface="Cambria"/>
              </a:rPr>
              <a:t> </a:t>
            </a:r>
            <a:r>
              <a:rPr lang="en-US" sz="2000" spc="-15" dirty="0">
                <a:latin typeface="Cambria"/>
                <a:cs typeface="Cambria"/>
              </a:rPr>
              <a:t>from</a:t>
            </a:r>
            <a:r>
              <a:rPr lang="en-US" sz="2000" dirty="0">
                <a:latin typeface="Cambria"/>
                <a:cs typeface="Cambria"/>
              </a:rPr>
              <a:t> </a:t>
            </a:r>
            <a:r>
              <a:rPr lang="en-US" sz="2000" spc="-5" dirty="0">
                <a:latin typeface="Cambria"/>
                <a:cs typeface="Cambria"/>
              </a:rPr>
              <a:t>either </a:t>
            </a:r>
            <a:r>
              <a:rPr lang="en-US" sz="2000" spc="-605" dirty="0">
                <a:latin typeface="Cambria"/>
                <a:cs typeface="Cambria"/>
              </a:rPr>
              <a:t> </a:t>
            </a:r>
            <a:r>
              <a:rPr lang="en-US" sz="2000" spc="-5" dirty="0">
                <a:latin typeface="Cambria"/>
                <a:cs typeface="Cambria"/>
              </a:rPr>
              <a:t>end</a:t>
            </a:r>
            <a:r>
              <a:rPr lang="en-US" sz="2000" spc="-25" dirty="0">
                <a:latin typeface="Cambria"/>
                <a:cs typeface="Cambria"/>
              </a:rPr>
              <a:t> </a:t>
            </a:r>
            <a:r>
              <a:rPr lang="en-US" sz="2000" spc="-5" dirty="0">
                <a:latin typeface="Cambria"/>
                <a:cs typeface="Cambria"/>
              </a:rPr>
              <a:t>of</a:t>
            </a:r>
            <a:r>
              <a:rPr lang="en-US" sz="2000" dirty="0">
                <a:latin typeface="Cambria"/>
                <a:cs typeface="Cambria"/>
              </a:rPr>
              <a:t> </a:t>
            </a:r>
            <a:r>
              <a:rPr lang="en-US" sz="2000" spc="-5" dirty="0">
                <a:latin typeface="Cambria"/>
                <a:cs typeface="Cambria"/>
              </a:rPr>
              <a:t>the</a:t>
            </a:r>
            <a:r>
              <a:rPr lang="en-US" sz="2000" spc="5" dirty="0">
                <a:latin typeface="Cambria"/>
                <a:cs typeface="Cambria"/>
              </a:rPr>
              <a:t> </a:t>
            </a:r>
            <a:r>
              <a:rPr lang="en-US" sz="2000" spc="-15" dirty="0">
                <a:latin typeface="Cambria"/>
                <a:cs typeface="Cambria"/>
              </a:rPr>
              <a:t>box.</a:t>
            </a:r>
            <a:endParaRPr lang="en-US" sz="2000" dirty="0">
              <a:latin typeface="Cambria"/>
              <a:cs typeface="Cambria"/>
            </a:endParaRPr>
          </a:p>
          <a:p>
            <a:pPr marL="474980" marR="244475" indent="-412115">
              <a:lnSpc>
                <a:spcPct val="100000"/>
              </a:lnSpc>
              <a:spcBef>
                <a:spcPts val="675"/>
              </a:spcBef>
              <a:buSzPct val="64285"/>
              <a:buFont typeface="Arial MT"/>
              <a:buChar char="•"/>
              <a:tabLst>
                <a:tab pos="474980" algn="l"/>
                <a:tab pos="475615" algn="l"/>
              </a:tabLst>
            </a:pPr>
            <a:r>
              <a:rPr lang="en-US" sz="2000" spc="-5" dirty="0">
                <a:latin typeface="Cambria"/>
                <a:cs typeface="Cambria"/>
              </a:rPr>
              <a:t>That is, if a </a:t>
            </a:r>
            <a:r>
              <a:rPr lang="en-US" sz="2000" spc="-10" dirty="0">
                <a:latin typeface="Cambria"/>
                <a:cs typeface="Cambria"/>
              </a:rPr>
              <a:t>data point </a:t>
            </a:r>
            <a:r>
              <a:rPr lang="en-US" sz="2000" spc="-5" dirty="0">
                <a:latin typeface="Cambria"/>
                <a:cs typeface="Cambria"/>
              </a:rPr>
              <a:t>is </a:t>
            </a:r>
            <a:r>
              <a:rPr lang="en-US" sz="2000" spc="-10" dirty="0">
                <a:latin typeface="Cambria"/>
                <a:cs typeface="Cambria"/>
              </a:rPr>
              <a:t>below </a:t>
            </a:r>
            <a:r>
              <a:rPr lang="en-US" sz="2000" spc="10" dirty="0">
                <a:latin typeface="Cambria"/>
                <a:cs typeface="Cambria"/>
              </a:rPr>
              <a:t>Q</a:t>
            </a:r>
            <a:r>
              <a:rPr lang="en-US" sz="2000" spc="15" baseline="-21021" dirty="0">
                <a:latin typeface="Cambria"/>
                <a:cs typeface="Cambria"/>
              </a:rPr>
              <a:t>1</a:t>
            </a:r>
            <a:r>
              <a:rPr lang="en-US" sz="2000" spc="22" baseline="-21021" dirty="0">
                <a:latin typeface="Cambria"/>
                <a:cs typeface="Cambria"/>
              </a:rPr>
              <a:t> </a:t>
            </a:r>
            <a:r>
              <a:rPr lang="en-US" sz="2000" spc="-5" dirty="0">
                <a:latin typeface="Cambria"/>
                <a:cs typeface="Cambria"/>
              </a:rPr>
              <a:t>– 1.5×IQR or </a:t>
            </a:r>
            <a:r>
              <a:rPr lang="en-US" sz="2000" dirty="0">
                <a:latin typeface="Cambria"/>
                <a:cs typeface="Cambria"/>
              </a:rPr>
              <a:t> </a:t>
            </a:r>
            <a:r>
              <a:rPr lang="en-US" sz="2000" spc="-25" dirty="0">
                <a:latin typeface="Cambria"/>
                <a:cs typeface="Cambria"/>
              </a:rPr>
              <a:t>above</a:t>
            </a:r>
            <a:r>
              <a:rPr lang="en-US" sz="2000" spc="-20" dirty="0">
                <a:latin typeface="Cambria"/>
                <a:cs typeface="Cambria"/>
              </a:rPr>
              <a:t> </a:t>
            </a:r>
            <a:r>
              <a:rPr lang="en-US" sz="2000" dirty="0">
                <a:latin typeface="Cambria"/>
                <a:cs typeface="Cambria"/>
              </a:rPr>
              <a:t>Q</a:t>
            </a:r>
            <a:r>
              <a:rPr lang="en-US" sz="2000" baseline="-21021" dirty="0">
                <a:latin typeface="Cambria"/>
                <a:cs typeface="Cambria"/>
              </a:rPr>
              <a:t>3</a:t>
            </a:r>
            <a:r>
              <a:rPr lang="en-US" sz="2000" spc="315" baseline="-21021" dirty="0">
                <a:latin typeface="Cambria"/>
                <a:cs typeface="Cambria"/>
              </a:rPr>
              <a:t> </a:t>
            </a:r>
            <a:r>
              <a:rPr lang="en-US" sz="2000" spc="-5" dirty="0">
                <a:latin typeface="Cambria"/>
                <a:cs typeface="Cambria"/>
              </a:rPr>
              <a:t>+ 1.5×IQR,</a:t>
            </a:r>
            <a:r>
              <a:rPr lang="en-US" sz="2000" spc="5" dirty="0">
                <a:latin typeface="Cambria"/>
                <a:cs typeface="Cambria"/>
              </a:rPr>
              <a:t> </a:t>
            </a:r>
            <a:r>
              <a:rPr lang="en-US" sz="2000" spc="-5" dirty="0">
                <a:latin typeface="Cambria"/>
                <a:cs typeface="Cambria"/>
              </a:rPr>
              <a:t>it</a:t>
            </a:r>
            <a:r>
              <a:rPr lang="en-US" sz="2000" spc="-10" dirty="0">
                <a:latin typeface="Cambria"/>
                <a:cs typeface="Cambria"/>
              </a:rPr>
              <a:t> </a:t>
            </a:r>
            <a:r>
              <a:rPr lang="en-US" sz="2000" spc="-5" dirty="0">
                <a:latin typeface="Cambria"/>
                <a:cs typeface="Cambria"/>
              </a:rPr>
              <a:t>is</a:t>
            </a:r>
            <a:r>
              <a:rPr lang="en-US" sz="2000" spc="-15" dirty="0">
                <a:latin typeface="Cambria"/>
                <a:cs typeface="Cambria"/>
              </a:rPr>
              <a:t> </a:t>
            </a:r>
            <a:r>
              <a:rPr lang="en-US" sz="2000" spc="-10" dirty="0">
                <a:latin typeface="Cambria"/>
                <a:cs typeface="Cambria"/>
              </a:rPr>
              <a:t>viewed </a:t>
            </a:r>
            <a:r>
              <a:rPr lang="en-US" sz="2000" spc="-5" dirty="0">
                <a:latin typeface="Cambria"/>
                <a:cs typeface="Cambria"/>
              </a:rPr>
              <a:t>as</a:t>
            </a:r>
            <a:r>
              <a:rPr lang="en-US" sz="2000" spc="-10" dirty="0">
                <a:latin typeface="Cambria"/>
                <a:cs typeface="Cambria"/>
              </a:rPr>
              <a:t> being</a:t>
            </a:r>
            <a:r>
              <a:rPr lang="en-US" sz="2000" spc="-5" dirty="0">
                <a:latin typeface="Cambria"/>
                <a:cs typeface="Cambria"/>
              </a:rPr>
              <a:t> </a:t>
            </a:r>
            <a:r>
              <a:rPr lang="en-US" sz="2000" spc="-10" dirty="0">
                <a:latin typeface="Cambria"/>
                <a:cs typeface="Cambria"/>
              </a:rPr>
              <a:t>too </a:t>
            </a:r>
            <a:r>
              <a:rPr lang="en-US" sz="2000" spc="-15" dirty="0">
                <a:latin typeface="Cambria"/>
                <a:cs typeface="Cambria"/>
              </a:rPr>
              <a:t>far </a:t>
            </a:r>
            <a:r>
              <a:rPr lang="en-US" sz="2000" spc="-600" dirty="0">
                <a:latin typeface="Cambria"/>
                <a:cs typeface="Cambria"/>
              </a:rPr>
              <a:t> </a:t>
            </a:r>
            <a:r>
              <a:rPr lang="en-US" sz="2000" spc="-15" dirty="0">
                <a:latin typeface="Cambria"/>
                <a:cs typeface="Cambria"/>
              </a:rPr>
              <a:t>from</a:t>
            </a:r>
            <a:r>
              <a:rPr lang="en-US" sz="2000" spc="-20" dirty="0">
                <a:latin typeface="Cambria"/>
                <a:cs typeface="Cambria"/>
              </a:rPr>
              <a:t> </a:t>
            </a:r>
            <a:r>
              <a:rPr lang="en-US" sz="2000" spc="-10" dirty="0">
                <a:latin typeface="Cambria"/>
                <a:cs typeface="Cambria"/>
              </a:rPr>
              <a:t>the</a:t>
            </a:r>
            <a:r>
              <a:rPr lang="en-US" sz="2000" spc="5" dirty="0">
                <a:latin typeface="Cambria"/>
                <a:cs typeface="Cambria"/>
              </a:rPr>
              <a:t> </a:t>
            </a:r>
            <a:r>
              <a:rPr lang="en-US" sz="2000" spc="-10" dirty="0">
                <a:latin typeface="Cambria"/>
                <a:cs typeface="Cambria"/>
              </a:rPr>
              <a:t>central</a:t>
            </a:r>
            <a:r>
              <a:rPr lang="en-US" sz="2000" spc="5" dirty="0">
                <a:latin typeface="Cambria"/>
                <a:cs typeface="Cambria"/>
              </a:rPr>
              <a:t> </a:t>
            </a:r>
            <a:r>
              <a:rPr lang="en-US" sz="2000" spc="-15" dirty="0">
                <a:latin typeface="Cambria"/>
                <a:cs typeface="Cambria"/>
              </a:rPr>
              <a:t>values</a:t>
            </a:r>
            <a:r>
              <a:rPr lang="en-US" sz="2000" dirty="0">
                <a:latin typeface="Cambria"/>
                <a:cs typeface="Cambria"/>
              </a:rPr>
              <a:t> </a:t>
            </a:r>
            <a:r>
              <a:rPr lang="en-US" sz="2000" spc="-10" dirty="0">
                <a:latin typeface="Cambria"/>
                <a:cs typeface="Cambria"/>
              </a:rPr>
              <a:t>to </a:t>
            </a:r>
            <a:r>
              <a:rPr lang="en-US" sz="2000" spc="-5" dirty="0">
                <a:latin typeface="Cambria"/>
                <a:cs typeface="Cambria"/>
              </a:rPr>
              <a:t>be</a:t>
            </a:r>
            <a:r>
              <a:rPr lang="en-US" sz="2000" spc="-10" dirty="0">
                <a:latin typeface="Cambria"/>
                <a:cs typeface="Cambria"/>
              </a:rPr>
              <a:t> reasonable</a:t>
            </a:r>
            <a:endParaRPr lang="en-IN" dirty="0"/>
          </a:p>
        </p:txBody>
      </p:sp>
    </p:spTree>
    <p:extLst>
      <p:ext uri="{BB962C8B-B14F-4D97-AF65-F5344CB8AC3E}">
        <p14:creationId xmlns:p14="http://schemas.microsoft.com/office/powerpoint/2010/main" val="24246207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60A7C-C9F6-4CD6-B2FA-3EE83A65D056}"/>
              </a:ext>
            </a:extLst>
          </p:cNvPr>
          <p:cNvSpPr>
            <a:spLocks noGrp="1"/>
          </p:cNvSpPr>
          <p:nvPr>
            <p:ph type="title"/>
          </p:nvPr>
        </p:nvSpPr>
        <p:spPr/>
        <p:txBody>
          <a:bodyPr/>
          <a:lstStyle/>
          <a:p>
            <a:r>
              <a:rPr lang="en-US" dirty="0"/>
              <a:t>Clustering</a:t>
            </a:r>
            <a:endParaRPr lang="en-IN" dirty="0"/>
          </a:p>
        </p:txBody>
      </p:sp>
      <p:sp>
        <p:nvSpPr>
          <p:cNvPr id="3" name="Content Placeholder 2">
            <a:extLst>
              <a:ext uri="{FF2B5EF4-FFF2-40B4-BE49-F238E27FC236}">
                <a16:creationId xmlns:a16="http://schemas.microsoft.com/office/drawing/2014/main" id="{D6A31435-FD54-4E30-A45A-DA228D5695CF}"/>
              </a:ext>
            </a:extLst>
          </p:cNvPr>
          <p:cNvSpPr>
            <a:spLocks noGrp="1"/>
          </p:cNvSpPr>
          <p:nvPr>
            <p:ph idx="1"/>
          </p:nvPr>
        </p:nvSpPr>
        <p:spPr/>
        <p:txBody>
          <a:bodyPr/>
          <a:lstStyle/>
          <a:p>
            <a:pPr marL="294640" indent="-281940">
              <a:lnSpc>
                <a:spcPct val="100000"/>
              </a:lnSpc>
              <a:spcBef>
                <a:spcPts val="365"/>
              </a:spcBef>
              <a:buSzPct val="79545"/>
              <a:buFont typeface="Wingdings"/>
              <a:buChar char=""/>
              <a:tabLst>
                <a:tab pos="294005" algn="l"/>
                <a:tab pos="294640" algn="l"/>
              </a:tabLst>
            </a:pPr>
            <a:r>
              <a:rPr lang="en-US" spc="-10" dirty="0"/>
              <a:t>detect</a:t>
            </a:r>
            <a:r>
              <a:rPr lang="en-US" spc="10" dirty="0"/>
              <a:t> </a:t>
            </a:r>
            <a:r>
              <a:rPr lang="en-US" spc="-10" dirty="0"/>
              <a:t>and</a:t>
            </a:r>
            <a:r>
              <a:rPr lang="en-US" spc="15" dirty="0"/>
              <a:t> </a:t>
            </a:r>
            <a:r>
              <a:rPr lang="en-US" spc="-30" dirty="0"/>
              <a:t>remove</a:t>
            </a:r>
            <a:r>
              <a:rPr lang="en-US" spc="25" dirty="0"/>
              <a:t> </a:t>
            </a:r>
            <a:r>
              <a:rPr lang="en-US" spc="-5" dirty="0"/>
              <a:t>outliers</a:t>
            </a:r>
          </a:p>
          <a:p>
            <a:pPr marL="294640" marR="769620" indent="-281940">
              <a:lnSpc>
                <a:spcPts val="2380"/>
              </a:lnSpc>
              <a:spcBef>
                <a:spcPts val="560"/>
              </a:spcBef>
              <a:buSzPct val="79545"/>
              <a:buFont typeface="Wingdings"/>
              <a:buChar char=""/>
              <a:tabLst>
                <a:tab pos="294005" algn="l"/>
                <a:tab pos="294640" algn="l"/>
              </a:tabLst>
            </a:pPr>
            <a:r>
              <a:rPr lang="en-US" spc="-5" dirty="0"/>
              <a:t>Outliers</a:t>
            </a:r>
            <a:r>
              <a:rPr lang="en-US" dirty="0"/>
              <a:t> </a:t>
            </a:r>
            <a:r>
              <a:rPr lang="en-US" spc="-5" dirty="0"/>
              <a:t>can</a:t>
            </a:r>
            <a:r>
              <a:rPr lang="en-US" spc="-10" dirty="0"/>
              <a:t> </a:t>
            </a:r>
            <a:r>
              <a:rPr lang="en-US" spc="-5" dirty="0"/>
              <a:t>be</a:t>
            </a:r>
            <a:r>
              <a:rPr lang="en-US" spc="5" dirty="0"/>
              <a:t> </a:t>
            </a:r>
            <a:r>
              <a:rPr lang="en-US" spc="-10" dirty="0"/>
              <a:t>detected</a:t>
            </a:r>
            <a:r>
              <a:rPr lang="en-US" spc="35" dirty="0"/>
              <a:t> </a:t>
            </a:r>
            <a:r>
              <a:rPr lang="en-US" spc="-25" dirty="0"/>
              <a:t>by</a:t>
            </a:r>
            <a:r>
              <a:rPr lang="en-US" spc="10" dirty="0"/>
              <a:t> </a:t>
            </a:r>
            <a:r>
              <a:rPr lang="en-US" spc="-5" dirty="0"/>
              <a:t>clustering</a:t>
            </a:r>
            <a:r>
              <a:rPr lang="en-US" spc="10" dirty="0"/>
              <a:t> </a:t>
            </a:r>
            <a:r>
              <a:rPr lang="en-US" spc="-15" dirty="0"/>
              <a:t>where </a:t>
            </a:r>
            <a:r>
              <a:rPr lang="en-US" spc="-470" dirty="0"/>
              <a:t> </a:t>
            </a:r>
            <a:r>
              <a:rPr lang="en-US" spc="-5" dirty="0"/>
              <a:t>similar </a:t>
            </a:r>
            <a:r>
              <a:rPr lang="en-US" spc="-15" dirty="0"/>
              <a:t>values</a:t>
            </a:r>
            <a:r>
              <a:rPr lang="en-US" spc="10" dirty="0"/>
              <a:t> </a:t>
            </a:r>
            <a:r>
              <a:rPr lang="en-US" spc="-20" dirty="0"/>
              <a:t>are</a:t>
            </a:r>
            <a:r>
              <a:rPr lang="en-US" spc="20" dirty="0"/>
              <a:t> </a:t>
            </a:r>
            <a:r>
              <a:rPr lang="en-US" spc="-10" dirty="0"/>
              <a:t>organized</a:t>
            </a:r>
            <a:r>
              <a:rPr lang="en-US" spc="25" dirty="0"/>
              <a:t> </a:t>
            </a:r>
            <a:r>
              <a:rPr lang="en-US" spc="-10" dirty="0"/>
              <a:t>into</a:t>
            </a:r>
            <a:r>
              <a:rPr lang="en-US" spc="-5" dirty="0"/>
              <a:t> </a:t>
            </a:r>
            <a:r>
              <a:rPr lang="en-US" spc="-10" dirty="0"/>
              <a:t>groups,</a:t>
            </a:r>
            <a:r>
              <a:rPr lang="en-US" spc="10" dirty="0"/>
              <a:t> </a:t>
            </a:r>
            <a:r>
              <a:rPr lang="en-US" spc="-5" dirty="0"/>
              <a:t>or </a:t>
            </a:r>
            <a:r>
              <a:rPr lang="en-US" dirty="0"/>
              <a:t> </a:t>
            </a:r>
            <a:r>
              <a:rPr lang="en-US" spc="-30" dirty="0"/>
              <a:t>“clusters”.</a:t>
            </a:r>
          </a:p>
          <a:p>
            <a:pPr marL="294640" indent="-281940">
              <a:lnSpc>
                <a:spcPts val="2510"/>
              </a:lnSpc>
              <a:spcBef>
                <a:spcPts val="220"/>
              </a:spcBef>
              <a:buSzPct val="79545"/>
              <a:buFont typeface="Wingdings"/>
              <a:buChar char=""/>
              <a:tabLst>
                <a:tab pos="294005" algn="l"/>
                <a:tab pos="294640" algn="l"/>
              </a:tabLst>
            </a:pPr>
            <a:r>
              <a:rPr lang="en-US" spc="-30" dirty="0"/>
              <a:t>Institutively,</a:t>
            </a:r>
            <a:r>
              <a:rPr lang="en-US" spc="45" dirty="0"/>
              <a:t> </a:t>
            </a:r>
            <a:r>
              <a:rPr lang="en-US" spc="-15" dirty="0"/>
              <a:t>values</a:t>
            </a:r>
            <a:r>
              <a:rPr lang="en-US" spc="30" dirty="0"/>
              <a:t> </a:t>
            </a:r>
            <a:r>
              <a:rPr lang="en-US" spc="-10" dirty="0"/>
              <a:t>that</a:t>
            </a:r>
            <a:r>
              <a:rPr lang="en-US" spc="10" dirty="0"/>
              <a:t> </a:t>
            </a:r>
            <a:r>
              <a:rPr lang="en-US" spc="-15" dirty="0"/>
              <a:t>fall</a:t>
            </a:r>
            <a:r>
              <a:rPr lang="en-US" spc="25" dirty="0"/>
              <a:t> </a:t>
            </a:r>
            <a:r>
              <a:rPr lang="en-US" spc="-5" dirty="0"/>
              <a:t>outside of</a:t>
            </a:r>
            <a:r>
              <a:rPr lang="en-US" spc="5" dirty="0"/>
              <a:t> </a:t>
            </a:r>
            <a:r>
              <a:rPr lang="en-US" spc="-10" dirty="0"/>
              <a:t>the</a:t>
            </a:r>
            <a:r>
              <a:rPr lang="en-US" spc="10" dirty="0"/>
              <a:t> </a:t>
            </a:r>
            <a:r>
              <a:rPr lang="en-US" spc="-5" dirty="0"/>
              <a:t>set</a:t>
            </a:r>
            <a:r>
              <a:rPr lang="en-US" spc="20" dirty="0"/>
              <a:t> </a:t>
            </a:r>
            <a:r>
              <a:rPr lang="en-US" spc="-5" dirty="0"/>
              <a:t>of </a:t>
            </a:r>
            <a:r>
              <a:rPr lang="en-US" spc="-10" dirty="0"/>
              <a:t>clusters</a:t>
            </a:r>
            <a:r>
              <a:rPr lang="en-US" spc="20" dirty="0"/>
              <a:t> </a:t>
            </a:r>
            <a:r>
              <a:rPr lang="en-US" spc="-25" dirty="0"/>
              <a:t>may</a:t>
            </a:r>
            <a:r>
              <a:rPr lang="en-US" spc="15" dirty="0"/>
              <a:t> </a:t>
            </a:r>
            <a:r>
              <a:rPr lang="en-US" spc="-5" dirty="0"/>
              <a:t>be</a:t>
            </a:r>
            <a:r>
              <a:rPr lang="en-US" dirty="0"/>
              <a:t> </a:t>
            </a:r>
            <a:r>
              <a:rPr lang="en-US" spc="-5" dirty="0"/>
              <a:t>considered</a:t>
            </a:r>
            <a:r>
              <a:rPr lang="en-US" spc="30" dirty="0"/>
              <a:t> </a:t>
            </a:r>
            <a:r>
              <a:rPr lang="en-US" spc="-5" dirty="0"/>
              <a:t>outliers.</a:t>
            </a:r>
            <a:endParaRPr lang="en-IN" dirty="0"/>
          </a:p>
        </p:txBody>
      </p:sp>
    </p:spTree>
    <p:extLst>
      <p:ext uri="{BB962C8B-B14F-4D97-AF65-F5344CB8AC3E}">
        <p14:creationId xmlns:p14="http://schemas.microsoft.com/office/powerpoint/2010/main" val="3538287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05ACF-4515-4F2A-8492-8A4AC2172222}"/>
              </a:ext>
            </a:extLst>
          </p:cNvPr>
          <p:cNvSpPr>
            <a:spLocks noGrp="1"/>
          </p:cNvSpPr>
          <p:nvPr>
            <p:ph type="title"/>
          </p:nvPr>
        </p:nvSpPr>
        <p:spPr/>
        <p:txBody>
          <a:bodyPr/>
          <a:lstStyle/>
          <a:p>
            <a:r>
              <a:rPr lang="en-US" dirty="0"/>
              <a:t>Clustering</a:t>
            </a:r>
            <a:endParaRPr lang="en-IN" dirty="0"/>
          </a:p>
        </p:txBody>
      </p:sp>
      <p:grpSp>
        <p:nvGrpSpPr>
          <p:cNvPr id="13" name="object 34">
            <a:extLst>
              <a:ext uri="{FF2B5EF4-FFF2-40B4-BE49-F238E27FC236}">
                <a16:creationId xmlns:a16="http://schemas.microsoft.com/office/drawing/2014/main" id="{947B343B-53E3-414F-929A-999A6A4E5DFB}"/>
              </a:ext>
            </a:extLst>
          </p:cNvPr>
          <p:cNvGrpSpPr/>
          <p:nvPr/>
        </p:nvGrpSpPr>
        <p:grpSpPr>
          <a:xfrm>
            <a:off x="4366790" y="1216850"/>
            <a:ext cx="6320155" cy="4415155"/>
            <a:chOff x="1604899" y="1128649"/>
            <a:chExt cx="6320155" cy="4415155"/>
          </a:xfrm>
        </p:grpSpPr>
        <p:sp>
          <p:nvSpPr>
            <p:cNvPr id="14" name="object 35">
              <a:extLst>
                <a:ext uri="{FF2B5EF4-FFF2-40B4-BE49-F238E27FC236}">
                  <a16:creationId xmlns:a16="http://schemas.microsoft.com/office/drawing/2014/main" id="{BBEF7984-C5C6-4ABF-B0CA-F88AF10E230B}"/>
                </a:ext>
              </a:extLst>
            </p:cNvPr>
            <p:cNvSpPr/>
            <p:nvPr/>
          </p:nvSpPr>
          <p:spPr>
            <a:xfrm>
              <a:off x="6705600" y="5029200"/>
              <a:ext cx="1066800" cy="228600"/>
            </a:xfrm>
            <a:custGeom>
              <a:avLst/>
              <a:gdLst/>
              <a:ahLst/>
              <a:cxnLst/>
              <a:rect l="l" t="t" r="r" b="b"/>
              <a:pathLst>
                <a:path w="1066800" h="228600">
                  <a:moveTo>
                    <a:pt x="0" y="228600"/>
                  </a:moveTo>
                  <a:lnTo>
                    <a:pt x="1066800" y="0"/>
                  </a:lnTo>
                </a:path>
              </a:pathLst>
            </a:custGeom>
            <a:ln w="12700">
              <a:solidFill>
                <a:srgbClr val="FF0000"/>
              </a:solidFill>
            </a:ln>
          </p:spPr>
          <p:txBody>
            <a:bodyPr wrap="square" lIns="0" tIns="0" rIns="0" bIns="0" rtlCol="0"/>
            <a:lstStyle/>
            <a:p>
              <a:endParaRPr/>
            </a:p>
          </p:txBody>
        </p:sp>
        <p:sp>
          <p:nvSpPr>
            <p:cNvPr id="15" name="object 36">
              <a:extLst>
                <a:ext uri="{FF2B5EF4-FFF2-40B4-BE49-F238E27FC236}">
                  <a16:creationId xmlns:a16="http://schemas.microsoft.com/office/drawing/2014/main" id="{200AFC44-5137-4B20-874E-B4400C438100}"/>
                </a:ext>
              </a:extLst>
            </p:cNvPr>
            <p:cNvSpPr/>
            <p:nvPr/>
          </p:nvSpPr>
          <p:spPr>
            <a:xfrm>
              <a:off x="1604899" y="1128648"/>
              <a:ext cx="6320155" cy="4415155"/>
            </a:xfrm>
            <a:custGeom>
              <a:avLst/>
              <a:gdLst/>
              <a:ahLst/>
              <a:cxnLst/>
              <a:rect l="l" t="t" r="r" b="b"/>
              <a:pathLst>
                <a:path w="6320155" h="4415155">
                  <a:moveTo>
                    <a:pt x="6319901" y="4343400"/>
                  </a:moveTo>
                  <a:lnTo>
                    <a:pt x="6291427" y="4329176"/>
                  </a:lnTo>
                  <a:lnTo>
                    <a:pt x="6177026" y="4272026"/>
                  </a:lnTo>
                  <a:lnTo>
                    <a:pt x="6177026" y="4329176"/>
                  </a:lnTo>
                  <a:lnTo>
                    <a:pt x="85725" y="4329176"/>
                  </a:lnTo>
                  <a:lnTo>
                    <a:pt x="85725" y="142875"/>
                  </a:lnTo>
                  <a:lnTo>
                    <a:pt x="142875" y="142875"/>
                  </a:lnTo>
                  <a:lnTo>
                    <a:pt x="135763" y="128651"/>
                  </a:lnTo>
                  <a:lnTo>
                    <a:pt x="71501" y="0"/>
                  </a:lnTo>
                  <a:lnTo>
                    <a:pt x="0" y="142875"/>
                  </a:lnTo>
                  <a:lnTo>
                    <a:pt x="57150" y="142875"/>
                  </a:lnTo>
                  <a:lnTo>
                    <a:pt x="57150" y="4343400"/>
                  </a:lnTo>
                  <a:lnTo>
                    <a:pt x="71501" y="4343400"/>
                  </a:lnTo>
                  <a:lnTo>
                    <a:pt x="71501" y="4357751"/>
                  </a:lnTo>
                  <a:lnTo>
                    <a:pt x="6177026" y="4357751"/>
                  </a:lnTo>
                  <a:lnTo>
                    <a:pt x="6177026" y="4414901"/>
                  </a:lnTo>
                  <a:lnTo>
                    <a:pt x="6291224" y="4357751"/>
                  </a:lnTo>
                  <a:lnTo>
                    <a:pt x="6319901" y="4343400"/>
                  </a:lnTo>
                  <a:close/>
                </a:path>
              </a:pathLst>
            </a:custGeom>
            <a:solidFill>
              <a:srgbClr val="008000"/>
            </a:solidFill>
          </p:spPr>
          <p:txBody>
            <a:bodyPr wrap="square" lIns="0" tIns="0" rIns="0" bIns="0" rtlCol="0"/>
            <a:lstStyle/>
            <a:p>
              <a:endParaRPr/>
            </a:p>
          </p:txBody>
        </p:sp>
      </p:grpSp>
      <p:grpSp>
        <p:nvGrpSpPr>
          <p:cNvPr id="16" name="object 2">
            <a:extLst>
              <a:ext uri="{FF2B5EF4-FFF2-40B4-BE49-F238E27FC236}">
                <a16:creationId xmlns:a16="http://schemas.microsoft.com/office/drawing/2014/main" id="{BF6B948C-4AED-48C3-83DD-B57EEAD11C9F}"/>
              </a:ext>
            </a:extLst>
          </p:cNvPr>
          <p:cNvGrpSpPr/>
          <p:nvPr/>
        </p:nvGrpSpPr>
        <p:grpSpPr>
          <a:xfrm>
            <a:off x="5015449" y="2538604"/>
            <a:ext cx="1321435" cy="1951355"/>
            <a:chOff x="2393961" y="2051685"/>
            <a:chExt cx="1321435" cy="1951355"/>
          </a:xfrm>
        </p:grpSpPr>
        <p:sp>
          <p:nvSpPr>
            <p:cNvPr id="17" name="object 3">
              <a:extLst>
                <a:ext uri="{FF2B5EF4-FFF2-40B4-BE49-F238E27FC236}">
                  <a16:creationId xmlns:a16="http://schemas.microsoft.com/office/drawing/2014/main" id="{6F43D6F3-BDAB-4BC9-B5C5-D3992300DFCA}"/>
                </a:ext>
              </a:extLst>
            </p:cNvPr>
            <p:cNvSpPr/>
            <p:nvPr/>
          </p:nvSpPr>
          <p:spPr>
            <a:xfrm>
              <a:off x="2406661" y="2064385"/>
              <a:ext cx="1296035" cy="1925955"/>
            </a:xfrm>
            <a:custGeom>
              <a:avLst/>
              <a:gdLst/>
              <a:ahLst/>
              <a:cxnLst/>
              <a:rect l="l" t="t" r="r" b="b"/>
              <a:pathLst>
                <a:path w="1296035" h="1925954">
                  <a:moveTo>
                    <a:pt x="987667" y="0"/>
                  </a:moveTo>
                  <a:lnTo>
                    <a:pt x="929856" y="39915"/>
                  </a:lnTo>
                  <a:lnTo>
                    <a:pt x="894528" y="59624"/>
                  </a:lnTo>
                  <a:lnTo>
                    <a:pt x="873176" y="65319"/>
                  </a:lnTo>
                  <a:lnTo>
                    <a:pt x="862953" y="69214"/>
                  </a:lnTo>
                  <a:lnTo>
                    <a:pt x="852285" y="75666"/>
                  </a:lnTo>
                  <a:lnTo>
                    <a:pt x="832092" y="90521"/>
                  </a:lnTo>
                  <a:lnTo>
                    <a:pt x="821424" y="96900"/>
                  </a:lnTo>
                  <a:lnTo>
                    <a:pt x="811077" y="100653"/>
                  </a:lnTo>
                  <a:lnTo>
                    <a:pt x="800183" y="103108"/>
                  </a:lnTo>
                  <a:lnTo>
                    <a:pt x="789527" y="105919"/>
                  </a:lnTo>
                  <a:lnTo>
                    <a:pt x="745827" y="134540"/>
                  </a:lnTo>
                  <a:lnTo>
                    <a:pt x="724523" y="166242"/>
                  </a:lnTo>
                  <a:lnTo>
                    <a:pt x="717703" y="215067"/>
                  </a:lnTo>
                  <a:lnTo>
                    <a:pt x="713125" y="264135"/>
                  </a:lnTo>
                  <a:lnTo>
                    <a:pt x="710228" y="313388"/>
                  </a:lnTo>
                  <a:lnTo>
                    <a:pt x="708451" y="362771"/>
                  </a:lnTo>
                  <a:lnTo>
                    <a:pt x="706009" y="461692"/>
                  </a:lnTo>
                  <a:lnTo>
                    <a:pt x="704222" y="511115"/>
                  </a:lnTo>
                  <a:lnTo>
                    <a:pt x="701309" y="560437"/>
                  </a:lnTo>
                  <a:lnTo>
                    <a:pt x="696710" y="609600"/>
                  </a:lnTo>
                  <a:lnTo>
                    <a:pt x="676243" y="640693"/>
                  </a:lnTo>
                  <a:lnTo>
                    <a:pt x="669024" y="651128"/>
                  </a:lnTo>
                  <a:lnTo>
                    <a:pt x="664771" y="661189"/>
                  </a:lnTo>
                  <a:lnTo>
                    <a:pt x="661388" y="671607"/>
                  </a:lnTo>
                  <a:lnTo>
                    <a:pt x="655181" y="692657"/>
                  </a:lnTo>
                  <a:lnTo>
                    <a:pt x="640909" y="706167"/>
                  </a:lnTo>
                  <a:lnTo>
                    <a:pt x="633946" y="713035"/>
                  </a:lnTo>
                  <a:lnTo>
                    <a:pt x="627495" y="720343"/>
                  </a:lnTo>
                  <a:lnTo>
                    <a:pt x="621061" y="731906"/>
                  </a:lnTo>
                  <a:lnTo>
                    <a:pt x="615842" y="744839"/>
                  </a:lnTo>
                  <a:lnTo>
                    <a:pt x="609528" y="755937"/>
                  </a:lnTo>
                  <a:lnTo>
                    <a:pt x="599809" y="762000"/>
                  </a:lnTo>
                  <a:lnTo>
                    <a:pt x="531055" y="774014"/>
                  </a:lnTo>
                  <a:lnTo>
                    <a:pt x="478211" y="780025"/>
                  </a:lnTo>
                  <a:lnTo>
                    <a:pt x="438995" y="781365"/>
                  </a:lnTo>
                  <a:lnTo>
                    <a:pt x="411124" y="779370"/>
                  </a:lnTo>
                  <a:lnTo>
                    <a:pt x="392316" y="775375"/>
                  </a:lnTo>
                  <a:lnTo>
                    <a:pt x="380289" y="770715"/>
                  </a:lnTo>
                  <a:lnTo>
                    <a:pt x="372760" y="766724"/>
                  </a:lnTo>
                  <a:lnTo>
                    <a:pt x="367446" y="764737"/>
                  </a:lnTo>
                  <a:lnTo>
                    <a:pt x="362065" y="766089"/>
                  </a:lnTo>
                  <a:lnTo>
                    <a:pt x="354334" y="772115"/>
                  </a:lnTo>
                  <a:lnTo>
                    <a:pt x="341972" y="784150"/>
                  </a:lnTo>
                  <a:lnTo>
                    <a:pt x="322695" y="803528"/>
                  </a:lnTo>
                  <a:lnTo>
                    <a:pt x="311955" y="806334"/>
                  </a:lnTo>
                  <a:lnTo>
                    <a:pt x="272676" y="826343"/>
                  </a:lnTo>
                  <a:lnTo>
                    <a:pt x="259984" y="848143"/>
                  </a:lnTo>
                  <a:lnTo>
                    <a:pt x="253353" y="858901"/>
                  </a:lnTo>
                  <a:lnTo>
                    <a:pt x="243185" y="872894"/>
                  </a:lnTo>
                  <a:lnTo>
                    <a:pt x="211824" y="914400"/>
                  </a:lnTo>
                  <a:lnTo>
                    <a:pt x="197635" y="934878"/>
                  </a:lnTo>
                  <a:lnTo>
                    <a:pt x="170926" y="977122"/>
                  </a:lnTo>
                  <a:lnTo>
                    <a:pt x="156452" y="997457"/>
                  </a:lnTo>
                  <a:lnTo>
                    <a:pt x="146391" y="1008197"/>
                  </a:lnTo>
                  <a:lnTo>
                    <a:pt x="135211" y="1017936"/>
                  </a:lnTo>
                  <a:lnTo>
                    <a:pt x="124269" y="1027818"/>
                  </a:lnTo>
                  <a:lnTo>
                    <a:pt x="103308" y="1070637"/>
                  </a:lnTo>
                  <a:lnTo>
                    <a:pt x="94872" y="1115123"/>
                  </a:lnTo>
                  <a:lnTo>
                    <a:pt x="89509" y="1156180"/>
                  </a:lnTo>
                  <a:lnTo>
                    <a:pt x="87110" y="1177543"/>
                  </a:lnTo>
                  <a:lnTo>
                    <a:pt x="73267" y="1219200"/>
                  </a:lnTo>
                  <a:lnTo>
                    <a:pt x="65690" y="1246683"/>
                  </a:lnTo>
                  <a:lnTo>
                    <a:pt x="53728" y="1302603"/>
                  </a:lnTo>
                  <a:lnTo>
                    <a:pt x="45581" y="1329943"/>
                  </a:lnTo>
                  <a:lnTo>
                    <a:pt x="39487" y="1337184"/>
                  </a:lnTo>
                  <a:lnTo>
                    <a:pt x="31309" y="1341008"/>
                  </a:lnTo>
                  <a:lnTo>
                    <a:pt x="23346" y="1349714"/>
                  </a:lnTo>
                  <a:lnTo>
                    <a:pt x="17895" y="1371600"/>
                  </a:lnTo>
                  <a:lnTo>
                    <a:pt x="10215" y="1410100"/>
                  </a:lnTo>
                  <a:lnTo>
                    <a:pt x="845" y="1460436"/>
                  </a:lnTo>
                  <a:lnTo>
                    <a:pt x="0" y="1518296"/>
                  </a:lnTo>
                  <a:lnTo>
                    <a:pt x="17895" y="1579371"/>
                  </a:lnTo>
                  <a:lnTo>
                    <a:pt x="45581" y="1607058"/>
                  </a:lnTo>
                  <a:lnTo>
                    <a:pt x="83198" y="1613400"/>
                  </a:lnTo>
                  <a:lnTo>
                    <a:pt x="121352" y="1616551"/>
                  </a:lnTo>
                  <a:lnTo>
                    <a:pt x="159720" y="1618416"/>
                  </a:lnTo>
                  <a:lnTo>
                    <a:pt x="197981" y="1620901"/>
                  </a:lnTo>
                  <a:lnTo>
                    <a:pt x="239986" y="1611915"/>
                  </a:lnTo>
                  <a:lnTo>
                    <a:pt x="308852" y="1593214"/>
                  </a:lnTo>
                  <a:lnTo>
                    <a:pt x="339445" y="1571247"/>
                  </a:lnTo>
                  <a:lnTo>
                    <a:pt x="350381" y="1565528"/>
                  </a:lnTo>
                  <a:lnTo>
                    <a:pt x="370718" y="1560258"/>
                  </a:lnTo>
                  <a:lnTo>
                    <a:pt x="391544" y="1556988"/>
                  </a:lnTo>
                  <a:lnTo>
                    <a:pt x="412585" y="1554527"/>
                  </a:lnTo>
                  <a:lnTo>
                    <a:pt x="433566" y="1551685"/>
                  </a:lnTo>
                  <a:lnTo>
                    <a:pt x="461260" y="1592315"/>
                  </a:lnTo>
                  <a:lnTo>
                    <a:pt x="460934" y="1593839"/>
                  </a:lnTo>
                  <a:lnTo>
                    <a:pt x="462668" y="1602953"/>
                  </a:lnTo>
                  <a:lnTo>
                    <a:pt x="475095" y="1634744"/>
                  </a:lnTo>
                  <a:lnTo>
                    <a:pt x="491479" y="1671090"/>
                  </a:lnTo>
                  <a:lnTo>
                    <a:pt x="499493" y="1685868"/>
                  </a:lnTo>
                  <a:lnTo>
                    <a:pt x="502574" y="1689893"/>
                  </a:lnTo>
                  <a:lnTo>
                    <a:pt x="504163" y="1693982"/>
                  </a:lnTo>
                  <a:lnTo>
                    <a:pt x="516624" y="1745614"/>
                  </a:lnTo>
                  <a:lnTo>
                    <a:pt x="548199" y="1797300"/>
                  </a:lnTo>
                  <a:lnTo>
                    <a:pt x="558153" y="1814829"/>
                  </a:lnTo>
                  <a:lnTo>
                    <a:pt x="567662" y="1836453"/>
                  </a:lnTo>
                  <a:lnTo>
                    <a:pt x="575837" y="1858946"/>
                  </a:lnTo>
                  <a:lnTo>
                    <a:pt x="585585" y="1880177"/>
                  </a:lnTo>
                  <a:lnTo>
                    <a:pt x="599809" y="1898014"/>
                  </a:lnTo>
                  <a:lnTo>
                    <a:pt x="618108" y="1909234"/>
                  </a:lnTo>
                  <a:lnTo>
                    <a:pt x="639147" y="1915668"/>
                  </a:lnTo>
                  <a:lnTo>
                    <a:pt x="661281" y="1920196"/>
                  </a:lnTo>
                  <a:lnTo>
                    <a:pt x="682867" y="1925701"/>
                  </a:lnTo>
                  <a:lnTo>
                    <a:pt x="724523" y="1911858"/>
                  </a:lnTo>
                  <a:lnTo>
                    <a:pt x="745591" y="1905621"/>
                  </a:lnTo>
                  <a:lnTo>
                    <a:pt x="766861" y="1899872"/>
                  </a:lnTo>
                  <a:lnTo>
                    <a:pt x="787727" y="1893194"/>
                  </a:lnTo>
                  <a:lnTo>
                    <a:pt x="807581" y="1884171"/>
                  </a:lnTo>
                  <a:lnTo>
                    <a:pt x="819213" y="1875450"/>
                  </a:lnTo>
                  <a:lnTo>
                    <a:pt x="829202" y="1864598"/>
                  </a:lnTo>
                  <a:lnTo>
                    <a:pt x="838763" y="1853150"/>
                  </a:lnTo>
                  <a:lnTo>
                    <a:pt x="849110" y="1842642"/>
                  </a:lnTo>
                  <a:lnTo>
                    <a:pt x="862871" y="1832062"/>
                  </a:lnTo>
                  <a:lnTo>
                    <a:pt x="877288" y="1822291"/>
                  </a:lnTo>
                  <a:lnTo>
                    <a:pt x="891490" y="1812282"/>
                  </a:lnTo>
                  <a:lnTo>
                    <a:pt x="904609" y="1800987"/>
                  </a:lnTo>
                  <a:lnTo>
                    <a:pt x="912399" y="1791390"/>
                  </a:lnTo>
                  <a:lnTo>
                    <a:pt x="918928" y="1780698"/>
                  </a:lnTo>
                  <a:lnTo>
                    <a:pt x="925218" y="1769768"/>
                  </a:lnTo>
                  <a:lnTo>
                    <a:pt x="932295" y="1759458"/>
                  </a:lnTo>
                  <a:lnTo>
                    <a:pt x="939746" y="1752649"/>
                  </a:lnTo>
                  <a:lnTo>
                    <a:pt x="948376" y="1746615"/>
                  </a:lnTo>
                  <a:lnTo>
                    <a:pt x="955887" y="1740080"/>
                  </a:lnTo>
                  <a:lnTo>
                    <a:pt x="967217" y="1681324"/>
                  </a:lnTo>
                  <a:lnTo>
                    <a:pt x="972577" y="1630623"/>
                  </a:lnTo>
                  <a:lnTo>
                    <a:pt x="976681" y="1579752"/>
                  </a:lnTo>
                  <a:lnTo>
                    <a:pt x="983605" y="1477842"/>
                  </a:lnTo>
                  <a:lnTo>
                    <a:pt x="987667" y="1426972"/>
                  </a:lnTo>
                  <a:lnTo>
                    <a:pt x="1027636" y="1369107"/>
                  </a:lnTo>
                  <a:lnTo>
                    <a:pt x="1047543" y="1333869"/>
                  </a:lnTo>
                  <a:lnTo>
                    <a:pt x="1053631" y="1312747"/>
                  </a:lnTo>
                  <a:lnTo>
                    <a:pt x="1057009" y="1302257"/>
                  </a:lnTo>
                  <a:lnTo>
                    <a:pt x="1064049" y="1285013"/>
                  </a:lnTo>
                  <a:lnTo>
                    <a:pt x="1071614" y="1267936"/>
                  </a:lnTo>
                  <a:lnTo>
                    <a:pt x="1078797" y="1250715"/>
                  </a:lnTo>
                  <a:lnTo>
                    <a:pt x="1093969" y="1186229"/>
                  </a:lnTo>
                  <a:lnTo>
                    <a:pt x="1100593" y="1129213"/>
                  </a:lnTo>
                  <a:lnTo>
                    <a:pt x="1105157" y="1068451"/>
                  </a:lnTo>
                  <a:lnTo>
                    <a:pt x="1108251" y="1010397"/>
                  </a:lnTo>
                  <a:lnTo>
                    <a:pt x="1110462" y="961509"/>
                  </a:lnTo>
                  <a:lnTo>
                    <a:pt x="1112381" y="928242"/>
                  </a:lnTo>
                  <a:lnTo>
                    <a:pt x="1117659" y="876006"/>
                  </a:lnTo>
                  <a:lnTo>
                    <a:pt x="1122122" y="845907"/>
                  </a:lnTo>
                  <a:lnTo>
                    <a:pt x="1125204" y="829961"/>
                  </a:lnTo>
                  <a:lnTo>
                    <a:pt x="1126337" y="820185"/>
                  </a:lnTo>
                  <a:lnTo>
                    <a:pt x="1124955" y="808594"/>
                  </a:lnTo>
                  <a:lnTo>
                    <a:pt x="1112381" y="748029"/>
                  </a:lnTo>
                  <a:lnTo>
                    <a:pt x="1097996" y="733946"/>
                  </a:lnTo>
                  <a:lnTo>
                    <a:pt x="1080456" y="715756"/>
                  </a:lnTo>
                  <a:lnTo>
                    <a:pt x="1065035" y="696398"/>
                  </a:lnTo>
                  <a:lnTo>
                    <a:pt x="1057009" y="678814"/>
                  </a:lnTo>
                  <a:lnTo>
                    <a:pt x="1057493" y="668218"/>
                  </a:lnTo>
                  <a:lnTo>
                    <a:pt x="1061263" y="657860"/>
                  </a:lnTo>
                  <a:lnTo>
                    <a:pt x="1066367" y="647596"/>
                  </a:lnTo>
                  <a:lnTo>
                    <a:pt x="1070852" y="637286"/>
                  </a:lnTo>
                  <a:lnTo>
                    <a:pt x="1109602" y="585771"/>
                  </a:lnTo>
                  <a:lnTo>
                    <a:pt x="1119411" y="571402"/>
                  </a:lnTo>
                  <a:lnTo>
                    <a:pt x="1140067" y="540257"/>
                  </a:lnTo>
                  <a:lnTo>
                    <a:pt x="1161018" y="519037"/>
                  </a:lnTo>
                  <a:lnTo>
                    <a:pt x="1201090" y="479932"/>
                  </a:lnTo>
                  <a:lnTo>
                    <a:pt x="1241829" y="436352"/>
                  </a:lnTo>
                  <a:lnTo>
                    <a:pt x="1264781" y="401700"/>
                  </a:lnTo>
                  <a:lnTo>
                    <a:pt x="1280325" y="350415"/>
                  </a:lnTo>
                  <a:lnTo>
                    <a:pt x="1295181" y="293960"/>
                  </a:lnTo>
                  <a:lnTo>
                    <a:pt x="1296031" y="282498"/>
                  </a:lnTo>
                  <a:lnTo>
                    <a:pt x="1293520" y="278019"/>
                  </a:lnTo>
                  <a:lnTo>
                    <a:pt x="1288417" y="277377"/>
                  </a:lnTo>
                  <a:lnTo>
                    <a:pt x="1281491" y="277426"/>
                  </a:lnTo>
                  <a:lnTo>
                    <a:pt x="1273512" y="275020"/>
                  </a:lnTo>
                  <a:lnTo>
                    <a:pt x="1250938" y="221614"/>
                  </a:lnTo>
                  <a:lnTo>
                    <a:pt x="1244863" y="169951"/>
                  </a:lnTo>
                  <a:lnTo>
                    <a:pt x="1241682" y="117967"/>
                  </a:lnTo>
                  <a:lnTo>
                    <a:pt x="1239668" y="65863"/>
                  </a:lnTo>
                  <a:lnTo>
                    <a:pt x="1237095" y="13842"/>
                  </a:lnTo>
                  <a:lnTo>
                    <a:pt x="1196457" y="28235"/>
                  </a:lnTo>
                  <a:lnTo>
                    <a:pt x="1194639" y="25967"/>
                  </a:lnTo>
                  <a:lnTo>
                    <a:pt x="1185396" y="20414"/>
                  </a:lnTo>
                  <a:lnTo>
                    <a:pt x="1153910" y="13842"/>
                  </a:lnTo>
                  <a:lnTo>
                    <a:pt x="1112486" y="9215"/>
                  </a:lnTo>
                  <a:lnTo>
                    <a:pt x="1070931" y="5873"/>
                  </a:lnTo>
                  <a:lnTo>
                    <a:pt x="987667" y="0"/>
                  </a:lnTo>
                  <a:close/>
                </a:path>
              </a:pathLst>
            </a:custGeom>
            <a:solidFill>
              <a:srgbClr val="DDDDDD"/>
            </a:solidFill>
          </p:spPr>
          <p:txBody>
            <a:bodyPr wrap="square" lIns="0" tIns="0" rIns="0" bIns="0" rtlCol="0"/>
            <a:lstStyle/>
            <a:p>
              <a:endParaRPr/>
            </a:p>
          </p:txBody>
        </p:sp>
        <p:sp>
          <p:nvSpPr>
            <p:cNvPr id="18" name="object 4">
              <a:extLst>
                <a:ext uri="{FF2B5EF4-FFF2-40B4-BE49-F238E27FC236}">
                  <a16:creationId xmlns:a16="http://schemas.microsoft.com/office/drawing/2014/main" id="{2F266F6D-AEBF-452D-BCEE-BF6D51CCCC83}"/>
                </a:ext>
              </a:extLst>
            </p:cNvPr>
            <p:cNvSpPr/>
            <p:nvPr/>
          </p:nvSpPr>
          <p:spPr>
            <a:xfrm>
              <a:off x="2406661" y="2064385"/>
              <a:ext cx="1296035" cy="1925955"/>
            </a:xfrm>
            <a:custGeom>
              <a:avLst/>
              <a:gdLst/>
              <a:ahLst/>
              <a:cxnLst/>
              <a:rect l="l" t="t" r="r" b="b"/>
              <a:pathLst>
                <a:path w="1296035" h="1925954">
                  <a:moveTo>
                    <a:pt x="17895" y="1371600"/>
                  </a:moveTo>
                  <a:lnTo>
                    <a:pt x="23346" y="1349714"/>
                  </a:lnTo>
                  <a:lnTo>
                    <a:pt x="31309" y="1341008"/>
                  </a:lnTo>
                  <a:lnTo>
                    <a:pt x="39487" y="1337184"/>
                  </a:lnTo>
                  <a:lnTo>
                    <a:pt x="45581" y="1329943"/>
                  </a:lnTo>
                  <a:lnTo>
                    <a:pt x="53728" y="1302603"/>
                  </a:lnTo>
                  <a:lnTo>
                    <a:pt x="59805" y="1274667"/>
                  </a:lnTo>
                  <a:lnTo>
                    <a:pt x="65690" y="1246683"/>
                  </a:lnTo>
                  <a:lnTo>
                    <a:pt x="73267" y="1219200"/>
                  </a:lnTo>
                  <a:lnTo>
                    <a:pt x="87110" y="1177543"/>
                  </a:lnTo>
                  <a:lnTo>
                    <a:pt x="89509" y="1156180"/>
                  </a:lnTo>
                  <a:lnTo>
                    <a:pt x="94872" y="1115123"/>
                  </a:lnTo>
                  <a:lnTo>
                    <a:pt x="103308" y="1070637"/>
                  </a:lnTo>
                  <a:lnTo>
                    <a:pt x="124269" y="1027818"/>
                  </a:lnTo>
                  <a:lnTo>
                    <a:pt x="146391" y="1008197"/>
                  </a:lnTo>
                  <a:lnTo>
                    <a:pt x="156452" y="997457"/>
                  </a:lnTo>
                  <a:lnTo>
                    <a:pt x="170926" y="977122"/>
                  </a:lnTo>
                  <a:lnTo>
                    <a:pt x="184328" y="956024"/>
                  </a:lnTo>
                  <a:lnTo>
                    <a:pt x="197635" y="934878"/>
                  </a:lnTo>
                  <a:lnTo>
                    <a:pt x="211824" y="914400"/>
                  </a:lnTo>
                  <a:lnTo>
                    <a:pt x="222277" y="900549"/>
                  </a:lnTo>
                  <a:lnTo>
                    <a:pt x="232779" y="886745"/>
                  </a:lnTo>
                  <a:lnTo>
                    <a:pt x="243185" y="872894"/>
                  </a:lnTo>
                  <a:lnTo>
                    <a:pt x="253353" y="858901"/>
                  </a:lnTo>
                  <a:lnTo>
                    <a:pt x="259984" y="848143"/>
                  </a:lnTo>
                  <a:lnTo>
                    <a:pt x="266021" y="836945"/>
                  </a:lnTo>
                  <a:lnTo>
                    <a:pt x="272676" y="826343"/>
                  </a:lnTo>
                  <a:lnTo>
                    <a:pt x="281166" y="817372"/>
                  </a:lnTo>
                  <a:lnTo>
                    <a:pt x="290476" y="811994"/>
                  </a:lnTo>
                  <a:lnTo>
                    <a:pt x="300978" y="808735"/>
                  </a:lnTo>
                  <a:lnTo>
                    <a:pt x="311955" y="806334"/>
                  </a:lnTo>
                  <a:lnTo>
                    <a:pt x="322695" y="803528"/>
                  </a:lnTo>
                  <a:lnTo>
                    <a:pt x="341972" y="784150"/>
                  </a:lnTo>
                  <a:lnTo>
                    <a:pt x="354334" y="772115"/>
                  </a:lnTo>
                  <a:lnTo>
                    <a:pt x="362065" y="766089"/>
                  </a:lnTo>
                  <a:lnTo>
                    <a:pt x="367446" y="764737"/>
                  </a:lnTo>
                  <a:lnTo>
                    <a:pt x="372760" y="766724"/>
                  </a:lnTo>
                  <a:lnTo>
                    <a:pt x="380289" y="770715"/>
                  </a:lnTo>
                  <a:lnTo>
                    <a:pt x="392316" y="775375"/>
                  </a:lnTo>
                  <a:lnTo>
                    <a:pt x="411124" y="779370"/>
                  </a:lnTo>
                  <a:lnTo>
                    <a:pt x="438995" y="781365"/>
                  </a:lnTo>
                  <a:lnTo>
                    <a:pt x="478211" y="780025"/>
                  </a:lnTo>
                  <a:lnTo>
                    <a:pt x="531055" y="774014"/>
                  </a:lnTo>
                  <a:lnTo>
                    <a:pt x="599809" y="762000"/>
                  </a:lnTo>
                  <a:lnTo>
                    <a:pt x="621061" y="731906"/>
                  </a:lnTo>
                  <a:lnTo>
                    <a:pt x="627495" y="720343"/>
                  </a:lnTo>
                  <a:lnTo>
                    <a:pt x="633946" y="713035"/>
                  </a:lnTo>
                  <a:lnTo>
                    <a:pt x="640909" y="706167"/>
                  </a:lnTo>
                  <a:lnTo>
                    <a:pt x="648086" y="699466"/>
                  </a:lnTo>
                  <a:lnTo>
                    <a:pt x="655181" y="692657"/>
                  </a:lnTo>
                  <a:lnTo>
                    <a:pt x="658362" y="682168"/>
                  </a:lnTo>
                  <a:lnTo>
                    <a:pt x="661388" y="671607"/>
                  </a:lnTo>
                  <a:lnTo>
                    <a:pt x="664771" y="661189"/>
                  </a:lnTo>
                  <a:lnTo>
                    <a:pt x="669024" y="651128"/>
                  </a:lnTo>
                  <a:lnTo>
                    <a:pt x="676243" y="640693"/>
                  </a:lnTo>
                  <a:lnTo>
                    <a:pt x="684962" y="630983"/>
                  </a:lnTo>
                  <a:lnTo>
                    <a:pt x="692634" y="620964"/>
                  </a:lnTo>
                  <a:lnTo>
                    <a:pt x="701309" y="560437"/>
                  </a:lnTo>
                  <a:lnTo>
                    <a:pt x="704222" y="511115"/>
                  </a:lnTo>
                  <a:lnTo>
                    <a:pt x="706009" y="461692"/>
                  </a:lnTo>
                  <a:lnTo>
                    <a:pt x="707231" y="412224"/>
                  </a:lnTo>
                  <a:lnTo>
                    <a:pt x="708451" y="362771"/>
                  </a:lnTo>
                  <a:lnTo>
                    <a:pt x="710228" y="313388"/>
                  </a:lnTo>
                  <a:lnTo>
                    <a:pt x="713125" y="264135"/>
                  </a:lnTo>
                  <a:lnTo>
                    <a:pt x="717703" y="215067"/>
                  </a:lnTo>
                  <a:lnTo>
                    <a:pt x="724523" y="166242"/>
                  </a:lnTo>
                  <a:lnTo>
                    <a:pt x="745827" y="134540"/>
                  </a:lnTo>
                  <a:lnTo>
                    <a:pt x="779895" y="110743"/>
                  </a:lnTo>
                  <a:lnTo>
                    <a:pt x="811077" y="100653"/>
                  </a:lnTo>
                  <a:lnTo>
                    <a:pt x="821424" y="96900"/>
                  </a:lnTo>
                  <a:lnTo>
                    <a:pt x="832092" y="90521"/>
                  </a:lnTo>
                  <a:lnTo>
                    <a:pt x="842188" y="83105"/>
                  </a:lnTo>
                  <a:lnTo>
                    <a:pt x="852285" y="75666"/>
                  </a:lnTo>
                  <a:lnTo>
                    <a:pt x="862953" y="69214"/>
                  </a:lnTo>
                  <a:lnTo>
                    <a:pt x="873176" y="65319"/>
                  </a:lnTo>
                  <a:lnTo>
                    <a:pt x="883876" y="62531"/>
                  </a:lnTo>
                  <a:lnTo>
                    <a:pt x="894528" y="59624"/>
                  </a:lnTo>
                  <a:lnTo>
                    <a:pt x="929856" y="39915"/>
                  </a:lnTo>
                  <a:lnTo>
                    <a:pt x="978779" y="6383"/>
                  </a:lnTo>
                  <a:lnTo>
                    <a:pt x="987667" y="0"/>
                  </a:lnTo>
                  <a:lnTo>
                    <a:pt x="1029305" y="3055"/>
                  </a:lnTo>
                  <a:lnTo>
                    <a:pt x="1070931" y="5873"/>
                  </a:lnTo>
                  <a:lnTo>
                    <a:pt x="1112486" y="9215"/>
                  </a:lnTo>
                  <a:lnTo>
                    <a:pt x="1153910" y="13842"/>
                  </a:lnTo>
                  <a:lnTo>
                    <a:pt x="1194639" y="25967"/>
                  </a:lnTo>
                  <a:lnTo>
                    <a:pt x="1196457" y="28235"/>
                  </a:lnTo>
                  <a:lnTo>
                    <a:pt x="1205669" y="24949"/>
                  </a:lnTo>
                  <a:lnTo>
                    <a:pt x="1237095" y="13842"/>
                  </a:lnTo>
                  <a:lnTo>
                    <a:pt x="1239668" y="65863"/>
                  </a:lnTo>
                  <a:lnTo>
                    <a:pt x="1241682" y="117967"/>
                  </a:lnTo>
                  <a:lnTo>
                    <a:pt x="1244863" y="169951"/>
                  </a:lnTo>
                  <a:lnTo>
                    <a:pt x="1250938" y="221614"/>
                  </a:lnTo>
                  <a:lnTo>
                    <a:pt x="1265247" y="267014"/>
                  </a:lnTo>
                  <a:lnTo>
                    <a:pt x="1281491" y="277426"/>
                  </a:lnTo>
                  <a:lnTo>
                    <a:pt x="1288417" y="277377"/>
                  </a:lnTo>
                  <a:lnTo>
                    <a:pt x="1293520" y="278019"/>
                  </a:lnTo>
                  <a:lnTo>
                    <a:pt x="1296031" y="282498"/>
                  </a:lnTo>
                  <a:lnTo>
                    <a:pt x="1295181" y="293960"/>
                  </a:lnTo>
                  <a:lnTo>
                    <a:pt x="1290202" y="315550"/>
                  </a:lnTo>
                  <a:lnTo>
                    <a:pt x="1264781" y="401700"/>
                  </a:lnTo>
                  <a:lnTo>
                    <a:pt x="1241829" y="436352"/>
                  </a:lnTo>
                  <a:lnTo>
                    <a:pt x="1201090" y="479932"/>
                  </a:lnTo>
                  <a:lnTo>
                    <a:pt x="1161018" y="519037"/>
                  </a:lnTo>
                  <a:lnTo>
                    <a:pt x="1140067" y="540257"/>
                  </a:lnTo>
                  <a:lnTo>
                    <a:pt x="1119411" y="571402"/>
                  </a:lnTo>
                  <a:lnTo>
                    <a:pt x="1109602" y="585771"/>
                  </a:lnTo>
                  <a:lnTo>
                    <a:pt x="1097722" y="601640"/>
                  </a:lnTo>
                  <a:lnTo>
                    <a:pt x="1070852" y="637286"/>
                  </a:lnTo>
                  <a:lnTo>
                    <a:pt x="1066367" y="647596"/>
                  </a:lnTo>
                  <a:lnTo>
                    <a:pt x="1061263" y="657860"/>
                  </a:lnTo>
                  <a:lnTo>
                    <a:pt x="1057493" y="668218"/>
                  </a:lnTo>
                  <a:lnTo>
                    <a:pt x="1057009" y="678814"/>
                  </a:lnTo>
                  <a:lnTo>
                    <a:pt x="1065035" y="696398"/>
                  </a:lnTo>
                  <a:lnTo>
                    <a:pt x="1080456" y="715756"/>
                  </a:lnTo>
                  <a:lnTo>
                    <a:pt x="1097996" y="733946"/>
                  </a:lnTo>
                  <a:lnTo>
                    <a:pt x="1112381" y="748029"/>
                  </a:lnTo>
                  <a:lnTo>
                    <a:pt x="1120492" y="787204"/>
                  </a:lnTo>
                  <a:lnTo>
                    <a:pt x="1124955" y="808594"/>
                  </a:lnTo>
                  <a:lnTo>
                    <a:pt x="1126337" y="820185"/>
                  </a:lnTo>
                  <a:lnTo>
                    <a:pt x="1125204" y="829961"/>
                  </a:lnTo>
                  <a:lnTo>
                    <a:pt x="1122122" y="845907"/>
                  </a:lnTo>
                  <a:lnTo>
                    <a:pt x="1117659" y="876006"/>
                  </a:lnTo>
                  <a:lnTo>
                    <a:pt x="1112381" y="928242"/>
                  </a:lnTo>
                  <a:lnTo>
                    <a:pt x="1110462" y="961509"/>
                  </a:lnTo>
                  <a:lnTo>
                    <a:pt x="1108251" y="1010397"/>
                  </a:lnTo>
                  <a:lnTo>
                    <a:pt x="1105157" y="1068451"/>
                  </a:lnTo>
                  <a:lnTo>
                    <a:pt x="1100593" y="1129213"/>
                  </a:lnTo>
                  <a:lnTo>
                    <a:pt x="1093969" y="1186229"/>
                  </a:lnTo>
                  <a:lnTo>
                    <a:pt x="1084695" y="1233042"/>
                  </a:lnTo>
                  <a:lnTo>
                    <a:pt x="1064049" y="1285013"/>
                  </a:lnTo>
                  <a:lnTo>
                    <a:pt x="1057009" y="1302257"/>
                  </a:lnTo>
                  <a:lnTo>
                    <a:pt x="1053631" y="1312747"/>
                  </a:lnTo>
                  <a:lnTo>
                    <a:pt x="1050754" y="1323403"/>
                  </a:lnTo>
                  <a:lnTo>
                    <a:pt x="1047543" y="1333869"/>
                  </a:lnTo>
                  <a:lnTo>
                    <a:pt x="1027636" y="1369107"/>
                  </a:lnTo>
                  <a:lnTo>
                    <a:pt x="994052" y="1418082"/>
                  </a:lnTo>
                  <a:lnTo>
                    <a:pt x="987667" y="1426972"/>
                  </a:lnTo>
                  <a:lnTo>
                    <a:pt x="983605" y="1477842"/>
                  </a:lnTo>
                  <a:lnTo>
                    <a:pt x="980150" y="1528797"/>
                  </a:lnTo>
                  <a:lnTo>
                    <a:pt x="976681" y="1579752"/>
                  </a:lnTo>
                  <a:lnTo>
                    <a:pt x="972577" y="1630623"/>
                  </a:lnTo>
                  <a:lnTo>
                    <a:pt x="967217" y="1681324"/>
                  </a:lnTo>
                  <a:lnTo>
                    <a:pt x="959981" y="1731771"/>
                  </a:lnTo>
                  <a:lnTo>
                    <a:pt x="939746" y="1752649"/>
                  </a:lnTo>
                  <a:lnTo>
                    <a:pt x="932295" y="1759458"/>
                  </a:lnTo>
                  <a:lnTo>
                    <a:pt x="925218" y="1769768"/>
                  </a:lnTo>
                  <a:lnTo>
                    <a:pt x="918928" y="1780698"/>
                  </a:lnTo>
                  <a:lnTo>
                    <a:pt x="912399" y="1791390"/>
                  </a:lnTo>
                  <a:lnTo>
                    <a:pt x="904609" y="1800987"/>
                  </a:lnTo>
                  <a:lnTo>
                    <a:pt x="891490" y="1812282"/>
                  </a:lnTo>
                  <a:lnTo>
                    <a:pt x="877288" y="1822291"/>
                  </a:lnTo>
                  <a:lnTo>
                    <a:pt x="862871" y="1832062"/>
                  </a:lnTo>
                  <a:lnTo>
                    <a:pt x="849110" y="1842642"/>
                  </a:lnTo>
                  <a:lnTo>
                    <a:pt x="838763" y="1853150"/>
                  </a:lnTo>
                  <a:lnTo>
                    <a:pt x="829202" y="1864598"/>
                  </a:lnTo>
                  <a:lnTo>
                    <a:pt x="819213" y="1875450"/>
                  </a:lnTo>
                  <a:lnTo>
                    <a:pt x="807581" y="1884171"/>
                  </a:lnTo>
                  <a:lnTo>
                    <a:pt x="787727" y="1893194"/>
                  </a:lnTo>
                  <a:lnTo>
                    <a:pt x="766861" y="1899872"/>
                  </a:lnTo>
                  <a:lnTo>
                    <a:pt x="745591" y="1905621"/>
                  </a:lnTo>
                  <a:lnTo>
                    <a:pt x="724523" y="1911858"/>
                  </a:lnTo>
                  <a:lnTo>
                    <a:pt x="682867" y="1925701"/>
                  </a:lnTo>
                  <a:lnTo>
                    <a:pt x="661281" y="1920196"/>
                  </a:lnTo>
                  <a:lnTo>
                    <a:pt x="639147" y="1915668"/>
                  </a:lnTo>
                  <a:lnTo>
                    <a:pt x="599809" y="1898014"/>
                  </a:lnTo>
                  <a:lnTo>
                    <a:pt x="575837" y="1858946"/>
                  </a:lnTo>
                  <a:lnTo>
                    <a:pt x="567662" y="1836453"/>
                  </a:lnTo>
                  <a:lnTo>
                    <a:pt x="558153" y="1814829"/>
                  </a:lnTo>
                  <a:lnTo>
                    <a:pt x="548199" y="1797300"/>
                  </a:lnTo>
                  <a:lnTo>
                    <a:pt x="537769" y="1780031"/>
                  </a:lnTo>
                  <a:lnTo>
                    <a:pt x="527149" y="1762859"/>
                  </a:lnTo>
                  <a:lnTo>
                    <a:pt x="516624" y="1745614"/>
                  </a:lnTo>
                  <a:lnTo>
                    <a:pt x="507700" y="1708950"/>
                  </a:lnTo>
                  <a:lnTo>
                    <a:pt x="504163" y="1693982"/>
                  </a:lnTo>
                  <a:lnTo>
                    <a:pt x="502574" y="1689893"/>
                  </a:lnTo>
                  <a:lnTo>
                    <a:pt x="475095" y="1634744"/>
                  </a:lnTo>
                  <a:lnTo>
                    <a:pt x="460934" y="1593839"/>
                  </a:lnTo>
                  <a:lnTo>
                    <a:pt x="461260" y="1592315"/>
                  </a:lnTo>
                  <a:lnTo>
                    <a:pt x="455014" y="1583293"/>
                  </a:lnTo>
                  <a:lnTo>
                    <a:pt x="433566" y="1551685"/>
                  </a:lnTo>
                  <a:lnTo>
                    <a:pt x="412585" y="1554527"/>
                  </a:lnTo>
                  <a:lnTo>
                    <a:pt x="391544" y="1556988"/>
                  </a:lnTo>
                  <a:lnTo>
                    <a:pt x="350381" y="1565528"/>
                  </a:lnTo>
                  <a:lnTo>
                    <a:pt x="319716" y="1587210"/>
                  </a:lnTo>
                  <a:lnTo>
                    <a:pt x="308852" y="1593214"/>
                  </a:lnTo>
                  <a:lnTo>
                    <a:pt x="276419" y="1603005"/>
                  </a:lnTo>
                  <a:lnTo>
                    <a:pt x="239986" y="1611915"/>
                  </a:lnTo>
                  <a:lnTo>
                    <a:pt x="210268" y="1618396"/>
                  </a:lnTo>
                  <a:lnTo>
                    <a:pt x="197981" y="1620901"/>
                  </a:lnTo>
                  <a:lnTo>
                    <a:pt x="159720" y="1618416"/>
                  </a:lnTo>
                  <a:lnTo>
                    <a:pt x="121352" y="1616551"/>
                  </a:lnTo>
                  <a:lnTo>
                    <a:pt x="83198" y="1613400"/>
                  </a:lnTo>
                  <a:lnTo>
                    <a:pt x="45581" y="1607058"/>
                  </a:lnTo>
                  <a:lnTo>
                    <a:pt x="17895" y="1579371"/>
                  </a:lnTo>
                  <a:lnTo>
                    <a:pt x="0" y="1518296"/>
                  </a:lnTo>
                  <a:lnTo>
                    <a:pt x="845" y="1460436"/>
                  </a:lnTo>
                  <a:lnTo>
                    <a:pt x="10215" y="1410100"/>
                  </a:lnTo>
                  <a:lnTo>
                    <a:pt x="17895" y="1371600"/>
                  </a:lnTo>
                  <a:close/>
                </a:path>
              </a:pathLst>
            </a:custGeom>
            <a:ln w="25400">
              <a:solidFill>
                <a:srgbClr val="00AF50"/>
              </a:solidFill>
            </a:ln>
          </p:spPr>
          <p:txBody>
            <a:bodyPr wrap="square" lIns="0" tIns="0" rIns="0" bIns="0" rtlCol="0"/>
            <a:lstStyle/>
            <a:p>
              <a:endParaRPr/>
            </a:p>
          </p:txBody>
        </p:sp>
      </p:grpSp>
      <p:pic>
        <p:nvPicPr>
          <p:cNvPr id="22" name="object 31">
            <a:extLst>
              <a:ext uri="{FF2B5EF4-FFF2-40B4-BE49-F238E27FC236}">
                <a16:creationId xmlns:a16="http://schemas.microsoft.com/office/drawing/2014/main" id="{4900E6EE-27E5-4134-879E-BE27D30B9B70}"/>
              </a:ext>
            </a:extLst>
          </p:cNvPr>
          <p:cNvPicPr/>
          <p:nvPr/>
        </p:nvPicPr>
        <p:blipFill>
          <a:blip r:embed="rId2" cstate="print"/>
          <a:stretch>
            <a:fillRect/>
          </a:stretch>
        </p:blipFill>
        <p:spPr>
          <a:xfrm>
            <a:off x="6659868" y="2300134"/>
            <a:ext cx="2523678" cy="2702591"/>
          </a:xfrm>
          <a:prstGeom prst="rect">
            <a:avLst/>
          </a:prstGeom>
        </p:spPr>
      </p:pic>
      <p:pic>
        <p:nvPicPr>
          <p:cNvPr id="23" name="object 15">
            <a:extLst>
              <a:ext uri="{FF2B5EF4-FFF2-40B4-BE49-F238E27FC236}">
                <a16:creationId xmlns:a16="http://schemas.microsoft.com/office/drawing/2014/main" id="{E42B2D54-67ED-47CE-8FFC-5D380A7718DE}"/>
              </a:ext>
            </a:extLst>
          </p:cNvPr>
          <p:cNvPicPr/>
          <p:nvPr/>
        </p:nvPicPr>
        <p:blipFill>
          <a:blip r:embed="rId3" cstate="print"/>
          <a:stretch>
            <a:fillRect/>
          </a:stretch>
        </p:blipFill>
        <p:spPr>
          <a:xfrm>
            <a:off x="5393561" y="3444536"/>
            <a:ext cx="99918" cy="139492"/>
          </a:xfrm>
          <a:prstGeom prst="rect">
            <a:avLst/>
          </a:prstGeom>
        </p:spPr>
      </p:pic>
      <p:pic>
        <p:nvPicPr>
          <p:cNvPr id="25" name="object 15">
            <a:extLst>
              <a:ext uri="{FF2B5EF4-FFF2-40B4-BE49-F238E27FC236}">
                <a16:creationId xmlns:a16="http://schemas.microsoft.com/office/drawing/2014/main" id="{F35EF906-6555-4A8B-B802-133C0043A09B}"/>
              </a:ext>
            </a:extLst>
          </p:cNvPr>
          <p:cNvPicPr/>
          <p:nvPr/>
        </p:nvPicPr>
        <p:blipFill>
          <a:blip r:embed="rId3" cstate="print"/>
          <a:stretch>
            <a:fillRect/>
          </a:stretch>
        </p:blipFill>
        <p:spPr>
          <a:xfrm>
            <a:off x="5493478" y="3609842"/>
            <a:ext cx="130205" cy="152400"/>
          </a:xfrm>
          <a:prstGeom prst="rect">
            <a:avLst/>
          </a:prstGeom>
        </p:spPr>
      </p:pic>
      <p:pic>
        <p:nvPicPr>
          <p:cNvPr id="26" name="object 15">
            <a:extLst>
              <a:ext uri="{FF2B5EF4-FFF2-40B4-BE49-F238E27FC236}">
                <a16:creationId xmlns:a16="http://schemas.microsoft.com/office/drawing/2014/main" id="{9CEAE515-FB9C-4FBD-871F-7983AA46A615}"/>
              </a:ext>
            </a:extLst>
          </p:cNvPr>
          <p:cNvPicPr/>
          <p:nvPr/>
        </p:nvPicPr>
        <p:blipFill>
          <a:blip r:embed="rId3" cstate="print"/>
          <a:stretch>
            <a:fillRect/>
          </a:stretch>
        </p:blipFill>
        <p:spPr>
          <a:xfrm>
            <a:off x="5825287" y="3074120"/>
            <a:ext cx="130206" cy="152400"/>
          </a:xfrm>
          <a:prstGeom prst="rect">
            <a:avLst/>
          </a:prstGeom>
        </p:spPr>
      </p:pic>
      <p:pic>
        <p:nvPicPr>
          <p:cNvPr id="27" name="object 15">
            <a:extLst>
              <a:ext uri="{FF2B5EF4-FFF2-40B4-BE49-F238E27FC236}">
                <a16:creationId xmlns:a16="http://schemas.microsoft.com/office/drawing/2014/main" id="{23D47A48-5F2C-4B01-981F-C03450930E1C}"/>
              </a:ext>
            </a:extLst>
          </p:cNvPr>
          <p:cNvPicPr/>
          <p:nvPr/>
        </p:nvPicPr>
        <p:blipFill>
          <a:blip r:embed="rId3" cstate="print"/>
          <a:stretch>
            <a:fillRect/>
          </a:stretch>
        </p:blipFill>
        <p:spPr>
          <a:xfrm>
            <a:off x="5676167" y="3409920"/>
            <a:ext cx="152400" cy="152401"/>
          </a:xfrm>
          <a:prstGeom prst="rect">
            <a:avLst/>
          </a:prstGeom>
        </p:spPr>
      </p:pic>
      <p:pic>
        <p:nvPicPr>
          <p:cNvPr id="29" name="object 15">
            <a:extLst>
              <a:ext uri="{FF2B5EF4-FFF2-40B4-BE49-F238E27FC236}">
                <a16:creationId xmlns:a16="http://schemas.microsoft.com/office/drawing/2014/main" id="{6DC991EE-EEE4-4DC5-9990-F27511723E9F}"/>
              </a:ext>
            </a:extLst>
          </p:cNvPr>
          <p:cNvPicPr/>
          <p:nvPr/>
        </p:nvPicPr>
        <p:blipFill>
          <a:blip r:embed="rId3" cstate="print"/>
          <a:stretch>
            <a:fillRect/>
          </a:stretch>
        </p:blipFill>
        <p:spPr>
          <a:xfrm>
            <a:off x="5850761" y="3901736"/>
            <a:ext cx="119108" cy="152400"/>
          </a:xfrm>
          <a:prstGeom prst="rect">
            <a:avLst/>
          </a:prstGeom>
        </p:spPr>
      </p:pic>
      <p:pic>
        <p:nvPicPr>
          <p:cNvPr id="30" name="object 15">
            <a:extLst>
              <a:ext uri="{FF2B5EF4-FFF2-40B4-BE49-F238E27FC236}">
                <a16:creationId xmlns:a16="http://schemas.microsoft.com/office/drawing/2014/main" id="{9495193F-2BD1-487B-8F4A-4E37CB7D21FB}"/>
              </a:ext>
            </a:extLst>
          </p:cNvPr>
          <p:cNvPicPr/>
          <p:nvPr/>
        </p:nvPicPr>
        <p:blipFill>
          <a:blip r:embed="rId3" cstate="print"/>
          <a:stretch>
            <a:fillRect/>
          </a:stretch>
        </p:blipFill>
        <p:spPr>
          <a:xfrm>
            <a:off x="5645878" y="3762242"/>
            <a:ext cx="130205" cy="152400"/>
          </a:xfrm>
          <a:prstGeom prst="rect">
            <a:avLst/>
          </a:prstGeom>
        </p:spPr>
      </p:pic>
      <p:pic>
        <p:nvPicPr>
          <p:cNvPr id="31" name="object 15">
            <a:extLst>
              <a:ext uri="{FF2B5EF4-FFF2-40B4-BE49-F238E27FC236}">
                <a16:creationId xmlns:a16="http://schemas.microsoft.com/office/drawing/2014/main" id="{5380D123-965E-4919-BA55-96B53DC98509}"/>
              </a:ext>
            </a:extLst>
          </p:cNvPr>
          <p:cNvPicPr/>
          <p:nvPr/>
        </p:nvPicPr>
        <p:blipFill>
          <a:blip r:embed="rId3" cstate="print"/>
          <a:stretch>
            <a:fillRect/>
          </a:stretch>
        </p:blipFill>
        <p:spPr>
          <a:xfrm>
            <a:off x="5854422" y="3609842"/>
            <a:ext cx="130206" cy="152400"/>
          </a:xfrm>
          <a:prstGeom prst="rect">
            <a:avLst/>
          </a:prstGeom>
        </p:spPr>
      </p:pic>
      <p:pic>
        <p:nvPicPr>
          <p:cNvPr id="32" name="object 15">
            <a:extLst>
              <a:ext uri="{FF2B5EF4-FFF2-40B4-BE49-F238E27FC236}">
                <a16:creationId xmlns:a16="http://schemas.microsoft.com/office/drawing/2014/main" id="{0BB5AB4E-7C39-4E72-9B11-39D27BE8EF70}"/>
              </a:ext>
            </a:extLst>
          </p:cNvPr>
          <p:cNvPicPr/>
          <p:nvPr/>
        </p:nvPicPr>
        <p:blipFill>
          <a:blip r:embed="rId3" cstate="print"/>
          <a:stretch>
            <a:fillRect/>
          </a:stretch>
        </p:blipFill>
        <p:spPr>
          <a:xfrm>
            <a:off x="5987037" y="2820957"/>
            <a:ext cx="130206" cy="152400"/>
          </a:xfrm>
          <a:prstGeom prst="rect">
            <a:avLst/>
          </a:prstGeom>
        </p:spPr>
      </p:pic>
      <p:pic>
        <p:nvPicPr>
          <p:cNvPr id="33" name="object 15">
            <a:extLst>
              <a:ext uri="{FF2B5EF4-FFF2-40B4-BE49-F238E27FC236}">
                <a16:creationId xmlns:a16="http://schemas.microsoft.com/office/drawing/2014/main" id="{D68B8C22-72A1-4DAC-BE3A-EF6447B4CCA1}"/>
              </a:ext>
            </a:extLst>
          </p:cNvPr>
          <p:cNvPicPr/>
          <p:nvPr/>
        </p:nvPicPr>
        <p:blipFill>
          <a:blip r:embed="rId3" cstate="print"/>
          <a:stretch>
            <a:fillRect/>
          </a:stretch>
        </p:blipFill>
        <p:spPr>
          <a:xfrm>
            <a:off x="5282727" y="3792852"/>
            <a:ext cx="130206" cy="152400"/>
          </a:xfrm>
          <a:prstGeom prst="rect">
            <a:avLst/>
          </a:prstGeom>
        </p:spPr>
      </p:pic>
      <p:pic>
        <p:nvPicPr>
          <p:cNvPr id="34" name="object 15">
            <a:extLst>
              <a:ext uri="{FF2B5EF4-FFF2-40B4-BE49-F238E27FC236}">
                <a16:creationId xmlns:a16="http://schemas.microsoft.com/office/drawing/2014/main" id="{371D96CC-9571-4379-83B1-874DF90BFA62}"/>
              </a:ext>
            </a:extLst>
          </p:cNvPr>
          <p:cNvPicPr/>
          <p:nvPr/>
        </p:nvPicPr>
        <p:blipFill>
          <a:blip r:embed="rId3" cstate="print"/>
          <a:stretch>
            <a:fillRect/>
          </a:stretch>
        </p:blipFill>
        <p:spPr>
          <a:xfrm>
            <a:off x="5977687" y="3226520"/>
            <a:ext cx="130206" cy="152400"/>
          </a:xfrm>
          <a:prstGeom prst="rect">
            <a:avLst/>
          </a:prstGeom>
        </p:spPr>
      </p:pic>
      <p:sp>
        <p:nvSpPr>
          <p:cNvPr id="35" name="object 32">
            <a:extLst>
              <a:ext uri="{FF2B5EF4-FFF2-40B4-BE49-F238E27FC236}">
                <a16:creationId xmlns:a16="http://schemas.microsoft.com/office/drawing/2014/main" id="{282520BA-6D67-4A0F-98AE-41BC98DA4971}"/>
              </a:ext>
            </a:extLst>
          </p:cNvPr>
          <p:cNvSpPr/>
          <p:nvPr/>
        </p:nvSpPr>
        <p:spPr>
          <a:xfrm>
            <a:off x="4022893" y="2956568"/>
            <a:ext cx="1219200" cy="381000"/>
          </a:xfrm>
          <a:custGeom>
            <a:avLst/>
            <a:gdLst/>
            <a:ahLst/>
            <a:cxnLst/>
            <a:rect l="l" t="t" r="r" b="b"/>
            <a:pathLst>
              <a:path w="1219200" h="381000">
                <a:moveTo>
                  <a:pt x="0" y="0"/>
                </a:moveTo>
                <a:lnTo>
                  <a:pt x="1219200" y="381000"/>
                </a:lnTo>
              </a:path>
            </a:pathLst>
          </a:custGeom>
          <a:ln w="12700">
            <a:solidFill>
              <a:srgbClr val="0000FF"/>
            </a:solidFill>
          </a:ln>
        </p:spPr>
        <p:txBody>
          <a:bodyPr wrap="square" lIns="0" tIns="0" rIns="0" bIns="0" rtlCol="0"/>
          <a:lstStyle/>
          <a:p>
            <a:endParaRPr dirty="0"/>
          </a:p>
        </p:txBody>
      </p:sp>
      <p:sp>
        <p:nvSpPr>
          <p:cNvPr id="36" name="object 33">
            <a:extLst>
              <a:ext uri="{FF2B5EF4-FFF2-40B4-BE49-F238E27FC236}">
                <a16:creationId xmlns:a16="http://schemas.microsoft.com/office/drawing/2014/main" id="{109C934A-E96F-412A-926D-F5D0D62219A7}"/>
              </a:ext>
            </a:extLst>
          </p:cNvPr>
          <p:cNvSpPr txBox="1"/>
          <p:nvPr/>
        </p:nvSpPr>
        <p:spPr>
          <a:xfrm>
            <a:off x="3465055" y="2551304"/>
            <a:ext cx="974090"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00FF"/>
                </a:solidFill>
                <a:latin typeface="Times New Roman"/>
                <a:cs typeface="Times New Roman"/>
              </a:rPr>
              <a:t>cluster</a:t>
            </a:r>
            <a:endParaRPr sz="2800" dirty="0">
              <a:latin typeface="Times New Roman"/>
              <a:cs typeface="Times New Roman"/>
            </a:endParaRPr>
          </a:p>
        </p:txBody>
      </p:sp>
      <p:sp>
        <p:nvSpPr>
          <p:cNvPr id="37" name="object 38">
            <a:extLst>
              <a:ext uri="{FF2B5EF4-FFF2-40B4-BE49-F238E27FC236}">
                <a16:creationId xmlns:a16="http://schemas.microsoft.com/office/drawing/2014/main" id="{9A2833A8-C2A8-4077-9C8E-537C7034E9D6}"/>
              </a:ext>
            </a:extLst>
          </p:cNvPr>
          <p:cNvSpPr txBox="1"/>
          <p:nvPr/>
        </p:nvSpPr>
        <p:spPr>
          <a:xfrm>
            <a:off x="10553957" y="4759579"/>
            <a:ext cx="953769" cy="944244"/>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FF0000"/>
                </a:solidFill>
                <a:latin typeface="Times New Roman"/>
                <a:cs typeface="Times New Roman"/>
              </a:rPr>
              <a:t>outlier</a:t>
            </a:r>
            <a:endParaRPr sz="2800" dirty="0">
              <a:latin typeface="Times New Roman"/>
              <a:cs typeface="Times New Roman"/>
            </a:endParaRPr>
          </a:p>
          <a:p>
            <a:pPr marL="149225">
              <a:lnSpc>
                <a:spcPct val="100000"/>
              </a:lnSpc>
              <a:spcBef>
                <a:spcPts val="1475"/>
              </a:spcBef>
            </a:pPr>
            <a:r>
              <a:rPr sz="2000" dirty="0">
                <a:solidFill>
                  <a:srgbClr val="008000"/>
                </a:solidFill>
                <a:latin typeface="Times New Roman"/>
                <a:cs typeface="Times New Roman"/>
              </a:rPr>
              <a:t>age</a:t>
            </a:r>
            <a:endParaRPr sz="2000" dirty="0">
              <a:latin typeface="Times New Roman"/>
              <a:cs typeface="Times New Roman"/>
            </a:endParaRPr>
          </a:p>
        </p:txBody>
      </p:sp>
      <p:sp>
        <p:nvSpPr>
          <p:cNvPr id="38" name="object 37">
            <a:extLst>
              <a:ext uri="{FF2B5EF4-FFF2-40B4-BE49-F238E27FC236}">
                <a16:creationId xmlns:a16="http://schemas.microsoft.com/office/drawing/2014/main" id="{751D144A-7CDD-492A-9A71-0414AD139DF6}"/>
              </a:ext>
            </a:extLst>
          </p:cNvPr>
          <p:cNvSpPr txBox="1">
            <a:spLocks/>
          </p:cNvSpPr>
          <p:nvPr/>
        </p:nvSpPr>
        <p:spPr>
          <a:xfrm>
            <a:off x="4102136" y="895161"/>
            <a:ext cx="632460" cy="330835"/>
          </a:xfrm>
          <a:prstGeom prst="rect">
            <a:avLst/>
          </a:prstGeom>
        </p:spPr>
        <p:txBody>
          <a:bodyPr vert="horz" wrap="square" lIns="0" tIns="13335" rIns="0" bIns="0" rtlCol="0" anchor="ctr">
            <a:sp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marL="12700">
              <a:lnSpc>
                <a:spcPct val="100000"/>
              </a:lnSpc>
              <a:spcBef>
                <a:spcPts val="105"/>
              </a:spcBef>
            </a:pPr>
            <a:r>
              <a:rPr lang="en-IN" sz="2000">
                <a:solidFill>
                  <a:srgbClr val="008000"/>
                </a:solidFill>
                <a:latin typeface="Times New Roman"/>
                <a:cs typeface="Times New Roman"/>
              </a:rPr>
              <a:t>sa</a:t>
            </a:r>
            <a:r>
              <a:rPr lang="en-IN" sz="2000" spc="-10">
                <a:solidFill>
                  <a:srgbClr val="008000"/>
                </a:solidFill>
                <a:latin typeface="Times New Roman"/>
                <a:cs typeface="Times New Roman"/>
              </a:rPr>
              <a:t>l</a:t>
            </a:r>
            <a:r>
              <a:rPr lang="en-IN" sz="2000">
                <a:solidFill>
                  <a:srgbClr val="008000"/>
                </a:solidFill>
                <a:latin typeface="Times New Roman"/>
                <a:cs typeface="Times New Roman"/>
              </a:rPr>
              <a:t>ary</a:t>
            </a:r>
            <a:endParaRPr lang="en-IN" sz="2000" dirty="0">
              <a:latin typeface="Times New Roman"/>
              <a:cs typeface="Times New Roman"/>
            </a:endParaRPr>
          </a:p>
        </p:txBody>
      </p:sp>
    </p:spTree>
    <p:extLst>
      <p:ext uri="{BB962C8B-B14F-4D97-AF65-F5344CB8AC3E}">
        <p14:creationId xmlns:p14="http://schemas.microsoft.com/office/powerpoint/2010/main" val="604916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5E2EB-75FD-42A8-8A54-92A23DB80894}"/>
              </a:ext>
            </a:extLst>
          </p:cNvPr>
          <p:cNvSpPr>
            <a:spLocks noGrp="1"/>
          </p:cNvSpPr>
          <p:nvPr>
            <p:ph type="title"/>
          </p:nvPr>
        </p:nvSpPr>
        <p:spPr/>
        <p:txBody>
          <a:bodyPr/>
          <a:lstStyle/>
          <a:p>
            <a:r>
              <a:rPr lang="en-US" dirty="0"/>
              <a:t>Regression</a:t>
            </a:r>
            <a:endParaRPr lang="en-IN" dirty="0"/>
          </a:p>
        </p:txBody>
      </p:sp>
      <p:sp>
        <p:nvSpPr>
          <p:cNvPr id="3" name="Content Placeholder 2">
            <a:extLst>
              <a:ext uri="{FF2B5EF4-FFF2-40B4-BE49-F238E27FC236}">
                <a16:creationId xmlns:a16="http://schemas.microsoft.com/office/drawing/2014/main" id="{5A513DF0-F34B-4C55-8282-85C74AA67C43}"/>
              </a:ext>
            </a:extLst>
          </p:cNvPr>
          <p:cNvSpPr>
            <a:spLocks noGrp="1"/>
          </p:cNvSpPr>
          <p:nvPr>
            <p:ph idx="1"/>
          </p:nvPr>
        </p:nvSpPr>
        <p:spPr/>
        <p:txBody>
          <a:bodyPr/>
          <a:lstStyle/>
          <a:p>
            <a:pPr marL="294005" marR="5080" indent="-281940" algn="just">
              <a:lnSpc>
                <a:spcPct val="90000"/>
              </a:lnSpc>
              <a:spcBef>
                <a:spcPts val="359"/>
              </a:spcBef>
              <a:buSzPct val="79545"/>
              <a:buFont typeface="Wingdings"/>
              <a:buChar char=""/>
              <a:tabLst>
                <a:tab pos="294640" algn="l"/>
              </a:tabLst>
            </a:pPr>
            <a:r>
              <a:rPr lang="en-US" sz="2000" spc="-5" dirty="0">
                <a:latin typeface="Cambria"/>
                <a:cs typeface="Cambria"/>
              </a:rPr>
              <a:t>Data</a:t>
            </a:r>
            <a:r>
              <a:rPr lang="en-US" sz="2000" dirty="0">
                <a:latin typeface="Cambria"/>
                <a:cs typeface="Cambria"/>
              </a:rPr>
              <a:t> </a:t>
            </a:r>
            <a:r>
              <a:rPr lang="en-US" sz="2000" spc="-5" dirty="0">
                <a:latin typeface="Cambria"/>
                <a:cs typeface="Cambria"/>
              </a:rPr>
              <a:t>can</a:t>
            </a:r>
            <a:r>
              <a:rPr lang="en-US" sz="2000" dirty="0">
                <a:latin typeface="Cambria"/>
                <a:cs typeface="Cambria"/>
              </a:rPr>
              <a:t> be</a:t>
            </a:r>
            <a:r>
              <a:rPr lang="en-US" sz="2000" spc="5" dirty="0">
                <a:latin typeface="Cambria"/>
                <a:cs typeface="Cambria"/>
              </a:rPr>
              <a:t> </a:t>
            </a:r>
            <a:r>
              <a:rPr lang="en-US" sz="2000" spc="-5" dirty="0">
                <a:latin typeface="Cambria"/>
                <a:cs typeface="Cambria"/>
              </a:rPr>
              <a:t>smoothed</a:t>
            </a:r>
            <a:r>
              <a:rPr lang="en-US" sz="2000" dirty="0">
                <a:latin typeface="Cambria"/>
                <a:cs typeface="Cambria"/>
              </a:rPr>
              <a:t> </a:t>
            </a:r>
            <a:r>
              <a:rPr lang="en-US" sz="2000" spc="-25" dirty="0">
                <a:latin typeface="Cambria"/>
                <a:cs typeface="Cambria"/>
              </a:rPr>
              <a:t>by</a:t>
            </a:r>
            <a:r>
              <a:rPr lang="en-US" sz="2000" spc="-20" dirty="0">
                <a:latin typeface="Cambria"/>
                <a:cs typeface="Cambria"/>
              </a:rPr>
              <a:t> </a:t>
            </a:r>
            <a:r>
              <a:rPr lang="en-US" sz="2000" spc="-5" dirty="0">
                <a:latin typeface="Cambria"/>
                <a:cs typeface="Cambria"/>
              </a:rPr>
              <a:t>fitting</a:t>
            </a:r>
            <a:r>
              <a:rPr lang="en-US" sz="2000" dirty="0">
                <a:latin typeface="Cambria"/>
                <a:cs typeface="Cambria"/>
              </a:rPr>
              <a:t> the</a:t>
            </a:r>
            <a:r>
              <a:rPr lang="en-US" sz="2000" spc="5" dirty="0">
                <a:latin typeface="Cambria"/>
                <a:cs typeface="Cambria"/>
              </a:rPr>
              <a:t> </a:t>
            </a:r>
            <a:r>
              <a:rPr lang="en-US" sz="2000" dirty="0">
                <a:latin typeface="Cambria"/>
                <a:cs typeface="Cambria"/>
              </a:rPr>
              <a:t>data</a:t>
            </a:r>
            <a:r>
              <a:rPr lang="en-US" sz="2000" spc="5" dirty="0">
                <a:latin typeface="Cambria"/>
                <a:cs typeface="Cambria"/>
              </a:rPr>
              <a:t> </a:t>
            </a:r>
            <a:r>
              <a:rPr lang="en-US" sz="2000" spc="-10" dirty="0">
                <a:latin typeface="Cambria"/>
                <a:cs typeface="Cambria"/>
              </a:rPr>
              <a:t>into</a:t>
            </a:r>
            <a:r>
              <a:rPr lang="en-US" sz="2000" spc="-5" dirty="0">
                <a:latin typeface="Cambria"/>
                <a:cs typeface="Cambria"/>
              </a:rPr>
              <a:t> </a:t>
            </a:r>
            <a:r>
              <a:rPr lang="en-US" sz="2000" spc="-10" dirty="0">
                <a:latin typeface="Cambria"/>
                <a:cs typeface="Cambria"/>
              </a:rPr>
              <a:t>regression </a:t>
            </a:r>
            <a:r>
              <a:rPr lang="en-US" sz="2000" spc="-475" dirty="0">
                <a:latin typeface="Cambria"/>
                <a:cs typeface="Cambria"/>
              </a:rPr>
              <a:t> </a:t>
            </a:r>
            <a:r>
              <a:rPr lang="en-US" sz="2000" spc="-5" dirty="0">
                <a:latin typeface="Cambria"/>
                <a:cs typeface="Cambria"/>
              </a:rPr>
              <a:t>functions. Linear </a:t>
            </a:r>
            <a:r>
              <a:rPr lang="en-US" sz="2000" spc="-10" dirty="0">
                <a:latin typeface="Cambria"/>
                <a:cs typeface="Cambria"/>
              </a:rPr>
              <a:t>regression </a:t>
            </a:r>
            <a:r>
              <a:rPr lang="en-US" sz="2000" spc="-25" dirty="0">
                <a:latin typeface="Cambria"/>
                <a:cs typeface="Cambria"/>
              </a:rPr>
              <a:t>involves </a:t>
            </a:r>
            <a:r>
              <a:rPr lang="en-US" sz="2000" spc="-5" dirty="0">
                <a:latin typeface="Cambria"/>
                <a:cs typeface="Cambria"/>
              </a:rPr>
              <a:t>finding the “best” line </a:t>
            </a:r>
            <a:r>
              <a:rPr lang="en-US" sz="2000" dirty="0">
                <a:latin typeface="Cambria"/>
                <a:cs typeface="Cambria"/>
              </a:rPr>
              <a:t> </a:t>
            </a:r>
            <a:r>
              <a:rPr lang="en-US" sz="2000" spc="-15" dirty="0">
                <a:latin typeface="Cambria"/>
                <a:cs typeface="Cambria"/>
              </a:rPr>
              <a:t>to </a:t>
            </a:r>
            <a:r>
              <a:rPr lang="en-US" sz="2000" dirty="0">
                <a:latin typeface="Cambria"/>
                <a:cs typeface="Cambria"/>
              </a:rPr>
              <a:t>fit </a:t>
            </a:r>
            <a:r>
              <a:rPr lang="en-US" sz="2000" spc="-15" dirty="0">
                <a:latin typeface="Cambria"/>
                <a:cs typeface="Cambria"/>
              </a:rPr>
              <a:t>two </a:t>
            </a:r>
            <a:r>
              <a:rPr lang="en-US" sz="2000" spc="-5" dirty="0">
                <a:latin typeface="Cambria"/>
                <a:cs typeface="Cambria"/>
              </a:rPr>
              <a:t>attributes (or </a:t>
            </a:r>
            <a:r>
              <a:rPr lang="en-US" sz="2000" spc="-10" dirty="0">
                <a:latin typeface="Cambria"/>
                <a:cs typeface="Cambria"/>
              </a:rPr>
              <a:t>variables), </a:t>
            </a:r>
            <a:r>
              <a:rPr lang="en-US" sz="2000" spc="-5" dirty="0">
                <a:latin typeface="Cambria"/>
                <a:cs typeface="Cambria"/>
              </a:rPr>
              <a:t>so that </a:t>
            </a:r>
            <a:r>
              <a:rPr lang="en-US" sz="2000" spc="-10" dirty="0">
                <a:latin typeface="Cambria"/>
                <a:cs typeface="Cambria"/>
              </a:rPr>
              <a:t>one </a:t>
            </a:r>
            <a:r>
              <a:rPr lang="en-US" sz="2000" spc="-5" dirty="0">
                <a:latin typeface="Cambria"/>
                <a:cs typeface="Cambria"/>
              </a:rPr>
              <a:t>attribute can </a:t>
            </a:r>
            <a:r>
              <a:rPr lang="en-US" sz="2000" dirty="0">
                <a:latin typeface="Cambria"/>
                <a:cs typeface="Cambria"/>
              </a:rPr>
              <a:t> </a:t>
            </a:r>
            <a:r>
              <a:rPr lang="en-US" sz="2000" spc="-5" dirty="0">
                <a:latin typeface="Cambria"/>
                <a:cs typeface="Cambria"/>
              </a:rPr>
              <a:t>be</a:t>
            </a:r>
            <a:r>
              <a:rPr lang="en-US" sz="2000" spc="-15" dirty="0">
                <a:latin typeface="Cambria"/>
                <a:cs typeface="Cambria"/>
              </a:rPr>
              <a:t> </a:t>
            </a:r>
            <a:r>
              <a:rPr lang="en-US" sz="2000" spc="-10" dirty="0">
                <a:latin typeface="Cambria"/>
                <a:cs typeface="Cambria"/>
              </a:rPr>
              <a:t>used</a:t>
            </a:r>
            <a:r>
              <a:rPr lang="en-US" sz="2000" spc="25" dirty="0">
                <a:latin typeface="Cambria"/>
                <a:cs typeface="Cambria"/>
              </a:rPr>
              <a:t> </a:t>
            </a:r>
            <a:r>
              <a:rPr lang="en-US" sz="2000" spc="-15" dirty="0">
                <a:latin typeface="Cambria"/>
                <a:cs typeface="Cambria"/>
              </a:rPr>
              <a:t>to</a:t>
            </a:r>
            <a:r>
              <a:rPr lang="en-US" sz="2000" spc="5" dirty="0">
                <a:latin typeface="Cambria"/>
                <a:cs typeface="Cambria"/>
              </a:rPr>
              <a:t> </a:t>
            </a:r>
            <a:r>
              <a:rPr lang="en-US" sz="2000" spc="-10" dirty="0">
                <a:latin typeface="Cambria"/>
                <a:cs typeface="Cambria"/>
              </a:rPr>
              <a:t>predict</a:t>
            </a:r>
            <a:r>
              <a:rPr lang="en-US" sz="2000" spc="35" dirty="0">
                <a:latin typeface="Cambria"/>
                <a:cs typeface="Cambria"/>
              </a:rPr>
              <a:t> </a:t>
            </a:r>
            <a:r>
              <a:rPr lang="en-US" sz="2000" spc="-10" dirty="0">
                <a:latin typeface="Cambria"/>
                <a:cs typeface="Cambria"/>
              </a:rPr>
              <a:t>the</a:t>
            </a:r>
            <a:r>
              <a:rPr lang="en-US" sz="2000" spc="5" dirty="0">
                <a:latin typeface="Cambria"/>
                <a:cs typeface="Cambria"/>
              </a:rPr>
              <a:t> </a:t>
            </a:r>
            <a:r>
              <a:rPr lang="en-US" sz="2000" spc="-40" dirty="0">
                <a:latin typeface="Cambria"/>
                <a:cs typeface="Cambria"/>
              </a:rPr>
              <a:t>other.</a:t>
            </a:r>
            <a:endParaRPr lang="en-US" sz="2000" dirty="0">
              <a:latin typeface="Cambria"/>
              <a:cs typeface="Cambria"/>
            </a:endParaRPr>
          </a:p>
          <a:p>
            <a:pPr marL="294005" marR="6350" indent="-281940" algn="just">
              <a:lnSpc>
                <a:spcPts val="2380"/>
              </a:lnSpc>
              <a:spcBef>
                <a:spcPts val="560"/>
              </a:spcBef>
              <a:buSzPct val="79545"/>
              <a:buFont typeface="Wingdings"/>
              <a:buChar char=""/>
              <a:tabLst>
                <a:tab pos="294640" algn="l"/>
              </a:tabLst>
            </a:pPr>
            <a:r>
              <a:rPr lang="en-US" sz="2000" spc="-5" dirty="0">
                <a:latin typeface="Cambria"/>
                <a:cs typeface="Cambria"/>
              </a:rPr>
              <a:t>Multiple</a:t>
            </a:r>
            <a:r>
              <a:rPr lang="en-US" sz="2000" dirty="0">
                <a:latin typeface="Cambria"/>
                <a:cs typeface="Cambria"/>
              </a:rPr>
              <a:t> </a:t>
            </a:r>
            <a:r>
              <a:rPr lang="en-US" sz="2000" spc="-5" dirty="0">
                <a:latin typeface="Cambria"/>
                <a:cs typeface="Cambria"/>
              </a:rPr>
              <a:t>Linear</a:t>
            </a:r>
            <a:r>
              <a:rPr lang="en-US" sz="2000" dirty="0">
                <a:latin typeface="Cambria"/>
                <a:cs typeface="Cambria"/>
              </a:rPr>
              <a:t> </a:t>
            </a:r>
            <a:r>
              <a:rPr lang="en-US" sz="2000" spc="-10" dirty="0">
                <a:latin typeface="Cambria"/>
                <a:cs typeface="Cambria"/>
              </a:rPr>
              <a:t>regression</a:t>
            </a:r>
            <a:r>
              <a:rPr lang="en-US" sz="2000" spc="-5" dirty="0">
                <a:latin typeface="Cambria"/>
                <a:cs typeface="Cambria"/>
              </a:rPr>
              <a:t> is</a:t>
            </a:r>
            <a:r>
              <a:rPr lang="en-US" sz="2000" dirty="0">
                <a:latin typeface="Cambria"/>
                <a:cs typeface="Cambria"/>
              </a:rPr>
              <a:t> </a:t>
            </a:r>
            <a:r>
              <a:rPr lang="en-US" sz="2000" spc="-5" dirty="0">
                <a:latin typeface="Cambria"/>
                <a:cs typeface="Cambria"/>
              </a:rPr>
              <a:t>an</a:t>
            </a:r>
            <a:r>
              <a:rPr lang="en-US" sz="2000" dirty="0">
                <a:latin typeface="Cambria"/>
                <a:cs typeface="Cambria"/>
              </a:rPr>
              <a:t> </a:t>
            </a:r>
            <a:r>
              <a:rPr lang="en-US" sz="2000" spc="-10" dirty="0">
                <a:latin typeface="Cambria"/>
                <a:cs typeface="Cambria"/>
              </a:rPr>
              <a:t>extension</a:t>
            </a:r>
            <a:r>
              <a:rPr lang="en-US" sz="2000" spc="-5" dirty="0">
                <a:latin typeface="Cambria"/>
                <a:cs typeface="Cambria"/>
              </a:rPr>
              <a:t> of</a:t>
            </a:r>
            <a:r>
              <a:rPr lang="en-US" sz="2000" dirty="0">
                <a:latin typeface="Cambria"/>
                <a:cs typeface="Cambria"/>
              </a:rPr>
              <a:t> </a:t>
            </a:r>
            <a:r>
              <a:rPr lang="en-US" sz="2000" spc="-5" dirty="0">
                <a:latin typeface="Cambria"/>
                <a:cs typeface="Cambria"/>
              </a:rPr>
              <a:t>linear </a:t>
            </a:r>
            <a:r>
              <a:rPr lang="en-US" sz="2000" dirty="0">
                <a:latin typeface="Cambria"/>
                <a:cs typeface="Cambria"/>
              </a:rPr>
              <a:t> </a:t>
            </a:r>
            <a:r>
              <a:rPr lang="en-US" sz="2000" spc="-10" dirty="0">
                <a:latin typeface="Cambria"/>
                <a:cs typeface="Cambria"/>
              </a:rPr>
              <a:t>regression,</a:t>
            </a:r>
            <a:r>
              <a:rPr lang="en-US" sz="2000" spc="-5" dirty="0">
                <a:latin typeface="Cambria"/>
                <a:cs typeface="Cambria"/>
              </a:rPr>
              <a:t> </a:t>
            </a:r>
            <a:r>
              <a:rPr lang="en-US" sz="2000" spc="-20" dirty="0">
                <a:latin typeface="Cambria"/>
                <a:cs typeface="Cambria"/>
              </a:rPr>
              <a:t>where</a:t>
            </a:r>
            <a:r>
              <a:rPr lang="en-US" sz="2000" spc="-15" dirty="0">
                <a:latin typeface="Cambria"/>
                <a:cs typeface="Cambria"/>
              </a:rPr>
              <a:t> more</a:t>
            </a:r>
            <a:r>
              <a:rPr lang="en-US" sz="2000" spc="-10" dirty="0">
                <a:latin typeface="Cambria"/>
                <a:cs typeface="Cambria"/>
              </a:rPr>
              <a:t> </a:t>
            </a:r>
            <a:r>
              <a:rPr lang="en-US" sz="2000" spc="-5" dirty="0">
                <a:latin typeface="Cambria"/>
                <a:cs typeface="Cambria"/>
              </a:rPr>
              <a:t>than</a:t>
            </a:r>
            <a:r>
              <a:rPr lang="en-US" sz="2000" dirty="0">
                <a:latin typeface="Cambria"/>
                <a:cs typeface="Cambria"/>
              </a:rPr>
              <a:t> </a:t>
            </a:r>
            <a:r>
              <a:rPr lang="en-US" sz="2000" spc="-15" dirty="0">
                <a:latin typeface="Cambria"/>
                <a:cs typeface="Cambria"/>
              </a:rPr>
              <a:t>two</a:t>
            </a:r>
            <a:r>
              <a:rPr lang="en-US" sz="2000" spc="-10" dirty="0">
                <a:latin typeface="Cambria"/>
                <a:cs typeface="Cambria"/>
              </a:rPr>
              <a:t> </a:t>
            </a:r>
            <a:r>
              <a:rPr lang="en-US" sz="2000" spc="-5" dirty="0">
                <a:latin typeface="Cambria"/>
                <a:cs typeface="Cambria"/>
              </a:rPr>
              <a:t>attributes</a:t>
            </a:r>
            <a:r>
              <a:rPr lang="en-US" sz="2000" spc="470" dirty="0">
                <a:latin typeface="Cambria"/>
                <a:cs typeface="Cambria"/>
              </a:rPr>
              <a:t> </a:t>
            </a:r>
            <a:r>
              <a:rPr lang="en-US" sz="2000" spc="-15" dirty="0">
                <a:latin typeface="Cambria"/>
                <a:cs typeface="Cambria"/>
              </a:rPr>
              <a:t>are</a:t>
            </a:r>
            <a:r>
              <a:rPr lang="en-US" sz="2000" spc="455" dirty="0">
                <a:latin typeface="Cambria"/>
                <a:cs typeface="Cambria"/>
              </a:rPr>
              <a:t> </a:t>
            </a:r>
            <a:r>
              <a:rPr lang="en-US" sz="2000" spc="-25" dirty="0">
                <a:latin typeface="Cambria"/>
                <a:cs typeface="Cambria"/>
              </a:rPr>
              <a:t>involved </a:t>
            </a:r>
            <a:r>
              <a:rPr lang="en-US" sz="2000" spc="-20" dirty="0">
                <a:latin typeface="Cambria"/>
                <a:cs typeface="Cambria"/>
              </a:rPr>
              <a:t> </a:t>
            </a:r>
            <a:r>
              <a:rPr lang="en-US" sz="2000" spc="-10" dirty="0">
                <a:latin typeface="Cambria"/>
                <a:cs typeface="Cambria"/>
              </a:rPr>
              <a:t>and </a:t>
            </a:r>
            <a:r>
              <a:rPr lang="en-US" sz="2000" spc="-5" dirty="0">
                <a:latin typeface="Cambria"/>
                <a:cs typeface="Cambria"/>
              </a:rPr>
              <a:t>the</a:t>
            </a:r>
            <a:r>
              <a:rPr lang="en-US" sz="2000" spc="15" dirty="0">
                <a:latin typeface="Cambria"/>
                <a:cs typeface="Cambria"/>
              </a:rPr>
              <a:t> </a:t>
            </a:r>
            <a:r>
              <a:rPr lang="en-US" sz="2000" spc="-5" dirty="0">
                <a:latin typeface="Cambria"/>
                <a:cs typeface="Cambria"/>
              </a:rPr>
              <a:t>data</a:t>
            </a:r>
            <a:r>
              <a:rPr lang="en-US" sz="2000" spc="10" dirty="0">
                <a:latin typeface="Cambria"/>
                <a:cs typeface="Cambria"/>
              </a:rPr>
              <a:t> </a:t>
            </a:r>
            <a:r>
              <a:rPr lang="en-US" sz="2000" spc="-20" dirty="0">
                <a:latin typeface="Cambria"/>
                <a:cs typeface="Cambria"/>
              </a:rPr>
              <a:t>are</a:t>
            </a:r>
            <a:r>
              <a:rPr lang="en-US" sz="2000" spc="25" dirty="0">
                <a:latin typeface="Cambria"/>
                <a:cs typeface="Cambria"/>
              </a:rPr>
              <a:t> </a:t>
            </a:r>
            <a:r>
              <a:rPr lang="en-US" sz="2000" spc="-5" dirty="0">
                <a:latin typeface="Cambria"/>
                <a:cs typeface="Cambria"/>
              </a:rPr>
              <a:t>fit</a:t>
            </a:r>
            <a:r>
              <a:rPr lang="en-US" sz="2000" dirty="0">
                <a:latin typeface="Cambria"/>
                <a:cs typeface="Cambria"/>
              </a:rPr>
              <a:t> </a:t>
            </a:r>
            <a:r>
              <a:rPr lang="en-US" sz="2000" spc="-15" dirty="0">
                <a:latin typeface="Cambria"/>
                <a:cs typeface="Cambria"/>
              </a:rPr>
              <a:t>to</a:t>
            </a:r>
            <a:r>
              <a:rPr lang="en-US" sz="2000" dirty="0">
                <a:latin typeface="Cambria"/>
                <a:cs typeface="Cambria"/>
              </a:rPr>
              <a:t> </a:t>
            </a:r>
            <a:r>
              <a:rPr lang="en-US" sz="2000" spc="-5" dirty="0">
                <a:latin typeface="Cambria"/>
                <a:cs typeface="Cambria"/>
              </a:rPr>
              <a:t>a</a:t>
            </a:r>
            <a:r>
              <a:rPr lang="en-US" sz="2000" spc="15" dirty="0">
                <a:latin typeface="Cambria"/>
                <a:cs typeface="Cambria"/>
              </a:rPr>
              <a:t> </a:t>
            </a:r>
            <a:r>
              <a:rPr lang="en-US" sz="2000" spc="-5" dirty="0">
                <a:latin typeface="Cambria"/>
                <a:cs typeface="Cambria"/>
              </a:rPr>
              <a:t>multidimensional</a:t>
            </a:r>
            <a:r>
              <a:rPr lang="en-US" sz="2000" spc="30" dirty="0">
                <a:latin typeface="Cambria"/>
                <a:cs typeface="Cambria"/>
              </a:rPr>
              <a:t> </a:t>
            </a:r>
            <a:r>
              <a:rPr lang="en-US" sz="2000" spc="-10" dirty="0">
                <a:latin typeface="Cambria"/>
                <a:cs typeface="Cambria"/>
              </a:rPr>
              <a:t>surface.</a:t>
            </a:r>
            <a:endParaRPr lang="en-US" sz="2000" dirty="0">
              <a:latin typeface="Cambria"/>
              <a:cs typeface="Cambria"/>
            </a:endParaRPr>
          </a:p>
        </p:txBody>
      </p:sp>
    </p:spTree>
    <p:extLst>
      <p:ext uri="{BB962C8B-B14F-4D97-AF65-F5344CB8AC3E}">
        <p14:creationId xmlns:p14="http://schemas.microsoft.com/office/powerpoint/2010/main" val="340746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A21E8-02AD-4731-B229-E178C3675A2A}"/>
              </a:ext>
            </a:extLst>
          </p:cNvPr>
          <p:cNvSpPr>
            <a:spLocks noGrp="1"/>
          </p:cNvSpPr>
          <p:nvPr>
            <p:ph type="title"/>
          </p:nvPr>
        </p:nvSpPr>
        <p:spPr/>
        <p:txBody>
          <a:bodyPr/>
          <a:lstStyle/>
          <a:p>
            <a:r>
              <a:rPr lang="en-US" dirty="0"/>
              <a:t>a. Linear Regression</a:t>
            </a:r>
            <a:endParaRPr lang="en-IN" dirty="0"/>
          </a:p>
        </p:txBody>
      </p:sp>
      <p:sp>
        <p:nvSpPr>
          <p:cNvPr id="4" name="object 36">
            <a:extLst>
              <a:ext uri="{FF2B5EF4-FFF2-40B4-BE49-F238E27FC236}">
                <a16:creationId xmlns:a16="http://schemas.microsoft.com/office/drawing/2014/main" id="{B108F4BF-17FD-4879-9C04-CFBFAC7622CB}"/>
              </a:ext>
            </a:extLst>
          </p:cNvPr>
          <p:cNvSpPr txBox="1">
            <a:spLocks noGrp="1"/>
          </p:cNvSpPr>
          <p:nvPr>
            <p:ph idx="1"/>
          </p:nvPr>
        </p:nvSpPr>
        <p:spPr>
          <a:xfrm>
            <a:off x="3868738" y="863600"/>
            <a:ext cx="7315200" cy="512127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Example</a:t>
            </a:r>
            <a:r>
              <a:rPr sz="1800" spc="-30"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dirty="0">
                <a:latin typeface="Times New Roman"/>
                <a:cs typeface="Times New Roman"/>
              </a:rPr>
              <a:t>linear</a:t>
            </a:r>
            <a:r>
              <a:rPr sz="1800" spc="-15" dirty="0">
                <a:latin typeface="Times New Roman"/>
                <a:cs typeface="Times New Roman"/>
              </a:rPr>
              <a:t> </a:t>
            </a:r>
            <a:r>
              <a:rPr sz="1800" spc="-5" dirty="0">
                <a:latin typeface="Times New Roman"/>
                <a:cs typeface="Times New Roman"/>
              </a:rPr>
              <a:t>regression</a:t>
            </a:r>
            <a:endParaRPr sz="1800" dirty="0">
              <a:latin typeface="Times New Roman"/>
              <a:cs typeface="Times New Roman"/>
            </a:endParaRPr>
          </a:p>
        </p:txBody>
      </p:sp>
      <p:sp>
        <p:nvSpPr>
          <p:cNvPr id="5" name="object 4">
            <a:extLst>
              <a:ext uri="{FF2B5EF4-FFF2-40B4-BE49-F238E27FC236}">
                <a16:creationId xmlns:a16="http://schemas.microsoft.com/office/drawing/2014/main" id="{293D690D-07BA-4B68-8677-1BFD2FBD9FC0}"/>
              </a:ext>
            </a:extLst>
          </p:cNvPr>
          <p:cNvSpPr/>
          <p:nvPr/>
        </p:nvSpPr>
        <p:spPr>
          <a:xfrm>
            <a:off x="4260533" y="1123837"/>
            <a:ext cx="6923405" cy="4702175"/>
          </a:xfrm>
          <a:custGeom>
            <a:avLst/>
            <a:gdLst/>
            <a:ahLst/>
            <a:cxnLst/>
            <a:rect l="l" t="t" r="r" b="b"/>
            <a:pathLst>
              <a:path w="6923405" h="4702175">
                <a:moveTo>
                  <a:pt x="6923024" y="3173349"/>
                </a:moveTo>
                <a:lnTo>
                  <a:pt x="6910324" y="3166999"/>
                </a:lnTo>
                <a:lnTo>
                  <a:pt x="6846824" y="3135249"/>
                </a:lnTo>
                <a:lnTo>
                  <a:pt x="6846824" y="3166999"/>
                </a:lnTo>
                <a:lnTo>
                  <a:pt x="3255899" y="3166999"/>
                </a:lnTo>
                <a:lnTo>
                  <a:pt x="3255899" y="76200"/>
                </a:lnTo>
                <a:lnTo>
                  <a:pt x="3287649" y="76200"/>
                </a:lnTo>
                <a:lnTo>
                  <a:pt x="3281299" y="63500"/>
                </a:lnTo>
                <a:lnTo>
                  <a:pt x="3249549" y="0"/>
                </a:lnTo>
                <a:lnTo>
                  <a:pt x="3211449" y="76200"/>
                </a:lnTo>
                <a:lnTo>
                  <a:pt x="3243199" y="76200"/>
                </a:lnTo>
                <a:lnTo>
                  <a:pt x="3243199" y="3166999"/>
                </a:lnTo>
                <a:lnTo>
                  <a:pt x="0" y="3166999"/>
                </a:lnTo>
                <a:lnTo>
                  <a:pt x="0" y="3179699"/>
                </a:lnTo>
                <a:lnTo>
                  <a:pt x="3243199" y="3179699"/>
                </a:lnTo>
                <a:lnTo>
                  <a:pt x="3243199" y="4702175"/>
                </a:lnTo>
                <a:lnTo>
                  <a:pt x="3255899" y="4702175"/>
                </a:lnTo>
                <a:lnTo>
                  <a:pt x="3255899" y="3179699"/>
                </a:lnTo>
                <a:lnTo>
                  <a:pt x="6846824" y="3179699"/>
                </a:lnTo>
                <a:lnTo>
                  <a:pt x="6846824" y="3211449"/>
                </a:lnTo>
                <a:lnTo>
                  <a:pt x="6910324" y="3179699"/>
                </a:lnTo>
                <a:lnTo>
                  <a:pt x="6923024" y="3173349"/>
                </a:lnTo>
                <a:close/>
              </a:path>
            </a:pathLst>
          </a:custGeom>
          <a:solidFill>
            <a:srgbClr val="000000"/>
          </a:solidFill>
        </p:spPr>
        <p:txBody>
          <a:bodyPr wrap="square" lIns="0" tIns="0" rIns="0" bIns="0" rtlCol="0"/>
          <a:lstStyle/>
          <a:p>
            <a:endParaRPr/>
          </a:p>
        </p:txBody>
      </p:sp>
      <p:sp>
        <p:nvSpPr>
          <p:cNvPr id="6" name="object 28">
            <a:extLst>
              <a:ext uri="{FF2B5EF4-FFF2-40B4-BE49-F238E27FC236}">
                <a16:creationId xmlns:a16="http://schemas.microsoft.com/office/drawing/2014/main" id="{9F1216A6-0C78-4424-BFFD-AFF85C9FABD9}"/>
              </a:ext>
            </a:extLst>
          </p:cNvPr>
          <p:cNvSpPr/>
          <p:nvPr/>
        </p:nvSpPr>
        <p:spPr>
          <a:xfrm>
            <a:off x="7526338" y="1987488"/>
            <a:ext cx="2907030" cy="2270125"/>
          </a:xfrm>
          <a:custGeom>
            <a:avLst/>
            <a:gdLst/>
            <a:ahLst/>
            <a:cxnLst/>
            <a:rect l="l" t="t" r="r" b="b"/>
            <a:pathLst>
              <a:path w="2907029" h="2270125">
                <a:moveTo>
                  <a:pt x="0" y="2270125"/>
                </a:moveTo>
                <a:lnTo>
                  <a:pt x="2906649" y="0"/>
                </a:lnTo>
              </a:path>
            </a:pathLst>
          </a:custGeom>
          <a:ln w="12700">
            <a:solidFill>
              <a:srgbClr val="000000"/>
            </a:solidFill>
          </a:ln>
        </p:spPr>
        <p:txBody>
          <a:bodyPr wrap="square" lIns="0" tIns="0" rIns="0" bIns="0" rtlCol="0"/>
          <a:lstStyle/>
          <a:p>
            <a:endParaRPr/>
          </a:p>
        </p:txBody>
      </p:sp>
      <p:sp>
        <p:nvSpPr>
          <p:cNvPr id="7" name="object 31">
            <a:extLst>
              <a:ext uri="{FF2B5EF4-FFF2-40B4-BE49-F238E27FC236}">
                <a16:creationId xmlns:a16="http://schemas.microsoft.com/office/drawing/2014/main" id="{D7F1D0EA-8BB6-4E86-9871-CE266E2079AB}"/>
              </a:ext>
            </a:extLst>
          </p:cNvPr>
          <p:cNvSpPr/>
          <p:nvPr/>
        </p:nvSpPr>
        <p:spPr>
          <a:xfrm>
            <a:off x="7526338" y="3392481"/>
            <a:ext cx="831850" cy="903605"/>
          </a:xfrm>
          <a:custGeom>
            <a:avLst/>
            <a:gdLst/>
            <a:ahLst/>
            <a:cxnLst/>
            <a:rect l="l" t="t" r="r" b="b"/>
            <a:pathLst>
              <a:path w="831850" h="903604">
                <a:moveTo>
                  <a:pt x="831850" y="0"/>
                </a:moveTo>
                <a:lnTo>
                  <a:pt x="831850" y="903224"/>
                </a:lnTo>
              </a:path>
              <a:path w="831850" h="903604">
                <a:moveTo>
                  <a:pt x="815975" y="20700"/>
                </a:moveTo>
                <a:lnTo>
                  <a:pt x="0" y="20700"/>
                </a:lnTo>
              </a:path>
            </a:pathLst>
          </a:custGeom>
          <a:ln w="12700">
            <a:solidFill>
              <a:srgbClr val="006666"/>
            </a:solidFill>
            <a:prstDash val="sysDash"/>
          </a:ln>
        </p:spPr>
        <p:txBody>
          <a:bodyPr wrap="square" lIns="0" tIns="0" rIns="0" bIns="0" rtlCol="0"/>
          <a:lstStyle/>
          <a:p>
            <a:endParaRPr/>
          </a:p>
        </p:txBody>
      </p:sp>
      <p:grpSp>
        <p:nvGrpSpPr>
          <p:cNvPr id="8" name="object 37">
            <a:extLst>
              <a:ext uri="{FF2B5EF4-FFF2-40B4-BE49-F238E27FC236}">
                <a16:creationId xmlns:a16="http://schemas.microsoft.com/office/drawing/2014/main" id="{551A6BA2-888D-4D3E-AA36-F8144DE1B268}"/>
              </a:ext>
            </a:extLst>
          </p:cNvPr>
          <p:cNvGrpSpPr/>
          <p:nvPr/>
        </p:nvGrpSpPr>
        <p:grpSpPr>
          <a:xfrm>
            <a:off x="7785100" y="1828625"/>
            <a:ext cx="2482850" cy="2101850"/>
            <a:chOff x="4794250" y="1822450"/>
            <a:chExt cx="2482850" cy="2101850"/>
          </a:xfrm>
        </p:grpSpPr>
        <p:pic>
          <p:nvPicPr>
            <p:cNvPr id="9" name="object 38">
              <a:extLst>
                <a:ext uri="{FF2B5EF4-FFF2-40B4-BE49-F238E27FC236}">
                  <a16:creationId xmlns:a16="http://schemas.microsoft.com/office/drawing/2014/main" id="{7948554B-9538-4F3F-AECB-7F5BA17D1426}"/>
                </a:ext>
              </a:extLst>
            </p:cNvPr>
            <p:cNvPicPr/>
            <p:nvPr/>
          </p:nvPicPr>
          <p:blipFill>
            <a:blip r:embed="rId2" cstate="print"/>
            <a:stretch>
              <a:fillRect/>
            </a:stretch>
          </p:blipFill>
          <p:spPr>
            <a:xfrm>
              <a:off x="4794250" y="3803650"/>
              <a:ext cx="120650" cy="120650"/>
            </a:xfrm>
            <a:prstGeom prst="rect">
              <a:avLst/>
            </a:prstGeom>
          </p:spPr>
        </p:pic>
        <p:pic>
          <p:nvPicPr>
            <p:cNvPr id="10" name="object 39">
              <a:extLst>
                <a:ext uri="{FF2B5EF4-FFF2-40B4-BE49-F238E27FC236}">
                  <a16:creationId xmlns:a16="http://schemas.microsoft.com/office/drawing/2014/main" id="{0B8D5C90-9F6D-40DB-94F0-1A52D1256E1E}"/>
                </a:ext>
              </a:extLst>
            </p:cNvPr>
            <p:cNvPicPr/>
            <p:nvPr/>
          </p:nvPicPr>
          <p:blipFill>
            <a:blip r:embed="rId2" cstate="print"/>
            <a:stretch>
              <a:fillRect/>
            </a:stretch>
          </p:blipFill>
          <p:spPr>
            <a:xfrm>
              <a:off x="6165850" y="2813050"/>
              <a:ext cx="120650" cy="120650"/>
            </a:xfrm>
            <a:prstGeom prst="rect">
              <a:avLst/>
            </a:prstGeom>
          </p:spPr>
        </p:pic>
        <p:pic>
          <p:nvPicPr>
            <p:cNvPr id="11" name="object 40">
              <a:extLst>
                <a:ext uri="{FF2B5EF4-FFF2-40B4-BE49-F238E27FC236}">
                  <a16:creationId xmlns:a16="http://schemas.microsoft.com/office/drawing/2014/main" id="{CFE3BD29-65FE-46A1-B51F-9999C3D03907}"/>
                </a:ext>
              </a:extLst>
            </p:cNvPr>
            <p:cNvPicPr/>
            <p:nvPr/>
          </p:nvPicPr>
          <p:blipFill>
            <a:blip r:embed="rId2" cstate="print"/>
            <a:stretch>
              <a:fillRect/>
            </a:stretch>
          </p:blipFill>
          <p:spPr>
            <a:xfrm>
              <a:off x="7080250" y="2279650"/>
              <a:ext cx="120650" cy="120650"/>
            </a:xfrm>
            <a:prstGeom prst="rect">
              <a:avLst/>
            </a:prstGeom>
          </p:spPr>
        </p:pic>
        <p:pic>
          <p:nvPicPr>
            <p:cNvPr id="12" name="object 41">
              <a:extLst>
                <a:ext uri="{FF2B5EF4-FFF2-40B4-BE49-F238E27FC236}">
                  <a16:creationId xmlns:a16="http://schemas.microsoft.com/office/drawing/2014/main" id="{40DB12A6-1668-4BB4-801F-3A0A3CF01A03}"/>
                </a:ext>
              </a:extLst>
            </p:cNvPr>
            <p:cNvPicPr/>
            <p:nvPr/>
          </p:nvPicPr>
          <p:blipFill>
            <a:blip r:embed="rId2" cstate="print"/>
            <a:stretch>
              <a:fillRect/>
            </a:stretch>
          </p:blipFill>
          <p:spPr>
            <a:xfrm>
              <a:off x="7156450" y="1822450"/>
              <a:ext cx="120650" cy="120650"/>
            </a:xfrm>
            <a:prstGeom prst="rect">
              <a:avLst/>
            </a:prstGeom>
          </p:spPr>
        </p:pic>
        <p:pic>
          <p:nvPicPr>
            <p:cNvPr id="13" name="object 42">
              <a:extLst>
                <a:ext uri="{FF2B5EF4-FFF2-40B4-BE49-F238E27FC236}">
                  <a16:creationId xmlns:a16="http://schemas.microsoft.com/office/drawing/2014/main" id="{FFBF827D-1B6A-4E4F-8C99-37860FB34BF9}"/>
                </a:ext>
              </a:extLst>
            </p:cNvPr>
            <p:cNvPicPr/>
            <p:nvPr/>
          </p:nvPicPr>
          <p:blipFill>
            <a:blip r:embed="rId3" cstate="print"/>
            <a:stretch>
              <a:fillRect/>
            </a:stretch>
          </p:blipFill>
          <p:spPr>
            <a:xfrm>
              <a:off x="6697726" y="2508250"/>
              <a:ext cx="120650" cy="120650"/>
            </a:xfrm>
            <a:prstGeom prst="rect">
              <a:avLst/>
            </a:prstGeom>
          </p:spPr>
        </p:pic>
        <p:pic>
          <p:nvPicPr>
            <p:cNvPr id="14" name="object 43">
              <a:extLst>
                <a:ext uri="{FF2B5EF4-FFF2-40B4-BE49-F238E27FC236}">
                  <a16:creationId xmlns:a16="http://schemas.microsoft.com/office/drawing/2014/main" id="{EA18C8D1-BEB7-4246-88E5-A66E50876847}"/>
                </a:ext>
              </a:extLst>
            </p:cNvPr>
            <p:cNvPicPr/>
            <p:nvPr/>
          </p:nvPicPr>
          <p:blipFill>
            <a:blip r:embed="rId2" cstate="print"/>
            <a:stretch>
              <a:fillRect/>
            </a:stretch>
          </p:blipFill>
          <p:spPr>
            <a:xfrm>
              <a:off x="6470650" y="2736850"/>
              <a:ext cx="120650" cy="120650"/>
            </a:xfrm>
            <a:prstGeom prst="rect">
              <a:avLst/>
            </a:prstGeom>
          </p:spPr>
        </p:pic>
        <p:pic>
          <p:nvPicPr>
            <p:cNvPr id="15" name="object 44">
              <a:extLst>
                <a:ext uri="{FF2B5EF4-FFF2-40B4-BE49-F238E27FC236}">
                  <a16:creationId xmlns:a16="http://schemas.microsoft.com/office/drawing/2014/main" id="{D74D3184-6748-4EBC-A6E0-8DAC9DD086DC}"/>
                </a:ext>
              </a:extLst>
            </p:cNvPr>
            <p:cNvPicPr/>
            <p:nvPr/>
          </p:nvPicPr>
          <p:blipFill>
            <a:blip r:embed="rId2" cstate="print"/>
            <a:stretch>
              <a:fillRect/>
            </a:stretch>
          </p:blipFill>
          <p:spPr>
            <a:xfrm>
              <a:off x="5480050" y="3041650"/>
              <a:ext cx="120650" cy="120650"/>
            </a:xfrm>
            <a:prstGeom prst="rect">
              <a:avLst/>
            </a:prstGeom>
          </p:spPr>
        </p:pic>
        <p:pic>
          <p:nvPicPr>
            <p:cNvPr id="16" name="object 45">
              <a:extLst>
                <a:ext uri="{FF2B5EF4-FFF2-40B4-BE49-F238E27FC236}">
                  <a16:creationId xmlns:a16="http://schemas.microsoft.com/office/drawing/2014/main" id="{330F7601-4F64-47A6-9D7D-CF503F57B4D8}"/>
                </a:ext>
              </a:extLst>
            </p:cNvPr>
            <p:cNvPicPr/>
            <p:nvPr/>
          </p:nvPicPr>
          <p:blipFill>
            <a:blip r:embed="rId2" cstate="print"/>
            <a:stretch>
              <a:fillRect/>
            </a:stretch>
          </p:blipFill>
          <p:spPr>
            <a:xfrm>
              <a:off x="6851650" y="2203450"/>
              <a:ext cx="120650" cy="120650"/>
            </a:xfrm>
            <a:prstGeom prst="rect">
              <a:avLst/>
            </a:prstGeom>
          </p:spPr>
        </p:pic>
        <p:pic>
          <p:nvPicPr>
            <p:cNvPr id="17" name="object 46">
              <a:extLst>
                <a:ext uri="{FF2B5EF4-FFF2-40B4-BE49-F238E27FC236}">
                  <a16:creationId xmlns:a16="http://schemas.microsoft.com/office/drawing/2014/main" id="{2CFED219-5D1E-40BF-957E-3D38775F81AE}"/>
                </a:ext>
              </a:extLst>
            </p:cNvPr>
            <p:cNvPicPr/>
            <p:nvPr/>
          </p:nvPicPr>
          <p:blipFill>
            <a:blip r:embed="rId2" cstate="print"/>
            <a:stretch>
              <a:fillRect/>
            </a:stretch>
          </p:blipFill>
          <p:spPr>
            <a:xfrm>
              <a:off x="5175250" y="3803650"/>
              <a:ext cx="120650" cy="120650"/>
            </a:xfrm>
            <a:prstGeom prst="rect">
              <a:avLst/>
            </a:prstGeom>
          </p:spPr>
        </p:pic>
        <p:pic>
          <p:nvPicPr>
            <p:cNvPr id="18" name="object 47">
              <a:extLst>
                <a:ext uri="{FF2B5EF4-FFF2-40B4-BE49-F238E27FC236}">
                  <a16:creationId xmlns:a16="http://schemas.microsoft.com/office/drawing/2014/main" id="{960830AF-6C9B-4EBA-8A30-D291F5DE0B87}"/>
                </a:ext>
              </a:extLst>
            </p:cNvPr>
            <p:cNvPicPr/>
            <p:nvPr/>
          </p:nvPicPr>
          <p:blipFill>
            <a:blip r:embed="rId2" cstate="print"/>
            <a:stretch>
              <a:fillRect/>
            </a:stretch>
          </p:blipFill>
          <p:spPr>
            <a:xfrm>
              <a:off x="5708650" y="3346450"/>
              <a:ext cx="120650" cy="120650"/>
            </a:xfrm>
            <a:prstGeom prst="rect">
              <a:avLst/>
            </a:prstGeom>
          </p:spPr>
        </p:pic>
        <p:pic>
          <p:nvPicPr>
            <p:cNvPr id="19" name="object 48">
              <a:extLst>
                <a:ext uri="{FF2B5EF4-FFF2-40B4-BE49-F238E27FC236}">
                  <a16:creationId xmlns:a16="http://schemas.microsoft.com/office/drawing/2014/main" id="{1A143ABD-E9B6-4BC5-951B-D0AB02731041}"/>
                </a:ext>
              </a:extLst>
            </p:cNvPr>
            <p:cNvPicPr/>
            <p:nvPr/>
          </p:nvPicPr>
          <p:blipFill>
            <a:blip r:embed="rId2" cstate="print"/>
            <a:stretch>
              <a:fillRect/>
            </a:stretch>
          </p:blipFill>
          <p:spPr>
            <a:xfrm>
              <a:off x="5251450" y="3422650"/>
              <a:ext cx="120650" cy="120650"/>
            </a:xfrm>
            <a:prstGeom prst="rect">
              <a:avLst/>
            </a:prstGeom>
          </p:spPr>
        </p:pic>
      </p:grpSp>
      <p:sp>
        <p:nvSpPr>
          <p:cNvPr id="20" name="object 30">
            <a:extLst>
              <a:ext uri="{FF2B5EF4-FFF2-40B4-BE49-F238E27FC236}">
                <a16:creationId xmlns:a16="http://schemas.microsoft.com/office/drawing/2014/main" id="{BEC84190-B90B-44CA-8BD9-D5B6A3212695}"/>
              </a:ext>
            </a:extLst>
          </p:cNvPr>
          <p:cNvSpPr txBox="1"/>
          <p:nvPr/>
        </p:nvSpPr>
        <p:spPr>
          <a:xfrm>
            <a:off x="9476422" y="3090892"/>
            <a:ext cx="8528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y</a:t>
            </a:r>
            <a:r>
              <a:rPr sz="1800" spc="-45" dirty="0">
                <a:latin typeface="Times New Roman"/>
                <a:cs typeface="Times New Roman"/>
              </a:rPr>
              <a:t> </a:t>
            </a: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x</a:t>
            </a:r>
            <a:r>
              <a:rPr sz="1800" spc="-25"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1</a:t>
            </a:r>
          </a:p>
        </p:txBody>
      </p:sp>
      <p:sp>
        <p:nvSpPr>
          <p:cNvPr id="22" name="object 32">
            <a:extLst>
              <a:ext uri="{FF2B5EF4-FFF2-40B4-BE49-F238E27FC236}">
                <a16:creationId xmlns:a16="http://schemas.microsoft.com/office/drawing/2014/main" id="{D7FADF53-C309-47C1-A16C-4A138DFDB272}"/>
              </a:ext>
            </a:extLst>
          </p:cNvPr>
          <p:cNvSpPr txBox="1"/>
          <p:nvPr/>
        </p:nvSpPr>
        <p:spPr>
          <a:xfrm>
            <a:off x="9413240" y="4453715"/>
            <a:ext cx="337820" cy="3308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X1</a:t>
            </a:r>
            <a:endParaRPr sz="2000" dirty="0">
              <a:latin typeface="Times New Roman"/>
              <a:cs typeface="Times New Roman"/>
            </a:endParaRPr>
          </a:p>
        </p:txBody>
      </p:sp>
      <p:sp>
        <p:nvSpPr>
          <p:cNvPr id="23" name="object 33">
            <a:extLst>
              <a:ext uri="{FF2B5EF4-FFF2-40B4-BE49-F238E27FC236}">
                <a16:creationId xmlns:a16="http://schemas.microsoft.com/office/drawing/2014/main" id="{2A9A1C42-2C59-4E8E-98D8-5EC5C4359F7C}"/>
              </a:ext>
            </a:extLst>
          </p:cNvPr>
          <p:cNvSpPr txBox="1"/>
          <p:nvPr/>
        </p:nvSpPr>
        <p:spPr>
          <a:xfrm>
            <a:off x="7096443" y="2447729"/>
            <a:ext cx="337820"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Times New Roman"/>
                <a:cs typeface="Times New Roman"/>
              </a:rPr>
              <a:t>Y1</a:t>
            </a:r>
            <a:endParaRPr sz="2000" dirty="0">
              <a:latin typeface="Times New Roman"/>
              <a:cs typeface="Times New Roman"/>
            </a:endParaRPr>
          </a:p>
        </p:txBody>
      </p:sp>
      <p:sp>
        <p:nvSpPr>
          <p:cNvPr id="24" name="object 34">
            <a:extLst>
              <a:ext uri="{FF2B5EF4-FFF2-40B4-BE49-F238E27FC236}">
                <a16:creationId xmlns:a16="http://schemas.microsoft.com/office/drawing/2014/main" id="{96E2FE9A-034D-4A50-88F3-4D65681D1820}"/>
              </a:ext>
            </a:extLst>
          </p:cNvPr>
          <p:cNvSpPr txBox="1">
            <a:spLocks/>
          </p:cNvSpPr>
          <p:nvPr/>
        </p:nvSpPr>
        <p:spPr>
          <a:xfrm>
            <a:off x="8414385" y="1406202"/>
            <a:ext cx="802640" cy="330835"/>
          </a:xfrm>
          <a:prstGeom prst="rect">
            <a:avLst/>
          </a:prstGeom>
        </p:spPr>
        <p:txBody>
          <a:bodyPr vert="horz" wrap="square" lIns="0" tIns="13335" rIns="0" bIns="0" rtlCol="0" anchor="ctr">
            <a:sp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marL="12700">
              <a:lnSpc>
                <a:spcPct val="100000"/>
              </a:lnSpc>
              <a:spcBef>
                <a:spcPts val="105"/>
              </a:spcBef>
            </a:pPr>
            <a:r>
              <a:rPr lang="en-IN" sz="2000">
                <a:solidFill>
                  <a:srgbClr val="00AF50"/>
                </a:solidFill>
                <a:latin typeface="Times New Roman"/>
                <a:cs typeface="Times New Roman"/>
              </a:rPr>
              <a:t>(salary)</a:t>
            </a:r>
            <a:endParaRPr lang="en-IN" sz="2000" dirty="0">
              <a:latin typeface="Times New Roman"/>
              <a:cs typeface="Times New Roman"/>
            </a:endParaRPr>
          </a:p>
        </p:txBody>
      </p:sp>
    </p:spTree>
    <p:extLst>
      <p:ext uri="{BB962C8B-B14F-4D97-AF65-F5344CB8AC3E}">
        <p14:creationId xmlns:p14="http://schemas.microsoft.com/office/powerpoint/2010/main" val="35881601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55AC6-D723-40A8-8F02-6D6BA4E21452}"/>
              </a:ext>
            </a:extLst>
          </p:cNvPr>
          <p:cNvSpPr>
            <a:spLocks noGrp="1"/>
          </p:cNvSpPr>
          <p:nvPr>
            <p:ph type="title"/>
          </p:nvPr>
        </p:nvSpPr>
        <p:spPr/>
        <p:txBody>
          <a:bodyPr/>
          <a:lstStyle/>
          <a:p>
            <a:r>
              <a:rPr lang="en-US" dirty="0"/>
              <a:t>b. Multiple Regression</a:t>
            </a:r>
            <a:endParaRPr lang="en-IN" dirty="0"/>
          </a:p>
        </p:txBody>
      </p:sp>
      <p:sp>
        <p:nvSpPr>
          <p:cNvPr id="3" name="Content Placeholder 2">
            <a:extLst>
              <a:ext uri="{FF2B5EF4-FFF2-40B4-BE49-F238E27FC236}">
                <a16:creationId xmlns:a16="http://schemas.microsoft.com/office/drawing/2014/main" id="{D2CF233B-7366-4F22-9A38-E089892590EF}"/>
              </a:ext>
            </a:extLst>
          </p:cNvPr>
          <p:cNvSpPr>
            <a:spLocks noGrp="1"/>
          </p:cNvSpPr>
          <p:nvPr>
            <p:ph idx="1"/>
          </p:nvPr>
        </p:nvSpPr>
        <p:spPr/>
        <p:txBody>
          <a:bodyPr/>
          <a:lstStyle/>
          <a:p>
            <a:r>
              <a:rPr lang="en-US" dirty="0"/>
              <a:t>Multiple regression is a statistical technique that can be used to analyze the relationship between a single dependent variable and several independent variables.</a:t>
            </a:r>
          </a:p>
          <a:p>
            <a:r>
              <a:rPr lang="en-US" dirty="0"/>
              <a:t>The objective of multiple regression analysis is to use the independent variables whose values are known to predict the value of the single dependent value.</a:t>
            </a:r>
          </a:p>
          <a:p>
            <a:r>
              <a:rPr lang="pt-BR" b="0" i="0" dirty="0">
                <a:solidFill>
                  <a:srgbClr val="292929"/>
                </a:solidFill>
                <a:effectLst/>
                <a:latin typeface="charter"/>
              </a:rPr>
              <a:t>y = B_1 * x_1 + B_2 * x_2 + … + B_n * x_n + A</a:t>
            </a:r>
            <a:endParaRPr lang="en-IN" dirty="0"/>
          </a:p>
        </p:txBody>
      </p:sp>
    </p:spTree>
    <p:extLst>
      <p:ext uri="{BB962C8B-B14F-4D97-AF65-F5344CB8AC3E}">
        <p14:creationId xmlns:p14="http://schemas.microsoft.com/office/powerpoint/2010/main" val="2665456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A1C79-E800-4539-B5EA-37FD38D9AF3A}"/>
              </a:ext>
            </a:extLst>
          </p:cNvPr>
          <p:cNvSpPr>
            <a:spLocks noGrp="1"/>
          </p:cNvSpPr>
          <p:nvPr>
            <p:ph type="title"/>
          </p:nvPr>
        </p:nvSpPr>
        <p:spPr/>
        <p:txBody>
          <a:bodyPr/>
          <a:lstStyle/>
          <a:p>
            <a:r>
              <a:rPr lang="en-US" dirty="0"/>
              <a:t>Log-Linear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6CA16B-9F12-4493-A9A8-477F4606B952}"/>
                  </a:ext>
                </a:extLst>
              </p:cNvPr>
              <p:cNvSpPr>
                <a:spLocks noGrp="1"/>
              </p:cNvSpPr>
              <p:nvPr>
                <p:ph idx="1"/>
              </p:nvPr>
            </p:nvSpPr>
            <p:spPr/>
            <p:txBody>
              <a:bodyPr/>
              <a:lstStyle/>
              <a:p>
                <a:r>
                  <a:rPr lang="en-US" dirty="0"/>
                  <a:t>Mathematical equation</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𝐿𝑜𝑔</m:t>
                        </m:r>
                      </m:e>
                      <m:sub>
                        <m:r>
                          <a:rPr lang="en-US" b="0" i="1" smtClean="0">
                            <a:latin typeface="Cambria Math" panose="02040503050406030204" pitchFamily="18" charset="0"/>
                          </a:rPr>
                          <m:t>𝑒</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𝑌</m:t>
                            </m:r>
                          </m:e>
                          <m:sup>
                            <m:r>
                              <a:rPr lang="en-US" b="0" i="1" smtClean="0">
                                <a:latin typeface="Cambria Math" panose="02040503050406030204" pitchFamily="18" charset="0"/>
                              </a:rPr>
                              <m:t>𝑖</m:t>
                            </m:r>
                          </m:sup>
                        </m:sSup>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rPr>
                          <m:t>𝑖</m:t>
                        </m:r>
                      </m:sup>
                    </m:sSup>
                  </m:oMath>
                </a14:m>
                <a:endParaRPr lang="en-IN" dirty="0"/>
              </a:p>
              <a:p>
                <a:pPr marL="960120" lvl="2" indent="0">
                  <a:buNone/>
                </a:pPr>
                <a:endParaRPr lang="en-IN" dirty="0"/>
              </a:p>
              <a:p>
                <a:r>
                  <a:rPr lang="en-IN" dirty="0"/>
                  <a:t>{x1,y1} {x2,y2} …… {</a:t>
                </a:r>
                <a:r>
                  <a:rPr lang="en-IN" dirty="0" err="1"/>
                  <a:t>xn,yn</a:t>
                </a:r>
                <a:r>
                  <a:rPr lang="en-IN" dirty="0"/>
                  <a:t>} is set of observation</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𝑌</m:t>
                        </m:r>
                      </m:e>
                      <m:sup>
                        <m:r>
                          <a:rPr lang="en-US" b="0" i="1" smtClean="0">
                            <a:latin typeface="Cambria Math" panose="02040503050406030204" pitchFamily="18" charset="0"/>
                          </a:rPr>
                          <m:t>𝑖</m:t>
                        </m:r>
                      </m:sup>
                    </m:sSup>
                  </m:oMath>
                </a14:m>
                <a:r>
                  <a:rPr lang="en-IN" dirty="0"/>
                  <a:t> = Dependent variable for </a:t>
                </a:r>
                <a:r>
                  <a:rPr lang="en-IN" dirty="0" err="1"/>
                  <a:t>ith</a:t>
                </a:r>
                <a:r>
                  <a:rPr lang="en-IN" dirty="0"/>
                  <a:t> observation</a:t>
                </a:r>
              </a:p>
              <a:p>
                <a14:m>
                  <m:oMath xmlns:m="http://schemas.openxmlformats.org/officeDocument/2006/math">
                    <m:sSub>
                      <m:sSubPr>
                        <m:ctrlPr>
                          <a:rPr lang="en-IN"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IN" dirty="0"/>
                  <a:t>= Independent variable for the </a:t>
                </a:r>
                <a:r>
                  <a:rPr lang="en-IN" dirty="0" err="1"/>
                  <a:t>ith</a:t>
                </a:r>
                <a:r>
                  <a:rPr lang="en-IN" dirty="0"/>
                  <a:t> observation</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rPr>
                          <m:t>𝑖</m:t>
                        </m:r>
                      </m:sup>
                    </m:sSup>
                  </m:oMath>
                </a14:m>
                <a:r>
                  <a:rPr lang="en-IN" dirty="0"/>
                  <a:t> = Error measure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oMath>
                </a14:m>
                <a:r>
                  <a:rPr lang="en-IN" dirty="0"/>
                  <a:t> = Intercept Coefficient</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oMath>
                </a14:m>
                <a:r>
                  <a:rPr lang="en-IN" dirty="0"/>
                  <a:t>= Regression coefficient for independent variable</a:t>
                </a:r>
              </a:p>
            </p:txBody>
          </p:sp>
        </mc:Choice>
        <mc:Fallback xmlns="">
          <p:sp>
            <p:nvSpPr>
              <p:cNvPr id="3" name="Content Placeholder 2">
                <a:extLst>
                  <a:ext uri="{FF2B5EF4-FFF2-40B4-BE49-F238E27FC236}">
                    <a16:creationId xmlns:a16="http://schemas.microsoft.com/office/drawing/2014/main" id="{7A6CA16B-9F12-4493-A9A8-477F4606B952}"/>
                  </a:ext>
                </a:extLst>
              </p:cNvPr>
              <p:cNvSpPr>
                <a:spLocks noGrp="1" noRot="1" noChangeAspect="1" noMove="1" noResize="1" noEditPoints="1" noAdjustHandles="1" noChangeArrowheads="1" noChangeShapeType="1" noTextEdit="1"/>
              </p:cNvSpPr>
              <p:nvPr>
                <p:ph idx="1"/>
              </p:nvPr>
            </p:nvSpPr>
            <p:spPr>
              <a:blipFill>
                <a:blip r:embed="rId2"/>
                <a:stretch>
                  <a:fillRect l="-667"/>
                </a:stretch>
              </a:blipFill>
            </p:spPr>
            <p:txBody>
              <a:bodyPr/>
              <a:lstStyle/>
              <a:p>
                <a:r>
                  <a:rPr lang="en-IN">
                    <a:noFill/>
                  </a:rPr>
                  <a:t> </a:t>
                </a:r>
              </a:p>
            </p:txBody>
          </p:sp>
        </mc:Fallback>
      </mc:AlternateContent>
    </p:spTree>
    <p:extLst>
      <p:ext uri="{BB962C8B-B14F-4D97-AF65-F5344CB8AC3E}">
        <p14:creationId xmlns:p14="http://schemas.microsoft.com/office/powerpoint/2010/main" val="1956487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9A213-4E34-404D-98A3-D1ADB5CFBACE}"/>
              </a:ext>
            </a:extLst>
          </p:cNvPr>
          <p:cNvSpPr>
            <a:spLocks noGrp="1"/>
          </p:cNvSpPr>
          <p:nvPr>
            <p:ph type="title"/>
          </p:nvPr>
        </p:nvSpPr>
        <p:spPr/>
        <p:txBody>
          <a:bodyPr/>
          <a:lstStyle/>
          <a:p>
            <a:r>
              <a:rPr lang="en-US" dirty="0"/>
              <a:t>Data Integration</a:t>
            </a:r>
            <a:endParaRPr lang="en-IN" dirty="0"/>
          </a:p>
        </p:txBody>
      </p:sp>
      <p:sp>
        <p:nvSpPr>
          <p:cNvPr id="3" name="Content Placeholder 2">
            <a:extLst>
              <a:ext uri="{FF2B5EF4-FFF2-40B4-BE49-F238E27FC236}">
                <a16:creationId xmlns:a16="http://schemas.microsoft.com/office/drawing/2014/main" id="{763EC6AE-6295-4BB3-94BA-F50BDE7B06A3}"/>
              </a:ext>
            </a:extLst>
          </p:cNvPr>
          <p:cNvSpPr>
            <a:spLocks noGrp="1"/>
          </p:cNvSpPr>
          <p:nvPr>
            <p:ph idx="1"/>
          </p:nvPr>
        </p:nvSpPr>
        <p:spPr/>
        <p:txBody>
          <a:bodyPr>
            <a:normAutofit fontScale="92500" lnSpcReduction="20000"/>
          </a:bodyPr>
          <a:lstStyle/>
          <a:p>
            <a:endParaRPr lang="en-US" dirty="0"/>
          </a:p>
          <a:p>
            <a:r>
              <a:rPr lang="en-US" dirty="0"/>
              <a:t>combines data from multiple sources(like flat files, data  cubes, data bases, etc.) into a coherent store</a:t>
            </a:r>
          </a:p>
          <a:p>
            <a:r>
              <a:rPr lang="en-US" dirty="0"/>
              <a:t>Issues in Data Integration</a:t>
            </a:r>
          </a:p>
          <a:p>
            <a:pPr marL="0" indent="0">
              <a:buNone/>
            </a:pPr>
            <a:r>
              <a:rPr lang="en-US" dirty="0"/>
              <a:t>1) Schema integration ( a data integration issue)</a:t>
            </a:r>
          </a:p>
          <a:p>
            <a:pPr lvl="1"/>
            <a:r>
              <a:rPr lang="en-US" dirty="0"/>
              <a:t>integrate metadata from different sources</a:t>
            </a:r>
          </a:p>
          <a:p>
            <a:pPr lvl="1"/>
            <a:r>
              <a:rPr lang="en-US" dirty="0"/>
              <a:t>metadata: data about the data (i.e., data descriptors) -can be used to help avoid  errors in schema integration.</a:t>
            </a:r>
          </a:p>
          <a:p>
            <a:pPr lvl="1"/>
            <a:r>
              <a:rPr lang="en-US" dirty="0"/>
              <a:t>Examples of metadata for each attribute include the name, meaning, data type,  and range of values permitted for the attribute, and null rules for handling  blank, zero, or null values.</a:t>
            </a:r>
          </a:p>
          <a:p>
            <a:pPr lvl="1"/>
            <a:r>
              <a:rPr lang="en-US" dirty="0"/>
              <a:t>Entity identification problem: identify real world entities from multiple  data sources, e.g., </a:t>
            </a:r>
            <a:r>
              <a:rPr lang="en-US" dirty="0" err="1"/>
              <a:t>A.cust</a:t>
            </a:r>
            <a:r>
              <a:rPr lang="en-US" dirty="0"/>
              <a:t>-id  </a:t>
            </a:r>
            <a:r>
              <a:rPr lang="en-US" dirty="0" err="1"/>
              <a:t>B.cust</a:t>
            </a:r>
            <a:r>
              <a:rPr lang="en-US" dirty="0"/>
              <a:t>-# (number)</a:t>
            </a:r>
          </a:p>
          <a:p>
            <a:pPr marL="0" indent="0">
              <a:buNone/>
            </a:pPr>
            <a:r>
              <a:rPr lang="en-US" dirty="0"/>
              <a:t>2) Detecting and resolving data value conflicts</a:t>
            </a:r>
          </a:p>
          <a:p>
            <a:pPr lvl="1"/>
            <a:r>
              <a:rPr lang="en-US" dirty="0"/>
              <a:t>for the same real world entity, attribute values from different sources are</a:t>
            </a:r>
          </a:p>
          <a:p>
            <a:pPr lvl="1"/>
            <a:r>
              <a:rPr lang="en-US" dirty="0"/>
              <a:t>different (e.g., </a:t>
            </a:r>
            <a:r>
              <a:rPr lang="en-US" dirty="0" err="1"/>
              <a:t>J.D.Smith</a:t>
            </a:r>
            <a:r>
              <a:rPr lang="en-US" dirty="0"/>
              <a:t> and </a:t>
            </a:r>
            <a:r>
              <a:rPr lang="en-US" dirty="0" err="1"/>
              <a:t>Jonh</a:t>
            </a:r>
            <a:r>
              <a:rPr lang="en-US" dirty="0"/>
              <a:t> Smith may refer to the same person)</a:t>
            </a:r>
          </a:p>
          <a:p>
            <a:pPr lvl="1"/>
            <a:r>
              <a:rPr lang="en-US" dirty="0"/>
              <a:t>possible reasons: different representations, different scales, e.g., metric  vs. British units (inches vs. cm)</a:t>
            </a:r>
          </a:p>
          <a:p>
            <a:endParaRPr lang="en-IN" dirty="0"/>
          </a:p>
        </p:txBody>
      </p:sp>
    </p:spTree>
    <p:extLst>
      <p:ext uri="{BB962C8B-B14F-4D97-AF65-F5344CB8AC3E}">
        <p14:creationId xmlns:p14="http://schemas.microsoft.com/office/powerpoint/2010/main" val="27683151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95110-7649-438A-91B0-D442E3F7EF6C}"/>
              </a:ext>
            </a:extLst>
          </p:cNvPr>
          <p:cNvSpPr>
            <a:spLocks noGrp="1"/>
          </p:cNvSpPr>
          <p:nvPr>
            <p:ph type="title"/>
          </p:nvPr>
        </p:nvSpPr>
        <p:spPr/>
        <p:txBody>
          <a:bodyPr/>
          <a:lstStyle/>
          <a:p>
            <a:r>
              <a:rPr lang="en-US" dirty="0"/>
              <a:t>Data Integration</a:t>
            </a:r>
            <a:endParaRPr lang="en-IN" dirty="0"/>
          </a:p>
        </p:txBody>
      </p:sp>
      <p:sp>
        <p:nvSpPr>
          <p:cNvPr id="3" name="Content Placeholder 2">
            <a:extLst>
              <a:ext uri="{FF2B5EF4-FFF2-40B4-BE49-F238E27FC236}">
                <a16:creationId xmlns:a16="http://schemas.microsoft.com/office/drawing/2014/main" id="{61DD92C8-8200-4C7E-A45E-37F8B6335756}"/>
              </a:ext>
            </a:extLst>
          </p:cNvPr>
          <p:cNvSpPr>
            <a:spLocks noGrp="1"/>
          </p:cNvSpPr>
          <p:nvPr>
            <p:ph idx="1"/>
          </p:nvPr>
        </p:nvSpPr>
        <p:spPr/>
        <p:txBody>
          <a:bodyPr/>
          <a:lstStyle/>
          <a:p>
            <a:pPr marL="0" indent="0">
              <a:buNone/>
            </a:pPr>
            <a:r>
              <a:rPr lang="en-US" dirty="0"/>
              <a:t>3) Redundancy in data may occur due to multiple database</a:t>
            </a:r>
          </a:p>
          <a:p>
            <a:r>
              <a:rPr lang="en-US" dirty="0"/>
              <a:t>Method to handle redundant data</a:t>
            </a:r>
          </a:p>
          <a:p>
            <a:pPr lvl="1"/>
            <a:r>
              <a:rPr lang="en-US" dirty="0"/>
              <a:t>Chi- Square test – Nominal Data</a:t>
            </a:r>
          </a:p>
          <a:p>
            <a:pPr lvl="1"/>
            <a:r>
              <a:rPr lang="en-US" dirty="0"/>
              <a:t>Correlation coefficient and covariance analysis – Numeric Data</a:t>
            </a:r>
          </a:p>
          <a:p>
            <a:pPr marL="502920" lvl="1" indent="0">
              <a:buNone/>
            </a:pPr>
            <a:r>
              <a:rPr lang="en-US" dirty="0"/>
              <a:t>4) Data Value Conflict and resolution</a:t>
            </a:r>
          </a:p>
          <a:p>
            <a:pPr lvl="2"/>
            <a:r>
              <a:rPr lang="en-US" dirty="0"/>
              <a:t>two types of Data Conflict</a:t>
            </a:r>
          </a:p>
          <a:p>
            <a:pPr marL="1303020" lvl="2" indent="-342900">
              <a:buAutoNum type="arabicParenR"/>
            </a:pPr>
            <a:r>
              <a:rPr lang="en-US" dirty="0" err="1"/>
              <a:t>Uncertainity</a:t>
            </a:r>
            <a:endParaRPr lang="en-US" dirty="0"/>
          </a:p>
          <a:p>
            <a:pPr marL="1303020" lvl="2" indent="-342900">
              <a:buAutoNum type="arabicParenR"/>
            </a:pPr>
            <a:r>
              <a:rPr lang="en-US" dirty="0"/>
              <a:t>Contradiction</a:t>
            </a:r>
          </a:p>
          <a:p>
            <a:pPr marL="960120" lvl="2" indent="0">
              <a:buNone/>
            </a:pPr>
            <a:endParaRPr lang="en-US" dirty="0"/>
          </a:p>
        </p:txBody>
      </p:sp>
    </p:spTree>
    <p:extLst>
      <p:ext uri="{BB962C8B-B14F-4D97-AF65-F5344CB8AC3E}">
        <p14:creationId xmlns:p14="http://schemas.microsoft.com/office/powerpoint/2010/main" val="7327094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AF4C8-E6F3-49D1-840C-32E751B256FE}"/>
              </a:ext>
            </a:extLst>
          </p:cNvPr>
          <p:cNvSpPr>
            <a:spLocks noGrp="1"/>
          </p:cNvSpPr>
          <p:nvPr>
            <p:ph type="title"/>
          </p:nvPr>
        </p:nvSpPr>
        <p:spPr/>
        <p:txBody>
          <a:bodyPr/>
          <a:lstStyle/>
          <a:p>
            <a:r>
              <a:rPr lang="en-US" dirty="0"/>
              <a:t>Data </a:t>
            </a:r>
            <a:r>
              <a:rPr lang="en-US" sz="3200" dirty="0"/>
              <a:t>Transformation</a:t>
            </a:r>
            <a:endParaRPr lang="en-IN" dirty="0"/>
          </a:p>
        </p:txBody>
      </p:sp>
      <p:sp>
        <p:nvSpPr>
          <p:cNvPr id="3" name="Content Placeholder 2">
            <a:extLst>
              <a:ext uri="{FF2B5EF4-FFF2-40B4-BE49-F238E27FC236}">
                <a16:creationId xmlns:a16="http://schemas.microsoft.com/office/drawing/2014/main" id="{BA9EA935-587D-4649-8C9B-4FBC0556C88E}"/>
              </a:ext>
            </a:extLst>
          </p:cNvPr>
          <p:cNvSpPr>
            <a:spLocks noGrp="1"/>
          </p:cNvSpPr>
          <p:nvPr>
            <p:ph idx="1"/>
          </p:nvPr>
        </p:nvSpPr>
        <p:spPr/>
        <p:txBody>
          <a:bodyPr/>
          <a:lstStyle/>
          <a:p>
            <a:r>
              <a:rPr lang="en-US" dirty="0"/>
              <a:t>Smoothing: remove noise from data</a:t>
            </a:r>
          </a:p>
          <a:p>
            <a:r>
              <a:rPr lang="en-US" dirty="0"/>
              <a:t>Aggregation: summarization, data cube construction</a:t>
            </a:r>
          </a:p>
          <a:p>
            <a:r>
              <a:rPr lang="en-US" dirty="0"/>
              <a:t>Generalization: concept hierarchy climbing</a:t>
            </a:r>
          </a:p>
          <a:p>
            <a:r>
              <a:rPr lang="en-US" dirty="0"/>
              <a:t>Normalization: scaled to fall within a small, specified range</a:t>
            </a:r>
          </a:p>
          <a:p>
            <a:pPr lvl="1"/>
            <a:r>
              <a:rPr lang="en-US" dirty="0"/>
              <a:t>min-max normalization</a:t>
            </a:r>
          </a:p>
          <a:p>
            <a:pPr lvl="1"/>
            <a:r>
              <a:rPr lang="en-US" dirty="0"/>
              <a:t>z-score normalization</a:t>
            </a:r>
          </a:p>
          <a:p>
            <a:pPr lvl="1"/>
            <a:r>
              <a:rPr lang="en-US" dirty="0"/>
              <a:t>normalization by decimal scaling</a:t>
            </a:r>
          </a:p>
          <a:p>
            <a:r>
              <a:rPr lang="en-US" dirty="0"/>
              <a:t>Attribute/feature construction</a:t>
            </a:r>
          </a:p>
          <a:p>
            <a:pPr lvl="1"/>
            <a:r>
              <a:rPr lang="en-US" dirty="0"/>
              <a:t>New attributes constructed from the given ones</a:t>
            </a:r>
          </a:p>
          <a:p>
            <a:endParaRPr lang="en-IN" dirty="0"/>
          </a:p>
        </p:txBody>
      </p:sp>
    </p:spTree>
    <p:extLst>
      <p:ext uri="{BB962C8B-B14F-4D97-AF65-F5344CB8AC3E}">
        <p14:creationId xmlns:p14="http://schemas.microsoft.com/office/powerpoint/2010/main" val="8002412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A09BC-AFC2-4188-97DB-F2C826A3A64A}"/>
              </a:ext>
            </a:extLst>
          </p:cNvPr>
          <p:cNvSpPr>
            <a:spLocks noGrp="1"/>
          </p:cNvSpPr>
          <p:nvPr>
            <p:ph type="title"/>
          </p:nvPr>
        </p:nvSpPr>
        <p:spPr/>
        <p:txBody>
          <a:bodyPr/>
          <a:lstStyle/>
          <a:p>
            <a:r>
              <a:rPr lang="en-US" dirty="0"/>
              <a:t>Concept Hierarchy Generation for Categorical Data</a:t>
            </a:r>
            <a:endParaRPr lang="en-IN" dirty="0"/>
          </a:p>
        </p:txBody>
      </p:sp>
      <p:sp>
        <p:nvSpPr>
          <p:cNvPr id="3" name="Content Placeholder 2">
            <a:extLst>
              <a:ext uri="{FF2B5EF4-FFF2-40B4-BE49-F238E27FC236}">
                <a16:creationId xmlns:a16="http://schemas.microsoft.com/office/drawing/2014/main" id="{C817AEEC-BA94-41F7-BB9D-A08A6726629C}"/>
              </a:ext>
            </a:extLst>
          </p:cNvPr>
          <p:cNvSpPr>
            <a:spLocks noGrp="1"/>
          </p:cNvSpPr>
          <p:nvPr>
            <p:ph idx="1"/>
          </p:nvPr>
        </p:nvSpPr>
        <p:spPr/>
        <p:txBody>
          <a:bodyPr/>
          <a:lstStyle/>
          <a:p>
            <a:r>
              <a:rPr lang="en-US" dirty="0"/>
              <a:t>Specification of a set of attributes, but not of their  partial ordering</a:t>
            </a:r>
          </a:p>
          <a:p>
            <a:r>
              <a:rPr lang="en-US" dirty="0"/>
              <a:t>Auto generate the attribute ordering based upon observation  that attribute defining a high level concept has a smaller # of  distinct values than an attribute defining a lower level concept</a:t>
            </a:r>
          </a:p>
          <a:p>
            <a:r>
              <a:rPr lang="en-US" dirty="0"/>
              <a:t>Example : country (15), </a:t>
            </a:r>
            <a:r>
              <a:rPr lang="en-US" dirty="0" err="1"/>
              <a:t>state_or_province</a:t>
            </a:r>
            <a:r>
              <a:rPr lang="en-US" dirty="0"/>
              <a:t> (365), city (3567),</a:t>
            </a:r>
          </a:p>
          <a:p>
            <a:r>
              <a:rPr lang="en-US" dirty="0"/>
              <a:t>street (674,339)</a:t>
            </a:r>
          </a:p>
          <a:p>
            <a:r>
              <a:rPr lang="en-US" dirty="0"/>
              <a:t>Specification of only a partial set of attributes</a:t>
            </a:r>
          </a:p>
          <a:p>
            <a:r>
              <a:rPr lang="en-US" dirty="0"/>
              <a:t>Try and parse database schema to determine</a:t>
            </a:r>
          </a:p>
          <a:p>
            <a:r>
              <a:rPr lang="en-US" dirty="0"/>
              <a:t>complete hierarchy</a:t>
            </a:r>
          </a:p>
          <a:p>
            <a:endParaRPr lang="en-IN" dirty="0"/>
          </a:p>
        </p:txBody>
      </p:sp>
    </p:spTree>
    <p:extLst>
      <p:ext uri="{BB962C8B-B14F-4D97-AF65-F5344CB8AC3E}">
        <p14:creationId xmlns:p14="http://schemas.microsoft.com/office/powerpoint/2010/main" val="33526529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2B7FF-3B71-4FF8-9EBC-B9A99EAA5E11}"/>
              </a:ext>
            </a:extLst>
          </p:cNvPr>
          <p:cNvSpPr>
            <a:spLocks noGrp="1"/>
          </p:cNvSpPr>
          <p:nvPr>
            <p:ph type="title"/>
          </p:nvPr>
        </p:nvSpPr>
        <p:spPr/>
        <p:txBody>
          <a:bodyPr/>
          <a:lstStyle/>
          <a:p>
            <a:r>
              <a:rPr lang="en-US" dirty="0"/>
              <a:t>Specification of a set of Attributes</a:t>
            </a:r>
            <a:endParaRPr lang="en-IN" dirty="0"/>
          </a:p>
        </p:txBody>
      </p:sp>
      <p:sp>
        <p:nvSpPr>
          <p:cNvPr id="3" name="Content Placeholder 2">
            <a:extLst>
              <a:ext uri="{FF2B5EF4-FFF2-40B4-BE49-F238E27FC236}">
                <a16:creationId xmlns:a16="http://schemas.microsoft.com/office/drawing/2014/main" id="{92BECED8-AF5A-4B71-AAFE-6CA4E9F7FB02}"/>
              </a:ext>
            </a:extLst>
          </p:cNvPr>
          <p:cNvSpPr>
            <a:spLocks noGrp="1"/>
          </p:cNvSpPr>
          <p:nvPr>
            <p:ph idx="1"/>
          </p:nvPr>
        </p:nvSpPr>
        <p:spPr/>
        <p:txBody>
          <a:bodyPr/>
          <a:lstStyle/>
          <a:p>
            <a:r>
              <a:rPr lang="en-US" dirty="0"/>
              <a:t>Concept </a:t>
            </a:r>
            <a:r>
              <a:rPr lang="en-US" spc="-15" dirty="0"/>
              <a:t>hierarchy </a:t>
            </a:r>
            <a:r>
              <a:rPr lang="en-US" dirty="0"/>
              <a:t>can </a:t>
            </a:r>
            <a:r>
              <a:rPr lang="en-US" spc="-5" dirty="0"/>
              <a:t>be </a:t>
            </a:r>
            <a:r>
              <a:rPr lang="en-US" spc="-10" dirty="0"/>
              <a:t>automatically generated </a:t>
            </a:r>
            <a:r>
              <a:rPr lang="en-US" spc="-5" dirty="0"/>
              <a:t>based </a:t>
            </a:r>
            <a:r>
              <a:rPr lang="en-US" spc="-515" dirty="0"/>
              <a:t> </a:t>
            </a:r>
            <a:r>
              <a:rPr lang="en-US" dirty="0"/>
              <a:t>on </a:t>
            </a:r>
            <a:r>
              <a:rPr lang="en-US" spc="-5" dirty="0"/>
              <a:t>the number </a:t>
            </a:r>
            <a:r>
              <a:rPr lang="en-US" dirty="0"/>
              <a:t>of distinct </a:t>
            </a:r>
            <a:r>
              <a:rPr lang="en-US" spc="-15" dirty="0"/>
              <a:t>values </a:t>
            </a:r>
            <a:r>
              <a:rPr lang="en-US" spc="-5" dirty="0"/>
              <a:t>per attribute </a:t>
            </a:r>
            <a:r>
              <a:rPr lang="en-US" dirty="0"/>
              <a:t>in </a:t>
            </a:r>
            <a:r>
              <a:rPr lang="en-US" spc="-5" dirty="0"/>
              <a:t>the </a:t>
            </a:r>
            <a:r>
              <a:rPr lang="en-US" dirty="0"/>
              <a:t> </a:t>
            </a:r>
            <a:r>
              <a:rPr lang="en-US" spc="-20" dirty="0"/>
              <a:t>given </a:t>
            </a:r>
            <a:r>
              <a:rPr lang="en-US" spc="-5" dirty="0"/>
              <a:t>attribute </a:t>
            </a:r>
            <a:r>
              <a:rPr lang="en-US" spc="10" dirty="0"/>
              <a:t>set. </a:t>
            </a:r>
            <a:r>
              <a:rPr lang="en-US" dirty="0"/>
              <a:t>The </a:t>
            </a:r>
            <a:r>
              <a:rPr lang="en-US" spc="-5" dirty="0"/>
              <a:t>attribute with the most </a:t>
            </a:r>
            <a:r>
              <a:rPr lang="en-US" dirty="0"/>
              <a:t> distinct</a:t>
            </a:r>
            <a:r>
              <a:rPr lang="en-US" spc="-40" dirty="0"/>
              <a:t> </a:t>
            </a:r>
            <a:r>
              <a:rPr lang="en-US" spc="-15" dirty="0"/>
              <a:t>values</a:t>
            </a:r>
            <a:r>
              <a:rPr lang="en-US" spc="10" dirty="0"/>
              <a:t> </a:t>
            </a:r>
            <a:r>
              <a:rPr lang="en-US" dirty="0"/>
              <a:t>is</a:t>
            </a:r>
            <a:r>
              <a:rPr lang="en-US" spc="-10" dirty="0"/>
              <a:t> </a:t>
            </a:r>
            <a:r>
              <a:rPr lang="en-US" spc="-5" dirty="0"/>
              <a:t>placed</a:t>
            </a:r>
            <a:r>
              <a:rPr lang="en-US" spc="15" dirty="0"/>
              <a:t> </a:t>
            </a:r>
            <a:r>
              <a:rPr lang="en-US" spc="-5" dirty="0"/>
              <a:t>at</a:t>
            </a:r>
            <a:r>
              <a:rPr lang="en-US" spc="-10" dirty="0"/>
              <a:t> </a:t>
            </a:r>
            <a:r>
              <a:rPr lang="en-US" spc="-5" dirty="0"/>
              <a:t>the </a:t>
            </a:r>
            <a:r>
              <a:rPr lang="en-US" spc="-10" dirty="0"/>
              <a:t>lowest</a:t>
            </a:r>
            <a:r>
              <a:rPr lang="en-US" spc="10" dirty="0"/>
              <a:t> </a:t>
            </a:r>
            <a:r>
              <a:rPr lang="en-US" spc="-20" dirty="0"/>
              <a:t>level</a:t>
            </a:r>
            <a:r>
              <a:rPr lang="en-US" dirty="0"/>
              <a:t> of</a:t>
            </a:r>
            <a:r>
              <a:rPr lang="en-US" spc="-10" dirty="0"/>
              <a:t> </a:t>
            </a:r>
            <a:r>
              <a:rPr lang="en-US" spc="-5" dirty="0"/>
              <a:t>the </a:t>
            </a:r>
            <a:r>
              <a:rPr lang="en-US" dirty="0"/>
              <a:t> </a:t>
            </a:r>
            <a:r>
              <a:rPr lang="en-US" spc="-35" dirty="0"/>
              <a:t>hierarchy.</a:t>
            </a:r>
          </a:p>
          <a:p>
            <a:endParaRPr lang="en-US" spc="-35" dirty="0"/>
          </a:p>
          <a:p>
            <a:endParaRPr lang="en-US" spc="-35" dirty="0"/>
          </a:p>
          <a:p>
            <a:endParaRPr lang="en-US" spc="-35" dirty="0"/>
          </a:p>
          <a:p>
            <a:endParaRPr lang="en-US" spc="-35" dirty="0"/>
          </a:p>
          <a:p>
            <a:endParaRPr lang="en-US" spc="-35" dirty="0"/>
          </a:p>
          <a:p>
            <a:endParaRPr lang="en-IN" dirty="0"/>
          </a:p>
        </p:txBody>
      </p:sp>
      <p:grpSp>
        <p:nvGrpSpPr>
          <p:cNvPr id="4" name="object 3">
            <a:extLst>
              <a:ext uri="{FF2B5EF4-FFF2-40B4-BE49-F238E27FC236}">
                <a16:creationId xmlns:a16="http://schemas.microsoft.com/office/drawing/2014/main" id="{A1AF1C13-0C2C-4BDA-B89D-43D45CBE3EE5}"/>
              </a:ext>
            </a:extLst>
          </p:cNvPr>
          <p:cNvGrpSpPr/>
          <p:nvPr/>
        </p:nvGrpSpPr>
        <p:grpSpPr>
          <a:xfrm>
            <a:off x="4232274" y="2872914"/>
            <a:ext cx="3727450" cy="2641600"/>
            <a:chOff x="1060450" y="3155950"/>
            <a:chExt cx="3727450" cy="2641600"/>
          </a:xfrm>
        </p:grpSpPr>
        <p:sp>
          <p:nvSpPr>
            <p:cNvPr id="5" name="object 4">
              <a:extLst>
                <a:ext uri="{FF2B5EF4-FFF2-40B4-BE49-F238E27FC236}">
                  <a16:creationId xmlns:a16="http://schemas.microsoft.com/office/drawing/2014/main" id="{CC5458F3-66ED-4FF7-ABFD-F139A0EB88E8}"/>
                </a:ext>
              </a:extLst>
            </p:cNvPr>
            <p:cNvSpPr/>
            <p:nvPr/>
          </p:nvSpPr>
          <p:spPr>
            <a:xfrm>
              <a:off x="1066800" y="3162300"/>
              <a:ext cx="3581400" cy="342900"/>
            </a:xfrm>
            <a:custGeom>
              <a:avLst/>
              <a:gdLst/>
              <a:ahLst/>
              <a:cxnLst/>
              <a:rect l="l" t="t" r="r" b="b"/>
              <a:pathLst>
                <a:path w="3581400" h="342900">
                  <a:moveTo>
                    <a:pt x="1790700" y="0"/>
                  </a:moveTo>
                  <a:lnTo>
                    <a:pt x="1710937" y="166"/>
                  </a:lnTo>
                  <a:lnTo>
                    <a:pt x="1632067" y="663"/>
                  </a:lnTo>
                  <a:lnTo>
                    <a:pt x="1554164" y="1481"/>
                  </a:lnTo>
                  <a:lnTo>
                    <a:pt x="1401547" y="4057"/>
                  </a:lnTo>
                  <a:lnTo>
                    <a:pt x="1111108" y="12771"/>
                  </a:lnTo>
                  <a:lnTo>
                    <a:pt x="844280" y="25863"/>
                  </a:lnTo>
                  <a:lnTo>
                    <a:pt x="662455" y="38288"/>
                  </a:lnTo>
                  <a:lnTo>
                    <a:pt x="551042" y="47707"/>
                  </a:lnTo>
                  <a:lnTo>
                    <a:pt x="448153" y="57971"/>
                  </a:lnTo>
                  <a:lnTo>
                    <a:pt x="354369" y="69024"/>
                  </a:lnTo>
                  <a:lnTo>
                    <a:pt x="311074" y="74829"/>
                  </a:lnTo>
                  <a:lnTo>
                    <a:pt x="270273" y="80810"/>
                  </a:lnTo>
                  <a:lnTo>
                    <a:pt x="232040" y="86961"/>
                  </a:lnTo>
                  <a:lnTo>
                    <a:pt x="163567" y="99742"/>
                  </a:lnTo>
                  <a:lnTo>
                    <a:pt x="106237" y="113118"/>
                  </a:lnTo>
                  <a:lnTo>
                    <a:pt x="60633" y="127032"/>
                  </a:lnTo>
                  <a:lnTo>
                    <a:pt x="15487" y="148791"/>
                  </a:lnTo>
                  <a:lnTo>
                    <a:pt x="0" y="171450"/>
                  </a:lnTo>
                  <a:lnTo>
                    <a:pt x="1744" y="179091"/>
                  </a:lnTo>
                  <a:lnTo>
                    <a:pt x="42406" y="208726"/>
                  </a:lnTo>
                  <a:lnTo>
                    <a:pt x="81928" y="222888"/>
                  </a:lnTo>
                  <a:lnTo>
                    <a:pt x="133467" y="236540"/>
                  </a:lnTo>
                  <a:lnTo>
                    <a:pt x="196441" y="249626"/>
                  </a:lnTo>
                  <a:lnTo>
                    <a:pt x="270267" y="262089"/>
                  </a:lnTo>
                  <a:lnTo>
                    <a:pt x="311068" y="268070"/>
                  </a:lnTo>
                  <a:lnTo>
                    <a:pt x="354364" y="273875"/>
                  </a:lnTo>
                  <a:lnTo>
                    <a:pt x="400081" y="279496"/>
                  </a:lnTo>
                  <a:lnTo>
                    <a:pt x="498491" y="290162"/>
                  </a:lnTo>
                  <a:lnTo>
                    <a:pt x="605715" y="300011"/>
                  </a:lnTo>
                  <a:lnTo>
                    <a:pt x="781804" y="313131"/>
                  </a:lnTo>
                  <a:lnTo>
                    <a:pt x="974449" y="324102"/>
                  </a:lnTo>
                  <a:lnTo>
                    <a:pt x="1253666" y="335060"/>
                  </a:lnTo>
                  <a:lnTo>
                    <a:pt x="1554164" y="341418"/>
                  </a:lnTo>
                  <a:lnTo>
                    <a:pt x="1632067" y="342236"/>
                  </a:lnTo>
                  <a:lnTo>
                    <a:pt x="1710937" y="342733"/>
                  </a:lnTo>
                  <a:lnTo>
                    <a:pt x="1790700" y="342900"/>
                  </a:lnTo>
                  <a:lnTo>
                    <a:pt x="2104100" y="340284"/>
                  </a:lnTo>
                  <a:lnTo>
                    <a:pt x="2399714" y="332734"/>
                  </a:lnTo>
                  <a:lnTo>
                    <a:pt x="2606950" y="324102"/>
                  </a:lnTo>
                  <a:lnTo>
                    <a:pt x="2799595" y="313131"/>
                  </a:lnTo>
                  <a:lnTo>
                    <a:pt x="2975684" y="300011"/>
                  </a:lnTo>
                  <a:lnTo>
                    <a:pt x="3082908" y="290162"/>
                  </a:lnTo>
                  <a:lnTo>
                    <a:pt x="3181318" y="279496"/>
                  </a:lnTo>
                  <a:lnTo>
                    <a:pt x="3227035" y="273875"/>
                  </a:lnTo>
                  <a:lnTo>
                    <a:pt x="3270331" y="268070"/>
                  </a:lnTo>
                  <a:lnTo>
                    <a:pt x="3311132" y="262089"/>
                  </a:lnTo>
                  <a:lnTo>
                    <a:pt x="3349365" y="255938"/>
                  </a:lnTo>
                  <a:lnTo>
                    <a:pt x="3417838" y="243157"/>
                  </a:lnTo>
                  <a:lnTo>
                    <a:pt x="3475167" y="229781"/>
                  </a:lnTo>
                  <a:lnTo>
                    <a:pt x="3520770" y="215867"/>
                  </a:lnTo>
                  <a:lnTo>
                    <a:pt x="3565915" y="194108"/>
                  </a:lnTo>
                  <a:lnTo>
                    <a:pt x="3581400" y="171450"/>
                  </a:lnTo>
                  <a:lnTo>
                    <a:pt x="3579655" y="163808"/>
                  </a:lnTo>
                  <a:lnTo>
                    <a:pt x="3538993" y="134173"/>
                  </a:lnTo>
                  <a:lnTo>
                    <a:pt x="3499471" y="120011"/>
                  </a:lnTo>
                  <a:lnTo>
                    <a:pt x="3447932" y="106359"/>
                  </a:lnTo>
                  <a:lnTo>
                    <a:pt x="3384958" y="93273"/>
                  </a:lnTo>
                  <a:lnTo>
                    <a:pt x="3311132" y="80810"/>
                  </a:lnTo>
                  <a:lnTo>
                    <a:pt x="3270331" y="74829"/>
                  </a:lnTo>
                  <a:lnTo>
                    <a:pt x="3227035" y="69024"/>
                  </a:lnTo>
                  <a:lnTo>
                    <a:pt x="3133251" y="57971"/>
                  </a:lnTo>
                  <a:lnTo>
                    <a:pt x="3030361" y="47707"/>
                  </a:lnTo>
                  <a:lnTo>
                    <a:pt x="2918948" y="38288"/>
                  </a:lnTo>
                  <a:lnTo>
                    <a:pt x="2737122" y="25863"/>
                  </a:lnTo>
                  <a:lnTo>
                    <a:pt x="2470292" y="12771"/>
                  </a:lnTo>
                  <a:lnTo>
                    <a:pt x="2179853" y="4057"/>
                  </a:lnTo>
                  <a:lnTo>
                    <a:pt x="1870462" y="166"/>
                  </a:lnTo>
                  <a:lnTo>
                    <a:pt x="1790700" y="0"/>
                  </a:lnTo>
                  <a:close/>
                </a:path>
              </a:pathLst>
            </a:custGeom>
            <a:solidFill>
              <a:srgbClr val="919191"/>
            </a:solidFill>
          </p:spPr>
          <p:txBody>
            <a:bodyPr wrap="square" lIns="0" tIns="0" rIns="0" bIns="0" rtlCol="0"/>
            <a:lstStyle/>
            <a:p>
              <a:endParaRPr/>
            </a:p>
          </p:txBody>
        </p:sp>
        <p:sp>
          <p:nvSpPr>
            <p:cNvPr id="6" name="object 5">
              <a:extLst>
                <a:ext uri="{FF2B5EF4-FFF2-40B4-BE49-F238E27FC236}">
                  <a16:creationId xmlns:a16="http://schemas.microsoft.com/office/drawing/2014/main" id="{0A38014C-7A96-4EAF-B550-6B979E19905E}"/>
                </a:ext>
              </a:extLst>
            </p:cNvPr>
            <p:cNvSpPr/>
            <p:nvPr/>
          </p:nvSpPr>
          <p:spPr>
            <a:xfrm>
              <a:off x="1066800" y="3162300"/>
              <a:ext cx="3581400" cy="342900"/>
            </a:xfrm>
            <a:custGeom>
              <a:avLst/>
              <a:gdLst/>
              <a:ahLst/>
              <a:cxnLst/>
              <a:rect l="l" t="t" r="r" b="b"/>
              <a:pathLst>
                <a:path w="3581400" h="342900">
                  <a:moveTo>
                    <a:pt x="0" y="171450"/>
                  </a:moveTo>
                  <a:lnTo>
                    <a:pt x="27337" y="141429"/>
                  </a:lnTo>
                  <a:lnTo>
                    <a:pt x="81933" y="120011"/>
                  </a:lnTo>
                  <a:lnTo>
                    <a:pt x="133472" y="106359"/>
                  </a:lnTo>
                  <a:lnTo>
                    <a:pt x="196447" y="93273"/>
                  </a:lnTo>
                  <a:lnTo>
                    <a:pt x="270273" y="80810"/>
                  </a:lnTo>
                  <a:lnTo>
                    <a:pt x="311074" y="74829"/>
                  </a:lnTo>
                  <a:lnTo>
                    <a:pt x="354369" y="69024"/>
                  </a:lnTo>
                  <a:lnTo>
                    <a:pt x="400087" y="63403"/>
                  </a:lnTo>
                  <a:lnTo>
                    <a:pt x="448153" y="57971"/>
                  </a:lnTo>
                  <a:lnTo>
                    <a:pt x="498496" y="52737"/>
                  </a:lnTo>
                  <a:lnTo>
                    <a:pt x="551042" y="47707"/>
                  </a:lnTo>
                  <a:lnTo>
                    <a:pt x="605720" y="42888"/>
                  </a:lnTo>
                  <a:lnTo>
                    <a:pt x="662455" y="38288"/>
                  </a:lnTo>
                  <a:lnTo>
                    <a:pt x="721175" y="33912"/>
                  </a:lnTo>
                  <a:lnTo>
                    <a:pt x="781808" y="29768"/>
                  </a:lnTo>
                  <a:lnTo>
                    <a:pt x="844280" y="25863"/>
                  </a:lnTo>
                  <a:lnTo>
                    <a:pt x="908519" y="22204"/>
                  </a:lnTo>
                  <a:lnTo>
                    <a:pt x="974452" y="18797"/>
                  </a:lnTo>
                  <a:lnTo>
                    <a:pt x="1042006" y="15651"/>
                  </a:lnTo>
                  <a:lnTo>
                    <a:pt x="1111108" y="12771"/>
                  </a:lnTo>
                  <a:lnTo>
                    <a:pt x="1181687" y="10165"/>
                  </a:lnTo>
                  <a:lnTo>
                    <a:pt x="1253668" y="7839"/>
                  </a:lnTo>
                  <a:lnTo>
                    <a:pt x="1326979" y="5801"/>
                  </a:lnTo>
                  <a:lnTo>
                    <a:pt x="1401547" y="4057"/>
                  </a:lnTo>
                  <a:lnTo>
                    <a:pt x="1477300" y="2615"/>
                  </a:lnTo>
                  <a:lnTo>
                    <a:pt x="1554164" y="1481"/>
                  </a:lnTo>
                  <a:lnTo>
                    <a:pt x="1632067" y="663"/>
                  </a:lnTo>
                  <a:lnTo>
                    <a:pt x="1710937" y="166"/>
                  </a:lnTo>
                  <a:lnTo>
                    <a:pt x="1790700" y="0"/>
                  </a:lnTo>
                  <a:lnTo>
                    <a:pt x="1870462" y="166"/>
                  </a:lnTo>
                  <a:lnTo>
                    <a:pt x="1949332" y="663"/>
                  </a:lnTo>
                  <a:lnTo>
                    <a:pt x="2027235" y="1481"/>
                  </a:lnTo>
                  <a:lnTo>
                    <a:pt x="2104100" y="2615"/>
                  </a:lnTo>
                  <a:lnTo>
                    <a:pt x="2179853" y="4057"/>
                  </a:lnTo>
                  <a:lnTo>
                    <a:pt x="2254421" y="5801"/>
                  </a:lnTo>
                  <a:lnTo>
                    <a:pt x="2327733" y="7839"/>
                  </a:lnTo>
                  <a:lnTo>
                    <a:pt x="2399714" y="10165"/>
                  </a:lnTo>
                  <a:lnTo>
                    <a:pt x="2470292" y="12771"/>
                  </a:lnTo>
                  <a:lnTo>
                    <a:pt x="2539395" y="15651"/>
                  </a:lnTo>
                  <a:lnTo>
                    <a:pt x="2606950" y="18797"/>
                  </a:lnTo>
                  <a:lnTo>
                    <a:pt x="2672883" y="22204"/>
                  </a:lnTo>
                  <a:lnTo>
                    <a:pt x="2737122" y="25863"/>
                  </a:lnTo>
                  <a:lnTo>
                    <a:pt x="2799595" y="29768"/>
                  </a:lnTo>
                  <a:lnTo>
                    <a:pt x="2860228" y="33912"/>
                  </a:lnTo>
                  <a:lnTo>
                    <a:pt x="2918948" y="38288"/>
                  </a:lnTo>
                  <a:lnTo>
                    <a:pt x="2975684" y="42888"/>
                  </a:lnTo>
                  <a:lnTo>
                    <a:pt x="3030361" y="47707"/>
                  </a:lnTo>
                  <a:lnTo>
                    <a:pt x="3082908" y="52737"/>
                  </a:lnTo>
                  <a:lnTo>
                    <a:pt x="3133251" y="57971"/>
                  </a:lnTo>
                  <a:lnTo>
                    <a:pt x="3181318" y="63403"/>
                  </a:lnTo>
                  <a:lnTo>
                    <a:pt x="3227035" y="69024"/>
                  </a:lnTo>
                  <a:lnTo>
                    <a:pt x="3270331" y="74829"/>
                  </a:lnTo>
                  <a:lnTo>
                    <a:pt x="3311132" y="80810"/>
                  </a:lnTo>
                  <a:lnTo>
                    <a:pt x="3349365" y="86961"/>
                  </a:lnTo>
                  <a:lnTo>
                    <a:pt x="3417838" y="99742"/>
                  </a:lnTo>
                  <a:lnTo>
                    <a:pt x="3475167" y="113118"/>
                  </a:lnTo>
                  <a:lnTo>
                    <a:pt x="3520770" y="127032"/>
                  </a:lnTo>
                  <a:lnTo>
                    <a:pt x="3565915" y="148791"/>
                  </a:lnTo>
                  <a:lnTo>
                    <a:pt x="3581400" y="171450"/>
                  </a:lnTo>
                  <a:lnTo>
                    <a:pt x="3579655" y="179091"/>
                  </a:lnTo>
                  <a:lnTo>
                    <a:pt x="3574469" y="186646"/>
                  </a:lnTo>
                  <a:lnTo>
                    <a:pt x="3538993" y="208726"/>
                  </a:lnTo>
                  <a:lnTo>
                    <a:pt x="3499471" y="222888"/>
                  </a:lnTo>
                  <a:lnTo>
                    <a:pt x="3447932" y="236540"/>
                  </a:lnTo>
                  <a:lnTo>
                    <a:pt x="3384958" y="249626"/>
                  </a:lnTo>
                  <a:lnTo>
                    <a:pt x="3311132" y="262089"/>
                  </a:lnTo>
                  <a:lnTo>
                    <a:pt x="3270331" y="268070"/>
                  </a:lnTo>
                  <a:lnTo>
                    <a:pt x="3227035" y="273875"/>
                  </a:lnTo>
                  <a:lnTo>
                    <a:pt x="3181318" y="279496"/>
                  </a:lnTo>
                  <a:lnTo>
                    <a:pt x="3133251" y="284928"/>
                  </a:lnTo>
                  <a:lnTo>
                    <a:pt x="3082908" y="290162"/>
                  </a:lnTo>
                  <a:lnTo>
                    <a:pt x="3030361" y="295192"/>
                  </a:lnTo>
                  <a:lnTo>
                    <a:pt x="2975684" y="300011"/>
                  </a:lnTo>
                  <a:lnTo>
                    <a:pt x="2918948" y="304611"/>
                  </a:lnTo>
                  <a:lnTo>
                    <a:pt x="2860228" y="308987"/>
                  </a:lnTo>
                  <a:lnTo>
                    <a:pt x="2799595" y="313131"/>
                  </a:lnTo>
                  <a:lnTo>
                    <a:pt x="2737122" y="317036"/>
                  </a:lnTo>
                  <a:lnTo>
                    <a:pt x="2672883" y="320695"/>
                  </a:lnTo>
                  <a:lnTo>
                    <a:pt x="2606950" y="324102"/>
                  </a:lnTo>
                  <a:lnTo>
                    <a:pt x="2539395" y="327248"/>
                  </a:lnTo>
                  <a:lnTo>
                    <a:pt x="2470292" y="330128"/>
                  </a:lnTo>
                  <a:lnTo>
                    <a:pt x="2399714" y="332734"/>
                  </a:lnTo>
                  <a:lnTo>
                    <a:pt x="2327733" y="335060"/>
                  </a:lnTo>
                  <a:lnTo>
                    <a:pt x="2254421" y="337098"/>
                  </a:lnTo>
                  <a:lnTo>
                    <a:pt x="2179853" y="338842"/>
                  </a:lnTo>
                  <a:lnTo>
                    <a:pt x="2104100" y="340284"/>
                  </a:lnTo>
                  <a:lnTo>
                    <a:pt x="2027235" y="341418"/>
                  </a:lnTo>
                  <a:lnTo>
                    <a:pt x="1949332" y="342236"/>
                  </a:lnTo>
                  <a:lnTo>
                    <a:pt x="1870462" y="342733"/>
                  </a:lnTo>
                  <a:lnTo>
                    <a:pt x="1790700" y="342900"/>
                  </a:lnTo>
                  <a:lnTo>
                    <a:pt x="1710937" y="342733"/>
                  </a:lnTo>
                  <a:lnTo>
                    <a:pt x="1632067" y="342236"/>
                  </a:lnTo>
                  <a:lnTo>
                    <a:pt x="1554164" y="341418"/>
                  </a:lnTo>
                  <a:lnTo>
                    <a:pt x="1477299" y="340284"/>
                  </a:lnTo>
                  <a:lnTo>
                    <a:pt x="1401546" y="338842"/>
                  </a:lnTo>
                  <a:lnTo>
                    <a:pt x="1326978" y="337098"/>
                  </a:lnTo>
                  <a:lnTo>
                    <a:pt x="1253666" y="335060"/>
                  </a:lnTo>
                  <a:lnTo>
                    <a:pt x="1181685" y="332734"/>
                  </a:lnTo>
                  <a:lnTo>
                    <a:pt x="1111107" y="330128"/>
                  </a:lnTo>
                  <a:lnTo>
                    <a:pt x="1042004" y="327248"/>
                  </a:lnTo>
                  <a:lnTo>
                    <a:pt x="974449" y="324102"/>
                  </a:lnTo>
                  <a:lnTo>
                    <a:pt x="908516" y="320695"/>
                  </a:lnTo>
                  <a:lnTo>
                    <a:pt x="844277" y="317036"/>
                  </a:lnTo>
                  <a:lnTo>
                    <a:pt x="781804" y="313131"/>
                  </a:lnTo>
                  <a:lnTo>
                    <a:pt x="721171" y="308987"/>
                  </a:lnTo>
                  <a:lnTo>
                    <a:pt x="662451" y="304611"/>
                  </a:lnTo>
                  <a:lnTo>
                    <a:pt x="605715" y="300011"/>
                  </a:lnTo>
                  <a:lnTo>
                    <a:pt x="551038" y="295192"/>
                  </a:lnTo>
                  <a:lnTo>
                    <a:pt x="498491" y="290162"/>
                  </a:lnTo>
                  <a:lnTo>
                    <a:pt x="448148" y="284928"/>
                  </a:lnTo>
                  <a:lnTo>
                    <a:pt x="400081" y="279496"/>
                  </a:lnTo>
                  <a:lnTo>
                    <a:pt x="354364" y="273875"/>
                  </a:lnTo>
                  <a:lnTo>
                    <a:pt x="311068" y="268070"/>
                  </a:lnTo>
                  <a:lnTo>
                    <a:pt x="270267" y="262089"/>
                  </a:lnTo>
                  <a:lnTo>
                    <a:pt x="232034" y="255938"/>
                  </a:lnTo>
                  <a:lnTo>
                    <a:pt x="163561" y="243157"/>
                  </a:lnTo>
                  <a:lnTo>
                    <a:pt x="106232" y="229781"/>
                  </a:lnTo>
                  <a:lnTo>
                    <a:pt x="60629" y="215867"/>
                  </a:lnTo>
                  <a:lnTo>
                    <a:pt x="15484" y="194108"/>
                  </a:lnTo>
                  <a:lnTo>
                    <a:pt x="0" y="171450"/>
                  </a:lnTo>
                  <a:close/>
                </a:path>
              </a:pathLst>
            </a:custGeom>
            <a:ln w="12700">
              <a:solidFill>
                <a:srgbClr val="919191"/>
              </a:solidFill>
            </a:ln>
          </p:spPr>
          <p:txBody>
            <a:bodyPr wrap="square" lIns="0" tIns="0" rIns="0" bIns="0" rtlCol="0"/>
            <a:lstStyle/>
            <a:p>
              <a:endParaRPr/>
            </a:p>
          </p:txBody>
        </p:sp>
        <p:sp>
          <p:nvSpPr>
            <p:cNvPr id="7" name="object 6">
              <a:extLst>
                <a:ext uri="{FF2B5EF4-FFF2-40B4-BE49-F238E27FC236}">
                  <a16:creationId xmlns:a16="http://schemas.microsoft.com/office/drawing/2014/main" id="{99EFA5DE-0076-4DF5-A748-ADD533B62C69}"/>
                </a:ext>
              </a:extLst>
            </p:cNvPr>
            <p:cNvSpPr/>
            <p:nvPr/>
          </p:nvSpPr>
          <p:spPr>
            <a:xfrm>
              <a:off x="1123950" y="3886200"/>
              <a:ext cx="3581400" cy="342900"/>
            </a:xfrm>
            <a:custGeom>
              <a:avLst/>
              <a:gdLst/>
              <a:ahLst/>
              <a:cxnLst/>
              <a:rect l="l" t="t" r="r" b="b"/>
              <a:pathLst>
                <a:path w="3581400" h="342900">
                  <a:moveTo>
                    <a:pt x="1790700" y="0"/>
                  </a:moveTo>
                  <a:lnTo>
                    <a:pt x="1710937" y="166"/>
                  </a:lnTo>
                  <a:lnTo>
                    <a:pt x="1401547" y="4057"/>
                  </a:lnTo>
                  <a:lnTo>
                    <a:pt x="1111108" y="12771"/>
                  </a:lnTo>
                  <a:lnTo>
                    <a:pt x="844280" y="25863"/>
                  </a:lnTo>
                  <a:lnTo>
                    <a:pt x="662455" y="38288"/>
                  </a:lnTo>
                  <a:lnTo>
                    <a:pt x="551042" y="47707"/>
                  </a:lnTo>
                  <a:lnTo>
                    <a:pt x="448153" y="57971"/>
                  </a:lnTo>
                  <a:lnTo>
                    <a:pt x="354369" y="69024"/>
                  </a:lnTo>
                  <a:lnTo>
                    <a:pt x="311074" y="74829"/>
                  </a:lnTo>
                  <a:lnTo>
                    <a:pt x="270273" y="80810"/>
                  </a:lnTo>
                  <a:lnTo>
                    <a:pt x="232040" y="86961"/>
                  </a:lnTo>
                  <a:lnTo>
                    <a:pt x="163567" y="99742"/>
                  </a:lnTo>
                  <a:lnTo>
                    <a:pt x="106237" y="113118"/>
                  </a:lnTo>
                  <a:lnTo>
                    <a:pt x="60633" y="127032"/>
                  </a:lnTo>
                  <a:lnTo>
                    <a:pt x="15487" y="148791"/>
                  </a:lnTo>
                  <a:lnTo>
                    <a:pt x="0" y="171450"/>
                  </a:lnTo>
                  <a:lnTo>
                    <a:pt x="1744" y="179091"/>
                  </a:lnTo>
                  <a:lnTo>
                    <a:pt x="42406" y="208726"/>
                  </a:lnTo>
                  <a:lnTo>
                    <a:pt x="81928" y="222888"/>
                  </a:lnTo>
                  <a:lnTo>
                    <a:pt x="133467" y="236540"/>
                  </a:lnTo>
                  <a:lnTo>
                    <a:pt x="196441" y="249626"/>
                  </a:lnTo>
                  <a:lnTo>
                    <a:pt x="270267" y="262089"/>
                  </a:lnTo>
                  <a:lnTo>
                    <a:pt x="311068" y="268070"/>
                  </a:lnTo>
                  <a:lnTo>
                    <a:pt x="354364" y="273875"/>
                  </a:lnTo>
                  <a:lnTo>
                    <a:pt x="400081" y="279496"/>
                  </a:lnTo>
                  <a:lnTo>
                    <a:pt x="498491" y="290162"/>
                  </a:lnTo>
                  <a:lnTo>
                    <a:pt x="605715" y="300011"/>
                  </a:lnTo>
                  <a:lnTo>
                    <a:pt x="781804" y="313131"/>
                  </a:lnTo>
                  <a:lnTo>
                    <a:pt x="974449" y="324102"/>
                  </a:lnTo>
                  <a:lnTo>
                    <a:pt x="1181685" y="332734"/>
                  </a:lnTo>
                  <a:lnTo>
                    <a:pt x="1477299" y="340284"/>
                  </a:lnTo>
                  <a:lnTo>
                    <a:pt x="1790700" y="342900"/>
                  </a:lnTo>
                  <a:lnTo>
                    <a:pt x="2104100" y="340284"/>
                  </a:lnTo>
                  <a:lnTo>
                    <a:pt x="2399714" y="332734"/>
                  </a:lnTo>
                  <a:lnTo>
                    <a:pt x="2606950" y="324102"/>
                  </a:lnTo>
                  <a:lnTo>
                    <a:pt x="2799595" y="313131"/>
                  </a:lnTo>
                  <a:lnTo>
                    <a:pt x="2975684" y="300011"/>
                  </a:lnTo>
                  <a:lnTo>
                    <a:pt x="3082908" y="290162"/>
                  </a:lnTo>
                  <a:lnTo>
                    <a:pt x="3181318" y="279496"/>
                  </a:lnTo>
                  <a:lnTo>
                    <a:pt x="3227035" y="273875"/>
                  </a:lnTo>
                  <a:lnTo>
                    <a:pt x="3270331" y="268070"/>
                  </a:lnTo>
                  <a:lnTo>
                    <a:pt x="3311132" y="262089"/>
                  </a:lnTo>
                  <a:lnTo>
                    <a:pt x="3349365" y="255938"/>
                  </a:lnTo>
                  <a:lnTo>
                    <a:pt x="3417838" y="243157"/>
                  </a:lnTo>
                  <a:lnTo>
                    <a:pt x="3475167" y="229781"/>
                  </a:lnTo>
                  <a:lnTo>
                    <a:pt x="3520770" y="215867"/>
                  </a:lnTo>
                  <a:lnTo>
                    <a:pt x="3565915" y="194108"/>
                  </a:lnTo>
                  <a:lnTo>
                    <a:pt x="3581400" y="171450"/>
                  </a:lnTo>
                  <a:lnTo>
                    <a:pt x="3579655" y="163808"/>
                  </a:lnTo>
                  <a:lnTo>
                    <a:pt x="3538993" y="134173"/>
                  </a:lnTo>
                  <a:lnTo>
                    <a:pt x="3499471" y="120011"/>
                  </a:lnTo>
                  <a:lnTo>
                    <a:pt x="3447932" y="106359"/>
                  </a:lnTo>
                  <a:lnTo>
                    <a:pt x="3384958" y="93273"/>
                  </a:lnTo>
                  <a:lnTo>
                    <a:pt x="3311132" y="80810"/>
                  </a:lnTo>
                  <a:lnTo>
                    <a:pt x="3270331" y="74829"/>
                  </a:lnTo>
                  <a:lnTo>
                    <a:pt x="3227035" y="69024"/>
                  </a:lnTo>
                  <a:lnTo>
                    <a:pt x="3133251" y="57971"/>
                  </a:lnTo>
                  <a:lnTo>
                    <a:pt x="3030361" y="47707"/>
                  </a:lnTo>
                  <a:lnTo>
                    <a:pt x="2918948" y="38288"/>
                  </a:lnTo>
                  <a:lnTo>
                    <a:pt x="2737122" y="25863"/>
                  </a:lnTo>
                  <a:lnTo>
                    <a:pt x="2470292" y="12771"/>
                  </a:lnTo>
                  <a:lnTo>
                    <a:pt x="2179853" y="4057"/>
                  </a:lnTo>
                  <a:lnTo>
                    <a:pt x="1870462" y="166"/>
                  </a:lnTo>
                  <a:lnTo>
                    <a:pt x="1790700" y="0"/>
                  </a:lnTo>
                  <a:close/>
                </a:path>
              </a:pathLst>
            </a:custGeom>
            <a:solidFill>
              <a:srgbClr val="919191"/>
            </a:solidFill>
          </p:spPr>
          <p:txBody>
            <a:bodyPr wrap="square" lIns="0" tIns="0" rIns="0" bIns="0" rtlCol="0"/>
            <a:lstStyle/>
            <a:p>
              <a:endParaRPr/>
            </a:p>
          </p:txBody>
        </p:sp>
        <p:sp>
          <p:nvSpPr>
            <p:cNvPr id="8" name="object 7">
              <a:extLst>
                <a:ext uri="{FF2B5EF4-FFF2-40B4-BE49-F238E27FC236}">
                  <a16:creationId xmlns:a16="http://schemas.microsoft.com/office/drawing/2014/main" id="{6DEFEE98-1665-4255-A54A-1B923630AD4B}"/>
                </a:ext>
              </a:extLst>
            </p:cNvPr>
            <p:cNvSpPr/>
            <p:nvPr/>
          </p:nvSpPr>
          <p:spPr>
            <a:xfrm>
              <a:off x="1123950" y="3886200"/>
              <a:ext cx="3581400" cy="342900"/>
            </a:xfrm>
            <a:custGeom>
              <a:avLst/>
              <a:gdLst/>
              <a:ahLst/>
              <a:cxnLst/>
              <a:rect l="l" t="t" r="r" b="b"/>
              <a:pathLst>
                <a:path w="3581400" h="342900">
                  <a:moveTo>
                    <a:pt x="0" y="171450"/>
                  </a:moveTo>
                  <a:lnTo>
                    <a:pt x="27337" y="141429"/>
                  </a:lnTo>
                  <a:lnTo>
                    <a:pt x="81933" y="120011"/>
                  </a:lnTo>
                  <a:lnTo>
                    <a:pt x="133472" y="106359"/>
                  </a:lnTo>
                  <a:lnTo>
                    <a:pt x="196447" y="93273"/>
                  </a:lnTo>
                  <a:lnTo>
                    <a:pt x="270273" y="80810"/>
                  </a:lnTo>
                  <a:lnTo>
                    <a:pt x="311074" y="74829"/>
                  </a:lnTo>
                  <a:lnTo>
                    <a:pt x="354369" y="69024"/>
                  </a:lnTo>
                  <a:lnTo>
                    <a:pt x="400087" y="63403"/>
                  </a:lnTo>
                  <a:lnTo>
                    <a:pt x="448153" y="57971"/>
                  </a:lnTo>
                  <a:lnTo>
                    <a:pt x="498496" y="52737"/>
                  </a:lnTo>
                  <a:lnTo>
                    <a:pt x="551042" y="47707"/>
                  </a:lnTo>
                  <a:lnTo>
                    <a:pt x="605720" y="42888"/>
                  </a:lnTo>
                  <a:lnTo>
                    <a:pt x="662455" y="38288"/>
                  </a:lnTo>
                  <a:lnTo>
                    <a:pt x="721175" y="33912"/>
                  </a:lnTo>
                  <a:lnTo>
                    <a:pt x="781808" y="29768"/>
                  </a:lnTo>
                  <a:lnTo>
                    <a:pt x="844280" y="25863"/>
                  </a:lnTo>
                  <a:lnTo>
                    <a:pt x="908519" y="22204"/>
                  </a:lnTo>
                  <a:lnTo>
                    <a:pt x="974452" y="18797"/>
                  </a:lnTo>
                  <a:lnTo>
                    <a:pt x="1042006" y="15651"/>
                  </a:lnTo>
                  <a:lnTo>
                    <a:pt x="1111108" y="12771"/>
                  </a:lnTo>
                  <a:lnTo>
                    <a:pt x="1181687" y="10165"/>
                  </a:lnTo>
                  <a:lnTo>
                    <a:pt x="1253668" y="7839"/>
                  </a:lnTo>
                  <a:lnTo>
                    <a:pt x="1326979" y="5801"/>
                  </a:lnTo>
                  <a:lnTo>
                    <a:pt x="1401547" y="4057"/>
                  </a:lnTo>
                  <a:lnTo>
                    <a:pt x="1477300" y="2615"/>
                  </a:lnTo>
                  <a:lnTo>
                    <a:pt x="1554164" y="1481"/>
                  </a:lnTo>
                  <a:lnTo>
                    <a:pt x="1632067" y="663"/>
                  </a:lnTo>
                  <a:lnTo>
                    <a:pt x="1710937" y="166"/>
                  </a:lnTo>
                  <a:lnTo>
                    <a:pt x="1790700" y="0"/>
                  </a:lnTo>
                  <a:lnTo>
                    <a:pt x="1870462" y="166"/>
                  </a:lnTo>
                  <a:lnTo>
                    <a:pt x="1949332" y="663"/>
                  </a:lnTo>
                  <a:lnTo>
                    <a:pt x="2027235" y="1481"/>
                  </a:lnTo>
                  <a:lnTo>
                    <a:pt x="2104100" y="2615"/>
                  </a:lnTo>
                  <a:lnTo>
                    <a:pt x="2179853" y="4057"/>
                  </a:lnTo>
                  <a:lnTo>
                    <a:pt x="2254421" y="5801"/>
                  </a:lnTo>
                  <a:lnTo>
                    <a:pt x="2327733" y="7839"/>
                  </a:lnTo>
                  <a:lnTo>
                    <a:pt x="2399714" y="10165"/>
                  </a:lnTo>
                  <a:lnTo>
                    <a:pt x="2470292" y="12771"/>
                  </a:lnTo>
                  <a:lnTo>
                    <a:pt x="2539395" y="15651"/>
                  </a:lnTo>
                  <a:lnTo>
                    <a:pt x="2606950" y="18797"/>
                  </a:lnTo>
                  <a:lnTo>
                    <a:pt x="2672883" y="22204"/>
                  </a:lnTo>
                  <a:lnTo>
                    <a:pt x="2737122" y="25863"/>
                  </a:lnTo>
                  <a:lnTo>
                    <a:pt x="2799595" y="29768"/>
                  </a:lnTo>
                  <a:lnTo>
                    <a:pt x="2860228" y="33912"/>
                  </a:lnTo>
                  <a:lnTo>
                    <a:pt x="2918948" y="38288"/>
                  </a:lnTo>
                  <a:lnTo>
                    <a:pt x="2975684" y="42888"/>
                  </a:lnTo>
                  <a:lnTo>
                    <a:pt x="3030361" y="47707"/>
                  </a:lnTo>
                  <a:lnTo>
                    <a:pt x="3082908" y="52737"/>
                  </a:lnTo>
                  <a:lnTo>
                    <a:pt x="3133251" y="57971"/>
                  </a:lnTo>
                  <a:lnTo>
                    <a:pt x="3181318" y="63403"/>
                  </a:lnTo>
                  <a:lnTo>
                    <a:pt x="3227035" y="69024"/>
                  </a:lnTo>
                  <a:lnTo>
                    <a:pt x="3270331" y="74829"/>
                  </a:lnTo>
                  <a:lnTo>
                    <a:pt x="3311132" y="80810"/>
                  </a:lnTo>
                  <a:lnTo>
                    <a:pt x="3349365" y="86961"/>
                  </a:lnTo>
                  <a:lnTo>
                    <a:pt x="3417838" y="99742"/>
                  </a:lnTo>
                  <a:lnTo>
                    <a:pt x="3475167" y="113118"/>
                  </a:lnTo>
                  <a:lnTo>
                    <a:pt x="3520770" y="127032"/>
                  </a:lnTo>
                  <a:lnTo>
                    <a:pt x="3565915" y="148791"/>
                  </a:lnTo>
                  <a:lnTo>
                    <a:pt x="3581400" y="171450"/>
                  </a:lnTo>
                  <a:lnTo>
                    <a:pt x="3579655" y="179091"/>
                  </a:lnTo>
                  <a:lnTo>
                    <a:pt x="3574469" y="186646"/>
                  </a:lnTo>
                  <a:lnTo>
                    <a:pt x="3538993" y="208726"/>
                  </a:lnTo>
                  <a:lnTo>
                    <a:pt x="3499471" y="222888"/>
                  </a:lnTo>
                  <a:lnTo>
                    <a:pt x="3447932" y="236540"/>
                  </a:lnTo>
                  <a:lnTo>
                    <a:pt x="3384958" y="249626"/>
                  </a:lnTo>
                  <a:lnTo>
                    <a:pt x="3311132" y="262089"/>
                  </a:lnTo>
                  <a:lnTo>
                    <a:pt x="3270331" y="268070"/>
                  </a:lnTo>
                  <a:lnTo>
                    <a:pt x="3227035" y="273875"/>
                  </a:lnTo>
                  <a:lnTo>
                    <a:pt x="3181318" y="279496"/>
                  </a:lnTo>
                  <a:lnTo>
                    <a:pt x="3133251" y="284928"/>
                  </a:lnTo>
                  <a:lnTo>
                    <a:pt x="3082908" y="290162"/>
                  </a:lnTo>
                  <a:lnTo>
                    <a:pt x="3030361" y="295192"/>
                  </a:lnTo>
                  <a:lnTo>
                    <a:pt x="2975684" y="300011"/>
                  </a:lnTo>
                  <a:lnTo>
                    <a:pt x="2918948" y="304611"/>
                  </a:lnTo>
                  <a:lnTo>
                    <a:pt x="2860228" y="308987"/>
                  </a:lnTo>
                  <a:lnTo>
                    <a:pt x="2799595" y="313131"/>
                  </a:lnTo>
                  <a:lnTo>
                    <a:pt x="2737122" y="317036"/>
                  </a:lnTo>
                  <a:lnTo>
                    <a:pt x="2672883" y="320695"/>
                  </a:lnTo>
                  <a:lnTo>
                    <a:pt x="2606950" y="324102"/>
                  </a:lnTo>
                  <a:lnTo>
                    <a:pt x="2539395" y="327248"/>
                  </a:lnTo>
                  <a:lnTo>
                    <a:pt x="2470292" y="330128"/>
                  </a:lnTo>
                  <a:lnTo>
                    <a:pt x="2399714" y="332734"/>
                  </a:lnTo>
                  <a:lnTo>
                    <a:pt x="2327733" y="335060"/>
                  </a:lnTo>
                  <a:lnTo>
                    <a:pt x="2254421" y="337098"/>
                  </a:lnTo>
                  <a:lnTo>
                    <a:pt x="2179853" y="338842"/>
                  </a:lnTo>
                  <a:lnTo>
                    <a:pt x="2104100" y="340284"/>
                  </a:lnTo>
                  <a:lnTo>
                    <a:pt x="2027235" y="341418"/>
                  </a:lnTo>
                  <a:lnTo>
                    <a:pt x="1949332" y="342236"/>
                  </a:lnTo>
                  <a:lnTo>
                    <a:pt x="1870462" y="342733"/>
                  </a:lnTo>
                  <a:lnTo>
                    <a:pt x="1790700" y="342900"/>
                  </a:lnTo>
                  <a:lnTo>
                    <a:pt x="1710937" y="342733"/>
                  </a:lnTo>
                  <a:lnTo>
                    <a:pt x="1632067" y="342236"/>
                  </a:lnTo>
                  <a:lnTo>
                    <a:pt x="1554164" y="341418"/>
                  </a:lnTo>
                  <a:lnTo>
                    <a:pt x="1477299" y="340284"/>
                  </a:lnTo>
                  <a:lnTo>
                    <a:pt x="1401546" y="338842"/>
                  </a:lnTo>
                  <a:lnTo>
                    <a:pt x="1326978" y="337098"/>
                  </a:lnTo>
                  <a:lnTo>
                    <a:pt x="1253666" y="335060"/>
                  </a:lnTo>
                  <a:lnTo>
                    <a:pt x="1181685" y="332734"/>
                  </a:lnTo>
                  <a:lnTo>
                    <a:pt x="1111107" y="330128"/>
                  </a:lnTo>
                  <a:lnTo>
                    <a:pt x="1042004" y="327248"/>
                  </a:lnTo>
                  <a:lnTo>
                    <a:pt x="974449" y="324102"/>
                  </a:lnTo>
                  <a:lnTo>
                    <a:pt x="908516" y="320695"/>
                  </a:lnTo>
                  <a:lnTo>
                    <a:pt x="844277" y="317036"/>
                  </a:lnTo>
                  <a:lnTo>
                    <a:pt x="781804" y="313131"/>
                  </a:lnTo>
                  <a:lnTo>
                    <a:pt x="721171" y="308987"/>
                  </a:lnTo>
                  <a:lnTo>
                    <a:pt x="662451" y="304611"/>
                  </a:lnTo>
                  <a:lnTo>
                    <a:pt x="605715" y="300011"/>
                  </a:lnTo>
                  <a:lnTo>
                    <a:pt x="551038" y="295192"/>
                  </a:lnTo>
                  <a:lnTo>
                    <a:pt x="498491" y="290162"/>
                  </a:lnTo>
                  <a:lnTo>
                    <a:pt x="448148" y="284928"/>
                  </a:lnTo>
                  <a:lnTo>
                    <a:pt x="400081" y="279496"/>
                  </a:lnTo>
                  <a:lnTo>
                    <a:pt x="354364" y="273875"/>
                  </a:lnTo>
                  <a:lnTo>
                    <a:pt x="311068" y="268070"/>
                  </a:lnTo>
                  <a:lnTo>
                    <a:pt x="270267" y="262089"/>
                  </a:lnTo>
                  <a:lnTo>
                    <a:pt x="232034" y="255938"/>
                  </a:lnTo>
                  <a:lnTo>
                    <a:pt x="163561" y="243157"/>
                  </a:lnTo>
                  <a:lnTo>
                    <a:pt x="106232" y="229781"/>
                  </a:lnTo>
                  <a:lnTo>
                    <a:pt x="60629" y="215867"/>
                  </a:lnTo>
                  <a:lnTo>
                    <a:pt x="15484" y="194108"/>
                  </a:lnTo>
                  <a:lnTo>
                    <a:pt x="0" y="171450"/>
                  </a:lnTo>
                  <a:close/>
                </a:path>
              </a:pathLst>
            </a:custGeom>
            <a:ln w="12700">
              <a:solidFill>
                <a:srgbClr val="919191"/>
              </a:solidFill>
            </a:ln>
          </p:spPr>
          <p:txBody>
            <a:bodyPr wrap="square" lIns="0" tIns="0" rIns="0" bIns="0" rtlCol="0"/>
            <a:lstStyle/>
            <a:p>
              <a:endParaRPr/>
            </a:p>
          </p:txBody>
        </p:sp>
        <p:sp>
          <p:nvSpPr>
            <p:cNvPr id="9" name="object 8">
              <a:extLst>
                <a:ext uri="{FF2B5EF4-FFF2-40B4-BE49-F238E27FC236}">
                  <a16:creationId xmlns:a16="http://schemas.microsoft.com/office/drawing/2014/main" id="{804BF56F-A6DD-4D3F-8532-965E451FC5F8}"/>
                </a:ext>
              </a:extLst>
            </p:cNvPr>
            <p:cNvSpPr/>
            <p:nvPr/>
          </p:nvSpPr>
          <p:spPr>
            <a:xfrm>
              <a:off x="1200150" y="4686300"/>
              <a:ext cx="3581400" cy="342900"/>
            </a:xfrm>
            <a:custGeom>
              <a:avLst/>
              <a:gdLst/>
              <a:ahLst/>
              <a:cxnLst/>
              <a:rect l="l" t="t" r="r" b="b"/>
              <a:pathLst>
                <a:path w="3581400" h="342900">
                  <a:moveTo>
                    <a:pt x="1790700" y="0"/>
                  </a:moveTo>
                  <a:lnTo>
                    <a:pt x="1710937" y="166"/>
                  </a:lnTo>
                  <a:lnTo>
                    <a:pt x="1401547" y="4057"/>
                  </a:lnTo>
                  <a:lnTo>
                    <a:pt x="1111108" y="12771"/>
                  </a:lnTo>
                  <a:lnTo>
                    <a:pt x="844280" y="25863"/>
                  </a:lnTo>
                  <a:lnTo>
                    <a:pt x="662455" y="38288"/>
                  </a:lnTo>
                  <a:lnTo>
                    <a:pt x="551042" y="47707"/>
                  </a:lnTo>
                  <a:lnTo>
                    <a:pt x="448153" y="57971"/>
                  </a:lnTo>
                  <a:lnTo>
                    <a:pt x="354369" y="69024"/>
                  </a:lnTo>
                  <a:lnTo>
                    <a:pt x="311074" y="74829"/>
                  </a:lnTo>
                  <a:lnTo>
                    <a:pt x="270273" y="80810"/>
                  </a:lnTo>
                  <a:lnTo>
                    <a:pt x="232040" y="86961"/>
                  </a:lnTo>
                  <a:lnTo>
                    <a:pt x="163567" y="99742"/>
                  </a:lnTo>
                  <a:lnTo>
                    <a:pt x="106237" y="113118"/>
                  </a:lnTo>
                  <a:lnTo>
                    <a:pt x="60633" y="127032"/>
                  </a:lnTo>
                  <a:lnTo>
                    <a:pt x="15487" y="148791"/>
                  </a:lnTo>
                  <a:lnTo>
                    <a:pt x="0" y="171450"/>
                  </a:lnTo>
                  <a:lnTo>
                    <a:pt x="1744" y="179091"/>
                  </a:lnTo>
                  <a:lnTo>
                    <a:pt x="42406" y="208726"/>
                  </a:lnTo>
                  <a:lnTo>
                    <a:pt x="81928" y="222888"/>
                  </a:lnTo>
                  <a:lnTo>
                    <a:pt x="133467" y="236540"/>
                  </a:lnTo>
                  <a:lnTo>
                    <a:pt x="196441" y="249626"/>
                  </a:lnTo>
                  <a:lnTo>
                    <a:pt x="270267" y="262089"/>
                  </a:lnTo>
                  <a:lnTo>
                    <a:pt x="311068" y="268070"/>
                  </a:lnTo>
                  <a:lnTo>
                    <a:pt x="354364" y="273875"/>
                  </a:lnTo>
                  <a:lnTo>
                    <a:pt x="400081" y="279496"/>
                  </a:lnTo>
                  <a:lnTo>
                    <a:pt x="498491" y="290162"/>
                  </a:lnTo>
                  <a:lnTo>
                    <a:pt x="605715" y="300011"/>
                  </a:lnTo>
                  <a:lnTo>
                    <a:pt x="781804" y="313131"/>
                  </a:lnTo>
                  <a:lnTo>
                    <a:pt x="974449" y="324102"/>
                  </a:lnTo>
                  <a:lnTo>
                    <a:pt x="1181685" y="332734"/>
                  </a:lnTo>
                  <a:lnTo>
                    <a:pt x="1477299" y="340284"/>
                  </a:lnTo>
                  <a:lnTo>
                    <a:pt x="1790700" y="342900"/>
                  </a:lnTo>
                  <a:lnTo>
                    <a:pt x="2104100" y="340284"/>
                  </a:lnTo>
                  <a:lnTo>
                    <a:pt x="2399714" y="332734"/>
                  </a:lnTo>
                  <a:lnTo>
                    <a:pt x="2606950" y="324102"/>
                  </a:lnTo>
                  <a:lnTo>
                    <a:pt x="2799595" y="313131"/>
                  </a:lnTo>
                  <a:lnTo>
                    <a:pt x="2975684" y="300011"/>
                  </a:lnTo>
                  <a:lnTo>
                    <a:pt x="3082908" y="290162"/>
                  </a:lnTo>
                  <a:lnTo>
                    <a:pt x="3181318" y="279496"/>
                  </a:lnTo>
                  <a:lnTo>
                    <a:pt x="3227035" y="273875"/>
                  </a:lnTo>
                  <a:lnTo>
                    <a:pt x="3270331" y="268070"/>
                  </a:lnTo>
                  <a:lnTo>
                    <a:pt x="3311132" y="262089"/>
                  </a:lnTo>
                  <a:lnTo>
                    <a:pt x="3349365" y="255938"/>
                  </a:lnTo>
                  <a:lnTo>
                    <a:pt x="3417838" y="243157"/>
                  </a:lnTo>
                  <a:lnTo>
                    <a:pt x="3475167" y="229781"/>
                  </a:lnTo>
                  <a:lnTo>
                    <a:pt x="3520770" y="215867"/>
                  </a:lnTo>
                  <a:lnTo>
                    <a:pt x="3565915" y="194108"/>
                  </a:lnTo>
                  <a:lnTo>
                    <a:pt x="3581400" y="171450"/>
                  </a:lnTo>
                  <a:lnTo>
                    <a:pt x="3579655" y="163808"/>
                  </a:lnTo>
                  <a:lnTo>
                    <a:pt x="3538993" y="134173"/>
                  </a:lnTo>
                  <a:lnTo>
                    <a:pt x="3499471" y="120011"/>
                  </a:lnTo>
                  <a:lnTo>
                    <a:pt x="3447932" y="106359"/>
                  </a:lnTo>
                  <a:lnTo>
                    <a:pt x="3384958" y="93273"/>
                  </a:lnTo>
                  <a:lnTo>
                    <a:pt x="3311132" y="80810"/>
                  </a:lnTo>
                  <a:lnTo>
                    <a:pt x="3270331" y="74829"/>
                  </a:lnTo>
                  <a:lnTo>
                    <a:pt x="3227035" y="69024"/>
                  </a:lnTo>
                  <a:lnTo>
                    <a:pt x="3133251" y="57971"/>
                  </a:lnTo>
                  <a:lnTo>
                    <a:pt x="3030361" y="47707"/>
                  </a:lnTo>
                  <a:lnTo>
                    <a:pt x="2918948" y="38288"/>
                  </a:lnTo>
                  <a:lnTo>
                    <a:pt x="2737122" y="25863"/>
                  </a:lnTo>
                  <a:lnTo>
                    <a:pt x="2470292" y="12771"/>
                  </a:lnTo>
                  <a:lnTo>
                    <a:pt x="2179853" y="4057"/>
                  </a:lnTo>
                  <a:lnTo>
                    <a:pt x="1870462" y="166"/>
                  </a:lnTo>
                  <a:lnTo>
                    <a:pt x="1790700" y="0"/>
                  </a:lnTo>
                  <a:close/>
                </a:path>
              </a:pathLst>
            </a:custGeom>
            <a:solidFill>
              <a:srgbClr val="919191"/>
            </a:solidFill>
          </p:spPr>
          <p:txBody>
            <a:bodyPr wrap="square" lIns="0" tIns="0" rIns="0" bIns="0" rtlCol="0"/>
            <a:lstStyle/>
            <a:p>
              <a:endParaRPr/>
            </a:p>
          </p:txBody>
        </p:sp>
        <p:sp>
          <p:nvSpPr>
            <p:cNvPr id="10" name="object 9">
              <a:extLst>
                <a:ext uri="{FF2B5EF4-FFF2-40B4-BE49-F238E27FC236}">
                  <a16:creationId xmlns:a16="http://schemas.microsoft.com/office/drawing/2014/main" id="{7B596D83-B29A-4DC2-B38F-FD21956631D0}"/>
                </a:ext>
              </a:extLst>
            </p:cNvPr>
            <p:cNvSpPr/>
            <p:nvPr/>
          </p:nvSpPr>
          <p:spPr>
            <a:xfrm>
              <a:off x="1200150" y="4686300"/>
              <a:ext cx="3581400" cy="342900"/>
            </a:xfrm>
            <a:custGeom>
              <a:avLst/>
              <a:gdLst/>
              <a:ahLst/>
              <a:cxnLst/>
              <a:rect l="l" t="t" r="r" b="b"/>
              <a:pathLst>
                <a:path w="3581400" h="342900">
                  <a:moveTo>
                    <a:pt x="0" y="171450"/>
                  </a:moveTo>
                  <a:lnTo>
                    <a:pt x="27337" y="141429"/>
                  </a:lnTo>
                  <a:lnTo>
                    <a:pt x="81933" y="120011"/>
                  </a:lnTo>
                  <a:lnTo>
                    <a:pt x="133472" y="106359"/>
                  </a:lnTo>
                  <a:lnTo>
                    <a:pt x="196447" y="93273"/>
                  </a:lnTo>
                  <a:lnTo>
                    <a:pt x="270273" y="80810"/>
                  </a:lnTo>
                  <a:lnTo>
                    <a:pt x="311074" y="74829"/>
                  </a:lnTo>
                  <a:lnTo>
                    <a:pt x="354369" y="69024"/>
                  </a:lnTo>
                  <a:lnTo>
                    <a:pt x="400087" y="63403"/>
                  </a:lnTo>
                  <a:lnTo>
                    <a:pt x="448153" y="57971"/>
                  </a:lnTo>
                  <a:lnTo>
                    <a:pt x="498496" y="52737"/>
                  </a:lnTo>
                  <a:lnTo>
                    <a:pt x="551042" y="47707"/>
                  </a:lnTo>
                  <a:lnTo>
                    <a:pt x="605720" y="42888"/>
                  </a:lnTo>
                  <a:lnTo>
                    <a:pt x="662455" y="38288"/>
                  </a:lnTo>
                  <a:lnTo>
                    <a:pt x="721175" y="33912"/>
                  </a:lnTo>
                  <a:lnTo>
                    <a:pt x="781808" y="29768"/>
                  </a:lnTo>
                  <a:lnTo>
                    <a:pt x="844280" y="25863"/>
                  </a:lnTo>
                  <a:lnTo>
                    <a:pt x="908519" y="22204"/>
                  </a:lnTo>
                  <a:lnTo>
                    <a:pt x="974452" y="18797"/>
                  </a:lnTo>
                  <a:lnTo>
                    <a:pt x="1042006" y="15651"/>
                  </a:lnTo>
                  <a:lnTo>
                    <a:pt x="1111108" y="12771"/>
                  </a:lnTo>
                  <a:lnTo>
                    <a:pt x="1181687" y="10165"/>
                  </a:lnTo>
                  <a:lnTo>
                    <a:pt x="1253668" y="7839"/>
                  </a:lnTo>
                  <a:lnTo>
                    <a:pt x="1326979" y="5801"/>
                  </a:lnTo>
                  <a:lnTo>
                    <a:pt x="1401547" y="4057"/>
                  </a:lnTo>
                  <a:lnTo>
                    <a:pt x="1477300" y="2615"/>
                  </a:lnTo>
                  <a:lnTo>
                    <a:pt x="1554164" y="1481"/>
                  </a:lnTo>
                  <a:lnTo>
                    <a:pt x="1632067" y="663"/>
                  </a:lnTo>
                  <a:lnTo>
                    <a:pt x="1710937" y="166"/>
                  </a:lnTo>
                  <a:lnTo>
                    <a:pt x="1790700" y="0"/>
                  </a:lnTo>
                  <a:lnTo>
                    <a:pt x="1870462" y="166"/>
                  </a:lnTo>
                  <a:lnTo>
                    <a:pt x="1949332" y="663"/>
                  </a:lnTo>
                  <a:lnTo>
                    <a:pt x="2027235" y="1481"/>
                  </a:lnTo>
                  <a:lnTo>
                    <a:pt x="2104100" y="2615"/>
                  </a:lnTo>
                  <a:lnTo>
                    <a:pt x="2179853" y="4057"/>
                  </a:lnTo>
                  <a:lnTo>
                    <a:pt x="2254421" y="5801"/>
                  </a:lnTo>
                  <a:lnTo>
                    <a:pt x="2327733" y="7839"/>
                  </a:lnTo>
                  <a:lnTo>
                    <a:pt x="2399714" y="10165"/>
                  </a:lnTo>
                  <a:lnTo>
                    <a:pt x="2470292" y="12771"/>
                  </a:lnTo>
                  <a:lnTo>
                    <a:pt x="2539395" y="15651"/>
                  </a:lnTo>
                  <a:lnTo>
                    <a:pt x="2606950" y="18797"/>
                  </a:lnTo>
                  <a:lnTo>
                    <a:pt x="2672883" y="22204"/>
                  </a:lnTo>
                  <a:lnTo>
                    <a:pt x="2737122" y="25863"/>
                  </a:lnTo>
                  <a:lnTo>
                    <a:pt x="2799595" y="29768"/>
                  </a:lnTo>
                  <a:lnTo>
                    <a:pt x="2860228" y="33912"/>
                  </a:lnTo>
                  <a:lnTo>
                    <a:pt x="2918948" y="38288"/>
                  </a:lnTo>
                  <a:lnTo>
                    <a:pt x="2975684" y="42888"/>
                  </a:lnTo>
                  <a:lnTo>
                    <a:pt x="3030361" y="47707"/>
                  </a:lnTo>
                  <a:lnTo>
                    <a:pt x="3082908" y="52737"/>
                  </a:lnTo>
                  <a:lnTo>
                    <a:pt x="3133251" y="57971"/>
                  </a:lnTo>
                  <a:lnTo>
                    <a:pt x="3181318" y="63403"/>
                  </a:lnTo>
                  <a:lnTo>
                    <a:pt x="3227035" y="69024"/>
                  </a:lnTo>
                  <a:lnTo>
                    <a:pt x="3270331" y="74829"/>
                  </a:lnTo>
                  <a:lnTo>
                    <a:pt x="3311132" y="80810"/>
                  </a:lnTo>
                  <a:lnTo>
                    <a:pt x="3349365" y="86961"/>
                  </a:lnTo>
                  <a:lnTo>
                    <a:pt x="3417838" y="99742"/>
                  </a:lnTo>
                  <a:lnTo>
                    <a:pt x="3475167" y="113118"/>
                  </a:lnTo>
                  <a:lnTo>
                    <a:pt x="3520770" y="127032"/>
                  </a:lnTo>
                  <a:lnTo>
                    <a:pt x="3565915" y="148791"/>
                  </a:lnTo>
                  <a:lnTo>
                    <a:pt x="3581400" y="171450"/>
                  </a:lnTo>
                  <a:lnTo>
                    <a:pt x="3579655" y="179091"/>
                  </a:lnTo>
                  <a:lnTo>
                    <a:pt x="3574469" y="186646"/>
                  </a:lnTo>
                  <a:lnTo>
                    <a:pt x="3538993" y="208726"/>
                  </a:lnTo>
                  <a:lnTo>
                    <a:pt x="3499471" y="222888"/>
                  </a:lnTo>
                  <a:lnTo>
                    <a:pt x="3447932" y="236540"/>
                  </a:lnTo>
                  <a:lnTo>
                    <a:pt x="3384958" y="249626"/>
                  </a:lnTo>
                  <a:lnTo>
                    <a:pt x="3311132" y="262089"/>
                  </a:lnTo>
                  <a:lnTo>
                    <a:pt x="3270331" y="268070"/>
                  </a:lnTo>
                  <a:lnTo>
                    <a:pt x="3227035" y="273875"/>
                  </a:lnTo>
                  <a:lnTo>
                    <a:pt x="3181318" y="279496"/>
                  </a:lnTo>
                  <a:lnTo>
                    <a:pt x="3133251" y="284928"/>
                  </a:lnTo>
                  <a:lnTo>
                    <a:pt x="3082908" y="290162"/>
                  </a:lnTo>
                  <a:lnTo>
                    <a:pt x="3030361" y="295192"/>
                  </a:lnTo>
                  <a:lnTo>
                    <a:pt x="2975684" y="300011"/>
                  </a:lnTo>
                  <a:lnTo>
                    <a:pt x="2918948" y="304611"/>
                  </a:lnTo>
                  <a:lnTo>
                    <a:pt x="2860228" y="308987"/>
                  </a:lnTo>
                  <a:lnTo>
                    <a:pt x="2799595" y="313131"/>
                  </a:lnTo>
                  <a:lnTo>
                    <a:pt x="2737122" y="317036"/>
                  </a:lnTo>
                  <a:lnTo>
                    <a:pt x="2672883" y="320695"/>
                  </a:lnTo>
                  <a:lnTo>
                    <a:pt x="2606950" y="324102"/>
                  </a:lnTo>
                  <a:lnTo>
                    <a:pt x="2539395" y="327248"/>
                  </a:lnTo>
                  <a:lnTo>
                    <a:pt x="2470292" y="330128"/>
                  </a:lnTo>
                  <a:lnTo>
                    <a:pt x="2399714" y="332734"/>
                  </a:lnTo>
                  <a:lnTo>
                    <a:pt x="2327733" y="335060"/>
                  </a:lnTo>
                  <a:lnTo>
                    <a:pt x="2254421" y="337098"/>
                  </a:lnTo>
                  <a:lnTo>
                    <a:pt x="2179853" y="338842"/>
                  </a:lnTo>
                  <a:lnTo>
                    <a:pt x="2104100" y="340284"/>
                  </a:lnTo>
                  <a:lnTo>
                    <a:pt x="2027235" y="341418"/>
                  </a:lnTo>
                  <a:lnTo>
                    <a:pt x="1949332" y="342236"/>
                  </a:lnTo>
                  <a:lnTo>
                    <a:pt x="1870462" y="342733"/>
                  </a:lnTo>
                  <a:lnTo>
                    <a:pt x="1790700" y="342900"/>
                  </a:lnTo>
                  <a:lnTo>
                    <a:pt x="1710937" y="342733"/>
                  </a:lnTo>
                  <a:lnTo>
                    <a:pt x="1632067" y="342236"/>
                  </a:lnTo>
                  <a:lnTo>
                    <a:pt x="1554164" y="341418"/>
                  </a:lnTo>
                  <a:lnTo>
                    <a:pt x="1477299" y="340284"/>
                  </a:lnTo>
                  <a:lnTo>
                    <a:pt x="1401546" y="338842"/>
                  </a:lnTo>
                  <a:lnTo>
                    <a:pt x="1326978" y="337098"/>
                  </a:lnTo>
                  <a:lnTo>
                    <a:pt x="1253666" y="335060"/>
                  </a:lnTo>
                  <a:lnTo>
                    <a:pt x="1181685" y="332734"/>
                  </a:lnTo>
                  <a:lnTo>
                    <a:pt x="1111107" y="330128"/>
                  </a:lnTo>
                  <a:lnTo>
                    <a:pt x="1042004" y="327248"/>
                  </a:lnTo>
                  <a:lnTo>
                    <a:pt x="974449" y="324102"/>
                  </a:lnTo>
                  <a:lnTo>
                    <a:pt x="908516" y="320695"/>
                  </a:lnTo>
                  <a:lnTo>
                    <a:pt x="844277" y="317036"/>
                  </a:lnTo>
                  <a:lnTo>
                    <a:pt x="781804" y="313131"/>
                  </a:lnTo>
                  <a:lnTo>
                    <a:pt x="721171" y="308987"/>
                  </a:lnTo>
                  <a:lnTo>
                    <a:pt x="662451" y="304611"/>
                  </a:lnTo>
                  <a:lnTo>
                    <a:pt x="605715" y="300011"/>
                  </a:lnTo>
                  <a:lnTo>
                    <a:pt x="551038" y="295192"/>
                  </a:lnTo>
                  <a:lnTo>
                    <a:pt x="498491" y="290162"/>
                  </a:lnTo>
                  <a:lnTo>
                    <a:pt x="448148" y="284928"/>
                  </a:lnTo>
                  <a:lnTo>
                    <a:pt x="400081" y="279496"/>
                  </a:lnTo>
                  <a:lnTo>
                    <a:pt x="354364" y="273875"/>
                  </a:lnTo>
                  <a:lnTo>
                    <a:pt x="311068" y="268070"/>
                  </a:lnTo>
                  <a:lnTo>
                    <a:pt x="270267" y="262089"/>
                  </a:lnTo>
                  <a:lnTo>
                    <a:pt x="232034" y="255938"/>
                  </a:lnTo>
                  <a:lnTo>
                    <a:pt x="163561" y="243157"/>
                  </a:lnTo>
                  <a:lnTo>
                    <a:pt x="106232" y="229781"/>
                  </a:lnTo>
                  <a:lnTo>
                    <a:pt x="60629" y="215867"/>
                  </a:lnTo>
                  <a:lnTo>
                    <a:pt x="15484" y="194108"/>
                  </a:lnTo>
                  <a:lnTo>
                    <a:pt x="0" y="171450"/>
                  </a:lnTo>
                  <a:close/>
                </a:path>
              </a:pathLst>
            </a:custGeom>
            <a:ln w="12700">
              <a:solidFill>
                <a:srgbClr val="919191"/>
              </a:solidFill>
            </a:ln>
          </p:spPr>
          <p:txBody>
            <a:bodyPr wrap="square" lIns="0" tIns="0" rIns="0" bIns="0" rtlCol="0"/>
            <a:lstStyle/>
            <a:p>
              <a:endParaRPr/>
            </a:p>
          </p:txBody>
        </p:sp>
        <p:sp>
          <p:nvSpPr>
            <p:cNvPr id="11" name="object 10">
              <a:extLst>
                <a:ext uri="{FF2B5EF4-FFF2-40B4-BE49-F238E27FC236}">
                  <a16:creationId xmlns:a16="http://schemas.microsoft.com/office/drawing/2014/main" id="{EA1E8001-176D-4ACA-8182-85158DD72703}"/>
                </a:ext>
              </a:extLst>
            </p:cNvPr>
            <p:cNvSpPr/>
            <p:nvPr/>
          </p:nvSpPr>
          <p:spPr>
            <a:xfrm>
              <a:off x="1181100" y="5448300"/>
              <a:ext cx="3581400" cy="342900"/>
            </a:xfrm>
            <a:custGeom>
              <a:avLst/>
              <a:gdLst/>
              <a:ahLst/>
              <a:cxnLst/>
              <a:rect l="l" t="t" r="r" b="b"/>
              <a:pathLst>
                <a:path w="3581400" h="342900">
                  <a:moveTo>
                    <a:pt x="1790700" y="0"/>
                  </a:moveTo>
                  <a:lnTo>
                    <a:pt x="1710937" y="166"/>
                  </a:lnTo>
                  <a:lnTo>
                    <a:pt x="1401547" y="4057"/>
                  </a:lnTo>
                  <a:lnTo>
                    <a:pt x="1111108" y="12771"/>
                  </a:lnTo>
                  <a:lnTo>
                    <a:pt x="844280" y="25863"/>
                  </a:lnTo>
                  <a:lnTo>
                    <a:pt x="662455" y="38288"/>
                  </a:lnTo>
                  <a:lnTo>
                    <a:pt x="551042" y="47707"/>
                  </a:lnTo>
                  <a:lnTo>
                    <a:pt x="448153" y="57971"/>
                  </a:lnTo>
                  <a:lnTo>
                    <a:pt x="354369" y="69024"/>
                  </a:lnTo>
                  <a:lnTo>
                    <a:pt x="311074" y="74829"/>
                  </a:lnTo>
                  <a:lnTo>
                    <a:pt x="270273" y="80810"/>
                  </a:lnTo>
                  <a:lnTo>
                    <a:pt x="232040" y="86961"/>
                  </a:lnTo>
                  <a:lnTo>
                    <a:pt x="163567" y="99742"/>
                  </a:lnTo>
                  <a:lnTo>
                    <a:pt x="106237" y="113118"/>
                  </a:lnTo>
                  <a:lnTo>
                    <a:pt x="60633" y="127032"/>
                  </a:lnTo>
                  <a:lnTo>
                    <a:pt x="15487" y="148791"/>
                  </a:lnTo>
                  <a:lnTo>
                    <a:pt x="0" y="171450"/>
                  </a:lnTo>
                  <a:lnTo>
                    <a:pt x="1744" y="179087"/>
                  </a:lnTo>
                  <a:lnTo>
                    <a:pt x="42406" y="208710"/>
                  </a:lnTo>
                  <a:lnTo>
                    <a:pt x="81928" y="222869"/>
                  </a:lnTo>
                  <a:lnTo>
                    <a:pt x="133467" y="236519"/>
                  </a:lnTo>
                  <a:lnTo>
                    <a:pt x="196441" y="249603"/>
                  </a:lnTo>
                  <a:lnTo>
                    <a:pt x="270267" y="262066"/>
                  </a:lnTo>
                  <a:lnTo>
                    <a:pt x="311068" y="268048"/>
                  </a:lnTo>
                  <a:lnTo>
                    <a:pt x="354364" y="273853"/>
                  </a:lnTo>
                  <a:lnTo>
                    <a:pt x="400081" y="279475"/>
                  </a:lnTo>
                  <a:lnTo>
                    <a:pt x="498491" y="290142"/>
                  </a:lnTo>
                  <a:lnTo>
                    <a:pt x="605715" y="299993"/>
                  </a:lnTo>
                  <a:lnTo>
                    <a:pt x="781804" y="313118"/>
                  </a:lnTo>
                  <a:lnTo>
                    <a:pt x="974449" y="324092"/>
                  </a:lnTo>
                  <a:lnTo>
                    <a:pt x="1181685" y="332729"/>
                  </a:lnTo>
                  <a:lnTo>
                    <a:pt x="1477299" y="340283"/>
                  </a:lnTo>
                  <a:lnTo>
                    <a:pt x="1790700" y="342900"/>
                  </a:lnTo>
                  <a:lnTo>
                    <a:pt x="1870462" y="342732"/>
                  </a:lnTo>
                  <a:lnTo>
                    <a:pt x="2179853" y="338839"/>
                  </a:lnTo>
                  <a:lnTo>
                    <a:pt x="2470292" y="330121"/>
                  </a:lnTo>
                  <a:lnTo>
                    <a:pt x="2672883" y="320684"/>
                  </a:lnTo>
                  <a:lnTo>
                    <a:pt x="2860228" y="308972"/>
                  </a:lnTo>
                  <a:lnTo>
                    <a:pt x="2975684" y="299993"/>
                  </a:lnTo>
                  <a:lnTo>
                    <a:pt x="3082908" y="290142"/>
                  </a:lnTo>
                  <a:lnTo>
                    <a:pt x="3181318" y="279475"/>
                  </a:lnTo>
                  <a:lnTo>
                    <a:pt x="3227035" y="273853"/>
                  </a:lnTo>
                  <a:lnTo>
                    <a:pt x="3270331" y="268048"/>
                  </a:lnTo>
                  <a:lnTo>
                    <a:pt x="3311132" y="262066"/>
                  </a:lnTo>
                  <a:lnTo>
                    <a:pt x="3349365" y="255916"/>
                  </a:lnTo>
                  <a:lnTo>
                    <a:pt x="3417838" y="243135"/>
                  </a:lnTo>
                  <a:lnTo>
                    <a:pt x="3475167" y="229761"/>
                  </a:lnTo>
                  <a:lnTo>
                    <a:pt x="3520770" y="215850"/>
                  </a:lnTo>
                  <a:lnTo>
                    <a:pt x="3565915" y="194097"/>
                  </a:lnTo>
                  <a:lnTo>
                    <a:pt x="3581400" y="171450"/>
                  </a:lnTo>
                  <a:lnTo>
                    <a:pt x="3579655" y="163808"/>
                  </a:lnTo>
                  <a:lnTo>
                    <a:pt x="3538993" y="134173"/>
                  </a:lnTo>
                  <a:lnTo>
                    <a:pt x="3499471" y="120011"/>
                  </a:lnTo>
                  <a:lnTo>
                    <a:pt x="3447932" y="106359"/>
                  </a:lnTo>
                  <a:lnTo>
                    <a:pt x="3384958" y="93273"/>
                  </a:lnTo>
                  <a:lnTo>
                    <a:pt x="3311132" y="80810"/>
                  </a:lnTo>
                  <a:lnTo>
                    <a:pt x="3270331" y="74829"/>
                  </a:lnTo>
                  <a:lnTo>
                    <a:pt x="3227035" y="69024"/>
                  </a:lnTo>
                  <a:lnTo>
                    <a:pt x="3133251" y="57971"/>
                  </a:lnTo>
                  <a:lnTo>
                    <a:pt x="3030361" y="47707"/>
                  </a:lnTo>
                  <a:lnTo>
                    <a:pt x="2918948" y="38288"/>
                  </a:lnTo>
                  <a:lnTo>
                    <a:pt x="2737122" y="25863"/>
                  </a:lnTo>
                  <a:lnTo>
                    <a:pt x="2470292" y="12771"/>
                  </a:lnTo>
                  <a:lnTo>
                    <a:pt x="2179853" y="4057"/>
                  </a:lnTo>
                  <a:lnTo>
                    <a:pt x="1870462" y="166"/>
                  </a:lnTo>
                  <a:lnTo>
                    <a:pt x="1790700" y="0"/>
                  </a:lnTo>
                  <a:close/>
                </a:path>
              </a:pathLst>
            </a:custGeom>
            <a:solidFill>
              <a:srgbClr val="919191"/>
            </a:solidFill>
          </p:spPr>
          <p:txBody>
            <a:bodyPr wrap="square" lIns="0" tIns="0" rIns="0" bIns="0" rtlCol="0"/>
            <a:lstStyle/>
            <a:p>
              <a:endParaRPr/>
            </a:p>
          </p:txBody>
        </p:sp>
        <p:sp>
          <p:nvSpPr>
            <p:cNvPr id="12" name="object 11">
              <a:extLst>
                <a:ext uri="{FF2B5EF4-FFF2-40B4-BE49-F238E27FC236}">
                  <a16:creationId xmlns:a16="http://schemas.microsoft.com/office/drawing/2014/main" id="{3C855F70-EC1D-4A85-A53A-D45063EC4C26}"/>
                </a:ext>
              </a:extLst>
            </p:cNvPr>
            <p:cNvSpPr/>
            <p:nvPr/>
          </p:nvSpPr>
          <p:spPr>
            <a:xfrm>
              <a:off x="1181100" y="5448300"/>
              <a:ext cx="3581400" cy="342900"/>
            </a:xfrm>
            <a:custGeom>
              <a:avLst/>
              <a:gdLst/>
              <a:ahLst/>
              <a:cxnLst/>
              <a:rect l="l" t="t" r="r" b="b"/>
              <a:pathLst>
                <a:path w="3581400" h="342900">
                  <a:moveTo>
                    <a:pt x="0" y="171450"/>
                  </a:moveTo>
                  <a:lnTo>
                    <a:pt x="27337" y="141429"/>
                  </a:lnTo>
                  <a:lnTo>
                    <a:pt x="81933" y="120011"/>
                  </a:lnTo>
                  <a:lnTo>
                    <a:pt x="133472" y="106359"/>
                  </a:lnTo>
                  <a:lnTo>
                    <a:pt x="196447" y="93273"/>
                  </a:lnTo>
                  <a:lnTo>
                    <a:pt x="270273" y="80810"/>
                  </a:lnTo>
                  <a:lnTo>
                    <a:pt x="311074" y="74829"/>
                  </a:lnTo>
                  <a:lnTo>
                    <a:pt x="354369" y="69024"/>
                  </a:lnTo>
                  <a:lnTo>
                    <a:pt x="400087" y="63403"/>
                  </a:lnTo>
                  <a:lnTo>
                    <a:pt x="448153" y="57971"/>
                  </a:lnTo>
                  <a:lnTo>
                    <a:pt x="498496" y="52737"/>
                  </a:lnTo>
                  <a:lnTo>
                    <a:pt x="551042" y="47707"/>
                  </a:lnTo>
                  <a:lnTo>
                    <a:pt x="605720" y="42888"/>
                  </a:lnTo>
                  <a:lnTo>
                    <a:pt x="662455" y="38288"/>
                  </a:lnTo>
                  <a:lnTo>
                    <a:pt x="721175" y="33912"/>
                  </a:lnTo>
                  <a:lnTo>
                    <a:pt x="781808" y="29768"/>
                  </a:lnTo>
                  <a:lnTo>
                    <a:pt x="844280" y="25863"/>
                  </a:lnTo>
                  <a:lnTo>
                    <a:pt x="908519" y="22204"/>
                  </a:lnTo>
                  <a:lnTo>
                    <a:pt x="974452" y="18797"/>
                  </a:lnTo>
                  <a:lnTo>
                    <a:pt x="1042006" y="15651"/>
                  </a:lnTo>
                  <a:lnTo>
                    <a:pt x="1111108" y="12771"/>
                  </a:lnTo>
                  <a:lnTo>
                    <a:pt x="1181687" y="10165"/>
                  </a:lnTo>
                  <a:lnTo>
                    <a:pt x="1253668" y="7839"/>
                  </a:lnTo>
                  <a:lnTo>
                    <a:pt x="1326979" y="5801"/>
                  </a:lnTo>
                  <a:lnTo>
                    <a:pt x="1401547" y="4057"/>
                  </a:lnTo>
                  <a:lnTo>
                    <a:pt x="1477300" y="2615"/>
                  </a:lnTo>
                  <a:lnTo>
                    <a:pt x="1554164" y="1481"/>
                  </a:lnTo>
                  <a:lnTo>
                    <a:pt x="1632067" y="663"/>
                  </a:lnTo>
                  <a:lnTo>
                    <a:pt x="1710937" y="166"/>
                  </a:lnTo>
                  <a:lnTo>
                    <a:pt x="1790700" y="0"/>
                  </a:lnTo>
                  <a:lnTo>
                    <a:pt x="1870462" y="166"/>
                  </a:lnTo>
                  <a:lnTo>
                    <a:pt x="1949332" y="663"/>
                  </a:lnTo>
                  <a:lnTo>
                    <a:pt x="2027235" y="1481"/>
                  </a:lnTo>
                  <a:lnTo>
                    <a:pt x="2104100" y="2615"/>
                  </a:lnTo>
                  <a:lnTo>
                    <a:pt x="2179853" y="4057"/>
                  </a:lnTo>
                  <a:lnTo>
                    <a:pt x="2254421" y="5801"/>
                  </a:lnTo>
                  <a:lnTo>
                    <a:pt x="2327733" y="7839"/>
                  </a:lnTo>
                  <a:lnTo>
                    <a:pt x="2399714" y="10165"/>
                  </a:lnTo>
                  <a:lnTo>
                    <a:pt x="2470292" y="12771"/>
                  </a:lnTo>
                  <a:lnTo>
                    <a:pt x="2539395" y="15651"/>
                  </a:lnTo>
                  <a:lnTo>
                    <a:pt x="2606950" y="18797"/>
                  </a:lnTo>
                  <a:lnTo>
                    <a:pt x="2672883" y="22204"/>
                  </a:lnTo>
                  <a:lnTo>
                    <a:pt x="2737122" y="25863"/>
                  </a:lnTo>
                  <a:lnTo>
                    <a:pt x="2799595" y="29768"/>
                  </a:lnTo>
                  <a:lnTo>
                    <a:pt x="2860228" y="33912"/>
                  </a:lnTo>
                  <a:lnTo>
                    <a:pt x="2918948" y="38288"/>
                  </a:lnTo>
                  <a:lnTo>
                    <a:pt x="2975684" y="42888"/>
                  </a:lnTo>
                  <a:lnTo>
                    <a:pt x="3030361" y="47707"/>
                  </a:lnTo>
                  <a:lnTo>
                    <a:pt x="3082908" y="52737"/>
                  </a:lnTo>
                  <a:lnTo>
                    <a:pt x="3133251" y="57971"/>
                  </a:lnTo>
                  <a:lnTo>
                    <a:pt x="3181318" y="63403"/>
                  </a:lnTo>
                  <a:lnTo>
                    <a:pt x="3227035" y="69024"/>
                  </a:lnTo>
                  <a:lnTo>
                    <a:pt x="3270331" y="74829"/>
                  </a:lnTo>
                  <a:lnTo>
                    <a:pt x="3311132" y="80810"/>
                  </a:lnTo>
                  <a:lnTo>
                    <a:pt x="3349365" y="86961"/>
                  </a:lnTo>
                  <a:lnTo>
                    <a:pt x="3417838" y="99742"/>
                  </a:lnTo>
                  <a:lnTo>
                    <a:pt x="3475167" y="113118"/>
                  </a:lnTo>
                  <a:lnTo>
                    <a:pt x="3520770" y="127032"/>
                  </a:lnTo>
                  <a:lnTo>
                    <a:pt x="3565915" y="148791"/>
                  </a:lnTo>
                  <a:lnTo>
                    <a:pt x="3581400" y="171450"/>
                  </a:lnTo>
                  <a:lnTo>
                    <a:pt x="3579655" y="179087"/>
                  </a:lnTo>
                  <a:lnTo>
                    <a:pt x="3574469" y="186638"/>
                  </a:lnTo>
                  <a:lnTo>
                    <a:pt x="3538993" y="208710"/>
                  </a:lnTo>
                  <a:lnTo>
                    <a:pt x="3499471" y="222869"/>
                  </a:lnTo>
                  <a:lnTo>
                    <a:pt x="3447932" y="236519"/>
                  </a:lnTo>
                  <a:lnTo>
                    <a:pt x="3384958" y="249603"/>
                  </a:lnTo>
                  <a:lnTo>
                    <a:pt x="3311132" y="262066"/>
                  </a:lnTo>
                  <a:lnTo>
                    <a:pt x="3270331" y="268048"/>
                  </a:lnTo>
                  <a:lnTo>
                    <a:pt x="3227035" y="273853"/>
                  </a:lnTo>
                  <a:lnTo>
                    <a:pt x="3181318" y="279475"/>
                  </a:lnTo>
                  <a:lnTo>
                    <a:pt x="3133251" y="284907"/>
                  </a:lnTo>
                  <a:lnTo>
                    <a:pt x="3082908" y="290142"/>
                  </a:lnTo>
                  <a:lnTo>
                    <a:pt x="3030361" y="295173"/>
                  </a:lnTo>
                  <a:lnTo>
                    <a:pt x="2975684" y="299993"/>
                  </a:lnTo>
                  <a:lnTo>
                    <a:pt x="2918948" y="304595"/>
                  </a:lnTo>
                  <a:lnTo>
                    <a:pt x="2860228" y="308972"/>
                  </a:lnTo>
                  <a:lnTo>
                    <a:pt x="2799595" y="313118"/>
                  </a:lnTo>
                  <a:lnTo>
                    <a:pt x="2737122" y="317024"/>
                  </a:lnTo>
                  <a:lnTo>
                    <a:pt x="2672883" y="320684"/>
                  </a:lnTo>
                  <a:lnTo>
                    <a:pt x="2606950" y="324092"/>
                  </a:lnTo>
                  <a:lnTo>
                    <a:pt x="2539395" y="327240"/>
                  </a:lnTo>
                  <a:lnTo>
                    <a:pt x="2470292" y="330121"/>
                  </a:lnTo>
                  <a:lnTo>
                    <a:pt x="2399714" y="332729"/>
                  </a:lnTo>
                  <a:lnTo>
                    <a:pt x="2327733" y="335056"/>
                  </a:lnTo>
                  <a:lnTo>
                    <a:pt x="2254421" y="337095"/>
                  </a:lnTo>
                  <a:lnTo>
                    <a:pt x="2179853" y="338839"/>
                  </a:lnTo>
                  <a:lnTo>
                    <a:pt x="2104100" y="340283"/>
                  </a:lnTo>
                  <a:lnTo>
                    <a:pt x="2027235" y="341417"/>
                  </a:lnTo>
                  <a:lnTo>
                    <a:pt x="1949332" y="342236"/>
                  </a:lnTo>
                  <a:lnTo>
                    <a:pt x="1870462" y="342732"/>
                  </a:lnTo>
                  <a:lnTo>
                    <a:pt x="1790700" y="342900"/>
                  </a:lnTo>
                  <a:lnTo>
                    <a:pt x="1710937" y="342732"/>
                  </a:lnTo>
                  <a:lnTo>
                    <a:pt x="1632067" y="342236"/>
                  </a:lnTo>
                  <a:lnTo>
                    <a:pt x="1554164" y="341417"/>
                  </a:lnTo>
                  <a:lnTo>
                    <a:pt x="1477299" y="340283"/>
                  </a:lnTo>
                  <a:lnTo>
                    <a:pt x="1401546" y="338839"/>
                  </a:lnTo>
                  <a:lnTo>
                    <a:pt x="1326978" y="337095"/>
                  </a:lnTo>
                  <a:lnTo>
                    <a:pt x="1253666" y="335056"/>
                  </a:lnTo>
                  <a:lnTo>
                    <a:pt x="1181685" y="332729"/>
                  </a:lnTo>
                  <a:lnTo>
                    <a:pt x="1111107" y="330121"/>
                  </a:lnTo>
                  <a:lnTo>
                    <a:pt x="1042004" y="327240"/>
                  </a:lnTo>
                  <a:lnTo>
                    <a:pt x="974449" y="324092"/>
                  </a:lnTo>
                  <a:lnTo>
                    <a:pt x="908516" y="320684"/>
                  </a:lnTo>
                  <a:lnTo>
                    <a:pt x="844277" y="317024"/>
                  </a:lnTo>
                  <a:lnTo>
                    <a:pt x="781804" y="313118"/>
                  </a:lnTo>
                  <a:lnTo>
                    <a:pt x="721171" y="308972"/>
                  </a:lnTo>
                  <a:lnTo>
                    <a:pt x="662451" y="304595"/>
                  </a:lnTo>
                  <a:lnTo>
                    <a:pt x="605715" y="299993"/>
                  </a:lnTo>
                  <a:lnTo>
                    <a:pt x="551038" y="295173"/>
                  </a:lnTo>
                  <a:lnTo>
                    <a:pt x="498491" y="290142"/>
                  </a:lnTo>
                  <a:lnTo>
                    <a:pt x="448148" y="284907"/>
                  </a:lnTo>
                  <a:lnTo>
                    <a:pt x="400081" y="279475"/>
                  </a:lnTo>
                  <a:lnTo>
                    <a:pt x="354364" y="273853"/>
                  </a:lnTo>
                  <a:lnTo>
                    <a:pt x="311068" y="268048"/>
                  </a:lnTo>
                  <a:lnTo>
                    <a:pt x="270267" y="262066"/>
                  </a:lnTo>
                  <a:lnTo>
                    <a:pt x="232034" y="255916"/>
                  </a:lnTo>
                  <a:lnTo>
                    <a:pt x="163561" y="243135"/>
                  </a:lnTo>
                  <a:lnTo>
                    <a:pt x="106232" y="229761"/>
                  </a:lnTo>
                  <a:lnTo>
                    <a:pt x="60629" y="215850"/>
                  </a:lnTo>
                  <a:lnTo>
                    <a:pt x="15484" y="194097"/>
                  </a:lnTo>
                  <a:lnTo>
                    <a:pt x="0" y="171450"/>
                  </a:lnTo>
                  <a:close/>
                </a:path>
              </a:pathLst>
            </a:custGeom>
            <a:ln w="12700">
              <a:solidFill>
                <a:srgbClr val="919191"/>
              </a:solidFill>
            </a:ln>
          </p:spPr>
          <p:txBody>
            <a:bodyPr wrap="square" lIns="0" tIns="0" rIns="0" bIns="0" rtlCol="0"/>
            <a:lstStyle/>
            <a:p>
              <a:endParaRPr/>
            </a:p>
          </p:txBody>
        </p:sp>
      </p:grpSp>
      <p:sp>
        <p:nvSpPr>
          <p:cNvPr id="13" name="object 12">
            <a:extLst>
              <a:ext uri="{FF2B5EF4-FFF2-40B4-BE49-F238E27FC236}">
                <a16:creationId xmlns:a16="http://schemas.microsoft.com/office/drawing/2014/main" id="{FB483C0C-C7B4-4729-9CED-07E741395A9E}"/>
              </a:ext>
            </a:extLst>
          </p:cNvPr>
          <p:cNvSpPr txBox="1"/>
          <p:nvPr/>
        </p:nvSpPr>
        <p:spPr>
          <a:xfrm>
            <a:off x="5236527" y="2929638"/>
            <a:ext cx="1718945" cy="1028487"/>
          </a:xfrm>
          <a:prstGeom prst="rect">
            <a:avLst/>
          </a:prstGeom>
        </p:spPr>
        <p:txBody>
          <a:bodyPr vert="horz" wrap="square" lIns="0" tIns="12700" rIns="0" bIns="0" rtlCol="0">
            <a:spAutoFit/>
          </a:bodyPr>
          <a:lstStyle/>
          <a:p>
            <a:pPr marL="450215">
              <a:lnSpc>
                <a:spcPct val="100000"/>
              </a:lnSpc>
              <a:spcBef>
                <a:spcPts val="100"/>
              </a:spcBef>
            </a:pPr>
            <a:r>
              <a:rPr sz="1800" dirty="0">
                <a:latin typeface="Times New Roman"/>
                <a:cs typeface="Times New Roman"/>
              </a:rPr>
              <a:t>country</a:t>
            </a:r>
          </a:p>
          <a:p>
            <a:pPr>
              <a:lnSpc>
                <a:spcPct val="100000"/>
              </a:lnSpc>
            </a:pPr>
            <a:endParaRPr sz="2000" dirty="0">
              <a:latin typeface="Times New Roman"/>
              <a:cs typeface="Times New Roman"/>
            </a:endParaRPr>
          </a:p>
          <a:p>
            <a:pPr marL="12700">
              <a:lnSpc>
                <a:spcPct val="100000"/>
              </a:lnSpc>
              <a:spcBef>
                <a:spcPts val="1240"/>
              </a:spcBef>
            </a:pPr>
            <a:r>
              <a:rPr sz="1800" dirty="0">
                <a:latin typeface="Times New Roman"/>
                <a:cs typeface="Times New Roman"/>
              </a:rPr>
              <a:t>province_or_</a:t>
            </a:r>
            <a:r>
              <a:rPr sz="1800" spc="-110" dirty="0">
                <a:latin typeface="Times New Roman"/>
                <a:cs typeface="Times New Roman"/>
              </a:rPr>
              <a:t> </a:t>
            </a:r>
            <a:r>
              <a:rPr sz="1800" dirty="0">
                <a:latin typeface="Times New Roman"/>
                <a:cs typeface="Times New Roman"/>
              </a:rPr>
              <a:t>state</a:t>
            </a:r>
          </a:p>
        </p:txBody>
      </p:sp>
      <p:sp>
        <p:nvSpPr>
          <p:cNvPr id="15" name="TextBox 14">
            <a:extLst>
              <a:ext uri="{FF2B5EF4-FFF2-40B4-BE49-F238E27FC236}">
                <a16:creationId xmlns:a16="http://schemas.microsoft.com/office/drawing/2014/main" id="{4B32113B-BC69-4CE7-AAEB-5C93BC4BEA8E}"/>
              </a:ext>
            </a:extLst>
          </p:cNvPr>
          <p:cNvSpPr txBox="1"/>
          <p:nvPr/>
        </p:nvSpPr>
        <p:spPr>
          <a:xfrm>
            <a:off x="5782141" y="5145182"/>
            <a:ext cx="778457" cy="369332"/>
          </a:xfrm>
          <a:prstGeom prst="rect">
            <a:avLst/>
          </a:prstGeom>
          <a:noFill/>
        </p:spPr>
        <p:txBody>
          <a:bodyPr wrap="square">
            <a:spAutoFit/>
          </a:bodyPr>
          <a:lstStyle/>
          <a:p>
            <a:r>
              <a:rPr lang="en-IN" sz="1800" dirty="0">
                <a:latin typeface="Times New Roman"/>
                <a:cs typeface="Times New Roman"/>
              </a:rPr>
              <a:t>stre</a:t>
            </a:r>
            <a:r>
              <a:rPr lang="en-IN" sz="1800" spc="5" dirty="0">
                <a:latin typeface="Times New Roman"/>
                <a:cs typeface="Times New Roman"/>
              </a:rPr>
              <a:t>e</a:t>
            </a:r>
            <a:r>
              <a:rPr lang="en-IN" sz="1800" dirty="0">
                <a:latin typeface="Times New Roman"/>
                <a:cs typeface="Times New Roman"/>
              </a:rPr>
              <a:t>t</a:t>
            </a:r>
            <a:endParaRPr lang="en-IN" dirty="0"/>
          </a:p>
        </p:txBody>
      </p:sp>
      <p:sp>
        <p:nvSpPr>
          <p:cNvPr id="17" name="TextBox 16">
            <a:extLst>
              <a:ext uri="{FF2B5EF4-FFF2-40B4-BE49-F238E27FC236}">
                <a16:creationId xmlns:a16="http://schemas.microsoft.com/office/drawing/2014/main" id="{CAC5194D-83A8-4F20-BBBB-50F5A1D2B344}"/>
              </a:ext>
            </a:extLst>
          </p:cNvPr>
          <p:cNvSpPr txBox="1"/>
          <p:nvPr/>
        </p:nvSpPr>
        <p:spPr>
          <a:xfrm>
            <a:off x="5840123" y="4399790"/>
            <a:ext cx="587310" cy="369332"/>
          </a:xfrm>
          <a:prstGeom prst="rect">
            <a:avLst/>
          </a:prstGeom>
          <a:noFill/>
        </p:spPr>
        <p:txBody>
          <a:bodyPr wrap="square">
            <a:spAutoFit/>
          </a:bodyPr>
          <a:lstStyle/>
          <a:p>
            <a:r>
              <a:rPr lang="en-IN" sz="1800" dirty="0">
                <a:latin typeface="Times New Roman"/>
                <a:cs typeface="Times New Roman"/>
              </a:rPr>
              <a:t>city</a:t>
            </a:r>
          </a:p>
        </p:txBody>
      </p:sp>
      <p:sp>
        <p:nvSpPr>
          <p:cNvPr id="18" name="object 16">
            <a:extLst>
              <a:ext uri="{FF2B5EF4-FFF2-40B4-BE49-F238E27FC236}">
                <a16:creationId xmlns:a16="http://schemas.microsoft.com/office/drawing/2014/main" id="{E43F4084-76A1-4C22-976D-2F5E9808F88F}"/>
              </a:ext>
            </a:extLst>
          </p:cNvPr>
          <p:cNvSpPr txBox="1"/>
          <p:nvPr/>
        </p:nvSpPr>
        <p:spPr>
          <a:xfrm>
            <a:off x="8246530" y="2879264"/>
            <a:ext cx="2394585" cy="2567305"/>
          </a:xfrm>
          <a:prstGeom prst="rect">
            <a:avLst/>
          </a:prstGeom>
        </p:spPr>
        <p:txBody>
          <a:bodyPr vert="horz" wrap="square" lIns="0" tIns="12700" rIns="0" bIns="0" rtlCol="0">
            <a:spAutoFit/>
          </a:bodyPr>
          <a:lstStyle/>
          <a:p>
            <a:pPr marL="410209">
              <a:lnSpc>
                <a:spcPct val="100000"/>
              </a:lnSpc>
              <a:spcBef>
                <a:spcPts val="100"/>
              </a:spcBef>
            </a:pPr>
            <a:r>
              <a:rPr sz="1800" dirty="0">
                <a:latin typeface="Times New Roman"/>
                <a:cs typeface="Times New Roman"/>
              </a:rPr>
              <a:t>15</a:t>
            </a:r>
            <a:r>
              <a:rPr sz="1800" spc="-50" dirty="0">
                <a:latin typeface="Times New Roman"/>
                <a:cs typeface="Times New Roman"/>
              </a:rPr>
              <a:t> </a:t>
            </a:r>
            <a:r>
              <a:rPr sz="1800" dirty="0">
                <a:latin typeface="Times New Roman"/>
                <a:cs typeface="Times New Roman"/>
              </a:rPr>
              <a:t>distinct</a:t>
            </a:r>
            <a:r>
              <a:rPr sz="1800" spc="-25" dirty="0">
                <a:latin typeface="Times New Roman"/>
                <a:cs typeface="Times New Roman"/>
              </a:rPr>
              <a:t> </a:t>
            </a:r>
            <a:r>
              <a:rPr sz="1800" dirty="0">
                <a:latin typeface="Times New Roman"/>
                <a:cs typeface="Times New Roman"/>
              </a:rPr>
              <a:t>values</a:t>
            </a:r>
          </a:p>
          <a:p>
            <a:pPr>
              <a:lnSpc>
                <a:spcPct val="100000"/>
              </a:lnSpc>
            </a:pPr>
            <a:endParaRPr sz="2000" dirty="0">
              <a:latin typeface="Times New Roman"/>
              <a:cs typeface="Times New Roman"/>
            </a:endParaRPr>
          </a:p>
          <a:p>
            <a:pPr>
              <a:lnSpc>
                <a:spcPct val="100000"/>
              </a:lnSpc>
            </a:pPr>
            <a:endParaRPr sz="1600" dirty="0">
              <a:latin typeface="Times New Roman"/>
              <a:cs typeface="Times New Roman"/>
            </a:endParaRPr>
          </a:p>
          <a:p>
            <a:pPr marL="782320">
              <a:lnSpc>
                <a:spcPct val="100000"/>
              </a:lnSpc>
            </a:pPr>
            <a:r>
              <a:rPr sz="1800" dirty="0">
                <a:latin typeface="Times New Roman"/>
                <a:cs typeface="Times New Roman"/>
              </a:rPr>
              <a:t>65</a:t>
            </a:r>
            <a:r>
              <a:rPr sz="1800" spc="-60" dirty="0">
                <a:latin typeface="Times New Roman"/>
                <a:cs typeface="Times New Roman"/>
              </a:rPr>
              <a:t> </a:t>
            </a:r>
            <a:r>
              <a:rPr sz="1800" dirty="0">
                <a:latin typeface="Times New Roman"/>
                <a:cs typeface="Times New Roman"/>
              </a:rPr>
              <a:t>distinct</a:t>
            </a:r>
            <a:r>
              <a:rPr sz="1800" spc="-45" dirty="0">
                <a:latin typeface="Times New Roman"/>
                <a:cs typeface="Times New Roman"/>
              </a:rPr>
              <a:t> </a:t>
            </a:r>
            <a:r>
              <a:rPr sz="1800" dirty="0">
                <a:latin typeface="Times New Roman"/>
                <a:cs typeface="Times New Roman"/>
              </a:rPr>
              <a:t>values</a:t>
            </a:r>
          </a:p>
          <a:p>
            <a:pPr>
              <a:lnSpc>
                <a:spcPct val="100000"/>
              </a:lnSpc>
            </a:pPr>
            <a:endParaRPr sz="2000" dirty="0">
              <a:latin typeface="Times New Roman"/>
              <a:cs typeface="Times New Roman"/>
            </a:endParaRPr>
          </a:p>
          <a:p>
            <a:pPr marL="296545">
              <a:lnSpc>
                <a:spcPct val="100000"/>
              </a:lnSpc>
              <a:spcBef>
                <a:spcPts val="1395"/>
              </a:spcBef>
            </a:pPr>
            <a:r>
              <a:rPr sz="1800" dirty="0">
                <a:latin typeface="Times New Roman"/>
                <a:cs typeface="Times New Roman"/>
              </a:rPr>
              <a:t>3567</a:t>
            </a:r>
            <a:r>
              <a:rPr sz="1800" spc="-65" dirty="0">
                <a:latin typeface="Times New Roman"/>
                <a:cs typeface="Times New Roman"/>
              </a:rPr>
              <a:t> </a:t>
            </a:r>
            <a:r>
              <a:rPr sz="1800" dirty="0">
                <a:latin typeface="Times New Roman"/>
                <a:cs typeface="Times New Roman"/>
              </a:rPr>
              <a:t>distinct</a:t>
            </a:r>
            <a:r>
              <a:rPr sz="1800" spc="-50" dirty="0">
                <a:latin typeface="Times New Roman"/>
                <a:cs typeface="Times New Roman"/>
              </a:rPr>
              <a:t> </a:t>
            </a:r>
            <a:r>
              <a:rPr sz="1800" dirty="0">
                <a:latin typeface="Times New Roman"/>
                <a:cs typeface="Times New Roman"/>
              </a:rPr>
              <a:t>values</a:t>
            </a:r>
          </a:p>
          <a:p>
            <a:pPr>
              <a:lnSpc>
                <a:spcPct val="100000"/>
              </a:lnSpc>
            </a:pPr>
            <a:endParaRPr sz="2000" dirty="0">
              <a:latin typeface="Times New Roman"/>
              <a:cs typeface="Times New Roman"/>
            </a:endParaRPr>
          </a:p>
          <a:p>
            <a:pPr marL="12700">
              <a:lnSpc>
                <a:spcPct val="100000"/>
              </a:lnSpc>
              <a:spcBef>
                <a:spcPts val="1240"/>
              </a:spcBef>
            </a:pPr>
            <a:r>
              <a:rPr sz="1800" dirty="0">
                <a:latin typeface="Times New Roman"/>
                <a:cs typeface="Times New Roman"/>
              </a:rPr>
              <a:t>674,339</a:t>
            </a:r>
            <a:r>
              <a:rPr sz="1800" spc="-65" dirty="0">
                <a:latin typeface="Times New Roman"/>
                <a:cs typeface="Times New Roman"/>
              </a:rPr>
              <a:t> </a:t>
            </a:r>
            <a:r>
              <a:rPr sz="1800" dirty="0">
                <a:latin typeface="Times New Roman"/>
                <a:cs typeface="Times New Roman"/>
              </a:rPr>
              <a:t>distinct</a:t>
            </a:r>
            <a:r>
              <a:rPr sz="1800" spc="-65" dirty="0">
                <a:latin typeface="Times New Roman"/>
                <a:cs typeface="Times New Roman"/>
              </a:rPr>
              <a:t> </a:t>
            </a:r>
            <a:r>
              <a:rPr sz="1800" dirty="0">
                <a:latin typeface="Times New Roman"/>
                <a:cs typeface="Times New Roman"/>
              </a:rPr>
              <a:t>values</a:t>
            </a:r>
          </a:p>
        </p:txBody>
      </p:sp>
    </p:spTree>
    <p:extLst>
      <p:ext uri="{BB962C8B-B14F-4D97-AF65-F5344CB8AC3E}">
        <p14:creationId xmlns:p14="http://schemas.microsoft.com/office/powerpoint/2010/main" val="3273622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8309A-8BC1-440B-AD7B-AEDAED1964A8}"/>
              </a:ext>
            </a:extLst>
          </p:cNvPr>
          <p:cNvSpPr>
            <a:spLocks noGrp="1"/>
          </p:cNvSpPr>
          <p:nvPr>
            <p:ph type="title"/>
          </p:nvPr>
        </p:nvSpPr>
        <p:spPr/>
        <p:txBody>
          <a:bodyPr/>
          <a:lstStyle/>
          <a:p>
            <a:r>
              <a:rPr lang="en-US" dirty="0"/>
              <a:t>Min-Max Normalization</a:t>
            </a:r>
            <a:endParaRPr lang="en-IN" dirty="0"/>
          </a:p>
        </p:txBody>
      </p:sp>
      <p:sp>
        <p:nvSpPr>
          <p:cNvPr id="3" name="Content Placeholder 2">
            <a:extLst>
              <a:ext uri="{FF2B5EF4-FFF2-40B4-BE49-F238E27FC236}">
                <a16:creationId xmlns:a16="http://schemas.microsoft.com/office/drawing/2014/main" id="{AEA60CF1-D747-4D54-8146-C12282AE4F00}"/>
              </a:ext>
            </a:extLst>
          </p:cNvPr>
          <p:cNvSpPr>
            <a:spLocks noGrp="1"/>
          </p:cNvSpPr>
          <p:nvPr>
            <p:ph idx="1"/>
          </p:nvPr>
        </p:nvSpPr>
        <p:spPr>
          <a:xfrm>
            <a:off x="3869268" y="868680"/>
            <a:ext cx="7315200" cy="5120640"/>
          </a:xfrm>
        </p:spPr>
        <p:txBody>
          <a:bodyPr/>
          <a:lstStyle/>
          <a:p>
            <a:r>
              <a:rPr lang="en-US" dirty="0"/>
              <a:t>Min-max normalization performs a linear transformation on  the original data. Suppose that </a:t>
            </a:r>
            <a:r>
              <a:rPr lang="en-US" dirty="0" err="1"/>
              <a:t>minA</a:t>
            </a:r>
            <a:r>
              <a:rPr lang="en-US" dirty="0"/>
              <a:t> and </a:t>
            </a:r>
            <a:r>
              <a:rPr lang="en-US" dirty="0" err="1"/>
              <a:t>maxA</a:t>
            </a:r>
            <a:r>
              <a:rPr lang="en-US" dirty="0"/>
              <a:t> are the  minimum and maximum values of an attribute, A. Min-max  normalization maps a value, v, of A to v’ in the range	[new  </a:t>
            </a:r>
            <a:r>
              <a:rPr lang="en-US" dirty="0" err="1"/>
              <a:t>minA;new</a:t>
            </a:r>
            <a:r>
              <a:rPr lang="en-US" dirty="0"/>
              <a:t> </a:t>
            </a:r>
            <a:r>
              <a:rPr lang="en-US" dirty="0" err="1"/>
              <a:t>maxA</a:t>
            </a:r>
            <a:r>
              <a:rPr lang="en-US" dirty="0"/>
              <a:t>], by computing</a:t>
            </a:r>
          </a:p>
          <a:p>
            <a:r>
              <a:rPr lang="en-US" dirty="0"/>
              <a:t>Min-max normalization preserves the relationships among  the original data values.</a:t>
            </a:r>
          </a:p>
          <a:p>
            <a:r>
              <a:rPr lang="en-US" dirty="0"/>
              <a:t>e.g. convert age=30 to range 0-1, when min=10,max=80.  </a:t>
            </a:r>
            <a:r>
              <a:rPr lang="en-US" dirty="0" err="1"/>
              <a:t>new_age</a:t>
            </a:r>
            <a:r>
              <a:rPr lang="en-US" dirty="0"/>
              <a:t>=(30-10)/(80-10)=2/7</a:t>
            </a:r>
          </a:p>
          <a:p>
            <a:endParaRPr lang="en-US" dirty="0"/>
          </a:p>
          <a:p>
            <a:endParaRPr lang="en-US" dirty="0"/>
          </a:p>
          <a:p>
            <a:pPr lvl="1"/>
            <a:endParaRPr lang="en-US" dirty="0"/>
          </a:p>
          <a:p>
            <a:endParaRPr lang="en-US" dirty="0"/>
          </a:p>
          <a:p>
            <a:endParaRPr lang="en-IN" dirty="0"/>
          </a:p>
        </p:txBody>
      </p:sp>
      <p:sp>
        <p:nvSpPr>
          <p:cNvPr id="8" name="object 5">
            <a:extLst>
              <a:ext uri="{FF2B5EF4-FFF2-40B4-BE49-F238E27FC236}">
                <a16:creationId xmlns:a16="http://schemas.microsoft.com/office/drawing/2014/main" id="{5C4C548B-FBB0-4B48-9276-163F17E62644}"/>
              </a:ext>
            </a:extLst>
          </p:cNvPr>
          <p:cNvSpPr/>
          <p:nvPr/>
        </p:nvSpPr>
        <p:spPr>
          <a:xfrm>
            <a:off x="4620687" y="4292135"/>
            <a:ext cx="1564640" cy="0"/>
          </a:xfrm>
          <a:custGeom>
            <a:avLst/>
            <a:gdLst/>
            <a:ahLst/>
            <a:cxnLst/>
            <a:rect l="l" t="t" r="r" b="b"/>
            <a:pathLst>
              <a:path w="1564639">
                <a:moveTo>
                  <a:pt x="0" y="0"/>
                </a:moveTo>
                <a:lnTo>
                  <a:pt x="1564560" y="0"/>
                </a:lnTo>
              </a:path>
            </a:pathLst>
          </a:custGeom>
          <a:ln w="13974">
            <a:solidFill>
              <a:srgbClr val="000000"/>
            </a:solidFill>
          </a:ln>
        </p:spPr>
        <p:txBody>
          <a:bodyPr wrap="square" lIns="0" tIns="0" rIns="0" bIns="0" rtlCol="0"/>
          <a:lstStyle/>
          <a:p>
            <a:endParaRPr/>
          </a:p>
        </p:txBody>
      </p:sp>
      <p:sp>
        <p:nvSpPr>
          <p:cNvPr id="9" name="object 6">
            <a:extLst>
              <a:ext uri="{FF2B5EF4-FFF2-40B4-BE49-F238E27FC236}">
                <a16:creationId xmlns:a16="http://schemas.microsoft.com/office/drawing/2014/main" id="{BE4135EF-3611-4419-A0AC-D1FA2329A666}"/>
              </a:ext>
            </a:extLst>
          </p:cNvPr>
          <p:cNvSpPr txBox="1"/>
          <p:nvPr/>
        </p:nvSpPr>
        <p:spPr>
          <a:xfrm>
            <a:off x="6224620" y="4025888"/>
            <a:ext cx="5120005" cy="431165"/>
          </a:xfrm>
          <a:prstGeom prst="rect">
            <a:avLst/>
          </a:prstGeom>
        </p:spPr>
        <p:txBody>
          <a:bodyPr vert="horz" wrap="square" lIns="0" tIns="13970" rIns="0" bIns="0" rtlCol="0">
            <a:spAutoFit/>
          </a:bodyPr>
          <a:lstStyle/>
          <a:p>
            <a:pPr marL="12700">
              <a:lnSpc>
                <a:spcPct val="100000"/>
              </a:lnSpc>
              <a:spcBef>
                <a:spcPts val="110"/>
              </a:spcBef>
            </a:pPr>
            <a:r>
              <a:rPr sz="2650" spc="60" dirty="0">
                <a:latin typeface="Times New Roman"/>
                <a:cs typeface="Times New Roman"/>
              </a:rPr>
              <a:t>(</a:t>
            </a:r>
            <a:r>
              <a:rPr sz="2650" i="1" spc="-15" dirty="0">
                <a:latin typeface="Times New Roman"/>
                <a:cs typeface="Times New Roman"/>
              </a:rPr>
              <a:t>n</a:t>
            </a:r>
            <a:r>
              <a:rPr sz="2650" i="1" spc="-85" dirty="0">
                <a:latin typeface="Times New Roman"/>
                <a:cs typeface="Times New Roman"/>
              </a:rPr>
              <a:t>e</a:t>
            </a:r>
            <a:r>
              <a:rPr sz="2650" i="1" spc="35" dirty="0">
                <a:latin typeface="Times New Roman"/>
                <a:cs typeface="Times New Roman"/>
              </a:rPr>
              <a:t>w</a:t>
            </a:r>
            <a:r>
              <a:rPr sz="2650" i="1" spc="-280" dirty="0">
                <a:latin typeface="Times New Roman"/>
                <a:cs typeface="Times New Roman"/>
              </a:rPr>
              <a:t> </a:t>
            </a:r>
            <a:r>
              <a:rPr sz="2650" spc="25" dirty="0">
                <a:latin typeface="Times New Roman"/>
                <a:cs typeface="Times New Roman"/>
              </a:rPr>
              <a:t>_</a:t>
            </a:r>
            <a:r>
              <a:rPr sz="2650" spc="-210" dirty="0">
                <a:latin typeface="Times New Roman"/>
                <a:cs typeface="Times New Roman"/>
              </a:rPr>
              <a:t> </a:t>
            </a:r>
            <a:r>
              <a:rPr sz="2650" i="1" spc="45" dirty="0">
                <a:latin typeface="Times New Roman"/>
                <a:cs typeface="Times New Roman"/>
              </a:rPr>
              <a:t>m</a:t>
            </a:r>
            <a:r>
              <a:rPr sz="2650" i="1" spc="-15" dirty="0">
                <a:latin typeface="Times New Roman"/>
                <a:cs typeface="Times New Roman"/>
              </a:rPr>
              <a:t>a</a:t>
            </a:r>
            <a:r>
              <a:rPr sz="2650" i="1" spc="-110" dirty="0">
                <a:latin typeface="Times New Roman"/>
                <a:cs typeface="Times New Roman"/>
              </a:rPr>
              <a:t>x</a:t>
            </a:r>
            <a:r>
              <a:rPr sz="1100" i="1" spc="15" dirty="0">
                <a:latin typeface="Times New Roman"/>
                <a:cs typeface="Times New Roman"/>
              </a:rPr>
              <a:t>A</a:t>
            </a:r>
            <a:r>
              <a:rPr sz="1100" i="1" dirty="0">
                <a:latin typeface="Times New Roman"/>
                <a:cs typeface="Times New Roman"/>
              </a:rPr>
              <a:t> </a:t>
            </a:r>
            <a:r>
              <a:rPr sz="1100" i="1" spc="-114" dirty="0">
                <a:latin typeface="Times New Roman"/>
                <a:cs typeface="Times New Roman"/>
              </a:rPr>
              <a:t> </a:t>
            </a:r>
            <a:r>
              <a:rPr sz="2650" spc="30" dirty="0">
                <a:latin typeface="Symbol"/>
                <a:cs typeface="Symbol"/>
              </a:rPr>
              <a:t></a:t>
            </a:r>
            <a:r>
              <a:rPr sz="2650" spc="-260" dirty="0">
                <a:latin typeface="Times New Roman"/>
                <a:cs typeface="Times New Roman"/>
              </a:rPr>
              <a:t> </a:t>
            </a:r>
            <a:r>
              <a:rPr sz="2650" i="1" spc="-15" dirty="0">
                <a:latin typeface="Times New Roman"/>
                <a:cs typeface="Times New Roman"/>
              </a:rPr>
              <a:t>n</a:t>
            </a:r>
            <a:r>
              <a:rPr sz="2650" i="1" spc="-85" dirty="0">
                <a:latin typeface="Times New Roman"/>
                <a:cs typeface="Times New Roman"/>
              </a:rPr>
              <a:t>e</a:t>
            </a:r>
            <a:r>
              <a:rPr sz="2650" i="1" spc="35" dirty="0">
                <a:latin typeface="Times New Roman"/>
                <a:cs typeface="Times New Roman"/>
              </a:rPr>
              <a:t>w</a:t>
            </a:r>
            <a:r>
              <a:rPr sz="2650" i="1" spc="-275" dirty="0">
                <a:latin typeface="Times New Roman"/>
                <a:cs typeface="Times New Roman"/>
              </a:rPr>
              <a:t> </a:t>
            </a:r>
            <a:r>
              <a:rPr sz="2650" spc="25" dirty="0">
                <a:latin typeface="Times New Roman"/>
                <a:cs typeface="Times New Roman"/>
              </a:rPr>
              <a:t>_</a:t>
            </a:r>
            <a:r>
              <a:rPr sz="2650" spc="-210" dirty="0">
                <a:latin typeface="Times New Roman"/>
                <a:cs typeface="Times New Roman"/>
              </a:rPr>
              <a:t> </a:t>
            </a:r>
            <a:r>
              <a:rPr sz="2650" i="1" spc="45" dirty="0">
                <a:latin typeface="Times New Roman"/>
                <a:cs typeface="Times New Roman"/>
              </a:rPr>
              <a:t>m</a:t>
            </a:r>
            <a:r>
              <a:rPr sz="2650" i="1" spc="-85" dirty="0">
                <a:latin typeface="Times New Roman"/>
                <a:cs typeface="Times New Roman"/>
              </a:rPr>
              <a:t>i</a:t>
            </a:r>
            <a:r>
              <a:rPr sz="2650" i="1" spc="-5" dirty="0">
                <a:latin typeface="Times New Roman"/>
                <a:cs typeface="Times New Roman"/>
              </a:rPr>
              <a:t>n</a:t>
            </a:r>
            <a:r>
              <a:rPr sz="1100" i="1" spc="40" dirty="0">
                <a:latin typeface="Times New Roman"/>
                <a:cs typeface="Times New Roman"/>
              </a:rPr>
              <a:t>A</a:t>
            </a:r>
            <a:r>
              <a:rPr sz="2650" spc="15" dirty="0">
                <a:latin typeface="Times New Roman"/>
                <a:cs typeface="Times New Roman"/>
              </a:rPr>
              <a:t>)</a:t>
            </a:r>
            <a:r>
              <a:rPr sz="2650" spc="-250" dirty="0">
                <a:latin typeface="Times New Roman"/>
                <a:cs typeface="Times New Roman"/>
              </a:rPr>
              <a:t> </a:t>
            </a:r>
            <a:r>
              <a:rPr sz="2650" spc="30" dirty="0">
                <a:latin typeface="Symbol"/>
                <a:cs typeface="Symbol"/>
              </a:rPr>
              <a:t></a:t>
            </a:r>
            <a:r>
              <a:rPr sz="2650" spc="-220" dirty="0">
                <a:latin typeface="Times New Roman"/>
                <a:cs typeface="Times New Roman"/>
              </a:rPr>
              <a:t> </a:t>
            </a:r>
            <a:r>
              <a:rPr sz="2650" i="1" spc="-15" dirty="0">
                <a:latin typeface="Times New Roman"/>
                <a:cs typeface="Times New Roman"/>
              </a:rPr>
              <a:t>n</a:t>
            </a:r>
            <a:r>
              <a:rPr sz="2650" i="1" spc="-85" dirty="0">
                <a:latin typeface="Times New Roman"/>
                <a:cs typeface="Times New Roman"/>
              </a:rPr>
              <a:t>e</a:t>
            </a:r>
            <a:r>
              <a:rPr sz="2650" i="1" spc="35" dirty="0">
                <a:latin typeface="Times New Roman"/>
                <a:cs typeface="Times New Roman"/>
              </a:rPr>
              <a:t>w</a:t>
            </a:r>
            <a:r>
              <a:rPr sz="2650" i="1" spc="-275" dirty="0">
                <a:latin typeface="Times New Roman"/>
                <a:cs typeface="Times New Roman"/>
              </a:rPr>
              <a:t> </a:t>
            </a:r>
            <a:r>
              <a:rPr sz="2650" spc="25" dirty="0">
                <a:latin typeface="Times New Roman"/>
                <a:cs typeface="Times New Roman"/>
              </a:rPr>
              <a:t>_</a:t>
            </a:r>
            <a:r>
              <a:rPr sz="2650" spc="-210" dirty="0">
                <a:latin typeface="Times New Roman"/>
                <a:cs typeface="Times New Roman"/>
              </a:rPr>
              <a:t> </a:t>
            </a:r>
            <a:r>
              <a:rPr sz="2650" i="1" spc="45" dirty="0">
                <a:latin typeface="Times New Roman"/>
                <a:cs typeface="Times New Roman"/>
              </a:rPr>
              <a:t>m</a:t>
            </a:r>
            <a:r>
              <a:rPr sz="2650" i="1" spc="-85" dirty="0">
                <a:latin typeface="Times New Roman"/>
                <a:cs typeface="Times New Roman"/>
              </a:rPr>
              <a:t>i</a:t>
            </a:r>
            <a:r>
              <a:rPr sz="2650" i="1" spc="-5" dirty="0">
                <a:latin typeface="Times New Roman"/>
                <a:cs typeface="Times New Roman"/>
              </a:rPr>
              <a:t>n</a:t>
            </a:r>
            <a:r>
              <a:rPr sz="1100" i="1" spc="15" dirty="0">
                <a:latin typeface="Times New Roman"/>
                <a:cs typeface="Times New Roman"/>
              </a:rPr>
              <a:t>A</a:t>
            </a:r>
            <a:endParaRPr sz="1100">
              <a:latin typeface="Times New Roman"/>
              <a:cs typeface="Times New Roman"/>
            </a:endParaRPr>
          </a:p>
        </p:txBody>
      </p:sp>
      <p:sp>
        <p:nvSpPr>
          <p:cNvPr id="10" name="object 7">
            <a:extLst>
              <a:ext uri="{FF2B5EF4-FFF2-40B4-BE49-F238E27FC236}">
                <a16:creationId xmlns:a16="http://schemas.microsoft.com/office/drawing/2014/main" id="{0EA6BA47-E1DA-48B1-83A0-6DDD265D4777}"/>
              </a:ext>
            </a:extLst>
          </p:cNvPr>
          <p:cNvSpPr txBox="1"/>
          <p:nvPr/>
        </p:nvSpPr>
        <p:spPr>
          <a:xfrm>
            <a:off x="4630308" y="4290084"/>
            <a:ext cx="1551940" cy="431165"/>
          </a:xfrm>
          <a:prstGeom prst="rect">
            <a:avLst/>
          </a:prstGeom>
        </p:spPr>
        <p:txBody>
          <a:bodyPr vert="horz" wrap="square" lIns="0" tIns="13970" rIns="0" bIns="0" rtlCol="0">
            <a:spAutoFit/>
          </a:bodyPr>
          <a:lstStyle/>
          <a:p>
            <a:pPr marL="12700">
              <a:lnSpc>
                <a:spcPct val="100000"/>
              </a:lnSpc>
              <a:spcBef>
                <a:spcPts val="110"/>
              </a:spcBef>
            </a:pPr>
            <a:r>
              <a:rPr sz="2650" i="1" spc="45" dirty="0">
                <a:latin typeface="Times New Roman"/>
                <a:cs typeface="Times New Roman"/>
              </a:rPr>
              <a:t>m</a:t>
            </a:r>
            <a:r>
              <a:rPr sz="2650" i="1" spc="-15" dirty="0">
                <a:latin typeface="Times New Roman"/>
                <a:cs typeface="Times New Roman"/>
              </a:rPr>
              <a:t>a</a:t>
            </a:r>
            <a:r>
              <a:rPr sz="2650" i="1" spc="-105" dirty="0">
                <a:latin typeface="Times New Roman"/>
                <a:cs typeface="Times New Roman"/>
              </a:rPr>
              <a:t>x</a:t>
            </a:r>
            <a:r>
              <a:rPr sz="1100" i="1" spc="15" dirty="0">
                <a:latin typeface="Times New Roman"/>
                <a:cs typeface="Times New Roman"/>
              </a:rPr>
              <a:t>A</a:t>
            </a:r>
            <a:r>
              <a:rPr sz="1100" i="1" dirty="0">
                <a:latin typeface="Times New Roman"/>
                <a:cs typeface="Times New Roman"/>
              </a:rPr>
              <a:t> </a:t>
            </a:r>
            <a:r>
              <a:rPr sz="1100" i="1" spc="-114" dirty="0">
                <a:latin typeface="Times New Roman"/>
                <a:cs typeface="Times New Roman"/>
              </a:rPr>
              <a:t> </a:t>
            </a:r>
            <a:r>
              <a:rPr sz="2650" spc="30" dirty="0">
                <a:latin typeface="Symbol"/>
                <a:cs typeface="Symbol"/>
              </a:rPr>
              <a:t></a:t>
            </a:r>
            <a:r>
              <a:rPr sz="2650" spc="-260" dirty="0">
                <a:latin typeface="Times New Roman"/>
                <a:cs typeface="Times New Roman"/>
              </a:rPr>
              <a:t> </a:t>
            </a:r>
            <a:r>
              <a:rPr sz="2650" i="1" spc="45" dirty="0">
                <a:latin typeface="Times New Roman"/>
                <a:cs typeface="Times New Roman"/>
              </a:rPr>
              <a:t>m</a:t>
            </a:r>
            <a:r>
              <a:rPr sz="2650" i="1" spc="-85" dirty="0">
                <a:latin typeface="Times New Roman"/>
                <a:cs typeface="Times New Roman"/>
              </a:rPr>
              <a:t>i</a:t>
            </a:r>
            <a:r>
              <a:rPr sz="2650" i="1" spc="-5" dirty="0">
                <a:latin typeface="Times New Roman"/>
                <a:cs typeface="Times New Roman"/>
              </a:rPr>
              <a:t>n</a:t>
            </a:r>
            <a:r>
              <a:rPr sz="1100" i="1" spc="15" dirty="0">
                <a:latin typeface="Times New Roman"/>
                <a:cs typeface="Times New Roman"/>
              </a:rPr>
              <a:t>A</a:t>
            </a:r>
            <a:endParaRPr sz="1100" dirty="0">
              <a:latin typeface="Times New Roman"/>
              <a:cs typeface="Times New Roman"/>
            </a:endParaRPr>
          </a:p>
        </p:txBody>
      </p:sp>
      <p:sp>
        <p:nvSpPr>
          <p:cNvPr id="11" name="object 9">
            <a:extLst>
              <a:ext uri="{FF2B5EF4-FFF2-40B4-BE49-F238E27FC236}">
                <a16:creationId xmlns:a16="http://schemas.microsoft.com/office/drawing/2014/main" id="{AABEE9F8-9F2C-4785-9032-E0864AD54FBA}"/>
              </a:ext>
            </a:extLst>
          </p:cNvPr>
          <p:cNvSpPr txBox="1"/>
          <p:nvPr/>
        </p:nvSpPr>
        <p:spPr>
          <a:xfrm>
            <a:off x="4091195" y="4025888"/>
            <a:ext cx="464820" cy="431165"/>
          </a:xfrm>
          <a:prstGeom prst="rect">
            <a:avLst/>
          </a:prstGeom>
        </p:spPr>
        <p:txBody>
          <a:bodyPr vert="horz" wrap="square" lIns="0" tIns="13970" rIns="0" bIns="0" rtlCol="0">
            <a:spAutoFit/>
          </a:bodyPr>
          <a:lstStyle/>
          <a:p>
            <a:pPr marL="12700">
              <a:lnSpc>
                <a:spcPct val="100000"/>
              </a:lnSpc>
              <a:spcBef>
                <a:spcPts val="110"/>
              </a:spcBef>
            </a:pPr>
            <a:r>
              <a:rPr sz="2650" i="1" spc="45" dirty="0">
                <a:latin typeface="Times New Roman"/>
                <a:cs typeface="Times New Roman"/>
              </a:rPr>
              <a:t>v</a:t>
            </a:r>
            <a:r>
              <a:rPr sz="2650" spc="5" dirty="0">
                <a:latin typeface="Times New Roman"/>
                <a:cs typeface="Times New Roman"/>
              </a:rPr>
              <a:t>'</a:t>
            </a:r>
            <a:r>
              <a:rPr sz="2650" spc="-409" dirty="0">
                <a:latin typeface="Times New Roman"/>
                <a:cs typeface="Times New Roman"/>
              </a:rPr>
              <a:t> </a:t>
            </a:r>
            <a:r>
              <a:rPr sz="2650" spc="30" dirty="0">
                <a:latin typeface="Symbol"/>
                <a:cs typeface="Symbol"/>
              </a:rPr>
              <a:t></a:t>
            </a:r>
            <a:endParaRPr sz="2650" dirty="0">
              <a:latin typeface="Symbol"/>
              <a:cs typeface="Symbol"/>
            </a:endParaRPr>
          </a:p>
        </p:txBody>
      </p:sp>
      <p:sp>
        <p:nvSpPr>
          <p:cNvPr id="12" name="object 8">
            <a:extLst>
              <a:ext uri="{FF2B5EF4-FFF2-40B4-BE49-F238E27FC236}">
                <a16:creationId xmlns:a16="http://schemas.microsoft.com/office/drawing/2014/main" id="{05895C36-2480-4D55-92FB-106092E10269}"/>
              </a:ext>
            </a:extLst>
          </p:cNvPr>
          <p:cNvSpPr txBox="1"/>
          <p:nvPr/>
        </p:nvSpPr>
        <p:spPr>
          <a:xfrm>
            <a:off x="4871194" y="3810305"/>
            <a:ext cx="1063625" cy="431165"/>
          </a:xfrm>
          <a:prstGeom prst="rect">
            <a:avLst/>
          </a:prstGeom>
        </p:spPr>
        <p:txBody>
          <a:bodyPr vert="horz" wrap="square" lIns="0" tIns="13970" rIns="0" bIns="0" rtlCol="0">
            <a:spAutoFit/>
          </a:bodyPr>
          <a:lstStyle/>
          <a:p>
            <a:pPr marL="12700">
              <a:lnSpc>
                <a:spcPct val="100000"/>
              </a:lnSpc>
              <a:spcBef>
                <a:spcPts val="110"/>
              </a:spcBef>
            </a:pPr>
            <a:r>
              <a:rPr sz="2650" i="1" spc="20" dirty="0">
                <a:latin typeface="Times New Roman"/>
                <a:cs typeface="Times New Roman"/>
              </a:rPr>
              <a:t>v</a:t>
            </a:r>
            <a:r>
              <a:rPr sz="2650" i="1" spc="-220" dirty="0">
                <a:latin typeface="Times New Roman"/>
                <a:cs typeface="Times New Roman"/>
              </a:rPr>
              <a:t> </a:t>
            </a:r>
            <a:r>
              <a:rPr sz="2650" spc="30" dirty="0">
                <a:latin typeface="Symbol"/>
                <a:cs typeface="Symbol"/>
              </a:rPr>
              <a:t></a:t>
            </a:r>
            <a:r>
              <a:rPr sz="2650" spc="-260" dirty="0">
                <a:latin typeface="Times New Roman"/>
                <a:cs typeface="Times New Roman"/>
              </a:rPr>
              <a:t> </a:t>
            </a:r>
            <a:r>
              <a:rPr sz="2650" i="1" spc="45" dirty="0">
                <a:latin typeface="Times New Roman"/>
                <a:cs typeface="Times New Roman"/>
              </a:rPr>
              <a:t>m</a:t>
            </a:r>
            <a:r>
              <a:rPr sz="2650" i="1" spc="-85" dirty="0">
                <a:latin typeface="Times New Roman"/>
                <a:cs typeface="Times New Roman"/>
              </a:rPr>
              <a:t>i</a:t>
            </a:r>
            <a:r>
              <a:rPr sz="2650" i="1" spc="-5" dirty="0">
                <a:latin typeface="Times New Roman"/>
                <a:cs typeface="Times New Roman"/>
              </a:rPr>
              <a:t>n</a:t>
            </a:r>
            <a:r>
              <a:rPr sz="1100" i="1" spc="15" dirty="0">
                <a:latin typeface="Times New Roman"/>
                <a:cs typeface="Times New Roman"/>
              </a:rPr>
              <a:t>A</a:t>
            </a:r>
            <a:endParaRPr sz="1100" dirty="0">
              <a:latin typeface="Times New Roman"/>
              <a:cs typeface="Times New Roman"/>
            </a:endParaRPr>
          </a:p>
        </p:txBody>
      </p:sp>
    </p:spTree>
    <p:extLst>
      <p:ext uri="{BB962C8B-B14F-4D97-AF65-F5344CB8AC3E}">
        <p14:creationId xmlns:p14="http://schemas.microsoft.com/office/powerpoint/2010/main" val="14406974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E5FE1-B057-4460-AED5-41B1708E7C4B}"/>
              </a:ext>
            </a:extLst>
          </p:cNvPr>
          <p:cNvSpPr>
            <a:spLocks noGrp="1"/>
          </p:cNvSpPr>
          <p:nvPr>
            <p:ph type="title"/>
          </p:nvPr>
        </p:nvSpPr>
        <p:spPr/>
        <p:txBody>
          <a:bodyPr/>
          <a:lstStyle/>
          <a:p>
            <a:r>
              <a:rPr lang="en-US" dirty="0"/>
              <a:t>Example 1:</a:t>
            </a:r>
            <a:endParaRPr lang="en-IN" dirty="0"/>
          </a:p>
        </p:txBody>
      </p:sp>
      <p:sp>
        <p:nvSpPr>
          <p:cNvPr id="3" name="Content Placeholder 2">
            <a:extLst>
              <a:ext uri="{FF2B5EF4-FFF2-40B4-BE49-F238E27FC236}">
                <a16:creationId xmlns:a16="http://schemas.microsoft.com/office/drawing/2014/main" id="{9A646B6A-C590-4DCC-AB7D-ACFE8B1F7E3D}"/>
              </a:ext>
            </a:extLst>
          </p:cNvPr>
          <p:cNvSpPr>
            <a:spLocks noGrp="1"/>
          </p:cNvSpPr>
          <p:nvPr>
            <p:ph idx="1"/>
          </p:nvPr>
        </p:nvSpPr>
        <p:spPr/>
        <p:txBody>
          <a:bodyPr/>
          <a:lstStyle/>
          <a:p>
            <a:r>
              <a:rPr lang="en-US" dirty="0"/>
              <a:t>Min-max normalization. Suppose that the minimum and  maximum values for the attribute income are $12,000  and $98,000, respectively. We would like to map income  to the range [0.0;1.0]. By min-max normalization, a value  of $73,600 for income is transformed to ?</a:t>
            </a:r>
          </a:p>
          <a:p>
            <a:endParaRPr lang="en-IN" dirty="0"/>
          </a:p>
          <a:p>
            <a:endParaRPr lang="en-IN" dirty="0"/>
          </a:p>
          <a:p>
            <a:endParaRPr lang="en-IN" dirty="0"/>
          </a:p>
          <a:p>
            <a:endParaRPr lang="en-IN" dirty="0"/>
          </a:p>
          <a:p>
            <a:endParaRPr lang="en-IN" dirty="0"/>
          </a:p>
          <a:p>
            <a:pPr marL="0" indent="0">
              <a:buNone/>
            </a:pPr>
            <a:endParaRPr lang="en-IN" dirty="0"/>
          </a:p>
          <a:p>
            <a:endParaRPr lang="en-IN" dirty="0"/>
          </a:p>
          <a:p>
            <a:endParaRPr lang="en-IN" dirty="0"/>
          </a:p>
        </p:txBody>
      </p:sp>
      <p:sp>
        <p:nvSpPr>
          <p:cNvPr id="4" name="object 5">
            <a:extLst>
              <a:ext uri="{FF2B5EF4-FFF2-40B4-BE49-F238E27FC236}">
                <a16:creationId xmlns:a16="http://schemas.microsoft.com/office/drawing/2014/main" id="{143BDDA4-D22A-4F4B-B47F-F0E8E07E822B}"/>
              </a:ext>
            </a:extLst>
          </p:cNvPr>
          <p:cNvSpPr/>
          <p:nvPr/>
        </p:nvSpPr>
        <p:spPr>
          <a:xfrm>
            <a:off x="4681351" y="3357915"/>
            <a:ext cx="1564640" cy="0"/>
          </a:xfrm>
          <a:custGeom>
            <a:avLst/>
            <a:gdLst/>
            <a:ahLst/>
            <a:cxnLst/>
            <a:rect l="l" t="t" r="r" b="b"/>
            <a:pathLst>
              <a:path w="1564639">
                <a:moveTo>
                  <a:pt x="0" y="0"/>
                </a:moveTo>
                <a:lnTo>
                  <a:pt x="1564560" y="0"/>
                </a:lnTo>
              </a:path>
            </a:pathLst>
          </a:custGeom>
          <a:ln w="13974">
            <a:solidFill>
              <a:srgbClr val="000000"/>
            </a:solidFill>
          </a:ln>
        </p:spPr>
        <p:txBody>
          <a:bodyPr wrap="square" lIns="0" tIns="0" rIns="0" bIns="0" rtlCol="0"/>
          <a:lstStyle/>
          <a:p>
            <a:endParaRPr/>
          </a:p>
        </p:txBody>
      </p:sp>
      <p:sp>
        <p:nvSpPr>
          <p:cNvPr id="5" name="object 6">
            <a:extLst>
              <a:ext uri="{FF2B5EF4-FFF2-40B4-BE49-F238E27FC236}">
                <a16:creationId xmlns:a16="http://schemas.microsoft.com/office/drawing/2014/main" id="{1B61A98A-7F40-4CA7-87DB-87162C557427}"/>
              </a:ext>
            </a:extLst>
          </p:cNvPr>
          <p:cNvSpPr txBox="1"/>
          <p:nvPr/>
        </p:nvSpPr>
        <p:spPr>
          <a:xfrm>
            <a:off x="6285284" y="3091667"/>
            <a:ext cx="5120005" cy="431165"/>
          </a:xfrm>
          <a:prstGeom prst="rect">
            <a:avLst/>
          </a:prstGeom>
        </p:spPr>
        <p:txBody>
          <a:bodyPr vert="horz" wrap="square" lIns="0" tIns="13970" rIns="0" bIns="0" rtlCol="0">
            <a:spAutoFit/>
          </a:bodyPr>
          <a:lstStyle/>
          <a:p>
            <a:pPr marL="12700">
              <a:lnSpc>
                <a:spcPct val="100000"/>
              </a:lnSpc>
              <a:spcBef>
                <a:spcPts val="110"/>
              </a:spcBef>
            </a:pPr>
            <a:r>
              <a:rPr sz="2650" spc="60" dirty="0">
                <a:latin typeface="Times New Roman"/>
                <a:cs typeface="Times New Roman"/>
              </a:rPr>
              <a:t>(</a:t>
            </a:r>
            <a:r>
              <a:rPr sz="2650" i="1" spc="-15" dirty="0">
                <a:latin typeface="Times New Roman"/>
                <a:cs typeface="Times New Roman"/>
              </a:rPr>
              <a:t>n</a:t>
            </a:r>
            <a:r>
              <a:rPr sz="2650" i="1" spc="-85" dirty="0">
                <a:latin typeface="Times New Roman"/>
                <a:cs typeface="Times New Roman"/>
              </a:rPr>
              <a:t>e</a:t>
            </a:r>
            <a:r>
              <a:rPr sz="2650" i="1" spc="35" dirty="0">
                <a:latin typeface="Times New Roman"/>
                <a:cs typeface="Times New Roman"/>
              </a:rPr>
              <a:t>w</a:t>
            </a:r>
            <a:r>
              <a:rPr sz="2650" i="1" spc="-280" dirty="0">
                <a:latin typeface="Times New Roman"/>
                <a:cs typeface="Times New Roman"/>
              </a:rPr>
              <a:t> </a:t>
            </a:r>
            <a:r>
              <a:rPr sz="2650" spc="25" dirty="0">
                <a:latin typeface="Times New Roman"/>
                <a:cs typeface="Times New Roman"/>
              </a:rPr>
              <a:t>_</a:t>
            </a:r>
            <a:r>
              <a:rPr sz="2650" spc="-210" dirty="0">
                <a:latin typeface="Times New Roman"/>
                <a:cs typeface="Times New Roman"/>
              </a:rPr>
              <a:t> </a:t>
            </a:r>
            <a:r>
              <a:rPr sz="2650" i="1" spc="45" dirty="0">
                <a:latin typeface="Times New Roman"/>
                <a:cs typeface="Times New Roman"/>
              </a:rPr>
              <a:t>m</a:t>
            </a:r>
            <a:r>
              <a:rPr sz="2650" i="1" spc="-15" dirty="0">
                <a:latin typeface="Times New Roman"/>
                <a:cs typeface="Times New Roman"/>
              </a:rPr>
              <a:t>a</a:t>
            </a:r>
            <a:r>
              <a:rPr sz="2650" i="1" spc="-110" dirty="0">
                <a:latin typeface="Times New Roman"/>
                <a:cs typeface="Times New Roman"/>
              </a:rPr>
              <a:t>x</a:t>
            </a:r>
            <a:r>
              <a:rPr sz="1100" i="1" spc="15" dirty="0">
                <a:latin typeface="Times New Roman"/>
                <a:cs typeface="Times New Roman"/>
              </a:rPr>
              <a:t>A</a:t>
            </a:r>
            <a:r>
              <a:rPr sz="1100" i="1" dirty="0">
                <a:latin typeface="Times New Roman"/>
                <a:cs typeface="Times New Roman"/>
              </a:rPr>
              <a:t> </a:t>
            </a:r>
            <a:r>
              <a:rPr sz="1100" i="1" spc="-114" dirty="0">
                <a:latin typeface="Times New Roman"/>
                <a:cs typeface="Times New Roman"/>
              </a:rPr>
              <a:t> </a:t>
            </a:r>
            <a:r>
              <a:rPr sz="2650" spc="30" dirty="0">
                <a:latin typeface="Symbol"/>
                <a:cs typeface="Symbol"/>
              </a:rPr>
              <a:t></a:t>
            </a:r>
            <a:r>
              <a:rPr sz="2650" spc="-260" dirty="0">
                <a:latin typeface="Times New Roman"/>
                <a:cs typeface="Times New Roman"/>
              </a:rPr>
              <a:t> </a:t>
            </a:r>
            <a:r>
              <a:rPr sz="2650" i="1" spc="-15" dirty="0">
                <a:latin typeface="Times New Roman"/>
                <a:cs typeface="Times New Roman"/>
              </a:rPr>
              <a:t>n</a:t>
            </a:r>
            <a:r>
              <a:rPr sz="2650" i="1" spc="-85" dirty="0">
                <a:latin typeface="Times New Roman"/>
                <a:cs typeface="Times New Roman"/>
              </a:rPr>
              <a:t>e</a:t>
            </a:r>
            <a:r>
              <a:rPr sz="2650" i="1" spc="35" dirty="0">
                <a:latin typeface="Times New Roman"/>
                <a:cs typeface="Times New Roman"/>
              </a:rPr>
              <a:t>w</a:t>
            </a:r>
            <a:r>
              <a:rPr sz="2650" i="1" spc="-275" dirty="0">
                <a:latin typeface="Times New Roman"/>
                <a:cs typeface="Times New Roman"/>
              </a:rPr>
              <a:t> </a:t>
            </a:r>
            <a:r>
              <a:rPr sz="2650" spc="25" dirty="0">
                <a:latin typeface="Times New Roman"/>
                <a:cs typeface="Times New Roman"/>
              </a:rPr>
              <a:t>_</a:t>
            </a:r>
            <a:r>
              <a:rPr sz="2650" spc="-210" dirty="0">
                <a:latin typeface="Times New Roman"/>
                <a:cs typeface="Times New Roman"/>
              </a:rPr>
              <a:t> </a:t>
            </a:r>
            <a:r>
              <a:rPr sz="2650" i="1" spc="45" dirty="0">
                <a:latin typeface="Times New Roman"/>
                <a:cs typeface="Times New Roman"/>
              </a:rPr>
              <a:t>m</a:t>
            </a:r>
            <a:r>
              <a:rPr sz="2650" i="1" spc="-85" dirty="0">
                <a:latin typeface="Times New Roman"/>
                <a:cs typeface="Times New Roman"/>
              </a:rPr>
              <a:t>i</a:t>
            </a:r>
            <a:r>
              <a:rPr sz="2650" i="1" spc="-5" dirty="0">
                <a:latin typeface="Times New Roman"/>
                <a:cs typeface="Times New Roman"/>
              </a:rPr>
              <a:t>n</a:t>
            </a:r>
            <a:r>
              <a:rPr sz="1100" i="1" spc="40" dirty="0">
                <a:latin typeface="Times New Roman"/>
                <a:cs typeface="Times New Roman"/>
              </a:rPr>
              <a:t>A</a:t>
            </a:r>
            <a:r>
              <a:rPr sz="2650" spc="15" dirty="0">
                <a:latin typeface="Times New Roman"/>
                <a:cs typeface="Times New Roman"/>
              </a:rPr>
              <a:t>)</a:t>
            </a:r>
            <a:r>
              <a:rPr sz="2650" spc="-250" dirty="0">
                <a:latin typeface="Times New Roman"/>
                <a:cs typeface="Times New Roman"/>
              </a:rPr>
              <a:t> </a:t>
            </a:r>
            <a:r>
              <a:rPr sz="2650" spc="30" dirty="0">
                <a:latin typeface="Symbol"/>
                <a:cs typeface="Symbol"/>
              </a:rPr>
              <a:t></a:t>
            </a:r>
            <a:r>
              <a:rPr sz="2650" spc="-220" dirty="0">
                <a:latin typeface="Times New Roman"/>
                <a:cs typeface="Times New Roman"/>
              </a:rPr>
              <a:t> </a:t>
            </a:r>
            <a:r>
              <a:rPr sz="2650" i="1" spc="-15" dirty="0">
                <a:latin typeface="Times New Roman"/>
                <a:cs typeface="Times New Roman"/>
              </a:rPr>
              <a:t>n</a:t>
            </a:r>
            <a:r>
              <a:rPr sz="2650" i="1" spc="-85" dirty="0">
                <a:latin typeface="Times New Roman"/>
                <a:cs typeface="Times New Roman"/>
              </a:rPr>
              <a:t>e</a:t>
            </a:r>
            <a:r>
              <a:rPr sz="2650" i="1" spc="35" dirty="0">
                <a:latin typeface="Times New Roman"/>
                <a:cs typeface="Times New Roman"/>
              </a:rPr>
              <a:t>w</a:t>
            </a:r>
            <a:r>
              <a:rPr sz="2650" i="1" spc="-275" dirty="0">
                <a:latin typeface="Times New Roman"/>
                <a:cs typeface="Times New Roman"/>
              </a:rPr>
              <a:t> </a:t>
            </a:r>
            <a:r>
              <a:rPr sz="2650" spc="25" dirty="0">
                <a:latin typeface="Times New Roman"/>
                <a:cs typeface="Times New Roman"/>
              </a:rPr>
              <a:t>_</a:t>
            </a:r>
            <a:r>
              <a:rPr sz="2650" spc="-210" dirty="0">
                <a:latin typeface="Times New Roman"/>
                <a:cs typeface="Times New Roman"/>
              </a:rPr>
              <a:t> </a:t>
            </a:r>
            <a:r>
              <a:rPr sz="2650" i="1" spc="45" dirty="0">
                <a:latin typeface="Times New Roman"/>
                <a:cs typeface="Times New Roman"/>
              </a:rPr>
              <a:t>m</a:t>
            </a:r>
            <a:r>
              <a:rPr sz="2650" i="1" spc="-85" dirty="0">
                <a:latin typeface="Times New Roman"/>
                <a:cs typeface="Times New Roman"/>
              </a:rPr>
              <a:t>i</a:t>
            </a:r>
            <a:r>
              <a:rPr sz="2650" i="1" spc="-5" dirty="0">
                <a:latin typeface="Times New Roman"/>
                <a:cs typeface="Times New Roman"/>
              </a:rPr>
              <a:t>n</a:t>
            </a:r>
            <a:r>
              <a:rPr sz="1100" i="1" spc="15" dirty="0">
                <a:latin typeface="Times New Roman"/>
                <a:cs typeface="Times New Roman"/>
              </a:rPr>
              <a:t>A</a:t>
            </a:r>
            <a:endParaRPr sz="1100">
              <a:latin typeface="Times New Roman"/>
              <a:cs typeface="Times New Roman"/>
            </a:endParaRPr>
          </a:p>
        </p:txBody>
      </p:sp>
      <p:sp>
        <p:nvSpPr>
          <p:cNvPr id="6" name="object 7">
            <a:extLst>
              <a:ext uri="{FF2B5EF4-FFF2-40B4-BE49-F238E27FC236}">
                <a16:creationId xmlns:a16="http://schemas.microsoft.com/office/drawing/2014/main" id="{712CBFF7-FA8C-4798-B3BA-C6EDE2C89A25}"/>
              </a:ext>
            </a:extLst>
          </p:cNvPr>
          <p:cNvSpPr txBox="1"/>
          <p:nvPr/>
        </p:nvSpPr>
        <p:spPr>
          <a:xfrm>
            <a:off x="4690972" y="3355864"/>
            <a:ext cx="1551940" cy="431165"/>
          </a:xfrm>
          <a:prstGeom prst="rect">
            <a:avLst/>
          </a:prstGeom>
        </p:spPr>
        <p:txBody>
          <a:bodyPr vert="horz" wrap="square" lIns="0" tIns="13970" rIns="0" bIns="0" rtlCol="0">
            <a:spAutoFit/>
          </a:bodyPr>
          <a:lstStyle/>
          <a:p>
            <a:pPr marL="12700">
              <a:lnSpc>
                <a:spcPct val="100000"/>
              </a:lnSpc>
              <a:spcBef>
                <a:spcPts val="110"/>
              </a:spcBef>
            </a:pPr>
            <a:r>
              <a:rPr sz="2650" i="1" spc="45" dirty="0">
                <a:latin typeface="Times New Roman"/>
                <a:cs typeface="Times New Roman"/>
              </a:rPr>
              <a:t>m</a:t>
            </a:r>
            <a:r>
              <a:rPr sz="2650" i="1" spc="-15" dirty="0">
                <a:latin typeface="Times New Roman"/>
                <a:cs typeface="Times New Roman"/>
              </a:rPr>
              <a:t>a</a:t>
            </a:r>
            <a:r>
              <a:rPr sz="2650" i="1" spc="-105" dirty="0">
                <a:latin typeface="Times New Roman"/>
                <a:cs typeface="Times New Roman"/>
              </a:rPr>
              <a:t>x</a:t>
            </a:r>
            <a:r>
              <a:rPr sz="1100" i="1" spc="15" dirty="0">
                <a:latin typeface="Times New Roman"/>
                <a:cs typeface="Times New Roman"/>
              </a:rPr>
              <a:t>A</a:t>
            </a:r>
            <a:r>
              <a:rPr sz="1100" i="1" dirty="0">
                <a:latin typeface="Times New Roman"/>
                <a:cs typeface="Times New Roman"/>
              </a:rPr>
              <a:t> </a:t>
            </a:r>
            <a:r>
              <a:rPr sz="1100" i="1" spc="-114" dirty="0">
                <a:latin typeface="Times New Roman"/>
                <a:cs typeface="Times New Roman"/>
              </a:rPr>
              <a:t> </a:t>
            </a:r>
            <a:r>
              <a:rPr sz="2650" spc="30" dirty="0">
                <a:latin typeface="Symbol"/>
                <a:cs typeface="Symbol"/>
              </a:rPr>
              <a:t></a:t>
            </a:r>
            <a:r>
              <a:rPr sz="2650" spc="-260" dirty="0">
                <a:latin typeface="Times New Roman"/>
                <a:cs typeface="Times New Roman"/>
              </a:rPr>
              <a:t> </a:t>
            </a:r>
            <a:r>
              <a:rPr sz="2650" i="1" spc="45" dirty="0">
                <a:latin typeface="Times New Roman"/>
                <a:cs typeface="Times New Roman"/>
              </a:rPr>
              <a:t>m</a:t>
            </a:r>
            <a:r>
              <a:rPr sz="2650" i="1" spc="-85" dirty="0">
                <a:latin typeface="Times New Roman"/>
                <a:cs typeface="Times New Roman"/>
              </a:rPr>
              <a:t>i</a:t>
            </a:r>
            <a:r>
              <a:rPr sz="2650" i="1" spc="-5" dirty="0">
                <a:latin typeface="Times New Roman"/>
                <a:cs typeface="Times New Roman"/>
              </a:rPr>
              <a:t>n</a:t>
            </a:r>
            <a:r>
              <a:rPr sz="1100" i="1" spc="15" dirty="0">
                <a:latin typeface="Times New Roman"/>
                <a:cs typeface="Times New Roman"/>
              </a:rPr>
              <a:t>A</a:t>
            </a:r>
            <a:endParaRPr sz="1100">
              <a:latin typeface="Times New Roman"/>
              <a:cs typeface="Times New Roman"/>
            </a:endParaRPr>
          </a:p>
        </p:txBody>
      </p:sp>
      <p:sp>
        <p:nvSpPr>
          <p:cNvPr id="7" name="object 9">
            <a:extLst>
              <a:ext uri="{FF2B5EF4-FFF2-40B4-BE49-F238E27FC236}">
                <a16:creationId xmlns:a16="http://schemas.microsoft.com/office/drawing/2014/main" id="{60447441-A4DB-4C2D-9FBC-EC939F27656E}"/>
              </a:ext>
            </a:extLst>
          </p:cNvPr>
          <p:cNvSpPr txBox="1"/>
          <p:nvPr/>
        </p:nvSpPr>
        <p:spPr>
          <a:xfrm>
            <a:off x="4151859" y="3091667"/>
            <a:ext cx="464820" cy="431165"/>
          </a:xfrm>
          <a:prstGeom prst="rect">
            <a:avLst/>
          </a:prstGeom>
        </p:spPr>
        <p:txBody>
          <a:bodyPr vert="horz" wrap="square" lIns="0" tIns="13970" rIns="0" bIns="0" rtlCol="0">
            <a:spAutoFit/>
          </a:bodyPr>
          <a:lstStyle/>
          <a:p>
            <a:pPr marL="12700">
              <a:lnSpc>
                <a:spcPct val="100000"/>
              </a:lnSpc>
              <a:spcBef>
                <a:spcPts val="110"/>
              </a:spcBef>
            </a:pPr>
            <a:r>
              <a:rPr sz="2650" i="1" spc="45" dirty="0">
                <a:latin typeface="Times New Roman"/>
                <a:cs typeface="Times New Roman"/>
              </a:rPr>
              <a:t>v</a:t>
            </a:r>
            <a:r>
              <a:rPr sz="2650" spc="5" dirty="0">
                <a:latin typeface="Times New Roman"/>
                <a:cs typeface="Times New Roman"/>
              </a:rPr>
              <a:t>'</a:t>
            </a:r>
            <a:r>
              <a:rPr sz="2650" spc="-409" dirty="0">
                <a:latin typeface="Times New Roman"/>
                <a:cs typeface="Times New Roman"/>
              </a:rPr>
              <a:t> </a:t>
            </a:r>
            <a:r>
              <a:rPr sz="2650" spc="30" dirty="0">
                <a:latin typeface="Symbol"/>
                <a:cs typeface="Symbol"/>
              </a:rPr>
              <a:t></a:t>
            </a:r>
            <a:endParaRPr sz="2650" dirty="0">
              <a:latin typeface="Symbol"/>
              <a:cs typeface="Symbol"/>
            </a:endParaRPr>
          </a:p>
        </p:txBody>
      </p:sp>
      <p:sp>
        <p:nvSpPr>
          <p:cNvPr id="11" name="TextBox 10">
            <a:extLst>
              <a:ext uri="{FF2B5EF4-FFF2-40B4-BE49-F238E27FC236}">
                <a16:creationId xmlns:a16="http://schemas.microsoft.com/office/drawing/2014/main" id="{A059FD91-9DE8-4681-BBA6-C1429E22730A}"/>
              </a:ext>
            </a:extLst>
          </p:cNvPr>
          <p:cNvSpPr txBox="1"/>
          <p:nvPr/>
        </p:nvSpPr>
        <p:spPr>
          <a:xfrm>
            <a:off x="4829452" y="2926751"/>
            <a:ext cx="1413459" cy="646331"/>
          </a:xfrm>
          <a:prstGeom prst="rect">
            <a:avLst/>
          </a:prstGeom>
          <a:noFill/>
        </p:spPr>
        <p:txBody>
          <a:bodyPr wrap="square" rtlCol="0">
            <a:spAutoFit/>
          </a:bodyPr>
          <a:lstStyle/>
          <a:p>
            <a:r>
              <a:rPr lang="en-IN" sz="1800" i="1" spc="20" dirty="0">
                <a:latin typeface="Times New Roman"/>
                <a:cs typeface="Times New Roman"/>
              </a:rPr>
              <a:t>    </a:t>
            </a:r>
            <a:r>
              <a:rPr lang="en-IN" sz="1800" i="1" spc="20" dirty="0">
                <a:cs typeface="Times New Roman"/>
              </a:rPr>
              <a:t>v</a:t>
            </a:r>
            <a:r>
              <a:rPr lang="en-IN" sz="1800" i="1" spc="-220" dirty="0">
                <a:cs typeface="Times New Roman"/>
              </a:rPr>
              <a:t> </a:t>
            </a:r>
            <a:r>
              <a:rPr lang="en-IN" sz="1800" spc="30" dirty="0">
                <a:latin typeface="Symbol"/>
                <a:cs typeface="Symbol"/>
              </a:rPr>
              <a:t></a:t>
            </a:r>
            <a:r>
              <a:rPr lang="en-IN" sz="1800" spc="-260" dirty="0">
                <a:latin typeface="Times New Roman"/>
                <a:cs typeface="Times New Roman"/>
              </a:rPr>
              <a:t> </a:t>
            </a:r>
            <a:r>
              <a:rPr lang="en-IN" sz="1800" i="1" spc="45" dirty="0" err="1">
                <a:latin typeface="Times New Roman"/>
                <a:cs typeface="Times New Roman"/>
              </a:rPr>
              <a:t>m</a:t>
            </a:r>
            <a:r>
              <a:rPr lang="en-IN" sz="1800" i="1" spc="-85" dirty="0" err="1">
                <a:latin typeface="Times New Roman"/>
                <a:cs typeface="Times New Roman"/>
              </a:rPr>
              <a:t>i</a:t>
            </a:r>
            <a:r>
              <a:rPr lang="en-IN" sz="1800" i="1" spc="-5" dirty="0" err="1">
                <a:latin typeface="Times New Roman"/>
                <a:cs typeface="Times New Roman"/>
              </a:rPr>
              <a:t>n</a:t>
            </a:r>
            <a:r>
              <a:rPr lang="en-IN" sz="900" i="1" spc="15" dirty="0" err="1">
                <a:latin typeface="Times New Roman"/>
                <a:cs typeface="Times New Roman"/>
              </a:rPr>
              <a:t>A</a:t>
            </a:r>
            <a:endParaRPr lang="en-IN" sz="900" dirty="0">
              <a:latin typeface="Times New Roman"/>
              <a:cs typeface="Times New Roman"/>
            </a:endParaRPr>
          </a:p>
          <a:p>
            <a:endParaRPr lang="en-IN" dirty="0"/>
          </a:p>
        </p:txBody>
      </p:sp>
      <p:pic>
        <p:nvPicPr>
          <p:cNvPr id="12" name="object 4">
            <a:extLst>
              <a:ext uri="{FF2B5EF4-FFF2-40B4-BE49-F238E27FC236}">
                <a16:creationId xmlns:a16="http://schemas.microsoft.com/office/drawing/2014/main" id="{FF90F2F5-90B2-4B6F-8839-74CE5BD4F252}"/>
              </a:ext>
            </a:extLst>
          </p:cNvPr>
          <p:cNvPicPr/>
          <p:nvPr/>
        </p:nvPicPr>
        <p:blipFill>
          <a:blip r:embed="rId2" cstate="print"/>
          <a:stretch>
            <a:fillRect/>
          </a:stretch>
        </p:blipFill>
        <p:spPr>
          <a:xfrm>
            <a:off x="3837661" y="4339907"/>
            <a:ext cx="7797038" cy="933450"/>
          </a:xfrm>
          <a:prstGeom prst="rect">
            <a:avLst/>
          </a:prstGeom>
        </p:spPr>
      </p:pic>
    </p:spTree>
    <p:extLst>
      <p:ext uri="{BB962C8B-B14F-4D97-AF65-F5344CB8AC3E}">
        <p14:creationId xmlns:p14="http://schemas.microsoft.com/office/powerpoint/2010/main" val="42865854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0E5F8-7013-4198-A01C-C4DC95F4EBAC}"/>
              </a:ext>
            </a:extLst>
          </p:cNvPr>
          <p:cNvSpPr>
            <a:spLocks noGrp="1"/>
          </p:cNvSpPr>
          <p:nvPr>
            <p:ph type="title"/>
          </p:nvPr>
        </p:nvSpPr>
        <p:spPr/>
        <p:txBody>
          <a:bodyPr/>
          <a:lstStyle/>
          <a:p>
            <a:r>
              <a:rPr lang="en-US" dirty="0"/>
              <a:t>Z- Score</a:t>
            </a:r>
            <a:endParaRPr lang="en-IN" dirty="0"/>
          </a:p>
        </p:txBody>
      </p:sp>
      <p:sp>
        <p:nvSpPr>
          <p:cNvPr id="3" name="Content Placeholder 2">
            <a:extLst>
              <a:ext uri="{FF2B5EF4-FFF2-40B4-BE49-F238E27FC236}">
                <a16:creationId xmlns:a16="http://schemas.microsoft.com/office/drawing/2014/main" id="{C1C363FF-EBA6-4381-869A-126BA4B41C09}"/>
              </a:ext>
            </a:extLst>
          </p:cNvPr>
          <p:cNvSpPr>
            <a:spLocks noGrp="1"/>
          </p:cNvSpPr>
          <p:nvPr>
            <p:ph idx="1"/>
          </p:nvPr>
        </p:nvSpPr>
        <p:spPr/>
        <p:txBody>
          <a:bodyPr/>
          <a:lstStyle/>
          <a:p>
            <a:r>
              <a:rPr lang="en-US" dirty="0"/>
              <a:t>In z-score normalization (or zero-mean  normalization), the values for an attribute, A, are  normalized based on the mean and standard deviation  of A. A value, v, of A is normalized to v’ by computing</a:t>
            </a:r>
          </a:p>
          <a:p>
            <a:endParaRPr lang="en-IN" dirty="0"/>
          </a:p>
          <a:p>
            <a:endParaRPr lang="en-IN" dirty="0"/>
          </a:p>
          <a:p>
            <a:endParaRPr lang="en-US" dirty="0"/>
          </a:p>
          <a:p>
            <a:r>
              <a:rPr lang="en-US" dirty="0"/>
              <a:t>This method of normalization is useful when the  actual minimum and maximum of attribute A are  unknown, or when there are outliers that dominate  the min-max normalization</a:t>
            </a:r>
            <a:endParaRPr lang="en-IN" dirty="0"/>
          </a:p>
          <a:p>
            <a:pPr marL="0" indent="0">
              <a:buNone/>
            </a:pPr>
            <a:endParaRPr lang="en-IN" dirty="0"/>
          </a:p>
          <a:p>
            <a:endParaRPr lang="en-IN" dirty="0"/>
          </a:p>
          <a:p>
            <a:endParaRPr lang="en-IN" dirty="0"/>
          </a:p>
        </p:txBody>
      </p:sp>
      <p:sp>
        <p:nvSpPr>
          <p:cNvPr id="6" name="object 6">
            <a:extLst>
              <a:ext uri="{FF2B5EF4-FFF2-40B4-BE49-F238E27FC236}">
                <a16:creationId xmlns:a16="http://schemas.microsoft.com/office/drawing/2014/main" id="{82E4CBDE-A058-45D2-8470-4EBDE5DE1353}"/>
              </a:ext>
            </a:extLst>
          </p:cNvPr>
          <p:cNvSpPr txBox="1">
            <a:spLocks/>
          </p:cNvSpPr>
          <p:nvPr/>
        </p:nvSpPr>
        <p:spPr>
          <a:xfrm>
            <a:off x="5369773" y="2687175"/>
            <a:ext cx="2157095" cy="487680"/>
          </a:xfrm>
          <a:prstGeom prst="rect">
            <a:avLst/>
          </a:prstGeom>
        </p:spPr>
        <p:txBody>
          <a:bodyPr vert="horz" wrap="square" lIns="0" tIns="16510" rIns="0" bIns="0" rtlCol="0" anchor="ctr">
            <a:sp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marL="25400">
              <a:lnSpc>
                <a:spcPct val="100000"/>
              </a:lnSpc>
              <a:spcBef>
                <a:spcPts val="130"/>
              </a:spcBef>
              <a:tabLst>
                <a:tab pos="728980" algn="l"/>
              </a:tabLst>
            </a:pPr>
            <a:r>
              <a:rPr lang="en-IN" sz="4500" i="1" spc="52" baseline="-35185" dirty="0">
                <a:solidFill>
                  <a:schemeClr val="tx1"/>
                </a:solidFill>
                <a:latin typeface="Times New Roman"/>
                <a:cs typeface="Times New Roman"/>
              </a:rPr>
              <a:t>v</a:t>
            </a:r>
            <a:r>
              <a:rPr lang="en-IN" sz="4500" spc="-7" baseline="-35185" dirty="0">
                <a:solidFill>
                  <a:schemeClr val="tx1"/>
                </a:solidFill>
                <a:latin typeface="Times New Roman"/>
                <a:cs typeface="Times New Roman"/>
              </a:rPr>
              <a:t>'</a:t>
            </a:r>
            <a:r>
              <a:rPr lang="en-IN" sz="4500" spc="-697" baseline="-35185" dirty="0">
                <a:solidFill>
                  <a:schemeClr val="tx1"/>
                </a:solidFill>
                <a:latin typeface="Times New Roman"/>
                <a:cs typeface="Times New Roman"/>
              </a:rPr>
              <a:t> </a:t>
            </a:r>
            <a:r>
              <a:rPr lang="en-IN" sz="4500" spc="-15" baseline="-35185" dirty="0">
                <a:solidFill>
                  <a:schemeClr val="tx1"/>
                </a:solidFill>
                <a:latin typeface="Symbol"/>
                <a:cs typeface="Symbol"/>
              </a:rPr>
              <a:t></a:t>
            </a:r>
            <a:r>
              <a:rPr lang="en-IN" sz="4500" baseline="-35185" dirty="0">
                <a:solidFill>
                  <a:schemeClr val="tx1"/>
                </a:solidFill>
                <a:latin typeface="Times New Roman"/>
                <a:cs typeface="Times New Roman"/>
              </a:rPr>
              <a:t>	</a:t>
            </a:r>
            <a:r>
              <a:rPr lang="en-IN" sz="3000" i="1" spc="-10" dirty="0">
                <a:solidFill>
                  <a:schemeClr val="tx1"/>
                </a:solidFill>
                <a:latin typeface="Times New Roman"/>
                <a:cs typeface="Times New Roman"/>
              </a:rPr>
              <a:t>v</a:t>
            </a:r>
            <a:r>
              <a:rPr lang="en-IN" sz="3000" i="1" spc="-240" dirty="0">
                <a:solidFill>
                  <a:schemeClr val="tx1"/>
                </a:solidFill>
                <a:latin typeface="Times New Roman"/>
                <a:cs typeface="Times New Roman"/>
              </a:rPr>
              <a:t> </a:t>
            </a:r>
            <a:r>
              <a:rPr lang="en-IN" sz="3000" spc="-10" dirty="0">
                <a:solidFill>
                  <a:schemeClr val="tx1"/>
                </a:solidFill>
                <a:latin typeface="Symbol"/>
                <a:cs typeface="Symbol"/>
              </a:rPr>
              <a:t></a:t>
            </a:r>
            <a:r>
              <a:rPr lang="en-IN" sz="3000" spc="-285" dirty="0">
                <a:solidFill>
                  <a:schemeClr val="tx1"/>
                </a:solidFill>
                <a:latin typeface="Times New Roman"/>
                <a:cs typeface="Times New Roman"/>
              </a:rPr>
              <a:t> </a:t>
            </a:r>
            <a:r>
              <a:rPr lang="en-IN" sz="3000" i="1" spc="30" dirty="0" err="1">
                <a:solidFill>
                  <a:schemeClr val="tx1"/>
                </a:solidFill>
                <a:latin typeface="Times New Roman"/>
                <a:cs typeface="Times New Roman"/>
              </a:rPr>
              <a:t>m</a:t>
            </a:r>
            <a:r>
              <a:rPr lang="en-IN" sz="3000" i="1" spc="-114" dirty="0" err="1">
                <a:solidFill>
                  <a:schemeClr val="tx1"/>
                </a:solidFill>
                <a:latin typeface="Times New Roman"/>
                <a:cs typeface="Times New Roman"/>
              </a:rPr>
              <a:t>e</a:t>
            </a:r>
            <a:r>
              <a:rPr lang="en-IN" sz="3000" i="1" spc="-40" dirty="0" err="1">
                <a:solidFill>
                  <a:schemeClr val="tx1"/>
                </a:solidFill>
                <a:latin typeface="Times New Roman"/>
                <a:cs typeface="Times New Roman"/>
              </a:rPr>
              <a:t>a</a:t>
            </a:r>
            <a:r>
              <a:rPr lang="en-IN" sz="3000" i="1" spc="-65" dirty="0" err="1">
                <a:solidFill>
                  <a:schemeClr val="tx1"/>
                </a:solidFill>
                <a:latin typeface="Times New Roman"/>
                <a:cs typeface="Times New Roman"/>
              </a:rPr>
              <a:t>n</a:t>
            </a:r>
            <a:r>
              <a:rPr lang="en-IN" sz="1250" i="1" spc="-5" dirty="0" err="1">
                <a:solidFill>
                  <a:schemeClr val="tx1"/>
                </a:solidFill>
                <a:latin typeface="Times New Roman"/>
                <a:cs typeface="Times New Roman"/>
              </a:rPr>
              <a:t>A</a:t>
            </a:r>
            <a:endParaRPr lang="en-IN" sz="1250" dirty="0">
              <a:solidFill>
                <a:schemeClr val="tx1"/>
              </a:solidFill>
              <a:latin typeface="Times New Roman"/>
              <a:cs typeface="Times New Roman"/>
            </a:endParaRPr>
          </a:p>
        </p:txBody>
      </p:sp>
      <p:cxnSp>
        <p:nvCxnSpPr>
          <p:cNvPr id="8" name="Straight Connector 7">
            <a:extLst>
              <a:ext uri="{FF2B5EF4-FFF2-40B4-BE49-F238E27FC236}">
                <a16:creationId xmlns:a16="http://schemas.microsoft.com/office/drawing/2014/main" id="{B0D2C7E3-F382-4F2E-BF2F-471EC3B33843}"/>
              </a:ext>
            </a:extLst>
          </p:cNvPr>
          <p:cNvCxnSpPr/>
          <p:nvPr/>
        </p:nvCxnSpPr>
        <p:spPr>
          <a:xfrm>
            <a:off x="6096000" y="3174855"/>
            <a:ext cx="1430868" cy="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386B3F02-B21B-4A9F-839C-003D9246705A}"/>
              </a:ext>
            </a:extLst>
          </p:cNvPr>
          <p:cNvSpPr txBox="1"/>
          <p:nvPr/>
        </p:nvSpPr>
        <p:spPr>
          <a:xfrm flipH="1">
            <a:off x="6095998" y="3092665"/>
            <a:ext cx="1430867" cy="677108"/>
          </a:xfrm>
          <a:prstGeom prst="rect">
            <a:avLst/>
          </a:prstGeom>
          <a:noFill/>
        </p:spPr>
        <p:txBody>
          <a:bodyPr wrap="square" rtlCol="0">
            <a:spAutoFit/>
          </a:bodyPr>
          <a:lstStyle/>
          <a:p>
            <a:r>
              <a:rPr lang="en-IN" sz="2000" i="1" spc="45" dirty="0">
                <a:latin typeface="Times New Roman"/>
                <a:cs typeface="Times New Roman"/>
              </a:rPr>
              <a:t> </a:t>
            </a:r>
            <a:r>
              <a:rPr lang="en-IN" sz="2000" i="1" spc="45" dirty="0" err="1">
                <a:latin typeface="Times New Roman"/>
                <a:cs typeface="Times New Roman"/>
              </a:rPr>
              <a:t>s</a:t>
            </a:r>
            <a:r>
              <a:rPr lang="en-IN" sz="2000" i="1" spc="-100" dirty="0" err="1">
                <a:latin typeface="Times New Roman"/>
                <a:cs typeface="Times New Roman"/>
              </a:rPr>
              <a:t>t</a:t>
            </a:r>
            <a:r>
              <a:rPr lang="en-IN" sz="2000" i="1" spc="-40" dirty="0" err="1">
                <a:latin typeface="Times New Roman"/>
                <a:cs typeface="Times New Roman"/>
              </a:rPr>
              <a:t>and</a:t>
            </a:r>
            <a:r>
              <a:rPr lang="en-IN" sz="2000" i="1" spc="-10" dirty="0" err="1">
                <a:latin typeface="Times New Roman"/>
                <a:cs typeface="Times New Roman"/>
              </a:rPr>
              <a:t>_</a:t>
            </a:r>
            <a:r>
              <a:rPr lang="en-IN" sz="2000" i="1" spc="-40" dirty="0" err="1">
                <a:latin typeface="Times New Roman"/>
                <a:cs typeface="Times New Roman"/>
              </a:rPr>
              <a:t>d</a:t>
            </a:r>
            <a:r>
              <a:rPr lang="en-IN" sz="2000" i="1" spc="-114" dirty="0" err="1">
                <a:latin typeface="Times New Roman"/>
                <a:cs typeface="Times New Roman"/>
              </a:rPr>
              <a:t>e</a:t>
            </a:r>
            <a:r>
              <a:rPr lang="en-IN" sz="2000" i="1" spc="5" dirty="0" err="1">
                <a:latin typeface="Times New Roman"/>
                <a:cs typeface="Times New Roman"/>
              </a:rPr>
              <a:t>v</a:t>
            </a:r>
            <a:r>
              <a:rPr lang="en-IN" sz="1000" i="1" spc="-5" dirty="0" err="1">
                <a:latin typeface="Times New Roman"/>
                <a:cs typeface="Times New Roman"/>
              </a:rPr>
              <a:t>A</a:t>
            </a:r>
            <a:endParaRPr lang="en-IN" sz="1000" dirty="0">
              <a:latin typeface="Times New Roman"/>
              <a:cs typeface="Times New Roman"/>
            </a:endParaRPr>
          </a:p>
          <a:p>
            <a:endParaRPr lang="en-IN" dirty="0"/>
          </a:p>
        </p:txBody>
      </p:sp>
    </p:spTree>
    <p:extLst>
      <p:ext uri="{BB962C8B-B14F-4D97-AF65-F5344CB8AC3E}">
        <p14:creationId xmlns:p14="http://schemas.microsoft.com/office/powerpoint/2010/main" val="8650520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487D0-1D63-40C2-850E-C25D11FBF964}"/>
              </a:ext>
            </a:extLst>
          </p:cNvPr>
          <p:cNvSpPr>
            <a:spLocks noGrp="1"/>
          </p:cNvSpPr>
          <p:nvPr>
            <p:ph type="title"/>
          </p:nvPr>
        </p:nvSpPr>
        <p:spPr/>
        <p:txBody>
          <a:bodyPr/>
          <a:lstStyle/>
          <a:p>
            <a:r>
              <a:rPr lang="en-US" dirty="0"/>
              <a:t>Example 1:</a:t>
            </a:r>
            <a:endParaRPr lang="en-IN" dirty="0"/>
          </a:p>
        </p:txBody>
      </p:sp>
      <p:sp>
        <p:nvSpPr>
          <p:cNvPr id="3" name="Content Placeholder 2">
            <a:extLst>
              <a:ext uri="{FF2B5EF4-FFF2-40B4-BE49-F238E27FC236}">
                <a16:creationId xmlns:a16="http://schemas.microsoft.com/office/drawing/2014/main" id="{7A79B991-B1D3-4357-986D-E261D0B0C494}"/>
              </a:ext>
            </a:extLst>
          </p:cNvPr>
          <p:cNvSpPr>
            <a:spLocks noGrp="1"/>
          </p:cNvSpPr>
          <p:nvPr>
            <p:ph idx="1"/>
          </p:nvPr>
        </p:nvSpPr>
        <p:spPr>
          <a:xfrm>
            <a:off x="3869268" y="868680"/>
            <a:ext cx="7315200" cy="5120640"/>
          </a:xfrm>
        </p:spPr>
        <p:txBody>
          <a:bodyPr/>
          <a:lstStyle/>
          <a:p>
            <a:r>
              <a:rPr lang="en-US" dirty="0"/>
              <a:t>Suppose that the mean and standard deviation of  the values for the attribute income are $54,000  and $16,000, respectively. With z-score  normalization, a value of $73,600 for income is  transformed to ?</a:t>
            </a:r>
          </a:p>
          <a:p>
            <a:pPr marL="0" indent="0">
              <a:buNone/>
            </a:pPr>
            <a:r>
              <a:rPr lang="en-US" sz="3600" i="1" spc="52" baseline="-35185" dirty="0">
                <a:latin typeface="Times New Roman"/>
                <a:cs typeface="Times New Roman"/>
              </a:rPr>
              <a:t>             v</a:t>
            </a:r>
            <a:r>
              <a:rPr lang="en-US" sz="3600" spc="-7" baseline="-35185" dirty="0">
                <a:latin typeface="Times New Roman"/>
                <a:cs typeface="Times New Roman"/>
              </a:rPr>
              <a:t>’</a:t>
            </a:r>
            <a:r>
              <a:rPr lang="en-US" sz="3600" spc="-697" baseline="-35185" dirty="0">
                <a:latin typeface="Times New Roman"/>
                <a:cs typeface="Times New Roman"/>
              </a:rPr>
              <a:t> </a:t>
            </a:r>
            <a:r>
              <a:rPr lang="en-US" sz="3600" spc="-15" baseline="-35185" dirty="0">
                <a:latin typeface="Symbol"/>
                <a:cs typeface="Symbol"/>
              </a:rPr>
              <a:t></a:t>
            </a:r>
            <a:r>
              <a:rPr lang="en-US" sz="3600" spc="-15" baseline="-35185" dirty="0">
                <a:latin typeface="Times New Roman"/>
                <a:cs typeface="Times New Roman"/>
              </a:rPr>
              <a:t>      </a:t>
            </a:r>
            <a:r>
              <a:rPr lang="en-US" sz="2000" i="1" spc="-10" dirty="0">
                <a:latin typeface="Times New Roman"/>
                <a:cs typeface="Times New Roman"/>
              </a:rPr>
              <a:t>v</a:t>
            </a:r>
            <a:r>
              <a:rPr lang="en-US" sz="2000" i="1" spc="-240" dirty="0">
                <a:latin typeface="Times New Roman"/>
                <a:cs typeface="Times New Roman"/>
              </a:rPr>
              <a:t> </a:t>
            </a:r>
            <a:r>
              <a:rPr lang="en-US" sz="2000" spc="-10" dirty="0">
                <a:latin typeface="Symbol"/>
                <a:cs typeface="Symbol"/>
              </a:rPr>
              <a:t></a:t>
            </a:r>
            <a:r>
              <a:rPr lang="en-US" sz="2000" spc="-285" dirty="0">
                <a:latin typeface="Times New Roman"/>
                <a:cs typeface="Times New Roman"/>
              </a:rPr>
              <a:t> </a:t>
            </a:r>
            <a:r>
              <a:rPr lang="en-US" sz="2000" i="1" spc="30" dirty="0" err="1">
                <a:latin typeface="Times New Roman"/>
                <a:cs typeface="Times New Roman"/>
              </a:rPr>
              <a:t>m</a:t>
            </a:r>
            <a:r>
              <a:rPr lang="en-US" sz="2000" i="1" spc="-114" dirty="0" err="1">
                <a:latin typeface="Times New Roman"/>
                <a:cs typeface="Times New Roman"/>
              </a:rPr>
              <a:t>e</a:t>
            </a:r>
            <a:r>
              <a:rPr lang="en-US" sz="2000" i="1" spc="-40" dirty="0" err="1">
                <a:latin typeface="Times New Roman"/>
                <a:cs typeface="Times New Roman"/>
              </a:rPr>
              <a:t>a</a:t>
            </a:r>
            <a:r>
              <a:rPr lang="en-US" sz="2000" i="1" spc="-65" dirty="0" err="1">
                <a:latin typeface="Times New Roman"/>
                <a:cs typeface="Times New Roman"/>
              </a:rPr>
              <a:t>n</a:t>
            </a:r>
            <a:r>
              <a:rPr lang="en-US" sz="1050" i="1" spc="-5" dirty="0" err="1">
                <a:latin typeface="Times New Roman"/>
                <a:cs typeface="Times New Roman"/>
              </a:rPr>
              <a:t>A</a:t>
            </a:r>
            <a:r>
              <a:rPr lang="en-US" sz="1050" i="1" spc="-5" dirty="0">
                <a:latin typeface="Times New Roman"/>
                <a:cs typeface="Times New Roman"/>
              </a:rPr>
              <a:t>  </a:t>
            </a:r>
          </a:p>
          <a:p>
            <a:pPr marL="0" indent="0">
              <a:buNone/>
            </a:pPr>
            <a:r>
              <a:rPr lang="en-US" sz="1050" i="1" spc="-5" dirty="0">
                <a:latin typeface="Times New Roman"/>
                <a:cs typeface="Times New Roman"/>
              </a:rPr>
              <a:t>                                                       </a:t>
            </a:r>
            <a:r>
              <a:rPr lang="en-US" sz="2000" i="1" spc="45" dirty="0" err="1">
                <a:latin typeface="Times New Roman"/>
                <a:cs typeface="Times New Roman"/>
              </a:rPr>
              <a:t>s</a:t>
            </a:r>
            <a:r>
              <a:rPr lang="en-US" sz="2000" i="1" spc="-100" dirty="0" err="1">
                <a:latin typeface="Times New Roman"/>
                <a:cs typeface="Times New Roman"/>
              </a:rPr>
              <a:t>t</a:t>
            </a:r>
            <a:r>
              <a:rPr lang="en-US" sz="2000" i="1" spc="-40" dirty="0" err="1">
                <a:latin typeface="Times New Roman"/>
                <a:cs typeface="Times New Roman"/>
              </a:rPr>
              <a:t>and</a:t>
            </a:r>
            <a:r>
              <a:rPr lang="en-US" sz="2000" i="1" spc="-10" dirty="0" err="1">
                <a:latin typeface="Times New Roman"/>
                <a:cs typeface="Times New Roman"/>
              </a:rPr>
              <a:t>_</a:t>
            </a:r>
            <a:r>
              <a:rPr lang="en-US" sz="2000" i="1" spc="-40" dirty="0" err="1">
                <a:latin typeface="Times New Roman"/>
                <a:cs typeface="Times New Roman"/>
              </a:rPr>
              <a:t>d</a:t>
            </a:r>
            <a:r>
              <a:rPr lang="en-US" sz="2000" i="1" spc="-114" dirty="0" err="1">
                <a:latin typeface="Times New Roman"/>
                <a:cs typeface="Times New Roman"/>
              </a:rPr>
              <a:t>e</a:t>
            </a:r>
            <a:r>
              <a:rPr lang="en-US" sz="2000" i="1" spc="5" dirty="0" err="1">
                <a:latin typeface="Times New Roman"/>
                <a:cs typeface="Times New Roman"/>
              </a:rPr>
              <a:t>v</a:t>
            </a:r>
            <a:r>
              <a:rPr lang="en-US" sz="1050" i="1" spc="-5" dirty="0" err="1">
                <a:latin typeface="Times New Roman"/>
                <a:cs typeface="Times New Roman"/>
              </a:rPr>
              <a:t>a</a:t>
            </a:r>
            <a:endParaRPr lang="en-US" sz="1050" i="1" spc="-5" dirty="0">
              <a:latin typeface="Times New Roman"/>
              <a:cs typeface="Times New Roman"/>
            </a:endParaRPr>
          </a:p>
          <a:p>
            <a:pPr marL="0" indent="0">
              <a:buNone/>
            </a:pPr>
            <a:endParaRPr lang="en-US" sz="1050" dirty="0">
              <a:latin typeface="Times New Roman"/>
              <a:cs typeface="Times New Roman"/>
            </a:endParaRPr>
          </a:p>
          <a:p>
            <a:pPr marL="0" indent="0">
              <a:buNone/>
            </a:pPr>
            <a:r>
              <a:rPr lang="en-US" sz="6600" i="1" spc="52" baseline="-35185" dirty="0">
                <a:latin typeface="Times New Roman"/>
                <a:cs typeface="Times New Roman"/>
              </a:rPr>
              <a:t>v</a:t>
            </a:r>
            <a:r>
              <a:rPr lang="en-US" sz="6600" spc="-7" baseline="-35185" dirty="0">
                <a:latin typeface="Times New Roman"/>
                <a:cs typeface="Times New Roman"/>
              </a:rPr>
              <a:t>’=</a:t>
            </a:r>
            <a:endParaRPr lang="en-IN" sz="6600" dirty="0"/>
          </a:p>
        </p:txBody>
      </p:sp>
      <p:cxnSp>
        <p:nvCxnSpPr>
          <p:cNvPr id="5" name="Straight Connector 4">
            <a:extLst>
              <a:ext uri="{FF2B5EF4-FFF2-40B4-BE49-F238E27FC236}">
                <a16:creationId xmlns:a16="http://schemas.microsoft.com/office/drawing/2014/main" id="{44B29AB6-37A9-4DFB-ADFF-E5AB6B9B874D}"/>
              </a:ext>
            </a:extLst>
          </p:cNvPr>
          <p:cNvCxnSpPr/>
          <p:nvPr/>
        </p:nvCxnSpPr>
        <p:spPr>
          <a:xfrm>
            <a:off x="5669872" y="3258105"/>
            <a:ext cx="1056442" cy="0"/>
          </a:xfrm>
          <a:prstGeom prst="line">
            <a:avLst/>
          </a:prstGeom>
        </p:spPr>
        <p:style>
          <a:lnRef idx="1">
            <a:schemeClr val="dk1"/>
          </a:lnRef>
          <a:fillRef idx="0">
            <a:schemeClr val="dk1"/>
          </a:fillRef>
          <a:effectRef idx="0">
            <a:schemeClr val="dk1"/>
          </a:effectRef>
          <a:fontRef idx="minor">
            <a:schemeClr val="tx1"/>
          </a:fontRef>
        </p:style>
      </p:cxnSp>
      <p:pic>
        <p:nvPicPr>
          <p:cNvPr id="6" name="object 3">
            <a:extLst>
              <a:ext uri="{FF2B5EF4-FFF2-40B4-BE49-F238E27FC236}">
                <a16:creationId xmlns:a16="http://schemas.microsoft.com/office/drawing/2014/main" id="{57F739EB-EE0E-46EF-B47F-45E660187855}"/>
              </a:ext>
            </a:extLst>
          </p:cNvPr>
          <p:cNvPicPr/>
          <p:nvPr/>
        </p:nvPicPr>
        <p:blipFill>
          <a:blip r:embed="rId2" cstate="print"/>
          <a:stretch>
            <a:fillRect/>
          </a:stretch>
        </p:blipFill>
        <p:spPr>
          <a:xfrm>
            <a:off x="4807258" y="4581641"/>
            <a:ext cx="4191000" cy="847623"/>
          </a:xfrm>
          <a:prstGeom prst="rect">
            <a:avLst/>
          </a:prstGeom>
        </p:spPr>
      </p:pic>
    </p:spTree>
    <p:extLst>
      <p:ext uri="{BB962C8B-B14F-4D97-AF65-F5344CB8AC3E}">
        <p14:creationId xmlns:p14="http://schemas.microsoft.com/office/powerpoint/2010/main" val="2690368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CC8C1-16BF-42BB-BBFE-D9127737519B}"/>
              </a:ext>
            </a:extLst>
          </p:cNvPr>
          <p:cNvSpPr>
            <a:spLocks noGrp="1"/>
          </p:cNvSpPr>
          <p:nvPr>
            <p:ph type="title"/>
          </p:nvPr>
        </p:nvSpPr>
        <p:spPr/>
        <p:txBody>
          <a:bodyPr/>
          <a:lstStyle/>
          <a:p>
            <a:r>
              <a:rPr lang="en-US" dirty="0"/>
              <a:t>Decimal Scaling</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A0A681-1034-4A2F-96DC-8211BDD28A20}"/>
                  </a:ext>
                </a:extLst>
              </p:cNvPr>
              <p:cNvSpPr>
                <a:spLocks noGrp="1"/>
              </p:cNvSpPr>
              <p:nvPr>
                <p:ph idx="1"/>
              </p:nvPr>
            </p:nvSpPr>
            <p:spPr/>
            <p:txBody>
              <a:bodyPr/>
              <a:lstStyle/>
              <a:p>
                <a:r>
                  <a:rPr lang="en-US" dirty="0"/>
                  <a:t>It normalizes the value of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𝑖</m:t>
                        </m:r>
                      </m:sub>
                    </m:sSub>
                  </m:oMath>
                </a14:m>
                <a:r>
                  <a:rPr lang="en-US" dirty="0"/>
                  <a:t> by moving the decimal point of values of the data. </a:t>
                </a:r>
              </a:p>
              <a:p>
                <a:r>
                  <a:rPr lang="en-US" dirty="0"/>
                  <a:t>To normalize the data by this technique, we divide each value of the data by the maximum absolute value of data. The data value, vi, of data is normalized to vi‘ by using the formula below </a:t>
                </a:r>
              </a:p>
              <a:p>
                <a:pPr lvl="5"/>
                <a:endParaRPr lang="en-US" sz="2400" b="0" i="1" dirty="0">
                  <a:latin typeface="Cambria Math" panose="02040503050406030204" pitchFamily="18" charset="0"/>
                </a:endParaRPr>
              </a:p>
              <a:p>
                <a:pPr marL="2286000" lvl="5" indent="0">
                  <a:buNone/>
                </a:pPr>
                <a:r>
                  <a:rPr lang="en-US" sz="2400" i="1" dirty="0">
                    <a:latin typeface="Cambria Math" panose="02040503050406030204" pitchFamily="18" charset="0"/>
                  </a:rPr>
                  <a:t>        </a:t>
                </a:r>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𝑉</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m:t>
                        </m:r>
                      </m:sup>
                    </m:sSubSup>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𝑗</m:t>
                            </m:r>
                          </m:sup>
                        </m:sSup>
                      </m:den>
                    </m:f>
                  </m:oMath>
                </a14:m>
                <a:endParaRPr lang="en-IN" sz="2400" b="0" i="1" dirty="0">
                  <a:latin typeface="Bodoni MT" panose="02070603080606020203" pitchFamily="18" charset="0"/>
                </a:endParaRPr>
              </a:p>
              <a:p>
                <a:pPr marL="2286000" lvl="5" indent="0">
                  <a:buNone/>
                </a:pPr>
                <a:r>
                  <a:rPr lang="en-US" b="0" dirty="0"/>
                  <a:t>Where,</a:t>
                </a:r>
              </a:p>
              <a:p>
                <a:pPr marL="2286000" lvl="5" indent="0">
                  <a:buNone/>
                </a:pPr>
                <a:r>
                  <a:rPr lang="en-US" dirty="0"/>
                  <a:t>       </a:t>
                </a:r>
                <a:r>
                  <a:rPr lang="en-US" b="0" dirty="0"/>
                  <a:t> j is the smallest integer such that max(|vi‘|)&lt;1</a:t>
                </a:r>
              </a:p>
            </p:txBody>
          </p:sp>
        </mc:Choice>
        <mc:Fallback xmlns="">
          <p:sp>
            <p:nvSpPr>
              <p:cNvPr id="3" name="Content Placeholder 2">
                <a:extLst>
                  <a:ext uri="{FF2B5EF4-FFF2-40B4-BE49-F238E27FC236}">
                    <a16:creationId xmlns:a16="http://schemas.microsoft.com/office/drawing/2014/main" id="{9EA0A681-1034-4A2F-96DC-8211BDD28A20}"/>
                  </a:ext>
                </a:extLst>
              </p:cNvPr>
              <p:cNvSpPr>
                <a:spLocks noGrp="1" noRot="1" noChangeAspect="1" noMove="1" noResize="1" noEditPoints="1" noAdjustHandles="1" noChangeArrowheads="1" noChangeShapeType="1" noTextEdit="1"/>
              </p:cNvSpPr>
              <p:nvPr>
                <p:ph idx="1"/>
              </p:nvPr>
            </p:nvSpPr>
            <p:spPr>
              <a:blipFill>
                <a:blip r:embed="rId2"/>
                <a:stretch>
                  <a:fillRect l="-667" r="-1000"/>
                </a:stretch>
              </a:blipFill>
            </p:spPr>
            <p:txBody>
              <a:bodyPr/>
              <a:lstStyle/>
              <a:p>
                <a:r>
                  <a:rPr lang="en-IN">
                    <a:noFill/>
                  </a:rPr>
                  <a:t> </a:t>
                </a:r>
              </a:p>
            </p:txBody>
          </p:sp>
        </mc:Fallback>
      </mc:AlternateContent>
    </p:spTree>
    <p:extLst>
      <p:ext uri="{BB962C8B-B14F-4D97-AF65-F5344CB8AC3E}">
        <p14:creationId xmlns:p14="http://schemas.microsoft.com/office/powerpoint/2010/main" val="39849606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EE1D5-DB8C-469F-A131-70A49C920741}"/>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3030FC89-3D47-4E9C-8153-34090F8344E4}"/>
              </a:ext>
            </a:extLst>
          </p:cNvPr>
          <p:cNvSpPr>
            <a:spLocks noGrp="1"/>
          </p:cNvSpPr>
          <p:nvPr>
            <p:ph idx="1"/>
          </p:nvPr>
        </p:nvSpPr>
        <p:spPr/>
        <p:txBody>
          <a:bodyPr/>
          <a:lstStyle/>
          <a:p>
            <a:pPr marL="0" indent="0">
              <a:buNone/>
            </a:pPr>
            <a:r>
              <a:rPr lang="en-US" dirty="0"/>
              <a:t>Ex.1: Let the input data is: -10, 201, 301, -401, 501, 601, 701</a:t>
            </a:r>
          </a:p>
          <a:p>
            <a:endParaRPr lang="en-US" dirty="0"/>
          </a:p>
          <a:p>
            <a:r>
              <a:rPr lang="en-US" dirty="0"/>
              <a:t>To normalize the above data,</a:t>
            </a:r>
          </a:p>
          <a:p>
            <a:r>
              <a:rPr lang="en-US" dirty="0"/>
              <a:t>Step 1: Maximum absolute value in given data(m): 701</a:t>
            </a:r>
          </a:p>
          <a:p>
            <a:r>
              <a:rPr lang="en-US" dirty="0"/>
              <a:t>Step 2: Divide the given data by 1000 (</a:t>
            </a:r>
            <a:r>
              <a:rPr lang="en-US" dirty="0" err="1"/>
              <a:t>i.e</a:t>
            </a:r>
            <a:r>
              <a:rPr lang="en-US" dirty="0"/>
              <a:t> j=3)</a:t>
            </a:r>
          </a:p>
          <a:p>
            <a:endParaRPr lang="en-US" dirty="0"/>
          </a:p>
          <a:p>
            <a:r>
              <a:rPr lang="en-US" dirty="0"/>
              <a:t>Result: The normalized data is: -0.01, 0.201, 0.301, -0.401, 0.501, 0.601, 0.701</a:t>
            </a:r>
            <a:endParaRPr lang="en-IN" dirty="0"/>
          </a:p>
        </p:txBody>
      </p:sp>
    </p:spTree>
    <p:extLst>
      <p:ext uri="{BB962C8B-B14F-4D97-AF65-F5344CB8AC3E}">
        <p14:creationId xmlns:p14="http://schemas.microsoft.com/office/powerpoint/2010/main" val="185573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85187-D958-4117-9BD5-C2FD37A43D12}"/>
              </a:ext>
            </a:extLst>
          </p:cNvPr>
          <p:cNvSpPr>
            <a:spLocks noGrp="1"/>
          </p:cNvSpPr>
          <p:nvPr>
            <p:ph type="title"/>
          </p:nvPr>
        </p:nvSpPr>
        <p:spPr/>
        <p:txBody>
          <a:bodyPr/>
          <a:lstStyle/>
          <a:p>
            <a:r>
              <a:rPr lang="en-US" dirty="0"/>
              <a:t>Data Reduction</a:t>
            </a:r>
            <a:endParaRPr lang="en-IN" dirty="0"/>
          </a:p>
        </p:txBody>
      </p:sp>
      <p:sp>
        <p:nvSpPr>
          <p:cNvPr id="3" name="Content Placeholder 2">
            <a:extLst>
              <a:ext uri="{FF2B5EF4-FFF2-40B4-BE49-F238E27FC236}">
                <a16:creationId xmlns:a16="http://schemas.microsoft.com/office/drawing/2014/main" id="{E6CE6FFD-32AF-47D1-9672-D6CF4ABEB1B5}"/>
              </a:ext>
            </a:extLst>
          </p:cNvPr>
          <p:cNvSpPr>
            <a:spLocks noGrp="1"/>
          </p:cNvSpPr>
          <p:nvPr>
            <p:ph idx="1"/>
          </p:nvPr>
        </p:nvSpPr>
        <p:spPr>
          <a:xfrm>
            <a:off x="3869268" y="868680"/>
            <a:ext cx="7315200" cy="5120640"/>
          </a:xfrm>
        </p:spPr>
        <p:txBody>
          <a:bodyPr>
            <a:normAutofit fontScale="92500" lnSpcReduction="20000"/>
          </a:bodyPr>
          <a:lstStyle/>
          <a:p>
            <a:r>
              <a:rPr lang="en-US" dirty="0"/>
              <a:t>Why data reduction?</a:t>
            </a:r>
          </a:p>
          <a:p>
            <a:pPr lvl="1"/>
            <a:r>
              <a:rPr lang="en-US" dirty="0"/>
              <a:t>A database/data warehouse may store terabytes of data</a:t>
            </a:r>
          </a:p>
          <a:p>
            <a:pPr lvl="1"/>
            <a:r>
              <a:rPr lang="en-US" dirty="0"/>
              <a:t>Complex data analysis/mining may take a very long time to run on the complete  data set</a:t>
            </a:r>
          </a:p>
          <a:p>
            <a:pPr lvl="1"/>
            <a:endParaRPr lang="en-US" dirty="0"/>
          </a:p>
          <a:p>
            <a:r>
              <a:rPr lang="en-US" dirty="0"/>
              <a:t>Data reduction</a:t>
            </a:r>
          </a:p>
          <a:p>
            <a:pPr lvl="1"/>
            <a:r>
              <a:rPr lang="en-US" dirty="0"/>
              <a:t>Obtain a reduced representation of the data set that is much smaller in volume  but yet produce the same (or almost the same) analytical results</a:t>
            </a:r>
          </a:p>
          <a:p>
            <a:r>
              <a:rPr lang="en-US" dirty="0"/>
              <a:t>Data reduction strategies</a:t>
            </a:r>
          </a:p>
          <a:p>
            <a:pPr lvl="1"/>
            <a:r>
              <a:rPr lang="en-US" dirty="0"/>
              <a:t>Data Cube Aggregation</a:t>
            </a:r>
          </a:p>
          <a:p>
            <a:pPr lvl="1"/>
            <a:r>
              <a:rPr lang="en-US" dirty="0"/>
              <a:t>Numerosity Reduction</a:t>
            </a:r>
          </a:p>
          <a:p>
            <a:pPr lvl="1"/>
            <a:r>
              <a:rPr lang="en-US" dirty="0"/>
              <a:t>Sampling</a:t>
            </a:r>
          </a:p>
          <a:p>
            <a:pPr lvl="1"/>
            <a:r>
              <a:rPr lang="en-US" dirty="0"/>
              <a:t>Dimensionality Reduction</a:t>
            </a:r>
          </a:p>
          <a:p>
            <a:pPr lvl="1">
              <a:lnSpc>
                <a:spcPct val="100000"/>
              </a:lnSpc>
            </a:pPr>
            <a:r>
              <a:rPr lang="en-US" dirty="0"/>
              <a:t>Wavelet Transforms</a:t>
            </a:r>
          </a:p>
          <a:p>
            <a:pPr lvl="1">
              <a:lnSpc>
                <a:spcPct val="100000"/>
              </a:lnSpc>
            </a:pPr>
            <a:r>
              <a:rPr lang="en-US" dirty="0"/>
              <a:t>Principal Component Analysis</a:t>
            </a:r>
          </a:p>
          <a:p>
            <a:pPr lvl="1"/>
            <a:r>
              <a:rPr lang="en-US" dirty="0"/>
              <a:t>Feature subset selection</a:t>
            </a:r>
          </a:p>
          <a:p>
            <a:pPr lvl="1"/>
            <a:r>
              <a:rPr lang="en-US" dirty="0"/>
              <a:t>Feature creation</a:t>
            </a:r>
          </a:p>
          <a:p>
            <a:pPr lvl="1"/>
            <a:r>
              <a:rPr lang="en-US" dirty="0"/>
              <a:t>Discretization and Binarization</a:t>
            </a:r>
          </a:p>
          <a:p>
            <a:pPr lvl="1"/>
            <a:r>
              <a:rPr lang="en-US" dirty="0"/>
              <a:t>Attribute Transformation</a:t>
            </a:r>
          </a:p>
        </p:txBody>
      </p:sp>
    </p:spTree>
    <p:extLst>
      <p:ext uri="{BB962C8B-B14F-4D97-AF65-F5344CB8AC3E}">
        <p14:creationId xmlns:p14="http://schemas.microsoft.com/office/powerpoint/2010/main" val="2299967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B7449-F8D1-482C-90AF-409B7903B79A}"/>
              </a:ext>
            </a:extLst>
          </p:cNvPr>
          <p:cNvSpPr>
            <a:spLocks noGrp="1"/>
          </p:cNvSpPr>
          <p:nvPr>
            <p:ph type="title"/>
          </p:nvPr>
        </p:nvSpPr>
        <p:spPr/>
        <p:txBody>
          <a:bodyPr/>
          <a:lstStyle/>
          <a:p>
            <a:r>
              <a:rPr lang="en-US" dirty="0"/>
              <a:t>Data Cube Aggregation</a:t>
            </a:r>
            <a:endParaRPr lang="en-IN" dirty="0"/>
          </a:p>
        </p:txBody>
      </p:sp>
      <p:sp>
        <p:nvSpPr>
          <p:cNvPr id="3" name="Content Placeholder 2">
            <a:extLst>
              <a:ext uri="{FF2B5EF4-FFF2-40B4-BE49-F238E27FC236}">
                <a16:creationId xmlns:a16="http://schemas.microsoft.com/office/drawing/2014/main" id="{EFEE08B4-456C-42C1-BA50-AE0E7C799919}"/>
              </a:ext>
            </a:extLst>
          </p:cNvPr>
          <p:cNvSpPr>
            <a:spLocks noGrp="1"/>
          </p:cNvSpPr>
          <p:nvPr>
            <p:ph idx="1"/>
          </p:nvPr>
        </p:nvSpPr>
        <p:spPr>
          <a:xfrm>
            <a:off x="3816002" y="781234"/>
            <a:ext cx="7315200" cy="3632165"/>
          </a:xfrm>
        </p:spPr>
        <p:txBody>
          <a:bodyPr/>
          <a:lstStyle/>
          <a:p>
            <a:r>
              <a:rPr lang="en-US" dirty="0"/>
              <a:t>Multiple levels of aggregation in data cubes Further reduce the size of data to deal with </a:t>
            </a:r>
          </a:p>
          <a:p>
            <a:r>
              <a:rPr lang="en-US" dirty="0"/>
              <a:t>Reference appropriate levels </a:t>
            </a:r>
          </a:p>
          <a:p>
            <a:r>
              <a:rPr lang="en-US" dirty="0"/>
              <a:t>Use the smallest representation which is enough to solve the task </a:t>
            </a:r>
          </a:p>
          <a:p>
            <a:r>
              <a:rPr lang="en-US" dirty="0"/>
              <a:t>Queries regarding aggregated information should be answered using data cube, when possible</a:t>
            </a:r>
          </a:p>
          <a:p>
            <a:endParaRPr lang="en-US" dirty="0"/>
          </a:p>
          <a:p>
            <a:endParaRPr lang="en-IN" dirty="0"/>
          </a:p>
        </p:txBody>
      </p:sp>
      <p:pic>
        <p:nvPicPr>
          <p:cNvPr id="5" name="Picture 4">
            <a:extLst>
              <a:ext uri="{FF2B5EF4-FFF2-40B4-BE49-F238E27FC236}">
                <a16:creationId xmlns:a16="http://schemas.microsoft.com/office/drawing/2014/main" id="{00D9BE99-D710-4CAE-84B1-61D47CB3F518}"/>
              </a:ext>
            </a:extLst>
          </p:cNvPr>
          <p:cNvPicPr>
            <a:picLocks noChangeAspect="1"/>
          </p:cNvPicPr>
          <p:nvPr/>
        </p:nvPicPr>
        <p:blipFill>
          <a:blip r:embed="rId2"/>
          <a:stretch>
            <a:fillRect/>
          </a:stretch>
        </p:blipFill>
        <p:spPr>
          <a:xfrm>
            <a:off x="5425727" y="3245344"/>
            <a:ext cx="4095750" cy="3314700"/>
          </a:xfrm>
          <a:prstGeom prst="rect">
            <a:avLst/>
          </a:prstGeom>
        </p:spPr>
      </p:pic>
    </p:spTree>
    <p:extLst>
      <p:ext uri="{BB962C8B-B14F-4D97-AF65-F5344CB8AC3E}">
        <p14:creationId xmlns:p14="http://schemas.microsoft.com/office/powerpoint/2010/main" val="40358874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B522D-0A7C-4E75-BD82-B682887FDDE6}"/>
              </a:ext>
            </a:extLst>
          </p:cNvPr>
          <p:cNvSpPr>
            <a:spLocks noGrp="1"/>
          </p:cNvSpPr>
          <p:nvPr>
            <p:ph type="title"/>
          </p:nvPr>
        </p:nvSpPr>
        <p:spPr/>
        <p:txBody>
          <a:bodyPr/>
          <a:lstStyle/>
          <a:p>
            <a:r>
              <a:rPr lang="en-US" dirty="0"/>
              <a:t>Aggregation example </a:t>
            </a:r>
            <a:endParaRPr lang="en-IN" dirty="0"/>
          </a:p>
        </p:txBody>
      </p:sp>
      <p:pic>
        <p:nvPicPr>
          <p:cNvPr id="5" name="Content Placeholder 4">
            <a:extLst>
              <a:ext uri="{FF2B5EF4-FFF2-40B4-BE49-F238E27FC236}">
                <a16:creationId xmlns:a16="http://schemas.microsoft.com/office/drawing/2014/main" id="{51BEF216-BA36-4D14-80E2-4A509D824E33}"/>
              </a:ext>
            </a:extLst>
          </p:cNvPr>
          <p:cNvPicPr>
            <a:picLocks noGrp="1" noChangeAspect="1"/>
          </p:cNvPicPr>
          <p:nvPr>
            <p:ph idx="1"/>
          </p:nvPr>
        </p:nvPicPr>
        <p:blipFill>
          <a:blip r:embed="rId2"/>
          <a:stretch>
            <a:fillRect/>
          </a:stretch>
        </p:blipFill>
        <p:spPr>
          <a:xfrm>
            <a:off x="4314548" y="1943100"/>
            <a:ext cx="6294268" cy="3640954"/>
          </a:xfrm>
        </p:spPr>
      </p:pic>
    </p:spTree>
    <p:extLst>
      <p:ext uri="{BB962C8B-B14F-4D97-AF65-F5344CB8AC3E}">
        <p14:creationId xmlns:p14="http://schemas.microsoft.com/office/powerpoint/2010/main" val="2502407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18A8C-C5F3-4FA4-8D69-4CEE8FE42A56}"/>
              </a:ext>
            </a:extLst>
          </p:cNvPr>
          <p:cNvSpPr>
            <a:spLocks noGrp="1"/>
          </p:cNvSpPr>
          <p:nvPr>
            <p:ph type="title"/>
          </p:nvPr>
        </p:nvSpPr>
        <p:spPr/>
        <p:txBody>
          <a:bodyPr/>
          <a:lstStyle/>
          <a:p>
            <a:r>
              <a:rPr lang="en-US" dirty="0"/>
              <a:t>Dimensionality Reduction</a:t>
            </a:r>
            <a:endParaRPr lang="en-IN" dirty="0"/>
          </a:p>
        </p:txBody>
      </p:sp>
      <p:sp>
        <p:nvSpPr>
          <p:cNvPr id="3" name="Content Placeholder 2">
            <a:extLst>
              <a:ext uri="{FF2B5EF4-FFF2-40B4-BE49-F238E27FC236}">
                <a16:creationId xmlns:a16="http://schemas.microsoft.com/office/drawing/2014/main" id="{62BE6335-0A7B-41EF-B140-A3AE2EF3D8C7}"/>
              </a:ext>
            </a:extLst>
          </p:cNvPr>
          <p:cNvSpPr>
            <a:spLocks noGrp="1"/>
          </p:cNvSpPr>
          <p:nvPr>
            <p:ph idx="1"/>
          </p:nvPr>
        </p:nvSpPr>
        <p:spPr/>
        <p:txBody>
          <a:bodyPr/>
          <a:lstStyle/>
          <a:p>
            <a:pPr marL="502920" lvl="1" indent="0">
              <a:lnSpc>
                <a:spcPct val="100000"/>
              </a:lnSpc>
              <a:buNone/>
            </a:pPr>
            <a:r>
              <a:rPr lang="en-US" dirty="0"/>
              <a:t>Feature/Attribute Subset Selection</a:t>
            </a:r>
          </a:p>
          <a:p>
            <a:pPr lvl="1">
              <a:lnSpc>
                <a:spcPct val="100000"/>
              </a:lnSpc>
            </a:pPr>
            <a:r>
              <a:rPr lang="en-US" dirty="0"/>
              <a:t>Redundant features</a:t>
            </a:r>
          </a:p>
          <a:p>
            <a:pPr lvl="2">
              <a:lnSpc>
                <a:spcPct val="100000"/>
              </a:lnSpc>
            </a:pPr>
            <a:r>
              <a:rPr lang="en-US" dirty="0"/>
              <a:t>duplicate much or all of the information contained in one or  more other attributes</a:t>
            </a:r>
          </a:p>
          <a:p>
            <a:pPr lvl="2">
              <a:lnSpc>
                <a:spcPct val="100000"/>
              </a:lnSpc>
            </a:pPr>
            <a:r>
              <a:rPr lang="en-US" dirty="0"/>
              <a:t>Example: purchase price of a product and the amount of sales  tax paid</a:t>
            </a:r>
          </a:p>
          <a:p>
            <a:pPr lvl="1">
              <a:lnSpc>
                <a:spcPct val="100000"/>
              </a:lnSpc>
            </a:pPr>
            <a:r>
              <a:rPr lang="en-US" dirty="0"/>
              <a:t>Irrelevant features</a:t>
            </a:r>
          </a:p>
          <a:p>
            <a:pPr lvl="2">
              <a:lnSpc>
                <a:spcPct val="100000"/>
              </a:lnSpc>
            </a:pPr>
            <a:r>
              <a:rPr lang="en-US" dirty="0"/>
              <a:t>contain no information that is useful for the data mining task at  hand</a:t>
            </a:r>
          </a:p>
          <a:p>
            <a:pPr lvl="2">
              <a:lnSpc>
                <a:spcPct val="100000"/>
              </a:lnSpc>
            </a:pPr>
            <a:r>
              <a:rPr lang="en-US" dirty="0"/>
              <a:t>Example: students' ID is often irrelevant to the task of  predicting students' GPA</a:t>
            </a:r>
          </a:p>
          <a:p>
            <a:pPr marL="502920" lvl="1" indent="0">
              <a:lnSpc>
                <a:spcPct val="100000"/>
              </a:lnSpc>
              <a:buNone/>
            </a:pPr>
            <a:endParaRPr lang="en-IN" dirty="0"/>
          </a:p>
        </p:txBody>
      </p:sp>
    </p:spTree>
    <p:extLst>
      <p:ext uri="{BB962C8B-B14F-4D97-AF65-F5344CB8AC3E}">
        <p14:creationId xmlns:p14="http://schemas.microsoft.com/office/powerpoint/2010/main" val="33739345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B2259-A4B8-4C48-AD6B-99F4717A2057}"/>
              </a:ext>
            </a:extLst>
          </p:cNvPr>
          <p:cNvSpPr>
            <a:spLocks noGrp="1"/>
          </p:cNvSpPr>
          <p:nvPr>
            <p:ph type="title"/>
          </p:nvPr>
        </p:nvSpPr>
        <p:spPr/>
        <p:txBody>
          <a:bodyPr/>
          <a:lstStyle/>
          <a:p>
            <a:r>
              <a:rPr lang="en-US" dirty="0"/>
              <a:t>Attribute Selection Techniques</a:t>
            </a:r>
            <a:endParaRPr lang="en-IN" dirty="0"/>
          </a:p>
        </p:txBody>
      </p:sp>
      <p:sp>
        <p:nvSpPr>
          <p:cNvPr id="3" name="Content Placeholder 2">
            <a:extLst>
              <a:ext uri="{FF2B5EF4-FFF2-40B4-BE49-F238E27FC236}">
                <a16:creationId xmlns:a16="http://schemas.microsoft.com/office/drawing/2014/main" id="{A0C92303-76DE-49C2-9813-4789AD8E3AC6}"/>
              </a:ext>
            </a:extLst>
          </p:cNvPr>
          <p:cNvSpPr>
            <a:spLocks noGrp="1"/>
          </p:cNvSpPr>
          <p:nvPr>
            <p:ph idx="1"/>
          </p:nvPr>
        </p:nvSpPr>
        <p:spPr/>
        <p:txBody>
          <a:bodyPr/>
          <a:lstStyle/>
          <a:p>
            <a:r>
              <a:rPr lang="en-US" dirty="0"/>
              <a:t>Forward Selection</a:t>
            </a:r>
          </a:p>
          <a:p>
            <a:r>
              <a:rPr lang="en-US" dirty="0"/>
              <a:t>Stepwise Backward Elimination</a:t>
            </a:r>
          </a:p>
          <a:p>
            <a:r>
              <a:rPr lang="en-US" dirty="0"/>
              <a:t>Combination of Forward Selection and Stepwise Backward Elimination</a:t>
            </a:r>
          </a:p>
          <a:p>
            <a:r>
              <a:rPr lang="en-US" dirty="0"/>
              <a:t>Decision Tree Induction</a:t>
            </a:r>
          </a:p>
          <a:p>
            <a:pPr marL="0" indent="0">
              <a:buNone/>
            </a:pPr>
            <a:endParaRPr lang="en-IN" dirty="0"/>
          </a:p>
        </p:txBody>
      </p:sp>
    </p:spTree>
    <p:extLst>
      <p:ext uri="{BB962C8B-B14F-4D97-AF65-F5344CB8AC3E}">
        <p14:creationId xmlns:p14="http://schemas.microsoft.com/office/powerpoint/2010/main" val="15339200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609B6-794C-4927-81E1-15A71734A48D}"/>
              </a:ext>
            </a:extLst>
          </p:cNvPr>
          <p:cNvSpPr>
            <a:spLocks noGrp="1"/>
          </p:cNvSpPr>
          <p:nvPr>
            <p:ph type="title"/>
          </p:nvPr>
        </p:nvSpPr>
        <p:spPr/>
        <p:txBody>
          <a:bodyPr/>
          <a:lstStyle/>
          <a:p>
            <a:r>
              <a:rPr lang="en-US" dirty="0"/>
              <a:t>Data Compression</a:t>
            </a:r>
            <a:endParaRPr lang="en-IN" dirty="0"/>
          </a:p>
        </p:txBody>
      </p:sp>
      <p:sp>
        <p:nvSpPr>
          <p:cNvPr id="3" name="Content Placeholder 2">
            <a:extLst>
              <a:ext uri="{FF2B5EF4-FFF2-40B4-BE49-F238E27FC236}">
                <a16:creationId xmlns:a16="http://schemas.microsoft.com/office/drawing/2014/main" id="{C9A879F7-30BC-4FEC-B649-2A1139E4F76F}"/>
              </a:ext>
            </a:extLst>
          </p:cNvPr>
          <p:cNvSpPr>
            <a:spLocks noGrp="1"/>
          </p:cNvSpPr>
          <p:nvPr>
            <p:ph idx="1"/>
          </p:nvPr>
        </p:nvSpPr>
        <p:spPr/>
        <p:txBody>
          <a:bodyPr/>
          <a:lstStyle/>
          <a:p>
            <a:r>
              <a:rPr lang="en-US" dirty="0"/>
              <a:t>Lossless Compression</a:t>
            </a:r>
          </a:p>
          <a:p>
            <a:pPr lvl="1"/>
            <a:r>
              <a:rPr lang="en-US" dirty="0"/>
              <a:t>Lossless compression involves compressing data in such a way that the original data set is fully reconstructed upon reversal of compression.</a:t>
            </a:r>
          </a:p>
          <a:p>
            <a:pPr lvl="1"/>
            <a:r>
              <a:rPr lang="en-US" dirty="0"/>
              <a:t>Used for image compression and exe file compression.</a:t>
            </a:r>
          </a:p>
          <a:p>
            <a:r>
              <a:rPr lang="en-US" dirty="0"/>
              <a:t>Lossy Compression</a:t>
            </a:r>
          </a:p>
          <a:p>
            <a:pPr lvl="1"/>
            <a:r>
              <a:rPr lang="en-US" dirty="0"/>
              <a:t>Lossy is a data encoding and compression technique that deliberately discards some data in the compression process. The lossy compression method filters and discards needless and redundant data to reduce the amount of data being compressed and later being executed on a computer.</a:t>
            </a:r>
          </a:p>
          <a:p>
            <a:pPr lvl="1"/>
            <a:r>
              <a:rPr lang="en-US" dirty="0"/>
              <a:t>Used for compression of Audio and video.</a:t>
            </a:r>
          </a:p>
          <a:p>
            <a:pPr lvl="1"/>
            <a:r>
              <a:rPr lang="en-US" dirty="0"/>
              <a:t>Methods like Principal component analysis and Wavelet transforms are included in lossy compression.</a:t>
            </a:r>
            <a:endParaRPr lang="en-IN" dirty="0"/>
          </a:p>
        </p:txBody>
      </p:sp>
    </p:spTree>
    <p:extLst>
      <p:ext uri="{BB962C8B-B14F-4D97-AF65-F5344CB8AC3E}">
        <p14:creationId xmlns:p14="http://schemas.microsoft.com/office/powerpoint/2010/main" val="22670317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FEB49-2FAD-4274-871B-F298A516F03F}"/>
              </a:ext>
            </a:extLst>
          </p:cNvPr>
          <p:cNvSpPr>
            <a:spLocks noGrp="1"/>
          </p:cNvSpPr>
          <p:nvPr>
            <p:ph type="title"/>
          </p:nvPr>
        </p:nvSpPr>
        <p:spPr/>
        <p:txBody>
          <a:bodyPr/>
          <a:lstStyle/>
          <a:p>
            <a:r>
              <a:rPr lang="en-US" dirty="0"/>
              <a:t>Numerosity Reduction</a:t>
            </a:r>
            <a:endParaRPr lang="en-IN" dirty="0"/>
          </a:p>
        </p:txBody>
      </p:sp>
      <p:sp>
        <p:nvSpPr>
          <p:cNvPr id="3" name="Content Placeholder 2">
            <a:extLst>
              <a:ext uri="{FF2B5EF4-FFF2-40B4-BE49-F238E27FC236}">
                <a16:creationId xmlns:a16="http://schemas.microsoft.com/office/drawing/2014/main" id="{19B197BD-B922-4CCE-A654-7DDAC210BDED}"/>
              </a:ext>
            </a:extLst>
          </p:cNvPr>
          <p:cNvSpPr>
            <a:spLocks noGrp="1"/>
          </p:cNvSpPr>
          <p:nvPr>
            <p:ph idx="1"/>
          </p:nvPr>
        </p:nvSpPr>
        <p:spPr/>
        <p:txBody>
          <a:bodyPr/>
          <a:lstStyle/>
          <a:p>
            <a:r>
              <a:rPr lang="en-US" dirty="0"/>
              <a:t>The numerosity reduction reduces the volume of the original data and represents it in a much smaller form. This technique includes two types parametric and non-parametric numerosity reduction.</a:t>
            </a:r>
          </a:p>
          <a:p>
            <a:r>
              <a:rPr lang="en-US" dirty="0"/>
              <a:t>Parametric Techniques includes:</a:t>
            </a:r>
          </a:p>
          <a:p>
            <a:pPr lvl="1"/>
            <a:r>
              <a:rPr lang="en-US" dirty="0"/>
              <a:t>Linear Regression</a:t>
            </a:r>
          </a:p>
          <a:p>
            <a:pPr lvl="1"/>
            <a:r>
              <a:rPr lang="en-US" dirty="0"/>
              <a:t>Log Linear Regression</a:t>
            </a:r>
          </a:p>
          <a:p>
            <a:r>
              <a:rPr lang="en-US" dirty="0"/>
              <a:t>Non-Parametric Techniques includes:</a:t>
            </a:r>
          </a:p>
          <a:p>
            <a:pPr lvl="1"/>
            <a:r>
              <a:rPr lang="en-US" dirty="0"/>
              <a:t>Histogram</a:t>
            </a:r>
          </a:p>
          <a:p>
            <a:pPr lvl="1"/>
            <a:r>
              <a:rPr lang="en-US" dirty="0"/>
              <a:t>Clustering</a:t>
            </a:r>
          </a:p>
          <a:p>
            <a:pPr lvl="1"/>
            <a:r>
              <a:rPr lang="en-US" dirty="0"/>
              <a:t>Sampling</a:t>
            </a:r>
          </a:p>
        </p:txBody>
      </p:sp>
    </p:spTree>
    <p:extLst>
      <p:ext uri="{BB962C8B-B14F-4D97-AF65-F5344CB8AC3E}">
        <p14:creationId xmlns:p14="http://schemas.microsoft.com/office/powerpoint/2010/main" val="19210588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8CD46-244E-45B0-A363-92B91D1F485A}"/>
              </a:ext>
            </a:extLst>
          </p:cNvPr>
          <p:cNvSpPr>
            <a:spLocks noGrp="1"/>
          </p:cNvSpPr>
          <p:nvPr>
            <p:ph type="title"/>
          </p:nvPr>
        </p:nvSpPr>
        <p:spPr/>
        <p:txBody>
          <a:bodyPr/>
          <a:lstStyle/>
          <a:p>
            <a:r>
              <a:rPr lang="en-US" dirty="0"/>
              <a:t>Histogram</a:t>
            </a:r>
            <a:endParaRPr lang="en-IN" dirty="0"/>
          </a:p>
        </p:txBody>
      </p:sp>
      <p:sp>
        <p:nvSpPr>
          <p:cNvPr id="3" name="Content Placeholder 2">
            <a:extLst>
              <a:ext uri="{FF2B5EF4-FFF2-40B4-BE49-F238E27FC236}">
                <a16:creationId xmlns:a16="http://schemas.microsoft.com/office/drawing/2014/main" id="{9453A54F-C435-43F7-8A0F-2AB1F30B9581}"/>
              </a:ext>
            </a:extLst>
          </p:cNvPr>
          <p:cNvSpPr>
            <a:spLocks noGrp="1"/>
          </p:cNvSpPr>
          <p:nvPr>
            <p:ph idx="1"/>
          </p:nvPr>
        </p:nvSpPr>
        <p:spPr>
          <a:xfrm>
            <a:off x="3869268" y="864108"/>
            <a:ext cx="7315200" cy="2564892"/>
          </a:xfrm>
        </p:spPr>
        <p:txBody>
          <a:bodyPr>
            <a:normAutofit fontScale="92500" lnSpcReduction="10000"/>
          </a:bodyPr>
          <a:lstStyle/>
          <a:p>
            <a:r>
              <a:rPr lang="en-US" dirty="0"/>
              <a:t>A histogram is a ‘graph’ that represents frequency distribution which describes how often a value appears in the data. Histogram uses the binning method and to represent data distribution of an attribute. It uses disjoint subset which we call as bin or buckets.</a:t>
            </a:r>
          </a:p>
          <a:p>
            <a:r>
              <a:rPr lang="en-US" dirty="0"/>
              <a:t>For example Electronics data set, which contains prices for regularly sold items.</a:t>
            </a:r>
          </a:p>
          <a:p>
            <a:r>
              <a:rPr lang="en-US" dirty="0"/>
              <a:t>1, 1, 5, 5, 5, 5, 5, 8, 8, 10, 10, 10, 10, 12, 14, 14, 14, 15, 15, 15, 15, 15, 15, 18, 18, 18, 18, 18, 18, 18, 18, 20, 20, 20, 20, 20, 20, 20, 21, 21, 21, 21, 25, 25, 25, 25, 25, 28, 28, 30, 30, 30.</a:t>
            </a:r>
            <a:endParaRPr lang="en-IN" dirty="0"/>
          </a:p>
        </p:txBody>
      </p:sp>
      <p:pic>
        <p:nvPicPr>
          <p:cNvPr id="5" name="Picture 4">
            <a:extLst>
              <a:ext uri="{FF2B5EF4-FFF2-40B4-BE49-F238E27FC236}">
                <a16:creationId xmlns:a16="http://schemas.microsoft.com/office/drawing/2014/main" id="{102B2DD7-E55B-4ED8-93D5-429C396E6F52}"/>
              </a:ext>
            </a:extLst>
          </p:cNvPr>
          <p:cNvPicPr>
            <a:picLocks noChangeAspect="1"/>
          </p:cNvPicPr>
          <p:nvPr/>
        </p:nvPicPr>
        <p:blipFill>
          <a:blip r:embed="rId2"/>
          <a:stretch>
            <a:fillRect/>
          </a:stretch>
        </p:blipFill>
        <p:spPr>
          <a:xfrm>
            <a:off x="5203517" y="3524435"/>
            <a:ext cx="4057650" cy="3161915"/>
          </a:xfrm>
          <a:prstGeom prst="rect">
            <a:avLst/>
          </a:prstGeom>
        </p:spPr>
      </p:pic>
    </p:spTree>
    <p:extLst>
      <p:ext uri="{BB962C8B-B14F-4D97-AF65-F5344CB8AC3E}">
        <p14:creationId xmlns:p14="http://schemas.microsoft.com/office/powerpoint/2010/main" val="29420589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65EF-2F37-4737-BB39-990DDCA7358B}"/>
              </a:ext>
            </a:extLst>
          </p:cNvPr>
          <p:cNvSpPr>
            <a:spLocks noGrp="1"/>
          </p:cNvSpPr>
          <p:nvPr>
            <p:ph type="title"/>
          </p:nvPr>
        </p:nvSpPr>
        <p:spPr/>
        <p:txBody>
          <a:bodyPr/>
          <a:lstStyle/>
          <a:p>
            <a:r>
              <a:rPr lang="en-US" dirty="0"/>
              <a:t>Sampling</a:t>
            </a:r>
            <a:endParaRPr lang="en-IN" dirty="0"/>
          </a:p>
        </p:txBody>
      </p:sp>
      <p:sp>
        <p:nvSpPr>
          <p:cNvPr id="3" name="Content Placeholder 2">
            <a:extLst>
              <a:ext uri="{FF2B5EF4-FFF2-40B4-BE49-F238E27FC236}">
                <a16:creationId xmlns:a16="http://schemas.microsoft.com/office/drawing/2014/main" id="{170E50FF-0BBC-4C0F-BDD6-174BCFB40C6F}"/>
              </a:ext>
            </a:extLst>
          </p:cNvPr>
          <p:cNvSpPr>
            <a:spLocks noGrp="1"/>
          </p:cNvSpPr>
          <p:nvPr>
            <p:ph idx="1"/>
          </p:nvPr>
        </p:nvSpPr>
        <p:spPr/>
        <p:txBody>
          <a:bodyPr/>
          <a:lstStyle/>
          <a:p>
            <a:r>
              <a:rPr lang="en-US" dirty="0"/>
              <a:t>Types of Sampling</a:t>
            </a:r>
          </a:p>
          <a:p>
            <a:pPr marL="0" indent="0">
              <a:buNone/>
            </a:pPr>
            <a:endParaRPr lang="en-US" dirty="0"/>
          </a:p>
          <a:p>
            <a:pPr>
              <a:buFont typeface="Wingdings" panose="05000000000000000000" pitchFamily="2" charset="2"/>
              <a:buChar char="q"/>
            </a:pPr>
            <a:r>
              <a:rPr lang="en-US" dirty="0"/>
              <a:t>Simple Random Sampling</a:t>
            </a:r>
          </a:p>
          <a:p>
            <a:pPr lvl="1"/>
            <a:r>
              <a:rPr lang="en-US" dirty="0"/>
              <a:t>There is an equal probability of selecting any particular item</a:t>
            </a:r>
          </a:p>
          <a:p>
            <a:pPr>
              <a:buFont typeface="Wingdings" panose="05000000000000000000" pitchFamily="2" charset="2"/>
              <a:buChar char="q"/>
            </a:pPr>
            <a:r>
              <a:rPr lang="en-US" dirty="0"/>
              <a:t>Sampling without replacement</a:t>
            </a:r>
          </a:p>
          <a:p>
            <a:pPr lvl="1"/>
            <a:r>
              <a:rPr lang="en-US" dirty="0"/>
              <a:t>As each item is selected, it is removed from the population</a:t>
            </a:r>
          </a:p>
          <a:p>
            <a:pPr>
              <a:buFont typeface="Wingdings" panose="05000000000000000000" pitchFamily="2" charset="2"/>
              <a:buChar char="q"/>
            </a:pPr>
            <a:r>
              <a:rPr lang="en-US" dirty="0"/>
              <a:t>Sampling with replacement</a:t>
            </a:r>
          </a:p>
          <a:p>
            <a:pPr lvl="1"/>
            <a:r>
              <a:rPr lang="en-US" dirty="0"/>
              <a:t>Objects are not removed from the population as they are  selected for the sample.</a:t>
            </a:r>
          </a:p>
          <a:p>
            <a:pPr lvl="1"/>
            <a:r>
              <a:rPr lang="en-US" dirty="0"/>
              <a:t>In sampling with replacement, the same object can be picked up more  than once</a:t>
            </a:r>
          </a:p>
          <a:p>
            <a:endParaRPr lang="en-US" dirty="0"/>
          </a:p>
        </p:txBody>
      </p:sp>
    </p:spTree>
    <p:extLst>
      <p:ext uri="{BB962C8B-B14F-4D97-AF65-F5344CB8AC3E}">
        <p14:creationId xmlns:p14="http://schemas.microsoft.com/office/powerpoint/2010/main" val="27316559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602F8-BB64-4EDE-A7D0-A24243CF0898}"/>
              </a:ext>
            </a:extLst>
          </p:cNvPr>
          <p:cNvSpPr>
            <a:spLocks noGrp="1"/>
          </p:cNvSpPr>
          <p:nvPr>
            <p:ph type="title"/>
          </p:nvPr>
        </p:nvSpPr>
        <p:spPr/>
        <p:txBody>
          <a:bodyPr/>
          <a:lstStyle/>
          <a:p>
            <a:r>
              <a:rPr lang="en-US" dirty="0"/>
              <a:t>Sampling</a:t>
            </a:r>
            <a:endParaRPr lang="en-IN" dirty="0"/>
          </a:p>
        </p:txBody>
      </p:sp>
      <p:pic>
        <p:nvPicPr>
          <p:cNvPr id="4" name="object 2">
            <a:extLst>
              <a:ext uri="{FF2B5EF4-FFF2-40B4-BE49-F238E27FC236}">
                <a16:creationId xmlns:a16="http://schemas.microsoft.com/office/drawing/2014/main" id="{CDEB8BA9-D962-4494-AFCC-B95CB1CFB158}"/>
              </a:ext>
            </a:extLst>
          </p:cNvPr>
          <p:cNvPicPr>
            <a:picLocks noGrp="1"/>
          </p:cNvPicPr>
          <p:nvPr>
            <p:ph idx="1"/>
          </p:nvPr>
        </p:nvPicPr>
        <p:blipFill>
          <a:blip r:embed="rId2" cstate="print"/>
          <a:stretch>
            <a:fillRect/>
          </a:stretch>
        </p:blipFill>
        <p:spPr>
          <a:xfrm>
            <a:off x="3897298" y="863600"/>
            <a:ext cx="7075982" cy="5121275"/>
          </a:xfrm>
          <a:prstGeom prst="rect">
            <a:avLst/>
          </a:prstGeom>
        </p:spPr>
      </p:pic>
    </p:spTree>
    <p:extLst>
      <p:ext uri="{BB962C8B-B14F-4D97-AF65-F5344CB8AC3E}">
        <p14:creationId xmlns:p14="http://schemas.microsoft.com/office/powerpoint/2010/main" val="29442443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65EF-2F37-4737-BB39-990DDCA7358B}"/>
              </a:ext>
            </a:extLst>
          </p:cNvPr>
          <p:cNvSpPr>
            <a:spLocks noGrp="1"/>
          </p:cNvSpPr>
          <p:nvPr>
            <p:ph type="title"/>
          </p:nvPr>
        </p:nvSpPr>
        <p:spPr/>
        <p:txBody>
          <a:bodyPr/>
          <a:lstStyle/>
          <a:p>
            <a:r>
              <a:rPr lang="en-US" dirty="0"/>
              <a:t>Data Discretization</a:t>
            </a:r>
            <a:endParaRPr lang="en-IN" dirty="0"/>
          </a:p>
        </p:txBody>
      </p:sp>
      <p:sp>
        <p:nvSpPr>
          <p:cNvPr id="3" name="Content Placeholder 2">
            <a:extLst>
              <a:ext uri="{FF2B5EF4-FFF2-40B4-BE49-F238E27FC236}">
                <a16:creationId xmlns:a16="http://schemas.microsoft.com/office/drawing/2014/main" id="{170E50FF-0BBC-4C0F-BDD6-174BCFB40C6F}"/>
              </a:ext>
            </a:extLst>
          </p:cNvPr>
          <p:cNvSpPr>
            <a:spLocks noGrp="1"/>
          </p:cNvSpPr>
          <p:nvPr>
            <p:ph idx="1"/>
          </p:nvPr>
        </p:nvSpPr>
        <p:spPr/>
        <p:txBody>
          <a:bodyPr/>
          <a:lstStyle/>
          <a:p>
            <a:endParaRPr lang="en-US" dirty="0"/>
          </a:p>
          <a:p>
            <a:endParaRPr lang="en-US" dirty="0"/>
          </a:p>
          <a:p>
            <a:endParaRPr lang="en-US" dirty="0"/>
          </a:p>
        </p:txBody>
      </p:sp>
      <p:pic>
        <p:nvPicPr>
          <p:cNvPr id="4" name="Picture 3">
            <a:extLst>
              <a:ext uri="{FF2B5EF4-FFF2-40B4-BE49-F238E27FC236}">
                <a16:creationId xmlns:a16="http://schemas.microsoft.com/office/drawing/2014/main" id="{270EBF96-4103-4DDB-ADD7-7F50A971E3D9}"/>
              </a:ext>
            </a:extLst>
          </p:cNvPr>
          <p:cNvPicPr>
            <a:picLocks noChangeAspect="1"/>
          </p:cNvPicPr>
          <p:nvPr/>
        </p:nvPicPr>
        <p:blipFill>
          <a:blip r:embed="rId2"/>
          <a:stretch>
            <a:fillRect/>
          </a:stretch>
        </p:blipFill>
        <p:spPr>
          <a:xfrm>
            <a:off x="4810810" y="3362064"/>
            <a:ext cx="6139204" cy="1341236"/>
          </a:xfrm>
          <a:prstGeom prst="rect">
            <a:avLst/>
          </a:prstGeom>
        </p:spPr>
      </p:pic>
      <p:pic>
        <p:nvPicPr>
          <p:cNvPr id="5" name="Picture 4">
            <a:extLst>
              <a:ext uri="{FF2B5EF4-FFF2-40B4-BE49-F238E27FC236}">
                <a16:creationId xmlns:a16="http://schemas.microsoft.com/office/drawing/2014/main" id="{092E1BB0-3833-416B-92C0-4DB2071A3B1A}"/>
              </a:ext>
            </a:extLst>
          </p:cNvPr>
          <p:cNvPicPr>
            <a:picLocks noChangeAspect="1"/>
          </p:cNvPicPr>
          <p:nvPr/>
        </p:nvPicPr>
        <p:blipFill>
          <a:blip r:embed="rId3"/>
          <a:stretch>
            <a:fillRect/>
          </a:stretch>
        </p:blipFill>
        <p:spPr>
          <a:xfrm>
            <a:off x="3740869" y="864108"/>
            <a:ext cx="8279086" cy="5527814"/>
          </a:xfrm>
          <a:prstGeom prst="rect">
            <a:avLst/>
          </a:prstGeom>
        </p:spPr>
      </p:pic>
    </p:spTree>
    <p:extLst>
      <p:ext uri="{BB962C8B-B14F-4D97-AF65-F5344CB8AC3E}">
        <p14:creationId xmlns:p14="http://schemas.microsoft.com/office/powerpoint/2010/main" val="2177804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0D68A-336C-4FD5-ACDA-0AFA02637A2F}"/>
              </a:ext>
            </a:extLst>
          </p:cNvPr>
          <p:cNvSpPr>
            <a:spLocks noGrp="1"/>
          </p:cNvSpPr>
          <p:nvPr>
            <p:ph type="title"/>
          </p:nvPr>
        </p:nvSpPr>
        <p:spPr/>
        <p:txBody>
          <a:bodyPr/>
          <a:lstStyle/>
          <a:p>
            <a:r>
              <a:rPr lang="en-US" dirty="0"/>
              <a:t>Discretization Techniques</a:t>
            </a:r>
            <a:endParaRPr lang="en-IN" dirty="0"/>
          </a:p>
        </p:txBody>
      </p:sp>
      <p:sp>
        <p:nvSpPr>
          <p:cNvPr id="3" name="Content Placeholder 2">
            <a:extLst>
              <a:ext uri="{FF2B5EF4-FFF2-40B4-BE49-F238E27FC236}">
                <a16:creationId xmlns:a16="http://schemas.microsoft.com/office/drawing/2014/main" id="{C574463A-6C3E-45C4-B04E-3EE8836D470D}"/>
              </a:ext>
            </a:extLst>
          </p:cNvPr>
          <p:cNvSpPr>
            <a:spLocks noGrp="1"/>
          </p:cNvSpPr>
          <p:nvPr>
            <p:ph idx="1"/>
          </p:nvPr>
        </p:nvSpPr>
        <p:spPr/>
        <p:txBody>
          <a:bodyPr/>
          <a:lstStyle/>
          <a:p>
            <a:r>
              <a:rPr lang="en-US" dirty="0"/>
              <a:t>Discretization by binning </a:t>
            </a:r>
          </a:p>
          <a:p>
            <a:r>
              <a:rPr lang="en-US" dirty="0"/>
              <a:t>Discretization by Histogram Analysis</a:t>
            </a:r>
          </a:p>
          <a:p>
            <a:r>
              <a:rPr lang="en-US" dirty="0"/>
              <a:t>Entropy based Discretization</a:t>
            </a:r>
          </a:p>
          <a:p>
            <a:endParaRPr lang="en-IN" dirty="0"/>
          </a:p>
        </p:txBody>
      </p:sp>
    </p:spTree>
    <p:extLst>
      <p:ext uri="{BB962C8B-B14F-4D97-AF65-F5344CB8AC3E}">
        <p14:creationId xmlns:p14="http://schemas.microsoft.com/office/powerpoint/2010/main" val="6892927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BCA2B-E2D9-4A2F-A293-44F978E2EDFD}"/>
              </a:ext>
            </a:extLst>
          </p:cNvPr>
          <p:cNvSpPr>
            <a:spLocks noGrp="1"/>
          </p:cNvSpPr>
          <p:nvPr>
            <p:ph type="title"/>
          </p:nvPr>
        </p:nvSpPr>
        <p:spPr/>
        <p:txBody>
          <a:bodyPr/>
          <a:lstStyle/>
          <a:p>
            <a:r>
              <a:rPr lang="en-US" dirty="0"/>
              <a:t>Discretization by Histogram Analysis</a:t>
            </a:r>
            <a:br>
              <a:rPr lang="en-US" dirty="0"/>
            </a:br>
            <a:endParaRPr lang="en-IN" dirty="0"/>
          </a:p>
        </p:txBody>
      </p:sp>
      <p:sp>
        <p:nvSpPr>
          <p:cNvPr id="3" name="Content Placeholder 2">
            <a:extLst>
              <a:ext uri="{FF2B5EF4-FFF2-40B4-BE49-F238E27FC236}">
                <a16:creationId xmlns:a16="http://schemas.microsoft.com/office/drawing/2014/main" id="{C281206B-5137-4C66-8B70-7A95F939E78A}"/>
              </a:ext>
            </a:extLst>
          </p:cNvPr>
          <p:cNvSpPr>
            <a:spLocks noGrp="1"/>
          </p:cNvSpPr>
          <p:nvPr>
            <p:ph idx="1"/>
          </p:nvPr>
        </p:nvSpPr>
        <p:spPr/>
        <p:txBody>
          <a:bodyPr/>
          <a:lstStyle/>
          <a:p>
            <a:r>
              <a:rPr lang="en-US" dirty="0"/>
              <a:t>Equal-Width Histogram</a:t>
            </a:r>
          </a:p>
          <a:p>
            <a:r>
              <a:rPr lang="en-US" dirty="0"/>
              <a:t>Equal-Depth(frequency) Partitioning</a:t>
            </a:r>
          </a:p>
          <a:p>
            <a:r>
              <a:rPr lang="en-US" dirty="0"/>
              <a:t>V-Optimal</a:t>
            </a:r>
          </a:p>
          <a:p>
            <a:r>
              <a:rPr lang="en-US" dirty="0" err="1"/>
              <a:t>MaxDiff</a:t>
            </a:r>
            <a:endParaRPr lang="en-IN" dirty="0"/>
          </a:p>
        </p:txBody>
      </p:sp>
    </p:spTree>
    <p:extLst>
      <p:ext uri="{BB962C8B-B14F-4D97-AF65-F5344CB8AC3E}">
        <p14:creationId xmlns:p14="http://schemas.microsoft.com/office/powerpoint/2010/main" val="38612302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23D6F-FD4D-4A9D-B0BD-ADFB801E61C7}"/>
              </a:ext>
            </a:extLst>
          </p:cNvPr>
          <p:cNvSpPr>
            <a:spLocks noGrp="1"/>
          </p:cNvSpPr>
          <p:nvPr>
            <p:ph type="title"/>
          </p:nvPr>
        </p:nvSpPr>
        <p:spPr/>
        <p:txBody>
          <a:bodyPr/>
          <a:lstStyle/>
          <a:p>
            <a:r>
              <a:rPr lang="en-US" dirty="0"/>
              <a:t>Feature Engineering</a:t>
            </a:r>
            <a:endParaRPr lang="en-IN" dirty="0"/>
          </a:p>
        </p:txBody>
      </p:sp>
      <p:sp>
        <p:nvSpPr>
          <p:cNvPr id="3" name="Content Placeholder 2">
            <a:extLst>
              <a:ext uri="{FF2B5EF4-FFF2-40B4-BE49-F238E27FC236}">
                <a16:creationId xmlns:a16="http://schemas.microsoft.com/office/drawing/2014/main" id="{2E6D4350-9258-45A9-9F40-76A6BE16A519}"/>
              </a:ext>
            </a:extLst>
          </p:cNvPr>
          <p:cNvSpPr>
            <a:spLocks noGrp="1"/>
          </p:cNvSpPr>
          <p:nvPr>
            <p:ph idx="1"/>
          </p:nvPr>
        </p:nvSpPr>
        <p:spPr/>
        <p:txBody>
          <a:bodyPr/>
          <a:lstStyle/>
          <a:p>
            <a:r>
              <a:rPr lang="en-US" dirty="0"/>
              <a:t>It is an art of selecting the important features and transforming them into refined and meaningful features that suit the needs of the model. </a:t>
            </a:r>
          </a:p>
          <a:p>
            <a:r>
              <a:rPr lang="en-US" dirty="0"/>
              <a:t>Steps of Feature Engineering:</a:t>
            </a:r>
          </a:p>
          <a:p>
            <a:pPr lvl="1"/>
            <a:r>
              <a:rPr lang="en-US" dirty="0"/>
              <a:t>Feature creation</a:t>
            </a:r>
          </a:p>
          <a:p>
            <a:pPr lvl="1"/>
            <a:r>
              <a:rPr lang="en-US" dirty="0"/>
              <a:t>Feature Extraction</a:t>
            </a:r>
          </a:p>
          <a:p>
            <a:pPr lvl="1"/>
            <a:r>
              <a:rPr lang="en-US" dirty="0"/>
              <a:t>Feature Scaling</a:t>
            </a:r>
          </a:p>
          <a:p>
            <a:pPr lvl="1"/>
            <a:r>
              <a:rPr lang="en-US" dirty="0"/>
              <a:t>Feature Selection</a:t>
            </a:r>
          </a:p>
          <a:p>
            <a:pPr lvl="1"/>
            <a:endParaRPr lang="en-IN" dirty="0"/>
          </a:p>
        </p:txBody>
      </p:sp>
    </p:spTree>
    <p:extLst>
      <p:ext uri="{BB962C8B-B14F-4D97-AF65-F5344CB8AC3E}">
        <p14:creationId xmlns:p14="http://schemas.microsoft.com/office/powerpoint/2010/main" val="18829323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E09DF-5CDE-4835-9609-C01B3CA52604}"/>
              </a:ext>
            </a:extLst>
          </p:cNvPr>
          <p:cNvSpPr>
            <a:spLocks noGrp="1"/>
          </p:cNvSpPr>
          <p:nvPr>
            <p:ph type="title"/>
          </p:nvPr>
        </p:nvSpPr>
        <p:spPr/>
        <p:txBody>
          <a:bodyPr/>
          <a:lstStyle/>
          <a:p>
            <a:r>
              <a:rPr lang="en-US" dirty="0"/>
              <a:t>Advantages of Feature Engineering</a:t>
            </a:r>
            <a:endParaRPr lang="en-IN" dirty="0"/>
          </a:p>
        </p:txBody>
      </p:sp>
      <p:sp>
        <p:nvSpPr>
          <p:cNvPr id="3" name="Content Placeholder 2">
            <a:extLst>
              <a:ext uri="{FF2B5EF4-FFF2-40B4-BE49-F238E27FC236}">
                <a16:creationId xmlns:a16="http://schemas.microsoft.com/office/drawing/2014/main" id="{06E2D730-B865-4D4D-A39F-1798C89018BF}"/>
              </a:ext>
            </a:extLst>
          </p:cNvPr>
          <p:cNvSpPr>
            <a:spLocks noGrp="1"/>
          </p:cNvSpPr>
          <p:nvPr>
            <p:ph idx="1"/>
          </p:nvPr>
        </p:nvSpPr>
        <p:spPr/>
        <p:txBody>
          <a:bodyPr/>
          <a:lstStyle/>
          <a:p>
            <a:r>
              <a:rPr lang="en-US" dirty="0"/>
              <a:t>Better representation of data</a:t>
            </a:r>
          </a:p>
          <a:p>
            <a:r>
              <a:rPr lang="en-US" dirty="0"/>
              <a:t>Higher efficiency of the model</a:t>
            </a:r>
          </a:p>
          <a:p>
            <a:r>
              <a:rPr lang="en-US" dirty="0"/>
              <a:t>Easier Algorithms that fit the data</a:t>
            </a:r>
          </a:p>
          <a:p>
            <a:r>
              <a:rPr lang="en-US" dirty="0"/>
              <a:t>Easier for Algorithms to detect patterns in the data</a:t>
            </a:r>
          </a:p>
          <a:p>
            <a:r>
              <a:rPr lang="en-US" dirty="0"/>
              <a:t>Greater Flexibility of the features</a:t>
            </a:r>
          </a:p>
        </p:txBody>
      </p:sp>
    </p:spTree>
    <p:extLst>
      <p:ext uri="{BB962C8B-B14F-4D97-AF65-F5344CB8AC3E}">
        <p14:creationId xmlns:p14="http://schemas.microsoft.com/office/powerpoint/2010/main" val="18041634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FCCF5-A5A8-43B3-B0D8-F6EEF0E6A3F1}"/>
              </a:ext>
            </a:extLst>
          </p:cNvPr>
          <p:cNvSpPr>
            <a:spLocks noGrp="1"/>
          </p:cNvSpPr>
          <p:nvPr>
            <p:ph type="title"/>
          </p:nvPr>
        </p:nvSpPr>
        <p:spPr/>
        <p:txBody>
          <a:bodyPr/>
          <a:lstStyle/>
          <a:p>
            <a:r>
              <a:rPr lang="en-US" dirty="0"/>
              <a:t>Example to understand Feature Engineering</a:t>
            </a:r>
            <a:endParaRPr lang="en-IN" dirty="0"/>
          </a:p>
        </p:txBody>
      </p:sp>
      <p:sp>
        <p:nvSpPr>
          <p:cNvPr id="3" name="Content Placeholder 2">
            <a:extLst>
              <a:ext uri="{FF2B5EF4-FFF2-40B4-BE49-F238E27FC236}">
                <a16:creationId xmlns:a16="http://schemas.microsoft.com/office/drawing/2014/main" id="{B64ADB9B-7D9D-41FF-AEC2-F4F42E0FDBED}"/>
              </a:ext>
            </a:extLst>
          </p:cNvPr>
          <p:cNvSpPr>
            <a:spLocks noGrp="1"/>
          </p:cNvSpPr>
          <p:nvPr>
            <p:ph idx="1"/>
          </p:nvPr>
        </p:nvSpPr>
        <p:spPr/>
        <p:txBody>
          <a:bodyPr/>
          <a:lstStyle/>
          <a:p>
            <a:pPr marL="0" indent="0">
              <a:buNone/>
            </a:pPr>
            <a:r>
              <a:rPr lang="en-US" dirty="0"/>
              <a:t>let’s take a simple example that below are the prices of properties in x city. It shows the area of the house and total price.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A25A30B0-3DB2-47CB-B0BA-1B4C74D6256C}"/>
              </a:ext>
            </a:extLst>
          </p:cNvPr>
          <p:cNvPicPr>
            <a:picLocks noChangeAspect="1"/>
          </p:cNvPicPr>
          <p:nvPr/>
        </p:nvPicPr>
        <p:blipFill>
          <a:blip r:embed="rId2"/>
          <a:stretch>
            <a:fillRect/>
          </a:stretch>
        </p:blipFill>
        <p:spPr>
          <a:xfrm>
            <a:off x="5780194" y="3046197"/>
            <a:ext cx="2762250" cy="1990725"/>
          </a:xfrm>
          <a:prstGeom prst="rect">
            <a:avLst/>
          </a:prstGeom>
        </p:spPr>
      </p:pic>
    </p:spTree>
    <p:extLst>
      <p:ext uri="{BB962C8B-B14F-4D97-AF65-F5344CB8AC3E}">
        <p14:creationId xmlns:p14="http://schemas.microsoft.com/office/powerpoint/2010/main" val="6210936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FCCF5-A5A8-43B3-B0D8-F6EEF0E6A3F1}"/>
              </a:ext>
            </a:extLst>
          </p:cNvPr>
          <p:cNvSpPr>
            <a:spLocks noGrp="1"/>
          </p:cNvSpPr>
          <p:nvPr>
            <p:ph type="title"/>
          </p:nvPr>
        </p:nvSpPr>
        <p:spPr/>
        <p:txBody>
          <a:bodyPr/>
          <a:lstStyle/>
          <a:p>
            <a:r>
              <a:rPr lang="en-US" dirty="0"/>
              <a:t>Example to understand Feature Engineering</a:t>
            </a:r>
            <a:endParaRPr lang="en-IN" dirty="0"/>
          </a:p>
        </p:txBody>
      </p:sp>
      <p:pic>
        <p:nvPicPr>
          <p:cNvPr id="6" name="Content Placeholder 5">
            <a:extLst>
              <a:ext uri="{FF2B5EF4-FFF2-40B4-BE49-F238E27FC236}">
                <a16:creationId xmlns:a16="http://schemas.microsoft.com/office/drawing/2014/main" id="{35509BAC-317D-43B0-8502-23CF9A459845}"/>
              </a:ext>
            </a:extLst>
          </p:cNvPr>
          <p:cNvPicPr>
            <a:picLocks noGrp="1" noChangeAspect="1"/>
          </p:cNvPicPr>
          <p:nvPr>
            <p:ph idx="1"/>
          </p:nvPr>
        </p:nvPicPr>
        <p:blipFill>
          <a:blip r:embed="rId2"/>
          <a:stretch>
            <a:fillRect/>
          </a:stretch>
        </p:blipFill>
        <p:spPr>
          <a:xfrm>
            <a:off x="5449888" y="3101173"/>
            <a:ext cx="4152900" cy="1800225"/>
          </a:xfrm>
        </p:spPr>
      </p:pic>
      <p:sp>
        <p:nvSpPr>
          <p:cNvPr id="8" name="TextBox 7">
            <a:extLst>
              <a:ext uri="{FF2B5EF4-FFF2-40B4-BE49-F238E27FC236}">
                <a16:creationId xmlns:a16="http://schemas.microsoft.com/office/drawing/2014/main" id="{DF38587D-DC58-4606-A661-BA3F2F19C836}"/>
              </a:ext>
            </a:extLst>
          </p:cNvPr>
          <p:cNvSpPr txBox="1"/>
          <p:nvPr/>
        </p:nvSpPr>
        <p:spPr>
          <a:xfrm>
            <a:off x="4026024" y="1726681"/>
            <a:ext cx="6098958" cy="923330"/>
          </a:xfrm>
          <a:prstGeom prst="rect">
            <a:avLst/>
          </a:prstGeom>
          <a:noFill/>
        </p:spPr>
        <p:txBody>
          <a:bodyPr wrap="square">
            <a:spAutoFit/>
          </a:bodyPr>
          <a:lstStyle/>
          <a:p>
            <a:pPr marL="0" indent="0">
              <a:buNone/>
            </a:pPr>
            <a:r>
              <a:rPr lang="en-US" dirty="0"/>
              <a:t>this data might have some errors or might be incorrect, not all sources on the internet are correct. To begin, we’ll add a new column to display the cost per square foot.</a:t>
            </a:r>
          </a:p>
        </p:txBody>
      </p:sp>
    </p:spTree>
    <p:extLst>
      <p:ext uri="{BB962C8B-B14F-4D97-AF65-F5344CB8AC3E}">
        <p14:creationId xmlns:p14="http://schemas.microsoft.com/office/powerpoint/2010/main" val="21221149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FCCF5-A5A8-43B3-B0D8-F6EEF0E6A3F1}"/>
              </a:ext>
            </a:extLst>
          </p:cNvPr>
          <p:cNvSpPr>
            <a:spLocks noGrp="1"/>
          </p:cNvSpPr>
          <p:nvPr>
            <p:ph type="title"/>
          </p:nvPr>
        </p:nvSpPr>
        <p:spPr/>
        <p:txBody>
          <a:bodyPr/>
          <a:lstStyle/>
          <a:p>
            <a:r>
              <a:rPr lang="en-US" dirty="0"/>
              <a:t>Example to understand Feature Engineering</a:t>
            </a:r>
            <a:endParaRPr lang="en-IN" dirty="0"/>
          </a:p>
        </p:txBody>
      </p:sp>
      <p:sp>
        <p:nvSpPr>
          <p:cNvPr id="8" name="TextBox 7">
            <a:extLst>
              <a:ext uri="{FF2B5EF4-FFF2-40B4-BE49-F238E27FC236}">
                <a16:creationId xmlns:a16="http://schemas.microsoft.com/office/drawing/2014/main" id="{DF38587D-DC58-4606-A661-BA3F2F19C836}"/>
              </a:ext>
            </a:extLst>
          </p:cNvPr>
          <p:cNvSpPr txBox="1"/>
          <p:nvPr/>
        </p:nvSpPr>
        <p:spPr>
          <a:xfrm>
            <a:off x="4006850" y="1034223"/>
            <a:ext cx="6098958" cy="646331"/>
          </a:xfrm>
          <a:prstGeom prst="rect">
            <a:avLst/>
          </a:prstGeom>
          <a:noFill/>
        </p:spPr>
        <p:txBody>
          <a:bodyPr wrap="square">
            <a:spAutoFit/>
          </a:bodyPr>
          <a:lstStyle/>
          <a:p>
            <a:pPr marL="0" indent="0">
              <a:buNone/>
            </a:pPr>
            <a:r>
              <a:rPr lang="en-US" b="0" i="0" dirty="0">
                <a:solidFill>
                  <a:srgbClr val="292929"/>
                </a:solidFill>
                <a:effectLst/>
                <a:latin typeface="charter"/>
              </a:rPr>
              <a:t>The data can be </a:t>
            </a:r>
            <a:r>
              <a:rPr lang="en-US" b="1" i="0" dirty="0">
                <a:solidFill>
                  <a:srgbClr val="292929"/>
                </a:solidFill>
                <a:effectLst/>
                <a:latin typeface="charter"/>
              </a:rPr>
              <a:t>visualized</a:t>
            </a:r>
            <a:r>
              <a:rPr lang="en-US" dirty="0">
                <a:solidFill>
                  <a:srgbClr val="292929"/>
                </a:solidFill>
                <a:latin typeface="charter"/>
              </a:rPr>
              <a:t> as cost per square ft. in particular city.</a:t>
            </a:r>
            <a:endParaRPr lang="en-US" dirty="0"/>
          </a:p>
        </p:txBody>
      </p:sp>
      <p:pic>
        <p:nvPicPr>
          <p:cNvPr id="7" name="Content Placeholder 6">
            <a:extLst>
              <a:ext uri="{FF2B5EF4-FFF2-40B4-BE49-F238E27FC236}">
                <a16:creationId xmlns:a16="http://schemas.microsoft.com/office/drawing/2014/main" id="{0A5BA4A3-10F9-4DD3-92B7-7258E44B8FF8}"/>
              </a:ext>
            </a:extLst>
          </p:cNvPr>
          <p:cNvPicPr>
            <a:picLocks noGrp="1" noChangeAspect="1"/>
          </p:cNvPicPr>
          <p:nvPr>
            <p:ph idx="1"/>
          </p:nvPr>
        </p:nvPicPr>
        <p:blipFill>
          <a:blip r:embed="rId2"/>
          <a:stretch>
            <a:fillRect/>
          </a:stretch>
        </p:blipFill>
        <p:spPr>
          <a:xfrm>
            <a:off x="4006850" y="2441359"/>
            <a:ext cx="7038975" cy="3693111"/>
          </a:xfrm>
        </p:spPr>
      </p:pic>
    </p:spTree>
    <p:extLst>
      <p:ext uri="{BB962C8B-B14F-4D97-AF65-F5344CB8AC3E}">
        <p14:creationId xmlns:p14="http://schemas.microsoft.com/office/powerpoint/2010/main" val="22795906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6E3F-5AF9-4004-82A3-A00D0C6106D6}"/>
              </a:ext>
            </a:extLst>
          </p:cNvPr>
          <p:cNvSpPr>
            <a:spLocks noGrp="1"/>
          </p:cNvSpPr>
          <p:nvPr>
            <p:ph type="title"/>
          </p:nvPr>
        </p:nvSpPr>
        <p:spPr/>
        <p:txBody>
          <a:bodyPr/>
          <a:lstStyle/>
          <a:p>
            <a:r>
              <a:rPr lang="en-US" dirty="0"/>
              <a:t>Feature Extraction</a:t>
            </a:r>
            <a:endParaRPr lang="en-IN" dirty="0"/>
          </a:p>
        </p:txBody>
      </p:sp>
      <p:sp>
        <p:nvSpPr>
          <p:cNvPr id="3" name="Content Placeholder 2">
            <a:extLst>
              <a:ext uri="{FF2B5EF4-FFF2-40B4-BE49-F238E27FC236}">
                <a16:creationId xmlns:a16="http://schemas.microsoft.com/office/drawing/2014/main" id="{EF6EF468-90B5-4A16-BF34-7E6A7378D20D}"/>
              </a:ext>
            </a:extLst>
          </p:cNvPr>
          <p:cNvSpPr>
            <a:spLocks noGrp="1"/>
          </p:cNvSpPr>
          <p:nvPr>
            <p:ph idx="1"/>
          </p:nvPr>
        </p:nvSpPr>
        <p:spPr/>
        <p:txBody>
          <a:bodyPr/>
          <a:lstStyle/>
          <a:p>
            <a:r>
              <a:rPr lang="en-US" dirty="0"/>
              <a:t>Feature Extraction aims to reduce the number of features in a dataset by creating new features from the existing ones (and then discarding the original features). </a:t>
            </a:r>
          </a:p>
          <a:p>
            <a:r>
              <a:rPr lang="en-US" dirty="0" err="1"/>
              <a:t>TheseFeature</a:t>
            </a:r>
            <a:r>
              <a:rPr lang="en-US" dirty="0"/>
              <a:t> Extraction is basically a process of dimensionality reduction where the raw data obtained is separated into related manageable groups. </a:t>
            </a:r>
          </a:p>
          <a:p>
            <a:r>
              <a:rPr lang="en-US" dirty="0"/>
              <a:t>The new reduced set of features should then be able to summarize most of the information contained in the original set of features. </a:t>
            </a:r>
          </a:p>
          <a:p>
            <a:r>
              <a:rPr lang="en-US" dirty="0"/>
              <a:t>In this way, a </a:t>
            </a:r>
            <a:r>
              <a:rPr lang="en-US" dirty="0" err="1"/>
              <a:t>summarised</a:t>
            </a:r>
            <a:r>
              <a:rPr lang="en-US" dirty="0"/>
              <a:t> version of the original features can be created from a combination of the original set.</a:t>
            </a:r>
          </a:p>
          <a:p>
            <a:r>
              <a:rPr lang="en-US" dirty="0"/>
              <a:t>Feature extraction is based on data types.</a:t>
            </a:r>
            <a:endParaRPr lang="en-IN" dirty="0"/>
          </a:p>
        </p:txBody>
      </p:sp>
    </p:spTree>
    <p:extLst>
      <p:ext uri="{BB962C8B-B14F-4D97-AF65-F5344CB8AC3E}">
        <p14:creationId xmlns:p14="http://schemas.microsoft.com/office/powerpoint/2010/main" val="42339074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CD266-058D-46F8-9B8B-43CED81D2F60}"/>
              </a:ext>
            </a:extLst>
          </p:cNvPr>
          <p:cNvSpPr>
            <a:spLocks noGrp="1"/>
          </p:cNvSpPr>
          <p:nvPr>
            <p:ph type="title"/>
          </p:nvPr>
        </p:nvSpPr>
        <p:spPr/>
        <p:txBody>
          <a:bodyPr/>
          <a:lstStyle/>
          <a:p>
            <a:r>
              <a:rPr lang="en-US" dirty="0"/>
              <a:t>Feature Scaling</a:t>
            </a:r>
            <a:endParaRPr lang="en-IN" dirty="0"/>
          </a:p>
        </p:txBody>
      </p:sp>
      <p:sp>
        <p:nvSpPr>
          <p:cNvPr id="3" name="Content Placeholder 2">
            <a:extLst>
              <a:ext uri="{FF2B5EF4-FFF2-40B4-BE49-F238E27FC236}">
                <a16:creationId xmlns:a16="http://schemas.microsoft.com/office/drawing/2014/main" id="{FA7BE45D-70A2-456D-9C65-07244DAF6B94}"/>
              </a:ext>
            </a:extLst>
          </p:cNvPr>
          <p:cNvSpPr>
            <a:spLocks noGrp="1"/>
          </p:cNvSpPr>
          <p:nvPr>
            <p:ph idx="1"/>
          </p:nvPr>
        </p:nvSpPr>
        <p:spPr/>
        <p:txBody>
          <a:bodyPr/>
          <a:lstStyle/>
          <a:p>
            <a:r>
              <a:rPr lang="en-US" dirty="0"/>
              <a:t>Feature scaling is a method used to normalize the range of independent variables or features of data. </a:t>
            </a:r>
          </a:p>
          <a:p>
            <a:r>
              <a:rPr lang="en-US" dirty="0"/>
              <a:t>In data processing, it is also known as data normalization and is generally performed during the data preprocessing step.</a:t>
            </a:r>
          </a:p>
          <a:p>
            <a:r>
              <a:rPr lang="en-US" dirty="0"/>
              <a:t>Feature Scaling includes:</a:t>
            </a:r>
          </a:p>
          <a:p>
            <a:pPr lvl="1"/>
            <a:r>
              <a:rPr lang="en-US" dirty="0"/>
              <a:t>Standardized scaling</a:t>
            </a:r>
          </a:p>
          <a:p>
            <a:pPr lvl="1"/>
            <a:r>
              <a:rPr lang="en-US" dirty="0"/>
              <a:t>Min-Max Normalization</a:t>
            </a:r>
          </a:p>
          <a:p>
            <a:pPr lvl="1"/>
            <a:r>
              <a:rPr lang="en-US" dirty="0"/>
              <a:t>Robust Scaling</a:t>
            </a:r>
            <a:endParaRPr lang="en-IN" dirty="0"/>
          </a:p>
        </p:txBody>
      </p:sp>
    </p:spTree>
    <p:extLst>
      <p:ext uri="{BB962C8B-B14F-4D97-AF65-F5344CB8AC3E}">
        <p14:creationId xmlns:p14="http://schemas.microsoft.com/office/powerpoint/2010/main" val="10273499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ED64D-9341-472E-87DE-0C9762330DA6}"/>
              </a:ext>
            </a:extLst>
          </p:cNvPr>
          <p:cNvSpPr>
            <a:spLocks noGrp="1"/>
          </p:cNvSpPr>
          <p:nvPr>
            <p:ph type="title"/>
          </p:nvPr>
        </p:nvSpPr>
        <p:spPr/>
        <p:txBody>
          <a:bodyPr/>
          <a:lstStyle/>
          <a:p>
            <a:r>
              <a:rPr lang="en-US" dirty="0"/>
              <a:t>Feature Scaling</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68D5-75FC-44BE-A4A8-C073B80248C6}"/>
                  </a:ext>
                </a:extLst>
              </p:cNvPr>
              <p:cNvSpPr>
                <a:spLocks noGrp="1"/>
              </p:cNvSpPr>
              <p:nvPr>
                <p:ph idx="1"/>
              </p:nvPr>
            </p:nvSpPr>
            <p:spPr/>
            <p:txBody>
              <a:bodyPr/>
              <a:lstStyle/>
              <a:p>
                <a:pPr marL="457200" indent="-457200">
                  <a:buAutoNum type="arabicParenR"/>
                </a:pPr>
                <a:r>
                  <a:rPr lang="en-US" dirty="0"/>
                  <a:t>Standardized Scaling: </a:t>
                </a:r>
              </a:p>
              <a:p>
                <a:pPr marL="502920" lvl="1" indent="0">
                  <a:buNone/>
                </a:pPr>
                <a:endParaRPr lang="en-US" dirty="0"/>
              </a:p>
              <a:p>
                <a:pPr marL="960120" lvl="2" indent="0">
                  <a:buNone/>
                </a:pPr>
                <a:r>
                  <a:rPr lang="en-US" sz="2400" dirty="0"/>
                  <a:t>ss(xi)=</a:t>
                </a:r>
                <a14:m>
                  <m:oMath xmlns:m="http://schemas.openxmlformats.org/officeDocument/2006/math">
                    <m:f>
                      <m:fPr>
                        <m:ctrlPr>
                          <a:rPr lang="en-US" sz="2400" b="0" i="1" smtClean="0">
                            <a:latin typeface="Cambria Math" panose="02040503050406030204" pitchFamily="18" charset="0"/>
                          </a:rPr>
                        </m:ctrlPr>
                      </m:fPr>
                      <m:num>
                        <m:r>
                          <a:rPr lang="en-US" sz="2400" i="1">
                            <a:latin typeface="Cambria Math" panose="02040503050406030204" pitchFamily="18" charset="0"/>
                          </a:rPr>
                          <m:t>𝑋𝑖</m:t>
                        </m:r>
                        <m:r>
                          <a:rPr lang="en-US" sz="2400" i="1">
                            <a:latin typeface="Cambria Math" panose="02040503050406030204" pitchFamily="18" charset="0"/>
                          </a:rPr>
                          <m:t>−</m:t>
                        </m:r>
                        <m:r>
                          <a:rPr lang="en-US" sz="2400" i="1">
                            <a:latin typeface="Cambria Math" panose="02040503050406030204" pitchFamily="18" charset="0"/>
                          </a:rPr>
                          <m:t>𝑀𝑒𝑎𝑛</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r>
                          <m:rPr>
                            <m:nor/>
                          </m:rPr>
                          <a:rPr lang="en-US" sz="2400" dirty="0"/>
                          <m:t> </m:t>
                        </m:r>
                      </m:num>
                      <m:den>
                        <m:r>
                          <a:rPr lang="en-US" sz="2400" b="0" i="1" smtClean="0">
                            <a:latin typeface="Cambria Math" panose="02040503050406030204" pitchFamily="18" charset="0"/>
                          </a:rPr>
                          <m:t>𝑆</m:t>
                        </m:r>
                        <m:r>
                          <a:rPr lang="en-US" sz="2400" b="0" i="1" smtClean="0">
                            <a:latin typeface="Cambria Math" panose="02040503050406030204" pitchFamily="18" charset="0"/>
                          </a:rPr>
                          <m:t>.</m:t>
                        </m:r>
                        <m:r>
                          <a:rPr lang="en-US" sz="2400" b="0" i="1" smtClean="0">
                            <a:latin typeface="Cambria Math" panose="02040503050406030204" pitchFamily="18" charset="0"/>
                          </a:rPr>
                          <m:t>𝐷</m:t>
                        </m:r>
                      </m:den>
                    </m:f>
                  </m:oMath>
                </a14:m>
                <a:endParaRPr lang="en-US" sz="2400" dirty="0"/>
              </a:p>
              <a:p>
                <a:pPr marL="502920" lvl="1" indent="0">
                  <a:buNone/>
                </a:pPr>
                <a:endParaRPr lang="en-US" dirty="0"/>
              </a:p>
              <a:p>
                <a:pPr marL="457200" indent="-457200">
                  <a:buFont typeface="+mj-lt"/>
                  <a:buAutoNum type="arabicParenR"/>
                </a:pPr>
                <a:r>
                  <a:rPr lang="en-US" dirty="0"/>
                  <a:t>Robust Scaling</a:t>
                </a:r>
              </a:p>
              <a:p>
                <a:pPr marL="0" indent="0">
                  <a:buNone/>
                </a:pPr>
                <a:r>
                  <a:rPr lang="en-US" dirty="0"/>
                  <a:t>	</a:t>
                </a:r>
                <a14:m>
                  <m:oMath xmlns:m="http://schemas.openxmlformats.org/officeDocument/2006/math">
                    <m:r>
                      <a:rPr lang="en-US" sz="2400" b="0" i="1" smtClean="0">
                        <a:latin typeface="Cambria Math" panose="02040503050406030204" pitchFamily="18" charset="0"/>
                      </a:rPr>
                      <m:t>𝑅𝑠</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𝑥𝑖</m:t>
                        </m:r>
                      </m:e>
                    </m:d>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𝑥𝑖</m:t>
                        </m:r>
                        <m:r>
                          <a:rPr lang="en-US" sz="2400" b="0" i="1" smtClean="0">
                            <a:latin typeface="Cambria Math" panose="02040503050406030204" pitchFamily="18" charset="0"/>
                          </a:rPr>
                          <m:t>−</m:t>
                        </m:r>
                        <m:r>
                          <a:rPr lang="en-US" sz="2400" b="0" i="1" smtClean="0">
                            <a:latin typeface="Cambria Math" panose="02040503050406030204" pitchFamily="18" charset="0"/>
                          </a:rPr>
                          <m:t>𝑀𝑒𝑑𝑖𝑎𝑛</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num>
                      <m:den>
                        <m:sSub>
                          <m:sSubPr>
                            <m:ctrlPr>
                              <a:rPr lang="en-US" sz="2400" b="0" i="1" smtClean="0">
                                <a:latin typeface="Cambria Math" panose="02040503050406030204" pitchFamily="18" charset="0"/>
                              </a:rPr>
                            </m:ctrlPr>
                          </m:sSubPr>
                          <m:e>
                            <m:r>
                              <a:rPr lang="en-US" sz="2400" i="1">
                                <a:latin typeface="Cambria Math" panose="02040503050406030204" pitchFamily="18" charset="0"/>
                              </a:rPr>
                              <m:t>𝐼𝑄𝑅</m:t>
                            </m:r>
                          </m:e>
                          <m: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1,3</m:t>
                                </m:r>
                              </m:e>
                            </m:d>
                          </m:sub>
                        </m:sSub>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den>
                    </m:f>
                  </m:oMath>
                </a14:m>
                <a:endParaRPr lang="en-US" sz="2400" dirty="0"/>
              </a:p>
              <a:p>
                <a:pPr marL="502920" lvl="1" indent="0">
                  <a:buNone/>
                </a:pPr>
                <a:endParaRPr lang="en-IN" dirty="0"/>
              </a:p>
            </p:txBody>
          </p:sp>
        </mc:Choice>
        <mc:Fallback xmlns="">
          <p:sp>
            <p:nvSpPr>
              <p:cNvPr id="3" name="Content Placeholder 2">
                <a:extLst>
                  <a:ext uri="{FF2B5EF4-FFF2-40B4-BE49-F238E27FC236}">
                    <a16:creationId xmlns:a16="http://schemas.microsoft.com/office/drawing/2014/main" id="{076568D5-75FC-44BE-A4A8-C073B80248C6}"/>
                  </a:ext>
                </a:extLst>
              </p:cNvPr>
              <p:cNvSpPr>
                <a:spLocks noGrp="1" noRot="1" noChangeAspect="1" noMove="1" noResize="1" noEditPoints="1" noAdjustHandles="1" noChangeArrowheads="1" noChangeShapeType="1" noTextEdit="1"/>
              </p:cNvSpPr>
              <p:nvPr>
                <p:ph idx="1"/>
              </p:nvPr>
            </p:nvSpPr>
            <p:spPr>
              <a:blipFill>
                <a:blip r:embed="rId2"/>
                <a:stretch>
                  <a:fillRect l="-917"/>
                </a:stretch>
              </a:blipFill>
            </p:spPr>
            <p:txBody>
              <a:bodyPr/>
              <a:lstStyle/>
              <a:p>
                <a:r>
                  <a:rPr lang="en-IN">
                    <a:noFill/>
                  </a:rPr>
                  <a:t> </a:t>
                </a:r>
              </a:p>
            </p:txBody>
          </p:sp>
        </mc:Fallback>
      </mc:AlternateContent>
    </p:spTree>
    <p:extLst>
      <p:ext uri="{BB962C8B-B14F-4D97-AF65-F5344CB8AC3E}">
        <p14:creationId xmlns:p14="http://schemas.microsoft.com/office/powerpoint/2010/main" val="445384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FAB4B-0DA7-453B-96F5-42595525FE1C}"/>
              </a:ext>
            </a:extLst>
          </p:cNvPr>
          <p:cNvSpPr>
            <a:spLocks noGrp="1"/>
          </p:cNvSpPr>
          <p:nvPr>
            <p:ph type="title"/>
          </p:nvPr>
        </p:nvSpPr>
        <p:spPr/>
        <p:txBody>
          <a:bodyPr/>
          <a:lstStyle/>
          <a:p>
            <a:r>
              <a:rPr lang="en-US" dirty="0"/>
              <a:t>Feature Selection</a:t>
            </a:r>
            <a:endParaRPr lang="en-IN" dirty="0"/>
          </a:p>
        </p:txBody>
      </p:sp>
      <p:sp>
        <p:nvSpPr>
          <p:cNvPr id="3" name="Content Placeholder 2">
            <a:extLst>
              <a:ext uri="{FF2B5EF4-FFF2-40B4-BE49-F238E27FC236}">
                <a16:creationId xmlns:a16="http://schemas.microsoft.com/office/drawing/2014/main" id="{6143D997-4AD5-4333-9A74-2E1C2F2B5C79}"/>
              </a:ext>
            </a:extLst>
          </p:cNvPr>
          <p:cNvSpPr>
            <a:spLocks noGrp="1"/>
          </p:cNvSpPr>
          <p:nvPr>
            <p:ph idx="1"/>
          </p:nvPr>
        </p:nvSpPr>
        <p:spPr/>
        <p:txBody>
          <a:bodyPr/>
          <a:lstStyle/>
          <a:p>
            <a:r>
              <a:rPr lang="en-US" dirty="0"/>
              <a:t>Feature selection methods are intended to reduce the number of input variables to those that are believed to be most useful to a model in order to predict the target variable.</a:t>
            </a:r>
          </a:p>
          <a:p>
            <a:r>
              <a:rPr lang="en-US" dirty="0"/>
              <a:t>Techniques for feature selection</a:t>
            </a:r>
          </a:p>
          <a:p>
            <a:pPr lvl="1"/>
            <a:r>
              <a:rPr lang="en-US" dirty="0"/>
              <a:t>Filter Methods</a:t>
            </a:r>
          </a:p>
          <a:p>
            <a:pPr lvl="1"/>
            <a:r>
              <a:rPr lang="en-US" dirty="0"/>
              <a:t>Wrapper Method</a:t>
            </a:r>
          </a:p>
          <a:p>
            <a:pPr lvl="1"/>
            <a:r>
              <a:rPr lang="en-US" dirty="0"/>
              <a:t>Embedded Method</a:t>
            </a:r>
            <a:endParaRPr lang="en-IN" dirty="0"/>
          </a:p>
        </p:txBody>
      </p:sp>
    </p:spTree>
    <p:extLst>
      <p:ext uri="{BB962C8B-B14F-4D97-AF65-F5344CB8AC3E}">
        <p14:creationId xmlns:p14="http://schemas.microsoft.com/office/powerpoint/2010/main" val="28961212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FAB4B-0DA7-453B-96F5-42595525FE1C}"/>
              </a:ext>
            </a:extLst>
          </p:cNvPr>
          <p:cNvSpPr>
            <a:spLocks noGrp="1"/>
          </p:cNvSpPr>
          <p:nvPr>
            <p:ph type="title"/>
          </p:nvPr>
        </p:nvSpPr>
        <p:spPr/>
        <p:txBody>
          <a:bodyPr/>
          <a:lstStyle/>
          <a:p>
            <a:r>
              <a:rPr lang="en-US" dirty="0"/>
              <a:t>Feature Selection</a:t>
            </a:r>
            <a:endParaRPr lang="en-IN" dirty="0"/>
          </a:p>
        </p:txBody>
      </p:sp>
      <p:pic>
        <p:nvPicPr>
          <p:cNvPr id="5" name="Content Placeholder 4">
            <a:extLst>
              <a:ext uri="{FF2B5EF4-FFF2-40B4-BE49-F238E27FC236}">
                <a16:creationId xmlns:a16="http://schemas.microsoft.com/office/drawing/2014/main" id="{BFDE6458-B57A-4059-901A-181A6784C5CF}"/>
              </a:ext>
            </a:extLst>
          </p:cNvPr>
          <p:cNvPicPr>
            <a:picLocks noGrp="1" noChangeAspect="1"/>
          </p:cNvPicPr>
          <p:nvPr>
            <p:ph idx="1"/>
          </p:nvPr>
        </p:nvPicPr>
        <p:blipFill>
          <a:blip r:embed="rId2"/>
          <a:stretch>
            <a:fillRect/>
          </a:stretch>
        </p:blipFill>
        <p:spPr>
          <a:xfrm>
            <a:off x="4208016" y="1296140"/>
            <a:ext cx="6560598" cy="4518734"/>
          </a:xfrm>
        </p:spPr>
      </p:pic>
    </p:spTree>
    <p:extLst>
      <p:ext uri="{BB962C8B-B14F-4D97-AF65-F5344CB8AC3E}">
        <p14:creationId xmlns:p14="http://schemas.microsoft.com/office/powerpoint/2010/main" val="23057025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94C7E-E963-470C-B9AF-CC9674353BEE}"/>
              </a:ext>
            </a:extLst>
          </p:cNvPr>
          <p:cNvSpPr>
            <a:spLocks noGrp="1"/>
          </p:cNvSpPr>
          <p:nvPr>
            <p:ph type="title"/>
          </p:nvPr>
        </p:nvSpPr>
        <p:spPr/>
        <p:txBody>
          <a:bodyPr/>
          <a:lstStyle/>
          <a:p>
            <a:r>
              <a:rPr lang="en-US" dirty="0"/>
              <a:t>Advantages</a:t>
            </a:r>
            <a:endParaRPr lang="en-IN" dirty="0"/>
          </a:p>
        </p:txBody>
      </p:sp>
      <p:sp>
        <p:nvSpPr>
          <p:cNvPr id="3" name="Content Placeholder 2">
            <a:extLst>
              <a:ext uri="{FF2B5EF4-FFF2-40B4-BE49-F238E27FC236}">
                <a16:creationId xmlns:a16="http://schemas.microsoft.com/office/drawing/2014/main" id="{4BF594DB-E40F-4A23-9C64-6EAC8149B54C}"/>
              </a:ext>
            </a:extLst>
          </p:cNvPr>
          <p:cNvSpPr>
            <a:spLocks noGrp="1"/>
          </p:cNvSpPr>
          <p:nvPr>
            <p:ph idx="1"/>
          </p:nvPr>
        </p:nvSpPr>
        <p:spPr/>
        <p:txBody>
          <a:bodyPr/>
          <a:lstStyle/>
          <a:p>
            <a:r>
              <a:rPr lang="en-US" dirty="0"/>
              <a:t>It helps in avoiding the curse of dimensionality.</a:t>
            </a:r>
          </a:p>
          <a:p>
            <a:r>
              <a:rPr lang="en-US" dirty="0"/>
              <a:t>It helps in the simplification of the model so that it can be easily interpreted by the researchers.</a:t>
            </a:r>
          </a:p>
          <a:p>
            <a:r>
              <a:rPr lang="en-US" dirty="0"/>
              <a:t>It reduces the training time.</a:t>
            </a:r>
          </a:p>
          <a:p>
            <a:r>
              <a:rPr lang="en-US" dirty="0"/>
              <a:t>It reduces overfitting hence enhance the generalization.</a:t>
            </a:r>
            <a:endParaRPr lang="en-IN" dirty="0"/>
          </a:p>
        </p:txBody>
      </p:sp>
    </p:spTree>
    <p:extLst>
      <p:ext uri="{BB962C8B-B14F-4D97-AF65-F5344CB8AC3E}">
        <p14:creationId xmlns:p14="http://schemas.microsoft.com/office/powerpoint/2010/main" val="38806391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1599F-E31D-456B-A31B-E9592F8A7DD5}"/>
              </a:ext>
            </a:extLst>
          </p:cNvPr>
          <p:cNvSpPr>
            <a:spLocks noGrp="1"/>
          </p:cNvSpPr>
          <p:nvPr>
            <p:ph type="title"/>
          </p:nvPr>
        </p:nvSpPr>
        <p:spPr/>
        <p:txBody>
          <a:bodyPr/>
          <a:lstStyle/>
          <a:p>
            <a:r>
              <a:rPr lang="en-US" dirty="0"/>
              <a:t>Filter Method</a:t>
            </a:r>
            <a:endParaRPr lang="en-IN" dirty="0"/>
          </a:p>
        </p:txBody>
      </p:sp>
      <p:sp>
        <p:nvSpPr>
          <p:cNvPr id="3" name="Content Placeholder 2">
            <a:extLst>
              <a:ext uri="{FF2B5EF4-FFF2-40B4-BE49-F238E27FC236}">
                <a16:creationId xmlns:a16="http://schemas.microsoft.com/office/drawing/2014/main" id="{5F7DBE5D-35DF-4B6A-B06F-FEC4F5E1992A}"/>
              </a:ext>
            </a:extLst>
          </p:cNvPr>
          <p:cNvSpPr>
            <a:spLocks noGrp="1"/>
          </p:cNvSpPr>
          <p:nvPr>
            <p:ph idx="1"/>
          </p:nvPr>
        </p:nvSpPr>
        <p:spPr/>
        <p:txBody>
          <a:bodyPr/>
          <a:lstStyle/>
          <a:p>
            <a:r>
              <a:rPr lang="en-US" dirty="0"/>
              <a:t>Filter feature selection methods use statistical techniques to evaluate the relationship between each input variable and the target variable, and these scores are used as the basis to choose (filter) those input variables that will be used in the model.</a:t>
            </a:r>
          </a:p>
          <a:p>
            <a:endParaRPr lang="en-IN" dirty="0"/>
          </a:p>
        </p:txBody>
      </p:sp>
    </p:spTree>
    <p:extLst>
      <p:ext uri="{BB962C8B-B14F-4D97-AF65-F5344CB8AC3E}">
        <p14:creationId xmlns:p14="http://schemas.microsoft.com/office/powerpoint/2010/main" val="25057396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07CB8-8BCA-47AA-A9F4-5B6FE790A1A1}"/>
              </a:ext>
            </a:extLst>
          </p:cNvPr>
          <p:cNvSpPr>
            <a:spLocks noGrp="1"/>
          </p:cNvSpPr>
          <p:nvPr>
            <p:ph type="title"/>
          </p:nvPr>
        </p:nvSpPr>
        <p:spPr/>
        <p:txBody>
          <a:bodyPr/>
          <a:lstStyle/>
          <a:p>
            <a:r>
              <a:rPr lang="en-US" dirty="0"/>
              <a:t>Wrapper Method</a:t>
            </a:r>
            <a:endParaRPr lang="en-IN" dirty="0"/>
          </a:p>
        </p:txBody>
      </p:sp>
      <p:sp>
        <p:nvSpPr>
          <p:cNvPr id="3" name="Content Placeholder 2">
            <a:extLst>
              <a:ext uri="{FF2B5EF4-FFF2-40B4-BE49-F238E27FC236}">
                <a16:creationId xmlns:a16="http://schemas.microsoft.com/office/drawing/2014/main" id="{41E4D02D-E346-41DC-B887-8533AFA510D8}"/>
              </a:ext>
            </a:extLst>
          </p:cNvPr>
          <p:cNvSpPr>
            <a:spLocks noGrp="1"/>
          </p:cNvSpPr>
          <p:nvPr>
            <p:ph idx="1"/>
          </p:nvPr>
        </p:nvSpPr>
        <p:spPr/>
        <p:txBody>
          <a:bodyPr/>
          <a:lstStyle/>
          <a:p>
            <a:r>
              <a:rPr lang="en-US" dirty="0"/>
              <a:t>Wrapper feature selection methods create many models with different subsets of input features and select those features that result in the best performing model according to a performance metric. </a:t>
            </a:r>
          </a:p>
          <a:p>
            <a:r>
              <a:rPr lang="en-US" dirty="0"/>
              <a:t>These methods are unconcerned with the variable types, although they can be computationally expensive. </a:t>
            </a:r>
            <a:endParaRPr lang="en-IN" dirty="0"/>
          </a:p>
        </p:txBody>
      </p:sp>
    </p:spTree>
    <p:extLst>
      <p:ext uri="{BB962C8B-B14F-4D97-AF65-F5344CB8AC3E}">
        <p14:creationId xmlns:p14="http://schemas.microsoft.com/office/powerpoint/2010/main" val="4128770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4198C-3C84-49A9-974A-886E19F1625A}"/>
              </a:ext>
            </a:extLst>
          </p:cNvPr>
          <p:cNvSpPr>
            <a:spLocks noGrp="1"/>
          </p:cNvSpPr>
          <p:nvPr>
            <p:ph type="title"/>
          </p:nvPr>
        </p:nvSpPr>
        <p:spPr/>
        <p:txBody>
          <a:bodyPr/>
          <a:lstStyle/>
          <a:p>
            <a:r>
              <a:rPr lang="en-US" dirty="0"/>
              <a:t>Embedded Methods</a:t>
            </a:r>
            <a:endParaRPr lang="en-IN" dirty="0"/>
          </a:p>
        </p:txBody>
      </p:sp>
      <p:sp>
        <p:nvSpPr>
          <p:cNvPr id="3" name="Content Placeholder 2">
            <a:extLst>
              <a:ext uri="{FF2B5EF4-FFF2-40B4-BE49-F238E27FC236}">
                <a16:creationId xmlns:a16="http://schemas.microsoft.com/office/drawing/2014/main" id="{01B2BB82-577D-4D7C-8F28-E988CC29DBBF}"/>
              </a:ext>
            </a:extLst>
          </p:cNvPr>
          <p:cNvSpPr>
            <a:spLocks noGrp="1"/>
          </p:cNvSpPr>
          <p:nvPr>
            <p:ph idx="1"/>
          </p:nvPr>
        </p:nvSpPr>
        <p:spPr/>
        <p:txBody>
          <a:bodyPr/>
          <a:lstStyle/>
          <a:p>
            <a:r>
              <a:rPr lang="en-US" dirty="0"/>
              <a:t>Embedded methods combined the advantages of both filter and wrapper methods by considering the interaction of features along with low computational cost</a:t>
            </a:r>
            <a:r>
              <a:rPr lang="en-US"/>
              <a:t>. </a:t>
            </a:r>
          </a:p>
          <a:p>
            <a:r>
              <a:rPr lang="en-US"/>
              <a:t>These are fast processing methods similar to the filter method but more accurate than the filter method.</a:t>
            </a:r>
            <a:endParaRPr lang="en-IN" dirty="0"/>
          </a:p>
        </p:txBody>
      </p:sp>
    </p:spTree>
    <p:extLst>
      <p:ext uri="{BB962C8B-B14F-4D97-AF65-F5344CB8AC3E}">
        <p14:creationId xmlns:p14="http://schemas.microsoft.com/office/powerpoint/2010/main" val="1172740742"/>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Frame</Template>
  <TotalTime>6446</TotalTime>
  <Words>3973</Words>
  <Application>Microsoft Office PowerPoint</Application>
  <PresentationFormat>Widescreen</PresentationFormat>
  <Paragraphs>458</Paragraphs>
  <Slides>67</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67</vt:i4>
      </vt:variant>
    </vt:vector>
  </HeadingPairs>
  <TitlesOfParts>
    <vt:vector size="83" baseType="lpstr">
      <vt:lpstr>MS PGothic</vt:lpstr>
      <vt:lpstr>Arial</vt:lpstr>
      <vt:lpstr>Arial MT</vt:lpstr>
      <vt:lpstr>Bodoni MT</vt:lpstr>
      <vt:lpstr>Calibri</vt:lpstr>
      <vt:lpstr>Cambria</vt:lpstr>
      <vt:lpstr>Cambria Math</vt:lpstr>
      <vt:lpstr>CastleT</vt:lpstr>
      <vt:lpstr>charter</vt:lpstr>
      <vt:lpstr>Corbel</vt:lpstr>
      <vt:lpstr>Symbol</vt:lpstr>
      <vt:lpstr>Tahoma</vt:lpstr>
      <vt:lpstr>Times New Roman</vt:lpstr>
      <vt:lpstr>Wingdings</vt:lpstr>
      <vt:lpstr>Wingdings 2</vt:lpstr>
      <vt:lpstr>Frame</vt:lpstr>
      <vt:lpstr>Data Pre-Processing</vt:lpstr>
      <vt:lpstr>Outlines</vt:lpstr>
      <vt:lpstr>Need of Data- Pre-processing</vt:lpstr>
      <vt:lpstr>Need of Data- Pre-processing</vt:lpstr>
      <vt:lpstr>Tasks in Data Pre-processing</vt:lpstr>
      <vt:lpstr>Data Sumarization</vt:lpstr>
      <vt:lpstr>Mean , Median , Mode and SD</vt:lpstr>
      <vt:lpstr>Measuring the Dispersion of Data</vt:lpstr>
      <vt:lpstr>Percentiles  And Quartiles</vt:lpstr>
      <vt:lpstr>Five Number Summary</vt:lpstr>
      <vt:lpstr>Examples:</vt:lpstr>
      <vt:lpstr>Data Cleaning</vt:lpstr>
      <vt:lpstr>Missing Data</vt:lpstr>
      <vt:lpstr>How to Handle Missing Values/Data</vt:lpstr>
      <vt:lpstr>Noisy Data</vt:lpstr>
      <vt:lpstr>How to Handle Noisy Data</vt:lpstr>
      <vt:lpstr>Binning Method</vt:lpstr>
      <vt:lpstr>Binning Method</vt:lpstr>
      <vt:lpstr>Smoothing method</vt:lpstr>
      <vt:lpstr>Example:1</vt:lpstr>
      <vt:lpstr>Examples</vt:lpstr>
      <vt:lpstr>Outlier Detection</vt:lpstr>
      <vt:lpstr>Outlier Detection</vt:lpstr>
      <vt:lpstr>Clustering</vt:lpstr>
      <vt:lpstr>Clustering</vt:lpstr>
      <vt:lpstr>Regression</vt:lpstr>
      <vt:lpstr>a. Linear Regression</vt:lpstr>
      <vt:lpstr>b. Multiple Regression</vt:lpstr>
      <vt:lpstr>Log-Linear Regression</vt:lpstr>
      <vt:lpstr>Data Integration</vt:lpstr>
      <vt:lpstr>Data Integration</vt:lpstr>
      <vt:lpstr>Data Transformation</vt:lpstr>
      <vt:lpstr>Concept Hierarchy Generation for Categorical Data</vt:lpstr>
      <vt:lpstr>Specification of a set of Attributes</vt:lpstr>
      <vt:lpstr>Min-Max Normalization</vt:lpstr>
      <vt:lpstr>Example 1:</vt:lpstr>
      <vt:lpstr>Z- Score</vt:lpstr>
      <vt:lpstr>Example 1:</vt:lpstr>
      <vt:lpstr>Decimal Scaling</vt:lpstr>
      <vt:lpstr>Example:</vt:lpstr>
      <vt:lpstr>Data Reduction</vt:lpstr>
      <vt:lpstr>Data Cube Aggregation</vt:lpstr>
      <vt:lpstr>Aggregation example </vt:lpstr>
      <vt:lpstr>Dimensionality Reduction</vt:lpstr>
      <vt:lpstr>Attribute Selection Techniques</vt:lpstr>
      <vt:lpstr>Data Compression</vt:lpstr>
      <vt:lpstr>Numerosity Reduction</vt:lpstr>
      <vt:lpstr>Histogram</vt:lpstr>
      <vt:lpstr>Sampling</vt:lpstr>
      <vt:lpstr>Sampling</vt:lpstr>
      <vt:lpstr>Data Discretization</vt:lpstr>
      <vt:lpstr>Discretization Techniques</vt:lpstr>
      <vt:lpstr>Discretization by Histogram Analysis </vt:lpstr>
      <vt:lpstr>Feature Engineering</vt:lpstr>
      <vt:lpstr>Advantages of Feature Engineering</vt:lpstr>
      <vt:lpstr>Example to understand Feature Engineering</vt:lpstr>
      <vt:lpstr>Example to understand Feature Engineering</vt:lpstr>
      <vt:lpstr>Example to understand Feature Engineering</vt:lpstr>
      <vt:lpstr>Feature Extraction</vt:lpstr>
      <vt:lpstr>Feature Scaling</vt:lpstr>
      <vt:lpstr>Feature Scaling</vt:lpstr>
      <vt:lpstr>Feature Selection</vt:lpstr>
      <vt:lpstr>Feature Selection</vt:lpstr>
      <vt:lpstr>Advantages</vt:lpstr>
      <vt:lpstr>Filter Method</vt:lpstr>
      <vt:lpstr>Wrapper Method</vt:lpstr>
      <vt:lpstr>Embedded Methods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Pre-Processing</dc:title>
  <dc:creator>aastha masrani</dc:creator>
  <cp:lastModifiedBy>aastha masrani</cp:lastModifiedBy>
  <cp:revision>70</cp:revision>
  <dcterms:created xsi:type="dcterms:W3CDTF">2021-11-22T16:12:19Z</dcterms:created>
  <dcterms:modified xsi:type="dcterms:W3CDTF">2022-01-19T18:17:22Z</dcterms:modified>
</cp:coreProperties>
</file>